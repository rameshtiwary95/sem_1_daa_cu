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p:sldMasterIdLst>
    <p:sldMasterId id="2147483663" r:id="rId1"/>
  </p:sldMasterIdLst>
  <p:notesMasterIdLst>
    <p:notesMasterId r:id="rId49"/>
  </p:notesMasterIdLst>
  <p:handoutMasterIdLst>
    <p:handoutMasterId r:id="rId50"/>
  </p:handoutMasterIdLst>
  <p:sldIdLst>
    <p:sldId id="340" r:id="rId2"/>
    <p:sldId id="325" r:id="rId3"/>
    <p:sldId id="256" r:id="rId4"/>
    <p:sldId id="331" r:id="rId5"/>
    <p:sldId id="332" r:id="rId6"/>
    <p:sldId id="333" r:id="rId7"/>
    <p:sldId id="334" r:id="rId8"/>
    <p:sldId id="335" r:id="rId9"/>
    <p:sldId id="271" r:id="rId10"/>
    <p:sldId id="272" r:id="rId11"/>
    <p:sldId id="316" r:id="rId12"/>
    <p:sldId id="338" r:id="rId13"/>
    <p:sldId id="339" r:id="rId14"/>
    <p:sldId id="276" r:id="rId15"/>
    <p:sldId id="310" r:id="rId16"/>
    <p:sldId id="317" r:id="rId17"/>
    <p:sldId id="319" r:id="rId18"/>
    <p:sldId id="318" r:id="rId19"/>
    <p:sldId id="406" r:id="rId20"/>
    <p:sldId id="410" r:id="rId21"/>
    <p:sldId id="411" r:id="rId22"/>
    <p:sldId id="343" r:id="rId23"/>
    <p:sldId id="342" r:id="rId24"/>
    <p:sldId id="412" r:id="rId25"/>
    <p:sldId id="345" r:id="rId26"/>
    <p:sldId id="346" r:id="rId27"/>
    <p:sldId id="347" r:id="rId28"/>
    <p:sldId id="349" r:id="rId29"/>
    <p:sldId id="350" r:id="rId30"/>
    <p:sldId id="351" r:id="rId31"/>
    <p:sldId id="352" r:id="rId32"/>
    <p:sldId id="353" r:id="rId33"/>
    <p:sldId id="354" r:id="rId34"/>
    <p:sldId id="355" r:id="rId35"/>
    <p:sldId id="413" r:id="rId36"/>
    <p:sldId id="414" r:id="rId37"/>
    <p:sldId id="415" r:id="rId38"/>
    <p:sldId id="417" r:id="rId39"/>
    <p:sldId id="418" r:id="rId40"/>
    <p:sldId id="419" r:id="rId41"/>
    <p:sldId id="420" r:id="rId42"/>
    <p:sldId id="421" r:id="rId43"/>
    <p:sldId id="422" r:id="rId44"/>
    <p:sldId id="423" r:id="rId45"/>
    <p:sldId id="337" r:id="rId46"/>
    <p:sldId id="416" r:id="rId47"/>
    <p:sldId id="279" r:id="rId48"/>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CCFF99"/>
    <a:srgbClr val="FFCC99"/>
    <a:srgbClr val="FF993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660"/>
  </p:normalViewPr>
  <p:slideViewPr>
    <p:cSldViewPr>
      <p:cViewPr varScale="1">
        <p:scale>
          <a:sx n="61" d="100"/>
          <a:sy n="61" d="100"/>
        </p:scale>
        <p:origin x="16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636" y="-7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6" name="Rectangle 4">
            <a:extLst>
              <a:ext uri="{FF2B5EF4-FFF2-40B4-BE49-F238E27FC236}">
                <a16:creationId xmlns:a16="http://schemas.microsoft.com/office/drawing/2014/main" id="{C55F4104-E79A-4BAB-9577-9589AC23CCC7}"/>
              </a:ext>
            </a:extLst>
          </p:cNvPr>
          <p:cNvSpPr>
            <a:spLocks noGrp="1" noChangeArrowheads="1"/>
          </p:cNvSpPr>
          <p:nvPr>
            <p:ph type="ftr" sz="quarter" idx="2"/>
          </p:nvPr>
        </p:nvSpPr>
        <p:spPr bwMode="auto">
          <a:xfrm>
            <a:off x="0" y="9118600"/>
            <a:ext cx="3170238" cy="481013"/>
          </a:xfrm>
          <a:prstGeom prst="rect">
            <a:avLst/>
          </a:prstGeom>
          <a:noFill/>
          <a:ln>
            <a:noFill/>
          </a:ln>
          <a:effectLst/>
        </p:spPr>
        <p:txBody>
          <a:bodyPr vert="horz" wrap="square" lIns="96653" tIns="48327" rIns="96653" bIns="48327" numCol="1" anchor="b" anchorCtr="0" compatLnSpc="1">
            <a:prstTxWarp prst="textNoShape">
              <a:avLst/>
            </a:prstTxWarp>
          </a:bodyPr>
          <a:lstStyle>
            <a:lvl1pPr algn="l" defTabSz="966788">
              <a:defRPr sz="1200"/>
            </a:lvl1pPr>
          </a:lstStyle>
          <a:p>
            <a:pPr>
              <a:defRPr/>
            </a:pPr>
            <a:endParaRPr lang="en-US" altLang="en-US"/>
          </a:p>
        </p:txBody>
      </p:sp>
      <p:sp>
        <p:nvSpPr>
          <p:cNvPr id="177157" name="Rectangle 5">
            <a:extLst>
              <a:ext uri="{FF2B5EF4-FFF2-40B4-BE49-F238E27FC236}">
                <a16:creationId xmlns:a16="http://schemas.microsoft.com/office/drawing/2014/main" id="{145DB421-6B28-48B8-9938-E55C1C189286}"/>
              </a:ext>
            </a:extLst>
          </p:cNvPr>
          <p:cNvSpPr>
            <a:spLocks noGrp="1" noChangeArrowheads="1"/>
          </p:cNvSpPr>
          <p:nvPr>
            <p:ph type="sldNum" sz="quarter" idx="3"/>
          </p:nvPr>
        </p:nvSpPr>
        <p:spPr bwMode="auto">
          <a:xfrm>
            <a:off x="4143375" y="9118600"/>
            <a:ext cx="3170238" cy="481013"/>
          </a:xfrm>
          <a:prstGeom prst="rect">
            <a:avLst/>
          </a:prstGeom>
          <a:noFill/>
          <a:ln>
            <a:noFill/>
          </a:ln>
          <a:effectLst/>
        </p:spPr>
        <p:txBody>
          <a:bodyPr vert="horz" wrap="square" lIns="96653" tIns="48327" rIns="96653" bIns="48327" numCol="1" anchor="b" anchorCtr="0" compatLnSpc="1">
            <a:prstTxWarp prst="textNoShape">
              <a:avLst/>
            </a:prstTxWarp>
          </a:bodyPr>
          <a:lstStyle>
            <a:lvl1pPr algn="r" defTabSz="966788">
              <a:defRPr sz="1200"/>
            </a:lvl1pPr>
          </a:lstStyle>
          <a:p>
            <a:pPr>
              <a:defRPr/>
            </a:pPr>
            <a:fld id="{6E105CB5-DDA3-4F28-A537-CBDC1D1F5A1B}" type="slidenum">
              <a:rPr lang="en-US" altLang="en-US"/>
              <a:pPr>
                <a:defRPr/>
              </a:pPr>
              <a:t>‹#›</a:t>
            </a:fld>
            <a:endParaRPr lang="en-US" altLang="en-US"/>
          </a:p>
        </p:txBody>
      </p:sp>
      <p:sp>
        <p:nvSpPr>
          <p:cNvPr id="177158" name="Rectangle 6">
            <a:extLst>
              <a:ext uri="{FF2B5EF4-FFF2-40B4-BE49-F238E27FC236}">
                <a16:creationId xmlns:a16="http://schemas.microsoft.com/office/drawing/2014/main" id="{5A7D801C-A0ED-4FC3-B391-FEA803967C07}"/>
              </a:ext>
            </a:extLst>
          </p:cNvPr>
          <p:cNvSpPr>
            <a:spLocks noChangeArrowheads="1"/>
          </p:cNvSpPr>
          <p:nvPr/>
        </p:nvSpPr>
        <p:spPr bwMode="auto">
          <a:xfrm>
            <a:off x="533400" y="304800"/>
            <a:ext cx="3816350" cy="496888"/>
          </a:xfrm>
          <a:prstGeom prst="rect">
            <a:avLst/>
          </a:prstGeom>
          <a:noFill/>
          <a:ln>
            <a:noFill/>
          </a:ln>
          <a:effectLst/>
        </p:spPr>
        <p:txBody>
          <a:bodyPr lIns="100243" tIns="50122" rIns="100243" bIns="50122"/>
          <a:lstStyle>
            <a:lvl1pPr algn="l" defTabSz="1003300">
              <a:defRPr sz="2400">
                <a:solidFill>
                  <a:schemeClr val="tx1"/>
                </a:solidFill>
                <a:latin typeface="Times New Roman" panose="02020603050405020304" pitchFamily="18" charset="0"/>
              </a:defRPr>
            </a:lvl1pPr>
            <a:lvl2pPr marL="500063" algn="l" defTabSz="1003300">
              <a:defRPr sz="2400">
                <a:solidFill>
                  <a:schemeClr val="tx1"/>
                </a:solidFill>
                <a:latin typeface="Times New Roman" panose="02020603050405020304" pitchFamily="18" charset="0"/>
              </a:defRPr>
            </a:lvl2pPr>
            <a:lvl3pPr marL="1003300" algn="l" defTabSz="1003300">
              <a:defRPr sz="2400">
                <a:solidFill>
                  <a:schemeClr val="tx1"/>
                </a:solidFill>
                <a:latin typeface="Times New Roman" panose="02020603050405020304" pitchFamily="18" charset="0"/>
              </a:defRPr>
            </a:lvl3pPr>
            <a:lvl4pPr marL="1503363" algn="l" defTabSz="1003300">
              <a:defRPr sz="2400">
                <a:solidFill>
                  <a:schemeClr val="tx1"/>
                </a:solidFill>
                <a:latin typeface="Times New Roman" panose="02020603050405020304" pitchFamily="18" charset="0"/>
              </a:defRPr>
            </a:lvl4pPr>
            <a:lvl5pPr marL="2005013" algn="l" defTabSz="1003300">
              <a:defRPr sz="2400">
                <a:solidFill>
                  <a:schemeClr val="tx1"/>
                </a:solidFill>
                <a:latin typeface="Times New Roman" panose="02020603050405020304" pitchFamily="18" charset="0"/>
              </a:defRPr>
            </a:lvl5pPr>
            <a:lvl6pPr marL="2462213" defTabSz="1003300" eaLnBrk="0" fontAlgn="base" hangingPunct="0">
              <a:spcBef>
                <a:spcPct val="0"/>
              </a:spcBef>
              <a:spcAft>
                <a:spcPct val="0"/>
              </a:spcAft>
              <a:defRPr sz="2400">
                <a:solidFill>
                  <a:schemeClr val="tx1"/>
                </a:solidFill>
                <a:latin typeface="Times New Roman" panose="02020603050405020304" pitchFamily="18" charset="0"/>
              </a:defRPr>
            </a:lvl6pPr>
            <a:lvl7pPr marL="2919413" defTabSz="1003300" eaLnBrk="0" fontAlgn="base" hangingPunct="0">
              <a:spcBef>
                <a:spcPct val="0"/>
              </a:spcBef>
              <a:spcAft>
                <a:spcPct val="0"/>
              </a:spcAft>
              <a:defRPr sz="2400">
                <a:solidFill>
                  <a:schemeClr val="tx1"/>
                </a:solidFill>
                <a:latin typeface="Times New Roman" panose="02020603050405020304" pitchFamily="18" charset="0"/>
              </a:defRPr>
            </a:lvl7pPr>
            <a:lvl8pPr marL="3376613" defTabSz="1003300" eaLnBrk="0" fontAlgn="base" hangingPunct="0">
              <a:spcBef>
                <a:spcPct val="0"/>
              </a:spcBef>
              <a:spcAft>
                <a:spcPct val="0"/>
              </a:spcAft>
              <a:defRPr sz="2400">
                <a:solidFill>
                  <a:schemeClr val="tx1"/>
                </a:solidFill>
                <a:latin typeface="Times New Roman" panose="02020603050405020304" pitchFamily="18" charset="0"/>
              </a:defRPr>
            </a:lvl8pPr>
            <a:lvl9pPr marL="3833813" defTabSz="10033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1800" b="1" i="1"/>
              <a:t>Design and Analysis of Algorithms</a:t>
            </a:r>
          </a:p>
        </p:txBody>
      </p:sp>
      <p:sp>
        <p:nvSpPr>
          <p:cNvPr id="177159" name="Rectangle 7">
            <a:extLst>
              <a:ext uri="{FF2B5EF4-FFF2-40B4-BE49-F238E27FC236}">
                <a16:creationId xmlns:a16="http://schemas.microsoft.com/office/drawing/2014/main" id="{B71F7C63-599A-49B6-A4FC-952AE8C0951F}"/>
              </a:ext>
            </a:extLst>
          </p:cNvPr>
          <p:cNvSpPr>
            <a:spLocks noChangeArrowheads="1"/>
          </p:cNvSpPr>
          <p:nvPr/>
        </p:nvSpPr>
        <p:spPr bwMode="auto">
          <a:xfrm>
            <a:off x="4322763" y="304800"/>
            <a:ext cx="2382837" cy="496888"/>
          </a:xfrm>
          <a:prstGeom prst="rect">
            <a:avLst/>
          </a:prstGeom>
          <a:noFill/>
          <a:ln>
            <a:noFill/>
          </a:ln>
          <a:effectLst/>
        </p:spPr>
        <p:txBody>
          <a:bodyPr lIns="100243" tIns="50122" rIns="100243" bIns="50122"/>
          <a:lstStyle>
            <a:lvl1pPr algn="l" defTabSz="1003300">
              <a:defRPr sz="2400">
                <a:solidFill>
                  <a:schemeClr val="tx1"/>
                </a:solidFill>
                <a:latin typeface="Times New Roman" panose="02020603050405020304" pitchFamily="18" charset="0"/>
              </a:defRPr>
            </a:lvl1pPr>
            <a:lvl2pPr marL="500063" algn="l" defTabSz="1003300">
              <a:defRPr sz="2400">
                <a:solidFill>
                  <a:schemeClr val="tx1"/>
                </a:solidFill>
                <a:latin typeface="Times New Roman" panose="02020603050405020304" pitchFamily="18" charset="0"/>
              </a:defRPr>
            </a:lvl2pPr>
            <a:lvl3pPr marL="1003300" algn="l" defTabSz="1003300">
              <a:defRPr sz="2400">
                <a:solidFill>
                  <a:schemeClr val="tx1"/>
                </a:solidFill>
                <a:latin typeface="Times New Roman" panose="02020603050405020304" pitchFamily="18" charset="0"/>
              </a:defRPr>
            </a:lvl3pPr>
            <a:lvl4pPr marL="1503363" algn="l" defTabSz="1003300">
              <a:defRPr sz="2400">
                <a:solidFill>
                  <a:schemeClr val="tx1"/>
                </a:solidFill>
                <a:latin typeface="Times New Roman" panose="02020603050405020304" pitchFamily="18" charset="0"/>
              </a:defRPr>
            </a:lvl4pPr>
            <a:lvl5pPr marL="2005013" algn="l" defTabSz="1003300">
              <a:defRPr sz="2400">
                <a:solidFill>
                  <a:schemeClr val="tx1"/>
                </a:solidFill>
                <a:latin typeface="Times New Roman" panose="02020603050405020304" pitchFamily="18" charset="0"/>
              </a:defRPr>
            </a:lvl5pPr>
            <a:lvl6pPr marL="2462213" defTabSz="1003300" eaLnBrk="0" fontAlgn="base" hangingPunct="0">
              <a:spcBef>
                <a:spcPct val="0"/>
              </a:spcBef>
              <a:spcAft>
                <a:spcPct val="0"/>
              </a:spcAft>
              <a:defRPr sz="2400">
                <a:solidFill>
                  <a:schemeClr val="tx1"/>
                </a:solidFill>
                <a:latin typeface="Times New Roman" panose="02020603050405020304" pitchFamily="18" charset="0"/>
              </a:defRPr>
            </a:lvl6pPr>
            <a:lvl7pPr marL="2919413" defTabSz="1003300" eaLnBrk="0" fontAlgn="base" hangingPunct="0">
              <a:spcBef>
                <a:spcPct val="0"/>
              </a:spcBef>
              <a:spcAft>
                <a:spcPct val="0"/>
              </a:spcAft>
              <a:defRPr sz="2400">
                <a:solidFill>
                  <a:schemeClr val="tx1"/>
                </a:solidFill>
                <a:latin typeface="Times New Roman" panose="02020603050405020304" pitchFamily="18" charset="0"/>
              </a:defRPr>
            </a:lvl7pPr>
            <a:lvl8pPr marL="3376613" defTabSz="1003300" eaLnBrk="0" fontAlgn="base" hangingPunct="0">
              <a:spcBef>
                <a:spcPct val="0"/>
              </a:spcBef>
              <a:spcAft>
                <a:spcPct val="0"/>
              </a:spcAft>
              <a:defRPr sz="2400">
                <a:solidFill>
                  <a:schemeClr val="tx1"/>
                </a:solidFill>
                <a:latin typeface="Times New Roman" panose="02020603050405020304" pitchFamily="18" charset="0"/>
              </a:defRPr>
            </a:lvl8pPr>
            <a:lvl9pPr marL="3833813" defTabSz="1003300" eaLnBrk="0" fontAlgn="base" hangingPunct="0">
              <a:spcBef>
                <a:spcPct val="0"/>
              </a:spcBef>
              <a:spcAft>
                <a:spcPct val="0"/>
              </a:spcAft>
              <a:defRPr sz="2400">
                <a:solidFill>
                  <a:schemeClr val="tx1"/>
                </a:solidFill>
                <a:latin typeface="Times New Roman" panose="02020603050405020304" pitchFamily="18" charset="0"/>
              </a:defRPr>
            </a:lvl9pPr>
          </a:lstStyle>
          <a:p>
            <a:pPr algn="r">
              <a:defRPr/>
            </a:pPr>
            <a:r>
              <a:rPr lang="en-US" altLang="en-US" sz="1800" b="1" i="1"/>
              <a:t>Chapter 6</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4185F31-83F4-4018-8BEA-F3AB14B1ADED}"/>
              </a:ext>
            </a:extLst>
          </p:cNvPr>
          <p:cNvSpPr>
            <a:spLocks noGrp="1" noChangeArrowheads="1"/>
          </p:cNvSpPr>
          <p:nvPr>
            <p:ph type="hdr" sz="quarter"/>
          </p:nvPr>
        </p:nvSpPr>
        <p:spPr bwMode="auto">
          <a:xfrm>
            <a:off x="0" y="0"/>
            <a:ext cx="3170238" cy="481013"/>
          </a:xfrm>
          <a:prstGeom prst="rect">
            <a:avLst/>
          </a:prstGeom>
          <a:noFill/>
          <a:ln>
            <a:noFill/>
          </a:ln>
          <a:effectLst/>
        </p:spPr>
        <p:txBody>
          <a:bodyPr vert="horz" wrap="none" lIns="96653" tIns="48327" rIns="96653" bIns="48327" numCol="1" anchor="ctr" anchorCtr="0" compatLnSpc="1">
            <a:prstTxWarp prst="textNoShape">
              <a:avLst/>
            </a:prstTxWarp>
          </a:bodyPr>
          <a:lstStyle>
            <a:lvl1pPr algn="l" defTabSz="966788">
              <a:defRPr sz="1200"/>
            </a:lvl1pPr>
          </a:lstStyle>
          <a:p>
            <a:pPr>
              <a:defRPr/>
            </a:pPr>
            <a:endParaRPr lang="en-US" altLang="en-US"/>
          </a:p>
        </p:txBody>
      </p:sp>
      <p:sp>
        <p:nvSpPr>
          <p:cNvPr id="92163" name="Rectangle 3">
            <a:extLst>
              <a:ext uri="{FF2B5EF4-FFF2-40B4-BE49-F238E27FC236}">
                <a16:creationId xmlns:a16="http://schemas.microsoft.com/office/drawing/2014/main" id="{AE95BE12-3701-4C72-9FA5-A5D0C57B6E14}"/>
              </a:ext>
            </a:extLst>
          </p:cNvPr>
          <p:cNvSpPr>
            <a:spLocks noGrp="1" noChangeArrowheads="1"/>
          </p:cNvSpPr>
          <p:nvPr>
            <p:ph type="dt" idx="1"/>
          </p:nvPr>
        </p:nvSpPr>
        <p:spPr bwMode="auto">
          <a:xfrm>
            <a:off x="4144963" y="0"/>
            <a:ext cx="3170237" cy="481013"/>
          </a:xfrm>
          <a:prstGeom prst="rect">
            <a:avLst/>
          </a:prstGeom>
          <a:noFill/>
          <a:ln>
            <a:noFill/>
          </a:ln>
          <a:effectLst/>
        </p:spPr>
        <p:txBody>
          <a:bodyPr vert="horz" wrap="none" lIns="96653" tIns="48327" rIns="96653" bIns="48327" numCol="1" anchor="ctr" anchorCtr="0" compatLnSpc="1">
            <a:prstTxWarp prst="textNoShape">
              <a:avLst/>
            </a:prstTxWarp>
          </a:bodyPr>
          <a:lstStyle>
            <a:lvl1pPr algn="r" defTabSz="966788">
              <a:defRPr sz="1200"/>
            </a:lvl1pPr>
          </a:lstStyle>
          <a:p>
            <a:pPr>
              <a:defRPr/>
            </a:pPr>
            <a:endParaRPr lang="en-US" altLang="en-US"/>
          </a:p>
        </p:txBody>
      </p:sp>
      <p:sp>
        <p:nvSpPr>
          <p:cNvPr id="5124" name="Rectangle 4">
            <a:extLst>
              <a:ext uri="{FF2B5EF4-FFF2-40B4-BE49-F238E27FC236}">
                <a16:creationId xmlns:a16="http://schemas.microsoft.com/office/drawing/2014/main" id="{A785F21B-3099-44F2-B53E-7D964575F358}"/>
              </a:ext>
            </a:extLst>
          </p:cNvPr>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5" name="Rectangle 5">
            <a:extLst>
              <a:ext uri="{FF2B5EF4-FFF2-40B4-BE49-F238E27FC236}">
                <a16:creationId xmlns:a16="http://schemas.microsoft.com/office/drawing/2014/main" id="{10A32A78-517F-46E8-AAFF-E3B5796B8679}"/>
              </a:ext>
            </a:extLst>
          </p:cNvPr>
          <p:cNvSpPr>
            <a:spLocks noGrp="1" noChangeArrowheads="1"/>
          </p:cNvSpPr>
          <p:nvPr>
            <p:ph type="body" sz="quarter" idx="3"/>
          </p:nvPr>
        </p:nvSpPr>
        <p:spPr bwMode="auto">
          <a:xfrm>
            <a:off x="976313" y="4560888"/>
            <a:ext cx="5362575" cy="4321175"/>
          </a:xfrm>
          <a:prstGeom prst="rect">
            <a:avLst/>
          </a:prstGeom>
          <a:noFill/>
          <a:ln>
            <a:noFill/>
          </a:ln>
          <a:effectLst/>
        </p:spPr>
        <p:txBody>
          <a:bodyPr vert="horz" wrap="none" lIns="96653" tIns="48327" rIns="96653" bIns="48327" numCol="1" anchor="ctr"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92166" name="Rectangle 6">
            <a:extLst>
              <a:ext uri="{FF2B5EF4-FFF2-40B4-BE49-F238E27FC236}">
                <a16:creationId xmlns:a16="http://schemas.microsoft.com/office/drawing/2014/main" id="{DFD184CA-0964-488D-900F-3D4A40459BB2}"/>
              </a:ext>
            </a:extLst>
          </p:cNvPr>
          <p:cNvSpPr>
            <a:spLocks noGrp="1" noChangeArrowheads="1"/>
          </p:cNvSpPr>
          <p:nvPr>
            <p:ph type="ftr" sz="quarter" idx="4"/>
          </p:nvPr>
        </p:nvSpPr>
        <p:spPr bwMode="auto">
          <a:xfrm>
            <a:off x="0" y="9120188"/>
            <a:ext cx="3170238" cy="481012"/>
          </a:xfrm>
          <a:prstGeom prst="rect">
            <a:avLst/>
          </a:prstGeom>
          <a:noFill/>
          <a:ln>
            <a:noFill/>
          </a:ln>
          <a:effectLst/>
        </p:spPr>
        <p:txBody>
          <a:bodyPr vert="horz" wrap="none" lIns="96653" tIns="48327" rIns="96653" bIns="48327" numCol="1" anchor="b" anchorCtr="0" compatLnSpc="1">
            <a:prstTxWarp prst="textNoShape">
              <a:avLst/>
            </a:prstTxWarp>
          </a:bodyPr>
          <a:lstStyle>
            <a:lvl1pPr algn="l" defTabSz="966788">
              <a:defRPr sz="1200"/>
            </a:lvl1pPr>
          </a:lstStyle>
          <a:p>
            <a:pPr>
              <a:defRPr/>
            </a:pPr>
            <a:endParaRPr lang="en-US" altLang="en-US"/>
          </a:p>
        </p:txBody>
      </p:sp>
      <p:sp>
        <p:nvSpPr>
          <p:cNvPr id="92167" name="Rectangle 7">
            <a:extLst>
              <a:ext uri="{FF2B5EF4-FFF2-40B4-BE49-F238E27FC236}">
                <a16:creationId xmlns:a16="http://schemas.microsoft.com/office/drawing/2014/main" id="{4EB803B7-2289-4D0D-9325-F7FDFDA6ADD7}"/>
              </a:ext>
            </a:extLst>
          </p:cNvPr>
          <p:cNvSpPr>
            <a:spLocks noGrp="1" noChangeArrowheads="1"/>
          </p:cNvSpPr>
          <p:nvPr>
            <p:ph type="sldNum" sz="quarter" idx="5"/>
          </p:nvPr>
        </p:nvSpPr>
        <p:spPr bwMode="auto">
          <a:xfrm>
            <a:off x="4144963" y="9120188"/>
            <a:ext cx="3170237" cy="481012"/>
          </a:xfrm>
          <a:prstGeom prst="rect">
            <a:avLst/>
          </a:prstGeom>
          <a:noFill/>
          <a:ln>
            <a:noFill/>
          </a:ln>
          <a:effectLst/>
        </p:spPr>
        <p:txBody>
          <a:bodyPr vert="horz" wrap="none" lIns="96653" tIns="48327" rIns="96653" bIns="48327" numCol="1" anchor="b" anchorCtr="0" compatLnSpc="1">
            <a:prstTxWarp prst="textNoShape">
              <a:avLst/>
            </a:prstTxWarp>
          </a:bodyPr>
          <a:lstStyle>
            <a:lvl1pPr algn="r" defTabSz="966788">
              <a:defRPr sz="1200"/>
            </a:lvl1pPr>
          </a:lstStyle>
          <a:p>
            <a:pPr>
              <a:defRPr/>
            </a:pPr>
            <a:fld id="{35F0D98D-69FF-4E74-9AA5-C87A58014AF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35F0D98D-69FF-4E74-9AA5-C87A58014AFD}" type="slidenum">
              <a:rPr lang="en-US" altLang="en-US" smtClean="0"/>
              <a:pPr>
                <a:defRPr/>
              </a:pPr>
              <a:t>0</a:t>
            </a:fld>
            <a:endParaRPr lang="en-US" altLang="en-US"/>
          </a:p>
        </p:txBody>
      </p:sp>
    </p:spTree>
    <p:extLst>
      <p:ext uri="{BB962C8B-B14F-4D97-AF65-F5344CB8AC3E}">
        <p14:creationId xmlns:p14="http://schemas.microsoft.com/office/powerpoint/2010/main" val="186273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670B4CB8-C4BE-4394-B93A-19D29BA742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F77A13A3-F078-4125-8819-2838C0E4FCA0}" type="slidenum">
              <a:rPr lang="en-US" altLang="en-US" sz="1200" smtClean="0"/>
              <a:pPr/>
              <a:t>2</a:t>
            </a:fld>
            <a:endParaRPr lang="en-US" altLang="en-US" sz="1200"/>
          </a:p>
        </p:txBody>
      </p:sp>
      <p:sp>
        <p:nvSpPr>
          <p:cNvPr id="11267" name="Rectangle 2">
            <a:extLst>
              <a:ext uri="{FF2B5EF4-FFF2-40B4-BE49-F238E27FC236}">
                <a16:creationId xmlns:a16="http://schemas.microsoft.com/office/drawing/2014/main" id="{F4F0E35D-8CA9-433C-877F-135F77AA6091}"/>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9BC1FD95-D284-4735-8A17-9F8E4359966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7A74D0D2-8A2E-481D-9CEA-EE2106AB04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1F715FE8-8E11-4A4C-8034-FB7C7D783B8E}" type="slidenum">
              <a:rPr lang="en-US" altLang="en-US" sz="1200" smtClean="0"/>
              <a:pPr/>
              <a:t>8</a:t>
            </a:fld>
            <a:endParaRPr lang="en-US" altLang="en-US" sz="1200"/>
          </a:p>
        </p:txBody>
      </p:sp>
      <p:sp>
        <p:nvSpPr>
          <p:cNvPr id="19459" name="Rectangle 2">
            <a:extLst>
              <a:ext uri="{FF2B5EF4-FFF2-40B4-BE49-F238E27FC236}">
                <a16:creationId xmlns:a16="http://schemas.microsoft.com/office/drawing/2014/main" id="{E1CF2CA3-ECB8-48B7-A2BF-23E617E0D680}"/>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53AB4F1C-C7F3-4067-8417-96142465D7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6545E723-28C2-449A-9874-D5E30B3410D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5D5D1D43-F2B6-4A3A-843E-1D95C27C3161}" type="slidenum">
              <a:rPr lang="en-US" altLang="en-US" sz="1200" smtClean="0"/>
              <a:pPr/>
              <a:t>9</a:t>
            </a:fld>
            <a:endParaRPr lang="en-US" altLang="en-US" sz="1200"/>
          </a:p>
        </p:txBody>
      </p:sp>
      <p:sp>
        <p:nvSpPr>
          <p:cNvPr id="21507" name="Rectangle 2">
            <a:extLst>
              <a:ext uri="{FF2B5EF4-FFF2-40B4-BE49-F238E27FC236}">
                <a16:creationId xmlns:a16="http://schemas.microsoft.com/office/drawing/2014/main" id="{2DC7B298-4BC9-47C9-B2A7-FE5A7DBEEEA1}"/>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64CB3F4A-BBD5-4CC9-8582-709ED69CB6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93C101E-61DC-4351-BB16-C2C06C48A0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A73344C4-F04A-4194-90B0-A3B3F8C66B3B}" type="slidenum">
              <a:rPr lang="en-US" altLang="en-US" sz="1200" smtClean="0"/>
              <a:pPr/>
              <a:t>10</a:t>
            </a:fld>
            <a:endParaRPr lang="en-US" altLang="en-US" sz="1200"/>
          </a:p>
        </p:txBody>
      </p:sp>
      <p:sp>
        <p:nvSpPr>
          <p:cNvPr id="23555" name="Rectangle 2">
            <a:extLst>
              <a:ext uri="{FF2B5EF4-FFF2-40B4-BE49-F238E27FC236}">
                <a16:creationId xmlns:a16="http://schemas.microsoft.com/office/drawing/2014/main" id="{4EB18917-0735-41FA-9EA5-7253CC0D2A44}"/>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478BE666-2F34-4DFC-BE74-CE9E1003C2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D3515886-2EC0-4A53-B2D8-66E612AD9E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BA39C295-F504-446C-8098-5F0FAE2E6582}" type="slidenum">
              <a:rPr lang="en-US" altLang="en-US" sz="1200" smtClean="0"/>
              <a:pPr/>
              <a:t>13</a:t>
            </a:fld>
            <a:endParaRPr lang="en-US" altLang="en-US" sz="1200"/>
          </a:p>
        </p:txBody>
      </p:sp>
      <p:sp>
        <p:nvSpPr>
          <p:cNvPr id="27651" name="Rectangle 2">
            <a:extLst>
              <a:ext uri="{FF2B5EF4-FFF2-40B4-BE49-F238E27FC236}">
                <a16:creationId xmlns:a16="http://schemas.microsoft.com/office/drawing/2014/main" id="{A92FA756-EB09-48DA-AB52-5BBA8EABDF60}"/>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2F2B2AEE-F839-4C0B-B003-114EF304E7A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9E7F0F93-023B-4A37-A10E-A5B4B82ED9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9BF679D1-3AD2-42DC-8AED-DA2BB9D9581B}" type="slidenum">
              <a:rPr lang="en-US" altLang="en-US" sz="1200" smtClean="0"/>
              <a:pPr/>
              <a:t>14</a:t>
            </a:fld>
            <a:endParaRPr lang="en-US" altLang="en-US" sz="1200"/>
          </a:p>
        </p:txBody>
      </p:sp>
      <p:sp>
        <p:nvSpPr>
          <p:cNvPr id="29699" name="Rectangle 2">
            <a:extLst>
              <a:ext uri="{FF2B5EF4-FFF2-40B4-BE49-F238E27FC236}">
                <a16:creationId xmlns:a16="http://schemas.microsoft.com/office/drawing/2014/main" id="{B30E9F0A-789D-48DC-AF5E-55F2310E7B4D}"/>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06DEB26A-DA6C-43FB-AD67-A3A73DD95BB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BF7CC0D-77B7-4D41-81F0-FA47B36161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69B5E0AE-244C-4D94-BC3A-9C69F3BE3DD7}" type="slidenum">
              <a:rPr lang="en-US" altLang="en-US" sz="1200" smtClean="0"/>
              <a:pPr/>
              <a:t>15</a:t>
            </a:fld>
            <a:endParaRPr lang="en-US" altLang="en-US" sz="1200"/>
          </a:p>
        </p:txBody>
      </p:sp>
      <p:sp>
        <p:nvSpPr>
          <p:cNvPr id="31747" name="Rectangle 2">
            <a:extLst>
              <a:ext uri="{FF2B5EF4-FFF2-40B4-BE49-F238E27FC236}">
                <a16:creationId xmlns:a16="http://schemas.microsoft.com/office/drawing/2014/main" id="{28D76C32-8848-413E-B218-882FDE303683}"/>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B083702A-9014-4065-AE55-7CECF3DDEEC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01F00087-D442-4246-872D-1C1736BB3C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174EB5F-F02F-411F-AA27-2282B07D6837}" type="slidenum">
              <a:rPr lang="en-US" altLang="en-US" sz="1200" smtClean="0"/>
              <a:pPr/>
              <a:t>16</a:t>
            </a:fld>
            <a:endParaRPr lang="en-US" altLang="en-US" sz="1200"/>
          </a:p>
        </p:txBody>
      </p:sp>
      <p:sp>
        <p:nvSpPr>
          <p:cNvPr id="33795" name="Rectangle 2">
            <a:extLst>
              <a:ext uri="{FF2B5EF4-FFF2-40B4-BE49-F238E27FC236}">
                <a16:creationId xmlns:a16="http://schemas.microsoft.com/office/drawing/2014/main" id="{F3CFE7FF-00EE-4AA2-BC27-33B8E0FDED5A}"/>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DAEC0C44-6BC8-4E88-A302-A81563F650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974B3DBE-B282-4507-85BF-59E1E63990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D1323F11-D6C4-42A6-A87B-249043BECE71}" type="slidenum">
              <a:rPr lang="en-US" altLang="en-US" sz="1200" smtClean="0"/>
              <a:pPr/>
              <a:t>17</a:t>
            </a:fld>
            <a:endParaRPr lang="en-US" altLang="en-US" sz="1200"/>
          </a:p>
        </p:txBody>
      </p:sp>
      <p:sp>
        <p:nvSpPr>
          <p:cNvPr id="35843" name="Rectangle 2">
            <a:extLst>
              <a:ext uri="{FF2B5EF4-FFF2-40B4-BE49-F238E27FC236}">
                <a16:creationId xmlns:a16="http://schemas.microsoft.com/office/drawing/2014/main" id="{7298110A-BAF9-4816-9533-55B1365F60F9}"/>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CAE8C4E8-AACC-4214-A2C8-4BC6D73F3C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492452B-908B-4017-BEF9-C1FD0966AA9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D3D9887C-9254-488F-8D2E-67192CC5D4B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ACB685E-6C6E-4A1B-839A-B58D321BA002}"/>
              </a:ext>
            </a:extLst>
          </p:cNvPr>
          <p:cNvSpPr>
            <a:spLocks noGrp="1"/>
          </p:cNvSpPr>
          <p:nvPr>
            <p:ph type="sldNum" sz="quarter" idx="12"/>
          </p:nvPr>
        </p:nvSpPr>
        <p:spPr/>
        <p:txBody>
          <a:bodyPr/>
          <a:lstStyle>
            <a:lvl1pPr>
              <a:defRPr/>
            </a:lvl1pPr>
          </a:lstStyle>
          <a:p>
            <a:pPr>
              <a:defRPr/>
            </a:pPr>
            <a:fld id="{B93E8650-5083-4A36-83F8-D5B1AEC9B36F}" type="slidenum">
              <a:rPr lang="en-US"/>
              <a:pPr>
                <a:defRPr/>
              </a:pPr>
              <a:t>‹#›</a:t>
            </a:fld>
            <a:endParaRPr lang="en-US"/>
          </a:p>
        </p:txBody>
      </p:sp>
    </p:spTree>
    <p:extLst>
      <p:ext uri="{BB962C8B-B14F-4D97-AF65-F5344CB8AC3E}">
        <p14:creationId xmlns:p14="http://schemas.microsoft.com/office/powerpoint/2010/main" val="2468019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11FF89-92A3-44B8-80E4-FD8E9CB18887}"/>
              </a:ext>
            </a:extLst>
          </p:cNvPr>
          <p:cNvSpPr/>
          <p:nvPr userDrawn="1"/>
        </p:nvSpPr>
        <p:spPr>
          <a:xfrm>
            <a:off x="8307388" y="6356350"/>
            <a:ext cx="207962" cy="36512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IN" sz="1800"/>
          </a:p>
        </p:txBody>
      </p:sp>
      <p:sp>
        <p:nvSpPr>
          <p:cNvPr id="2" name="Title 1"/>
          <p:cNvSpPr>
            <a:spLocks noGrp="1"/>
          </p:cNvSpPr>
          <p:nvPr>
            <p:ph type="title"/>
          </p:nvPr>
        </p:nvSpPr>
        <p:spPr>
          <a:xfrm>
            <a:off x="628650" y="164827"/>
            <a:ext cx="6305550" cy="970235"/>
          </a:xfrm>
          <a:ln w="9525">
            <a:solidFill>
              <a:schemeClr val="tx1"/>
            </a:solidFill>
          </a:ln>
        </p:spPr>
        <p:txBody>
          <a:bodyPr>
            <a:noAutofit/>
          </a:bodyPr>
          <a:lstStyle>
            <a:lvl1pPr algn="ctr">
              <a:defRPr sz="4000" b="1">
                <a:solidFill>
                  <a:schemeClr val="accent1">
                    <a:lumMod val="50000"/>
                  </a:schemeClr>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20672" y="1371600"/>
            <a:ext cx="7886700" cy="4351338"/>
          </a:xfrm>
          <a:ln w="9525">
            <a:solidFill>
              <a:schemeClr val="tx1"/>
            </a:solidFill>
          </a:ln>
        </p:spPr>
        <p:txBody>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AB4EB961-463B-4B7A-99E8-A3528B8DC669}"/>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E62C7DC8-127E-45F0-9C71-2285838E8EB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EC0CC7C-C422-4074-B93D-0F30D93E0209}"/>
              </a:ext>
            </a:extLst>
          </p:cNvPr>
          <p:cNvSpPr>
            <a:spLocks noGrp="1"/>
          </p:cNvSpPr>
          <p:nvPr>
            <p:ph type="sldNum" sz="quarter" idx="12"/>
          </p:nvPr>
        </p:nvSpPr>
        <p:spPr/>
        <p:txBody>
          <a:bodyPr/>
          <a:lstStyle>
            <a:lvl1pPr>
              <a:defRPr/>
            </a:lvl1pPr>
          </a:lstStyle>
          <a:p>
            <a:pPr>
              <a:defRPr/>
            </a:pPr>
            <a:fld id="{5613BF6C-F78F-467F-AFB2-2D136AF4457F}" type="slidenum">
              <a:rPr lang="en-US"/>
              <a:pPr>
                <a:defRPr/>
              </a:pPr>
              <a:t>‹#›</a:t>
            </a:fld>
            <a:endParaRPr lang="en-US"/>
          </a:p>
        </p:txBody>
      </p:sp>
    </p:spTree>
    <p:extLst>
      <p:ext uri="{BB962C8B-B14F-4D97-AF65-F5344CB8AC3E}">
        <p14:creationId xmlns:p14="http://schemas.microsoft.com/office/powerpoint/2010/main" val="3612158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2C4D67-C7E8-4823-B8B3-60851C3F773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40BA5E7-24FC-4D3C-B7BA-F74D6B1F9EA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FEA815-73C1-4EF5-95F7-0DA2FBA4CC6E}"/>
              </a:ext>
            </a:extLst>
          </p:cNvPr>
          <p:cNvSpPr>
            <a:spLocks noGrp="1"/>
          </p:cNvSpPr>
          <p:nvPr>
            <p:ph type="sldNum" sz="quarter" idx="12"/>
          </p:nvPr>
        </p:nvSpPr>
        <p:spPr/>
        <p:txBody>
          <a:bodyPr/>
          <a:lstStyle>
            <a:lvl1pPr>
              <a:defRPr/>
            </a:lvl1pPr>
          </a:lstStyle>
          <a:p>
            <a:pPr>
              <a:defRPr/>
            </a:pPr>
            <a:fld id="{8D4B46D9-0114-4F52-9553-C49641793609}" type="slidenum">
              <a:rPr lang="en-US"/>
              <a:pPr>
                <a:defRPr/>
              </a:pPr>
              <a:t>‹#›</a:t>
            </a:fld>
            <a:endParaRPr lang="en-US"/>
          </a:p>
        </p:txBody>
      </p:sp>
    </p:spTree>
    <p:extLst>
      <p:ext uri="{BB962C8B-B14F-4D97-AF65-F5344CB8AC3E}">
        <p14:creationId xmlns:p14="http://schemas.microsoft.com/office/powerpoint/2010/main" val="275675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683BC84-C2B9-47A1-844D-C13ECB48AB9B}"/>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5E24DA62-2747-48BB-BC44-D30C6594044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198695D-C148-4B8D-A674-12F7D5218300}"/>
              </a:ext>
            </a:extLst>
          </p:cNvPr>
          <p:cNvSpPr>
            <a:spLocks noGrp="1"/>
          </p:cNvSpPr>
          <p:nvPr>
            <p:ph type="sldNum" sz="quarter" idx="12"/>
          </p:nvPr>
        </p:nvSpPr>
        <p:spPr/>
        <p:txBody>
          <a:bodyPr/>
          <a:lstStyle>
            <a:lvl1pPr>
              <a:defRPr/>
            </a:lvl1pPr>
          </a:lstStyle>
          <a:p>
            <a:pPr>
              <a:defRPr/>
            </a:pPr>
            <a:fld id="{1C1BC756-7B9A-4A21-AE2C-E493FC77F15B}" type="slidenum">
              <a:rPr lang="en-US"/>
              <a:pPr>
                <a:defRPr/>
              </a:pPr>
              <a:t>‹#›</a:t>
            </a:fld>
            <a:endParaRPr lang="en-US"/>
          </a:p>
        </p:txBody>
      </p:sp>
    </p:spTree>
    <p:extLst>
      <p:ext uri="{BB962C8B-B14F-4D97-AF65-F5344CB8AC3E}">
        <p14:creationId xmlns:p14="http://schemas.microsoft.com/office/powerpoint/2010/main" val="1868521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01095D0-F3FD-4AF0-B91A-59FE90BB7B57}"/>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7FBBBDA1-CD47-4976-BE3E-D0022EAA8C8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99731C5-A794-41E3-9B0D-13F7CBD9155E}"/>
              </a:ext>
            </a:extLst>
          </p:cNvPr>
          <p:cNvSpPr>
            <a:spLocks noGrp="1"/>
          </p:cNvSpPr>
          <p:nvPr>
            <p:ph type="sldNum" sz="quarter" idx="12"/>
          </p:nvPr>
        </p:nvSpPr>
        <p:spPr/>
        <p:txBody>
          <a:bodyPr/>
          <a:lstStyle>
            <a:lvl1pPr>
              <a:defRPr/>
            </a:lvl1pPr>
          </a:lstStyle>
          <a:p>
            <a:pPr>
              <a:defRPr/>
            </a:pPr>
            <a:fld id="{5FA6570A-228A-432B-A21F-31929E206D3B}" type="slidenum">
              <a:rPr lang="en-US"/>
              <a:pPr>
                <a:defRPr/>
              </a:pPr>
              <a:t>‹#›</a:t>
            </a:fld>
            <a:endParaRPr lang="en-US"/>
          </a:p>
        </p:txBody>
      </p:sp>
    </p:spTree>
    <p:extLst>
      <p:ext uri="{BB962C8B-B14F-4D97-AF65-F5344CB8AC3E}">
        <p14:creationId xmlns:p14="http://schemas.microsoft.com/office/powerpoint/2010/main" val="3147651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90382C6-4E88-477A-B4B6-DA53DE4ABB36}"/>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9F64B49C-9CE7-4C9A-91EA-BC8D198C5C8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45E29D6-474E-4EA7-B424-FC0B969FE827}"/>
              </a:ext>
            </a:extLst>
          </p:cNvPr>
          <p:cNvSpPr>
            <a:spLocks noGrp="1"/>
          </p:cNvSpPr>
          <p:nvPr>
            <p:ph type="sldNum" sz="quarter" idx="12"/>
          </p:nvPr>
        </p:nvSpPr>
        <p:spPr/>
        <p:txBody>
          <a:bodyPr/>
          <a:lstStyle>
            <a:lvl1pPr>
              <a:defRPr/>
            </a:lvl1pPr>
          </a:lstStyle>
          <a:p>
            <a:pPr>
              <a:defRPr/>
            </a:pPr>
            <a:fld id="{30495F74-E301-480A-A1E9-13431595933E}" type="slidenum">
              <a:rPr lang="en-US"/>
              <a:pPr>
                <a:defRPr/>
              </a:pPr>
              <a:t>‹#›</a:t>
            </a:fld>
            <a:endParaRPr lang="en-US"/>
          </a:p>
        </p:txBody>
      </p:sp>
    </p:spTree>
    <p:extLst>
      <p:ext uri="{BB962C8B-B14F-4D97-AF65-F5344CB8AC3E}">
        <p14:creationId xmlns:p14="http://schemas.microsoft.com/office/powerpoint/2010/main" val="673558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293D46F-040E-4894-BA82-EC304C6AB6D4}"/>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00690CCA-BB7B-4585-B71A-4F5FED13DC6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CFE64E1-7CFF-4591-91A3-4386D2DB4DFD}"/>
              </a:ext>
            </a:extLst>
          </p:cNvPr>
          <p:cNvSpPr>
            <a:spLocks noGrp="1"/>
          </p:cNvSpPr>
          <p:nvPr>
            <p:ph type="sldNum" sz="quarter" idx="12"/>
          </p:nvPr>
        </p:nvSpPr>
        <p:spPr/>
        <p:txBody>
          <a:bodyPr/>
          <a:lstStyle>
            <a:lvl1pPr>
              <a:defRPr/>
            </a:lvl1pPr>
          </a:lstStyle>
          <a:p>
            <a:pPr>
              <a:defRPr/>
            </a:pPr>
            <a:fld id="{8126AD44-5540-47F0-A0BB-57DF21ED34C4}" type="slidenum">
              <a:rPr lang="en-US"/>
              <a:pPr>
                <a:defRPr/>
              </a:pPr>
              <a:t>‹#›</a:t>
            </a:fld>
            <a:endParaRPr lang="en-US"/>
          </a:p>
        </p:txBody>
      </p:sp>
    </p:spTree>
    <p:extLst>
      <p:ext uri="{BB962C8B-B14F-4D97-AF65-F5344CB8AC3E}">
        <p14:creationId xmlns:p14="http://schemas.microsoft.com/office/powerpoint/2010/main" val="763091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CB7BBF07-EBD2-46C2-A5F8-47DAA7CB6686}"/>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B40D426-DF7A-4EB9-8B08-153D022C6E6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2FBC1E5-58CB-46EE-AE3A-D72CBFE12461}"/>
              </a:ext>
            </a:extLst>
          </p:cNvPr>
          <p:cNvSpPr>
            <a:spLocks noGrp="1"/>
          </p:cNvSpPr>
          <p:nvPr>
            <p:ph type="sldNum" sz="quarter" idx="12"/>
          </p:nvPr>
        </p:nvSpPr>
        <p:spPr/>
        <p:txBody>
          <a:bodyPr/>
          <a:lstStyle>
            <a:lvl1pPr>
              <a:defRPr/>
            </a:lvl1pPr>
          </a:lstStyle>
          <a:p>
            <a:pPr>
              <a:defRPr/>
            </a:pPr>
            <a:fld id="{1DBF4950-E987-4DF8-B2A1-CDFD3FDFC696}" type="slidenum">
              <a:rPr lang="en-US"/>
              <a:pPr>
                <a:defRPr/>
              </a:pPr>
              <a:t>‹#›</a:t>
            </a:fld>
            <a:endParaRPr lang="en-US"/>
          </a:p>
        </p:txBody>
      </p:sp>
    </p:spTree>
    <p:extLst>
      <p:ext uri="{BB962C8B-B14F-4D97-AF65-F5344CB8AC3E}">
        <p14:creationId xmlns:p14="http://schemas.microsoft.com/office/powerpoint/2010/main" val="3383229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C98AB6C5-4AA9-42E7-9165-7FAB2CF29FB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77922806-9A0A-4ED5-985F-29E98DBEC9C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660E043-7EB1-43EC-B4B2-D3F1C8E77E67}"/>
              </a:ext>
            </a:extLst>
          </p:cNvPr>
          <p:cNvSpPr>
            <a:spLocks noGrp="1"/>
          </p:cNvSpPr>
          <p:nvPr>
            <p:ph type="sldNum" sz="quarter" idx="12"/>
          </p:nvPr>
        </p:nvSpPr>
        <p:spPr/>
        <p:txBody>
          <a:bodyPr/>
          <a:lstStyle>
            <a:lvl1pPr>
              <a:defRPr/>
            </a:lvl1pPr>
          </a:lstStyle>
          <a:p>
            <a:pPr>
              <a:defRPr/>
            </a:pPr>
            <a:fld id="{C24AEBC6-7C0E-4D2B-BED6-6613C9834473}" type="slidenum">
              <a:rPr lang="en-US"/>
              <a:pPr>
                <a:defRPr/>
              </a:pPr>
              <a:t>‹#›</a:t>
            </a:fld>
            <a:endParaRPr lang="en-US"/>
          </a:p>
        </p:txBody>
      </p:sp>
    </p:spTree>
    <p:extLst>
      <p:ext uri="{BB962C8B-B14F-4D97-AF65-F5344CB8AC3E}">
        <p14:creationId xmlns:p14="http://schemas.microsoft.com/office/powerpoint/2010/main" val="1743177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7F114-F191-4ED5-B66A-717B4C911EB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6110E6BE-3E1B-4790-B696-A8B7608BA98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9A928-5ED0-4DC5-A85D-9F3993FBDA4F}"/>
              </a:ext>
            </a:extLst>
          </p:cNvPr>
          <p:cNvSpPr>
            <a:spLocks noGrp="1"/>
          </p:cNvSpPr>
          <p:nvPr>
            <p:ph type="sldNum" sz="quarter" idx="12"/>
          </p:nvPr>
        </p:nvSpPr>
        <p:spPr/>
        <p:txBody>
          <a:bodyPr/>
          <a:lstStyle>
            <a:lvl1pPr>
              <a:defRPr/>
            </a:lvl1pPr>
          </a:lstStyle>
          <a:p>
            <a:pPr>
              <a:defRPr/>
            </a:pPr>
            <a:fld id="{1CFF831A-8071-461E-8E63-87F0C6F0E796}" type="slidenum">
              <a:rPr lang="en-US"/>
              <a:pPr>
                <a:defRPr/>
              </a:pPr>
              <a:t>‹#›</a:t>
            </a:fld>
            <a:endParaRPr lang="en-US"/>
          </a:p>
        </p:txBody>
      </p:sp>
    </p:spTree>
    <p:extLst>
      <p:ext uri="{BB962C8B-B14F-4D97-AF65-F5344CB8AC3E}">
        <p14:creationId xmlns:p14="http://schemas.microsoft.com/office/powerpoint/2010/main" val="2672334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D7D3C9-FA6E-4B8C-B6FE-900838ADD6F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4E07C3BC-E574-4A9E-855B-5F8CFE67023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23288C1-EA6E-4039-84D6-33251ADCF2B0}"/>
              </a:ext>
            </a:extLst>
          </p:cNvPr>
          <p:cNvSpPr>
            <a:spLocks noGrp="1"/>
          </p:cNvSpPr>
          <p:nvPr>
            <p:ph type="sldNum" sz="quarter" idx="12"/>
          </p:nvPr>
        </p:nvSpPr>
        <p:spPr/>
        <p:txBody>
          <a:bodyPr/>
          <a:lstStyle>
            <a:lvl1pPr>
              <a:defRPr/>
            </a:lvl1pPr>
          </a:lstStyle>
          <a:p>
            <a:pPr>
              <a:defRPr/>
            </a:pPr>
            <a:fld id="{C9D413E8-F1A1-4988-8B78-BA7C12502601}" type="slidenum">
              <a:rPr lang="en-US"/>
              <a:pPr>
                <a:defRPr/>
              </a:pPr>
              <a:t>‹#›</a:t>
            </a:fld>
            <a:endParaRPr lang="en-US"/>
          </a:p>
        </p:txBody>
      </p:sp>
    </p:spTree>
    <p:extLst>
      <p:ext uri="{BB962C8B-B14F-4D97-AF65-F5344CB8AC3E}">
        <p14:creationId xmlns:p14="http://schemas.microsoft.com/office/powerpoint/2010/main" val="2697272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D0C03D-F37B-4B21-B644-9C2B362A8087}"/>
              </a:ext>
            </a:extLst>
          </p:cNvPr>
          <p:cNvSpPr/>
          <p:nvPr userDrawn="1"/>
        </p:nvSpPr>
        <p:spPr>
          <a:xfrm>
            <a:off x="8264525" y="6356350"/>
            <a:ext cx="250825" cy="36512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IN" sz="1800"/>
          </a:p>
        </p:txBody>
      </p:sp>
      <p:sp>
        <p:nvSpPr>
          <p:cNvPr id="3" name="Date Placeholder 3">
            <a:extLst>
              <a:ext uri="{FF2B5EF4-FFF2-40B4-BE49-F238E27FC236}">
                <a16:creationId xmlns:a16="http://schemas.microsoft.com/office/drawing/2014/main" id="{31830121-33AC-4966-B597-CD981E990A84}"/>
              </a:ext>
            </a:extLst>
          </p:cNvPr>
          <p:cNvSpPr>
            <a:spLocks noGrp="1"/>
          </p:cNvSpPr>
          <p:nvPr>
            <p:ph type="dt" sz="half" idx="10"/>
          </p:nvPr>
        </p:nvSpPr>
        <p:spPr/>
        <p:txBody>
          <a:bodyPr/>
          <a:lstStyle>
            <a:lvl1pPr>
              <a:defRPr>
                <a:solidFill>
                  <a:prstClr val="black">
                    <a:tint val="75000"/>
                  </a:prstClr>
                </a:solidFill>
              </a:defRPr>
            </a:lvl1pPr>
          </a:lstStyle>
          <a:p>
            <a:pPr>
              <a:defRPr/>
            </a:pPr>
            <a:endParaRPr lang="en-US"/>
          </a:p>
        </p:txBody>
      </p:sp>
      <p:sp>
        <p:nvSpPr>
          <p:cNvPr id="4" name="Footer Placeholder 4">
            <a:extLst>
              <a:ext uri="{FF2B5EF4-FFF2-40B4-BE49-F238E27FC236}">
                <a16:creationId xmlns:a16="http://schemas.microsoft.com/office/drawing/2014/main" id="{2BE808D0-D5D9-48C3-86E9-2044BA6D0BB3}"/>
              </a:ext>
            </a:extLst>
          </p:cNvPr>
          <p:cNvSpPr>
            <a:spLocks noGrp="1"/>
          </p:cNvSpPr>
          <p:nvPr>
            <p:ph type="ftr" sz="quarter" idx="11"/>
          </p:nvPr>
        </p:nvSpPr>
        <p:spPr/>
        <p:txBody>
          <a:bodyPr/>
          <a:lstStyle>
            <a:lvl1pPr>
              <a:defRPr>
                <a:solidFill>
                  <a:prstClr val="black">
                    <a:tint val="75000"/>
                  </a:prstClr>
                </a:solidFill>
              </a:defRPr>
            </a:lvl1pPr>
          </a:lstStyle>
          <a:p>
            <a:pPr>
              <a:defRPr/>
            </a:pPr>
            <a:endParaRPr lang="en-US"/>
          </a:p>
        </p:txBody>
      </p:sp>
      <p:sp>
        <p:nvSpPr>
          <p:cNvPr id="5" name="Slide Number Placeholder 5">
            <a:extLst>
              <a:ext uri="{FF2B5EF4-FFF2-40B4-BE49-F238E27FC236}">
                <a16:creationId xmlns:a16="http://schemas.microsoft.com/office/drawing/2014/main" id="{9DA19BAA-B7BE-4EE3-BE0D-E990386837F8}"/>
              </a:ext>
            </a:extLst>
          </p:cNvPr>
          <p:cNvSpPr>
            <a:spLocks noGrp="1"/>
          </p:cNvSpPr>
          <p:nvPr>
            <p:ph type="sldNum" sz="quarter" idx="12"/>
          </p:nvPr>
        </p:nvSpPr>
        <p:spPr/>
        <p:txBody>
          <a:bodyPr/>
          <a:lstStyle>
            <a:lvl1pPr>
              <a:defRPr>
                <a:solidFill>
                  <a:prstClr val="black">
                    <a:tint val="75000"/>
                  </a:prstClr>
                </a:solidFill>
              </a:defRPr>
            </a:lvl1pPr>
          </a:lstStyle>
          <a:p>
            <a:pPr>
              <a:defRPr/>
            </a:pPr>
            <a:fld id="{E238BC30-C379-4E76-BCD0-A12BA7BE498B}" type="slidenum">
              <a:rPr lang="en-US"/>
              <a:pPr>
                <a:defRPr/>
              </a:pPr>
              <a:t>‹#›</a:t>
            </a:fld>
            <a:endParaRPr lang="en-US"/>
          </a:p>
        </p:txBody>
      </p:sp>
    </p:spTree>
    <p:extLst>
      <p:ext uri="{BB962C8B-B14F-4D97-AF65-F5344CB8AC3E}">
        <p14:creationId xmlns:p14="http://schemas.microsoft.com/office/powerpoint/2010/main" val="4085769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588250" cy="685800"/>
          </a:xfrm>
        </p:spPr>
        <p:txBody>
          <a:bodyPr/>
          <a:lstStyle/>
          <a:p>
            <a:r>
              <a:rPr lang="en-US"/>
              <a:t>Click to edit Master title style</a:t>
            </a:r>
          </a:p>
        </p:txBody>
      </p:sp>
      <p:sp>
        <p:nvSpPr>
          <p:cNvPr id="3" name="Text Placeholder 2"/>
          <p:cNvSpPr>
            <a:spLocks noGrp="1"/>
          </p:cNvSpPr>
          <p:nvPr>
            <p:ph type="body" sz="half" idx="1"/>
          </p:nvPr>
        </p:nvSpPr>
        <p:spPr>
          <a:xfrm>
            <a:off x="609600" y="1266825"/>
            <a:ext cx="40767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38700" y="1266825"/>
            <a:ext cx="40767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85898A-1ED1-4E82-9124-C91170191AC3}"/>
              </a:ext>
            </a:extLst>
          </p:cNvPr>
          <p:cNvSpPr>
            <a:spLocks noGrp="1"/>
          </p:cNvSpPr>
          <p:nvPr>
            <p:ph type="dt" sz="half" idx="10"/>
          </p:nvPr>
        </p:nvSpPr>
        <p:spPr>
          <a:xfrm>
            <a:off x="1225550" y="6248400"/>
            <a:ext cx="1905000" cy="457200"/>
          </a:xfrm>
        </p:spPr>
        <p:txBody>
          <a:bodyPr/>
          <a:lstStyle>
            <a:lvl1pPr>
              <a:defRPr/>
            </a:lvl1pPr>
          </a:lstStyle>
          <a:p>
            <a:pPr>
              <a:defRPr/>
            </a:pPr>
            <a:endParaRPr lang="en-US" altLang="en-US"/>
          </a:p>
        </p:txBody>
      </p:sp>
    </p:spTree>
    <p:extLst>
      <p:ext uri="{BB962C8B-B14F-4D97-AF65-F5344CB8AC3E}">
        <p14:creationId xmlns:p14="http://schemas.microsoft.com/office/powerpoint/2010/main" val="1381046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A6AB879-7681-420C-B7AF-A6DDE8F50F4A}"/>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157BF98-BD79-456E-BB6C-9EDE4D2B2E1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8354B79-F42A-45C6-9B35-5B9E687DF2CB}"/>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F46DFE24-4E68-4382-8CAC-4603ADC925C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8736250D-C85A-4729-B17A-1713E0C9CE2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C2D9D3D7-DDFF-4AC4-8E32-CD26190114AC}" type="slidenum">
              <a:rPr lang="en-US"/>
              <a:pPr>
                <a:defRPr/>
              </a:pPr>
              <a:t>‹#›</a:t>
            </a:fld>
            <a:endParaRPr lang="en-US"/>
          </a:p>
        </p:txBody>
      </p:sp>
      <p:sp>
        <p:nvSpPr>
          <p:cNvPr id="7" name="Rectangle 6">
            <a:extLst>
              <a:ext uri="{FF2B5EF4-FFF2-40B4-BE49-F238E27FC236}">
                <a16:creationId xmlns:a16="http://schemas.microsoft.com/office/drawing/2014/main" id="{23FEECD3-7F83-42A3-B811-AA3ED3E63DCC}"/>
              </a:ext>
            </a:extLst>
          </p:cNvPr>
          <p:cNvSpPr/>
          <p:nvPr userDrawn="1"/>
        </p:nvSpPr>
        <p:spPr>
          <a:xfrm>
            <a:off x="8293100" y="6356350"/>
            <a:ext cx="222250" cy="36512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IN" sz="1800"/>
          </a:p>
        </p:txBody>
      </p:sp>
    </p:spTree>
  </p:cSld>
  <p:clrMap bg1="lt1" tx1="dk1" bg2="lt2" tx2="dk2" accent1="accent1" accent2="accent2" accent3="accent3" accent4="accent4" accent5="accent5" accent6="accent6" hlink="hlink" folHlink="folHlink"/>
  <p:sldLayoutIdLst>
    <p:sldLayoutId id="2147483730" r:id="rId1"/>
    <p:sldLayoutId id="214748374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1" r:id="rId12"/>
    <p:sldLayoutId id="2147483742" r:id="rId13"/>
  </p:sldLayoutIdLst>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studytonight.com/data-structures/heap-sort" TargetMode="External"/><Relationship Id="rId2" Type="http://schemas.openxmlformats.org/officeDocument/2006/relationships/hyperlink" Target="http://epgp.inflibnet.ac.in/epgpdata/uploads/epgp_content/S000007CS/P001064/M014960/ET/1459249858E17.pdf" TargetMode="External"/><Relationship Id="rId1" Type="http://schemas.openxmlformats.org/officeDocument/2006/relationships/slideLayout" Target="../slideLayouts/slideLayout2.xml"/><Relationship Id="rId4" Type="http://schemas.openxmlformats.org/officeDocument/2006/relationships/hyperlink" Target="https://www.interviewbit.com/tutorial/heap-sort-algorithm/"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www.studytonight.com/data-structures/heap-sort" TargetMode="External"/><Relationship Id="rId2" Type="http://schemas.openxmlformats.org/officeDocument/2006/relationships/hyperlink" Target="http://epgp.inflibnet.ac.in/epgpdata/uploads/epgp_content/S000007CS/P001064/M014960/ET/1459249858E17.pdf" TargetMode="External"/><Relationship Id="rId1" Type="http://schemas.openxmlformats.org/officeDocument/2006/relationships/slideLayout" Target="../slideLayouts/slideLayout2.xml"/><Relationship Id="rId4" Type="http://schemas.openxmlformats.org/officeDocument/2006/relationships/hyperlink" Target="https://www.interviewbit.com/tutorial/heap-sort-algorithm/" TargetMode="External"/></Relationships>
</file>

<file path=ppt/slides/_rels/slide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696171DA-463D-4963-A6DC-4A74C415AAC4}"/>
              </a:ext>
            </a:extLst>
          </p:cNvPr>
          <p:cNvSpPr/>
          <p:nvPr/>
        </p:nvSpPr>
        <p:spPr>
          <a:xfrm>
            <a:off x="-3175" y="4927600"/>
            <a:ext cx="9147175" cy="1139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32" name="Rectangle 31">
            <a:extLst>
              <a:ext uri="{FF2B5EF4-FFF2-40B4-BE49-F238E27FC236}">
                <a16:creationId xmlns:a16="http://schemas.microsoft.com/office/drawing/2014/main" id="{0CAA474C-C454-44BE-8F8A-C01A2F80D3E4}"/>
              </a:ext>
            </a:extLst>
          </p:cNvPr>
          <p:cNvSpPr/>
          <p:nvPr/>
        </p:nvSpPr>
        <p:spPr>
          <a:xfrm>
            <a:off x="227013" y="5283200"/>
            <a:ext cx="33337" cy="4603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7172" name="Slide Number Placeholder 2">
            <a:extLst>
              <a:ext uri="{FF2B5EF4-FFF2-40B4-BE49-F238E27FC236}">
                <a16:creationId xmlns:a16="http://schemas.microsoft.com/office/drawing/2014/main" id="{27A67675-24C3-47EF-9797-DE50311415E5}"/>
              </a:ext>
            </a:extLst>
          </p:cNvPr>
          <p:cNvSpPr txBox="1">
            <a:spLocks noChangeArrowheads="1"/>
          </p:cNvSpPr>
          <p:nvPr/>
        </p:nvSpPr>
        <p:spPr bwMode="auto">
          <a:xfrm>
            <a:off x="6572250" y="57388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indent="-17145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indent="-17145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r" eaLnBrk="1" hangingPunct="1">
              <a:lnSpc>
                <a:spcPct val="100000"/>
              </a:lnSpc>
              <a:spcBef>
                <a:spcPct val="0"/>
              </a:spcBef>
              <a:buFontTx/>
              <a:buNone/>
            </a:pPr>
            <a:endParaRPr lang="en-US" altLang="en-US" sz="900">
              <a:solidFill>
                <a:srgbClr val="898989"/>
              </a:solidFill>
            </a:endParaRPr>
          </a:p>
        </p:txBody>
      </p:sp>
      <p:sp>
        <p:nvSpPr>
          <p:cNvPr id="46" name="Right Triangle 45">
            <a:extLst>
              <a:ext uri="{FF2B5EF4-FFF2-40B4-BE49-F238E27FC236}">
                <a16:creationId xmlns:a16="http://schemas.microsoft.com/office/drawing/2014/main" id="{96AAC23C-164A-4373-ABCE-D19CAD478833}"/>
              </a:ext>
            </a:extLst>
          </p:cNvPr>
          <p:cNvSpPr/>
          <p:nvPr/>
        </p:nvSpPr>
        <p:spPr>
          <a:xfrm flipV="1">
            <a:off x="7129463" y="5311775"/>
            <a:ext cx="969962" cy="868363"/>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defTabSz="685800" eaLnBrk="1" fontAlgn="auto" hangingPunct="1">
              <a:spcBef>
                <a:spcPts val="0"/>
              </a:spcBef>
              <a:spcAft>
                <a:spcPts val="0"/>
              </a:spcAft>
              <a:defRPr/>
            </a:pPr>
            <a:endParaRPr lang="en-ID" sz="1350" kern="0">
              <a:solidFill>
                <a:srgbClr val="FFFFFF"/>
              </a:solidFill>
              <a:latin typeface="Calibri" panose="020F0502020204030204"/>
            </a:endParaRPr>
          </a:p>
        </p:txBody>
      </p:sp>
      <p:sp>
        <p:nvSpPr>
          <p:cNvPr id="45" name="Rectangle 44">
            <a:extLst>
              <a:ext uri="{FF2B5EF4-FFF2-40B4-BE49-F238E27FC236}">
                <a16:creationId xmlns:a16="http://schemas.microsoft.com/office/drawing/2014/main" id="{6EEDF67E-F535-4451-838A-CCAF18C4858E}"/>
              </a:ext>
            </a:extLst>
          </p:cNvPr>
          <p:cNvSpPr/>
          <p:nvPr/>
        </p:nvSpPr>
        <p:spPr>
          <a:xfrm>
            <a:off x="1593056" y="237639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43" name="Right Triangle 42">
            <a:extLst>
              <a:ext uri="{FF2B5EF4-FFF2-40B4-BE49-F238E27FC236}">
                <a16:creationId xmlns:a16="http://schemas.microsoft.com/office/drawing/2014/main" id="{1A6C4D77-631E-4D25-9136-41A663C95781}"/>
              </a:ext>
            </a:extLst>
          </p:cNvPr>
          <p:cNvSpPr/>
          <p:nvPr/>
        </p:nvSpPr>
        <p:spPr>
          <a:xfrm rot="10800000" flipV="1">
            <a:off x="7372350" y="4857750"/>
            <a:ext cx="1774825" cy="120015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7178" name="TextBox 35">
            <a:extLst>
              <a:ext uri="{FF2B5EF4-FFF2-40B4-BE49-F238E27FC236}">
                <a16:creationId xmlns:a16="http://schemas.microsoft.com/office/drawing/2014/main" id="{3570E7E2-F756-4718-B62E-CFD5A8340C3C}"/>
              </a:ext>
            </a:extLst>
          </p:cNvPr>
          <p:cNvSpPr txBox="1">
            <a:spLocks noChangeArrowheads="1"/>
          </p:cNvSpPr>
          <p:nvPr/>
        </p:nvSpPr>
        <p:spPr bwMode="auto">
          <a:xfrm>
            <a:off x="5227638" y="5372100"/>
            <a:ext cx="369728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500" b="1">
                <a:solidFill>
                  <a:srgbClr val="595959"/>
                </a:solidFill>
                <a:latin typeface="Casper" panose="02000506000000020004"/>
                <a:ea typeface="Karla" panose="020B0604020202020204" pitchFamily="2" charset="0"/>
                <a:cs typeface="Karla" panose="020B0604020202020204" pitchFamily="2" charset="0"/>
              </a:rPr>
              <a:t>DISCOVER . </a:t>
            </a:r>
            <a:r>
              <a:rPr lang="en-US" altLang="en-US" sz="1500" b="1">
                <a:solidFill>
                  <a:srgbClr val="C00000"/>
                </a:solidFill>
                <a:latin typeface="Casper" panose="02000506000000020004"/>
                <a:ea typeface="Karla" panose="020B0604020202020204" pitchFamily="2" charset="0"/>
                <a:cs typeface="Karla" panose="020B0604020202020204" pitchFamily="2" charset="0"/>
              </a:rPr>
              <a:t>LEARN</a:t>
            </a:r>
            <a:r>
              <a:rPr lang="en-US" altLang="en-US" sz="1500" b="1">
                <a:solidFill>
                  <a:srgbClr val="595959"/>
                </a:solidFill>
                <a:latin typeface="Casper" panose="02000506000000020004"/>
                <a:ea typeface="Karla" panose="020B0604020202020204" pitchFamily="2" charset="0"/>
                <a:cs typeface="Karla" panose="020B0604020202020204" pitchFamily="2" charset="0"/>
              </a:rPr>
              <a:t> . EMPOWER</a:t>
            </a:r>
            <a:endParaRPr lang="en-US" altLang="en-US" sz="900" b="1">
              <a:solidFill>
                <a:srgbClr val="000000"/>
              </a:solidFill>
              <a:latin typeface="Casper" panose="02000506000000020004"/>
            </a:endParaRPr>
          </a:p>
          <a:p>
            <a:pPr eaLnBrk="1" hangingPunct="1"/>
            <a:endParaRPr lang="en-US" altLang="en-US" sz="1200" b="1">
              <a:latin typeface="Casper" panose="02000506000000020004"/>
            </a:endParaRPr>
          </a:p>
        </p:txBody>
      </p:sp>
      <p:sp>
        <p:nvSpPr>
          <p:cNvPr id="52" name="Rectangle 51">
            <a:extLst>
              <a:ext uri="{FF2B5EF4-FFF2-40B4-BE49-F238E27FC236}">
                <a16:creationId xmlns:a16="http://schemas.microsoft.com/office/drawing/2014/main" id="{14EE2692-F034-419F-ACB9-F13386EAF4F9}"/>
              </a:ext>
            </a:extLst>
          </p:cNvPr>
          <p:cNvSpPr/>
          <p:nvPr/>
        </p:nvSpPr>
        <p:spPr>
          <a:xfrm>
            <a:off x="5164138" y="5389563"/>
            <a:ext cx="34925" cy="27781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7180" name="TextBox 52">
            <a:extLst>
              <a:ext uri="{FF2B5EF4-FFF2-40B4-BE49-F238E27FC236}">
                <a16:creationId xmlns:a16="http://schemas.microsoft.com/office/drawing/2014/main" id="{08891644-3348-4A0C-BAD2-E336AD560B1B}"/>
              </a:ext>
            </a:extLst>
          </p:cNvPr>
          <p:cNvSpPr txBox="1">
            <a:spLocks noChangeArrowheads="1"/>
          </p:cNvSpPr>
          <p:nvPr/>
        </p:nvSpPr>
        <p:spPr bwMode="auto">
          <a:xfrm>
            <a:off x="765175" y="5367338"/>
            <a:ext cx="3714750"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66725">
              <a:defRPr sz="2400">
                <a:solidFill>
                  <a:schemeClr val="tx1"/>
                </a:solidFill>
                <a:latin typeface="Times New Roman" panose="02020603050405020304" pitchFamily="18" charset="0"/>
              </a:defRPr>
            </a:lvl1pPr>
            <a:lvl2pPr marL="742950" indent="-285750" defTabSz="466725">
              <a:defRPr sz="2400">
                <a:solidFill>
                  <a:schemeClr val="tx1"/>
                </a:solidFill>
                <a:latin typeface="Times New Roman" panose="02020603050405020304" pitchFamily="18" charset="0"/>
              </a:defRPr>
            </a:lvl2pPr>
            <a:lvl3pPr marL="1143000" indent="-228600" defTabSz="466725">
              <a:defRPr sz="2400">
                <a:solidFill>
                  <a:schemeClr val="tx1"/>
                </a:solidFill>
                <a:latin typeface="Times New Roman" panose="02020603050405020304" pitchFamily="18" charset="0"/>
              </a:defRPr>
            </a:lvl3pPr>
            <a:lvl4pPr marL="1600200" indent="-228600" defTabSz="466725">
              <a:defRPr sz="2400">
                <a:solidFill>
                  <a:schemeClr val="tx1"/>
                </a:solidFill>
                <a:latin typeface="Times New Roman" panose="02020603050405020304" pitchFamily="18" charset="0"/>
              </a:defRPr>
            </a:lvl4pPr>
            <a:lvl5pPr marL="2057400" indent="-228600" defTabSz="466725">
              <a:defRPr sz="2400">
                <a:solidFill>
                  <a:schemeClr val="tx1"/>
                </a:solidFill>
                <a:latin typeface="Times New Roman" panose="02020603050405020304" pitchFamily="18" charset="0"/>
              </a:defRPr>
            </a:lvl5pPr>
            <a:lvl6pPr marL="2514600" indent="-228600" defTabSz="4667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67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67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6725"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spcAft>
                <a:spcPct val="35000"/>
              </a:spcAft>
            </a:pPr>
            <a:r>
              <a:rPr lang="en-US" altLang="en-US" sz="1800" b="1" dirty="0">
                <a:solidFill>
                  <a:srgbClr val="262626"/>
                </a:solidFill>
                <a:cs typeface="Times New Roman" panose="02020603050405020304" pitchFamily="18" charset="0"/>
              </a:rPr>
              <a:t>UNIT-2</a:t>
            </a:r>
            <a:endParaRPr lang="en-US" altLang="en-US" sz="1200" dirty="0">
              <a:latin typeface="Raleway ExtraBold" pitchFamily="2" charset="0"/>
            </a:endParaRPr>
          </a:p>
        </p:txBody>
      </p:sp>
      <p:sp>
        <p:nvSpPr>
          <p:cNvPr id="7181" name="TextBox 25">
            <a:extLst>
              <a:ext uri="{FF2B5EF4-FFF2-40B4-BE49-F238E27FC236}">
                <a16:creationId xmlns:a16="http://schemas.microsoft.com/office/drawing/2014/main" id="{D8EDFF10-154F-4EC9-86C7-15A31E9E62F3}"/>
              </a:ext>
            </a:extLst>
          </p:cNvPr>
          <p:cNvSpPr txBox="1">
            <a:spLocks noChangeArrowheads="1"/>
          </p:cNvSpPr>
          <p:nvPr/>
        </p:nvSpPr>
        <p:spPr bwMode="auto">
          <a:xfrm>
            <a:off x="449263" y="1712913"/>
            <a:ext cx="8475661" cy="330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66725">
              <a:defRPr sz="2400">
                <a:solidFill>
                  <a:schemeClr val="tx1"/>
                </a:solidFill>
                <a:latin typeface="Times New Roman" panose="02020603050405020304" pitchFamily="18" charset="0"/>
              </a:defRPr>
            </a:lvl1pPr>
            <a:lvl2pPr marL="742950" indent="-285750" defTabSz="466725">
              <a:defRPr sz="2400">
                <a:solidFill>
                  <a:schemeClr val="tx1"/>
                </a:solidFill>
                <a:latin typeface="Times New Roman" panose="02020603050405020304" pitchFamily="18" charset="0"/>
              </a:defRPr>
            </a:lvl2pPr>
            <a:lvl3pPr marL="1143000" indent="-228600" defTabSz="466725">
              <a:defRPr sz="2400">
                <a:solidFill>
                  <a:schemeClr val="tx1"/>
                </a:solidFill>
                <a:latin typeface="Times New Roman" panose="02020603050405020304" pitchFamily="18" charset="0"/>
              </a:defRPr>
            </a:lvl3pPr>
            <a:lvl4pPr marL="1600200" indent="-228600" defTabSz="466725">
              <a:defRPr sz="2400">
                <a:solidFill>
                  <a:schemeClr val="tx1"/>
                </a:solidFill>
                <a:latin typeface="Times New Roman" panose="02020603050405020304" pitchFamily="18" charset="0"/>
              </a:defRPr>
            </a:lvl4pPr>
            <a:lvl5pPr marL="2057400" indent="-228600" defTabSz="466725">
              <a:defRPr sz="2400">
                <a:solidFill>
                  <a:schemeClr val="tx1"/>
                </a:solidFill>
                <a:latin typeface="Times New Roman" panose="02020603050405020304" pitchFamily="18" charset="0"/>
              </a:defRPr>
            </a:lvl5pPr>
            <a:lvl6pPr marL="2514600" indent="-228600" defTabSz="4667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667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667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66725"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spcAft>
                <a:spcPct val="35000"/>
              </a:spcAft>
            </a:pPr>
            <a:r>
              <a:rPr lang="en-US" altLang="en-US" sz="2800" b="1" dirty="0">
                <a:ea typeface="Karla" panose="020B0604020202020204" pitchFamily="2" charset="0"/>
                <a:cs typeface="Times New Roman" panose="02020603050405020304" pitchFamily="18" charset="0"/>
              </a:rPr>
              <a:t>UNIVERSITY INSTITUTE OF COMPUTING</a:t>
            </a:r>
          </a:p>
          <a:p>
            <a:pPr algn="ctr">
              <a:lnSpc>
                <a:spcPct val="90000"/>
              </a:lnSpc>
              <a:spcAft>
                <a:spcPct val="35000"/>
              </a:spcAft>
            </a:pPr>
            <a:r>
              <a:rPr lang="en-US" altLang="en-US" b="1" dirty="0">
                <a:ea typeface="Calibri" panose="020F0502020204030204" pitchFamily="34" charset="0"/>
                <a:cs typeface="Times New Roman" panose="02020603050405020304" pitchFamily="18" charset="0"/>
              </a:rPr>
              <a:t>MASTER OF COMPUTER APPLICATIONS</a:t>
            </a:r>
          </a:p>
          <a:p>
            <a:pPr algn="ctr">
              <a:lnSpc>
                <a:spcPct val="90000"/>
              </a:lnSpc>
              <a:spcAft>
                <a:spcPct val="35000"/>
              </a:spcAft>
            </a:pPr>
            <a:r>
              <a:rPr lang="en-US" altLang="en-US" sz="2000" b="1" dirty="0">
                <a:ea typeface="Calibri" panose="020F0502020204030204" pitchFamily="34" charset="0"/>
                <a:cs typeface="Times New Roman" panose="02020603050405020304" pitchFamily="18" charset="0"/>
              </a:rPr>
              <a:t>DESIGN AND ANALYSIS OF ALGORITHMS </a:t>
            </a:r>
          </a:p>
          <a:p>
            <a:pPr algn="ctr">
              <a:lnSpc>
                <a:spcPct val="90000"/>
              </a:lnSpc>
              <a:spcAft>
                <a:spcPct val="35000"/>
              </a:spcAft>
            </a:pPr>
            <a:endParaRPr lang="en-US" altLang="en-US" sz="2800" b="1" dirty="0">
              <a:solidFill>
                <a:srgbClr val="262626"/>
              </a:solidFill>
              <a:cs typeface="Times New Roman" panose="02020603050405020304" pitchFamily="18" charset="0"/>
            </a:endParaRPr>
          </a:p>
          <a:p>
            <a:pPr algn="ctr">
              <a:lnSpc>
                <a:spcPct val="90000"/>
              </a:lnSpc>
              <a:spcAft>
                <a:spcPct val="35000"/>
              </a:spcAft>
            </a:pPr>
            <a:endParaRPr lang="en-US" altLang="en-US" sz="2800" b="1" dirty="0">
              <a:solidFill>
                <a:srgbClr val="262626"/>
              </a:solidFill>
              <a:cs typeface="Times New Roman" panose="02020603050405020304" pitchFamily="18" charset="0"/>
            </a:endParaRPr>
          </a:p>
          <a:p>
            <a:pPr algn="ctr">
              <a:lnSpc>
                <a:spcPct val="90000"/>
              </a:lnSpc>
              <a:spcAft>
                <a:spcPct val="35000"/>
              </a:spcAft>
            </a:pPr>
            <a:r>
              <a:rPr lang="en-US" altLang="en-US" sz="2800" b="1" dirty="0">
                <a:solidFill>
                  <a:srgbClr val="262626"/>
                </a:solidFill>
                <a:cs typeface="Times New Roman" panose="02020603050405020304" pitchFamily="18" charset="0"/>
              </a:rPr>
              <a:t> </a:t>
            </a:r>
          </a:p>
          <a:p>
            <a:pPr eaLnBrk="1" hangingPunct="1"/>
            <a:endParaRPr lang="en-US" altLang="en-US" sz="1400" dirty="0">
              <a:cs typeface="Times New Roman" panose="02020603050405020304" pitchFamily="18" charset="0"/>
            </a:endParaRPr>
          </a:p>
        </p:txBody>
      </p:sp>
      <p:sp>
        <p:nvSpPr>
          <p:cNvPr id="2" name="Slide Number Placeholder 1">
            <a:extLst>
              <a:ext uri="{FF2B5EF4-FFF2-40B4-BE49-F238E27FC236}">
                <a16:creationId xmlns:a16="http://schemas.microsoft.com/office/drawing/2014/main" id="{B31FF25A-9768-404A-94E0-5CCA6C49B67F}"/>
              </a:ext>
            </a:extLst>
          </p:cNvPr>
          <p:cNvSpPr>
            <a:spLocks noGrp="1"/>
          </p:cNvSpPr>
          <p:nvPr>
            <p:ph type="sldNum" sz="quarter" idx="12"/>
          </p:nvPr>
        </p:nvSpPr>
        <p:spPr/>
        <p:txBody>
          <a:bodyPr/>
          <a:lstStyle/>
          <a:p>
            <a:pPr>
              <a:defRPr/>
            </a:pPr>
            <a:fld id="{A1A4A95A-CD76-48C0-9ACE-48BE49497AEC}" type="slidenum">
              <a:rPr lang="en-US" smtClean="0"/>
              <a:pPr>
                <a:defRPr/>
              </a:pPr>
              <a:t>0</a:t>
            </a:fld>
            <a:endParaRPr lang="en-US"/>
          </a:p>
        </p:txBody>
      </p:sp>
      <p:pic>
        <p:nvPicPr>
          <p:cNvPr id="7183" name="Picture 179">
            <a:extLst>
              <a:ext uri="{FF2B5EF4-FFF2-40B4-BE49-F238E27FC236}">
                <a16:creationId xmlns:a16="http://schemas.microsoft.com/office/drawing/2014/main" id="{D8542F69-0B61-4159-8BBC-B05097A5C66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38100" y="2943225"/>
            <a:ext cx="2476500"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DD0DB8F-C7AA-48AA-B121-AF0DF13BE07B}"/>
              </a:ext>
            </a:extLst>
          </p:cNvPr>
          <p:cNvSpPr>
            <a:spLocks noGrp="1"/>
          </p:cNvSpPr>
          <p:nvPr>
            <p:ph type="title"/>
          </p:nvPr>
        </p:nvSpPr>
        <p:spPr>
          <a:xfrm>
            <a:off x="628650" y="221797"/>
            <a:ext cx="6575425" cy="615950"/>
          </a:xfrm>
          <a:ln>
            <a:miter lim="800000"/>
            <a:headEnd/>
            <a:tailEnd/>
          </a:ln>
        </p:spPr>
        <p:txBody>
          <a:bodyPr/>
          <a:lstStyle/>
          <a:p>
            <a:r>
              <a:rPr lang="en-US" altLang="en-US" dirty="0">
                <a:solidFill>
                  <a:schemeClr val="tx1"/>
                </a:solidFill>
              </a:rPr>
              <a:t>Topics to be covered</a:t>
            </a:r>
          </a:p>
        </p:txBody>
      </p:sp>
      <p:sp>
        <p:nvSpPr>
          <p:cNvPr id="3" name="Content Placeholder 2">
            <a:extLst>
              <a:ext uri="{FF2B5EF4-FFF2-40B4-BE49-F238E27FC236}">
                <a16:creationId xmlns:a16="http://schemas.microsoft.com/office/drawing/2014/main" id="{97BB1A8C-62ED-43F3-AA1F-8E8193AF861B}"/>
              </a:ext>
            </a:extLst>
          </p:cNvPr>
          <p:cNvSpPr>
            <a:spLocks noGrp="1"/>
          </p:cNvSpPr>
          <p:nvPr>
            <p:ph idx="1"/>
          </p:nvPr>
        </p:nvSpPr>
        <p:spPr>
          <a:xfrm>
            <a:off x="628650" y="1219200"/>
            <a:ext cx="8058150" cy="4270375"/>
          </a:xfrm>
          <a:ln>
            <a:noFill/>
          </a:ln>
        </p:spPr>
        <p:txBody>
          <a:bodyPr>
            <a:normAutofit/>
          </a:bodyPr>
          <a:lstStyle/>
          <a:p>
            <a:pPr>
              <a:defRPr/>
            </a:pPr>
            <a:r>
              <a:rPr lang="en-US" dirty="0"/>
              <a:t>Heaps and Heap Sort</a:t>
            </a:r>
          </a:p>
          <a:p>
            <a:pPr marL="0" indent="0">
              <a:buFont typeface="Arial" panose="020B0604020202020204" pitchFamily="34" charset="0"/>
              <a:buNone/>
              <a:defRPr/>
            </a:pPr>
            <a:endParaRPr lang="en-US" dirty="0"/>
          </a:p>
        </p:txBody>
      </p:sp>
      <p:sp>
        <p:nvSpPr>
          <p:cNvPr id="4" name="Slide Number Placeholder 3">
            <a:extLst>
              <a:ext uri="{FF2B5EF4-FFF2-40B4-BE49-F238E27FC236}">
                <a16:creationId xmlns:a16="http://schemas.microsoft.com/office/drawing/2014/main" id="{F55DA6DE-E998-48F8-853D-B56CCFC7F014}"/>
              </a:ext>
            </a:extLst>
          </p:cNvPr>
          <p:cNvSpPr>
            <a:spLocks noGrp="1"/>
          </p:cNvSpPr>
          <p:nvPr>
            <p:ph type="sldNum" sz="quarter" idx="12"/>
          </p:nvPr>
        </p:nvSpPr>
        <p:spPr/>
        <p:txBody>
          <a:bodyPr/>
          <a:lstStyle/>
          <a:p>
            <a:pPr>
              <a:defRPr/>
            </a:pPr>
            <a:fld id="{7E851D7D-53A4-451C-B69B-D65954CD60EE}" type="slidenum">
              <a:rPr lang="en-US" smtClean="0">
                <a:cs typeface="Times New Roman" pitchFamily="18" charset="0"/>
              </a:rPr>
              <a:pPr>
                <a:defRPr/>
              </a:pPr>
              <a:t>1</a:t>
            </a:fld>
            <a:endParaRPr lang="en-US">
              <a:cs typeface="Times New Roman" pitchFamily="18" charset="0"/>
            </a:endParaRPr>
          </a:p>
        </p:txBody>
      </p:sp>
      <p:sp>
        <p:nvSpPr>
          <p:cNvPr id="5" name="Rectangle 4">
            <a:extLst>
              <a:ext uri="{FF2B5EF4-FFF2-40B4-BE49-F238E27FC236}">
                <a16:creationId xmlns:a16="http://schemas.microsoft.com/office/drawing/2014/main" id="{B297EA54-2E7A-4E64-B8DF-F2491473EF91}"/>
              </a:ext>
            </a:extLst>
          </p:cNvPr>
          <p:cNvSpPr/>
          <p:nvPr/>
        </p:nvSpPr>
        <p:spPr>
          <a:xfrm>
            <a:off x="628650" y="1066800"/>
            <a:ext cx="7886700" cy="50292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D5B3C1A7-7CDF-4917-A7B9-E24479F2617D}"/>
              </a:ext>
            </a:extLst>
          </p:cNvPr>
          <p:cNvSpPr/>
          <p:nvPr/>
        </p:nvSpPr>
        <p:spPr>
          <a:xfrm>
            <a:off x="628650" y="224972"/>
            <a:ext cx="6575425" cy="6032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645FA73-00E6-4960-9A00-A857DA40101D}"/>
              </a:ext>
            </a:extLst>
          </p:cNvPr>
          <p:cNvSpPr>
            <a:spLocks noGrp="1" noChangeArrowheads="1"/>
          </p:cNvSpPr>
          <p:nvPr>
            <p:ph type="title"/>
          </p:nvPr>
        </p:nvSpPr>
        <p:spPr>
          <a:xfrm>
            <a:off x="617538" y="152400"/>
            <a:ext cx="6553200" cy="685800"/>
          </a:xfrm>
          <a:ln>
            <a:miter lim="800000"/>
            <a:headEnd/>
            <a:tailEnd/>
          </a:ln>
        </p:spPr>
        <p:txBody>
          <a:bodyPr/>
          <a:lstStyle/>
          <a:p>
            <a:pPr eaLnBrk="1" hangingPunct="1"/>
            <a:r>
              <a:rPr lang="en-US" altLang="en-US" sz="4400">
                <a:solidFill>
                  <a:schemeClr val="tx1"/>
                </a:solidFill>
              </a:rPr>
              <a:t>Transform and Conquer</a:t>
            </a:r>
          </a:p>
        </p:txBody>
      </p:sp>
      <p:sp>
        <p:nvSpPr>
          <p:cNvPr id="345091" name="Rectangle 3">
            <a:extLst>
              <a:ext uri="{FF2B5EF4-FFF2-40B4-BE49-F238E27FC236}">
                <a16:creationId xmlns:a16="http://schemas.microsoft.com/office/drawing/2014/main" id="{E3A607EC-7414-4028-B73B-BCC2224E65F9}"/>
              </a:ext>
            </a:extLst>
          </p:cNvPr>
          <p:cNvSpPr>
            <a:spLocks noGrp="1" noChangeArrowheads="1"/>
          </p:cNvSpPr>
          <p:nvPr>
            <p:ph idx="1"/>
          </p:nvPr>
        </p:nvSpPr>
        <p:spPr>
          <a:xfrm>
            <a:off x="617538" y="1066800"/>
            <a:ext cx="8069262" cy="5057775"/>
          </a:xfrm>
        </p:spPr>
        <p:txBody>
          <a:bodyPr rtlCol="0">
            <a:normAutofit/>
          </a:bodyPr>
          <a:lstStyle/>
          <a:p>
            <a:pPr algn="just" eaLnBrk="1" fontAlgn="auto" hangingPunct="1">
              <a:spcAft>
                <a:spcPts val="0"/>
              </a:spcAft>
              <a:buFont typeface="Monotype Sorts" pitchFamily="2" charset="2"/>
              <a:buNone/>
              <a:defRPr/>
            </a:pPr>
            <a:r>
              <a:rPr lang="en-US" dirty="0"/>
              <a:t>Transform and conquer is a design paradigm where a given problem is transformed to another domain. This can be done for familiarity of simplicity. The problem is solved in the new domain. Then, the solutions are converted back to the original domain. In short, transform and conquer proposes two stage solution </a:t>
            </a:r>
          </a:p>
          <a:p>
            <a:pPr marL="457200" indent="-457200" algn="just" eaLnBrk="1" fontAlgn="auto" hangingPunct="1">
              <a:spcAft>
                <a:spcPts val="0"/>
              </a:spcAft>
              <a:buFont typeface="Monotype Sorts" pitchFamily="2" charset="2"/>
              <a:buAutoNum type="arabicPeriod"/>
              <a:defRPr/>
            </a:pPr>
            <a:r>
              <a:rPr lang="en-US" dirty="0"/>
              <a:t>First stage involves the transformation to another problem that is more amenable for solution</a:t>
            </a:r>
          </a:p>
          <a:p>
            <a:pPr marL="457200" indent="-457200" algn="just" eaLnBrk="1" fontAlgn="auto" hangingPunct="1">
              <a:spcAft>
                <a:spcPts val="0"/>
              </a:spcAft>
              <a:buFont typeface="Monotype Sorts" pitchFamily="2" charset="2"/>
              <a:buAutoNum type="arabicPeriod"/>
              <a:defRPr/>
            </a:pPr>
            <a:r>
              <a:rPr lang="en-US" dirty="0"/>
              <a:t>Second stage involves solving the new problem where the transformed new problem is solved. </a:t>
            </a:r>
          </a:p>
          <a:p>
            <a:pPr marL="0" indent="0" algn="just" eaLnBrk="1" fontAlgn="auto" hangingPunct="1">
              <a:spcAft>
                <a:spcPts val="0"/>
              </a:spcAft>
              <a:buFont typeface="Arial" panose="020B0604020202020204" pitchFamily="34" charset="0"/>
              <a:buNone/>
              <a:defRPr/>
            </a:pPr>
            <a:r>
              <a:rPr lang="en-US" dirty="0"/>
              <a:t>Then the solutions are converted back to the original problem. </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CD3FEBC5-8D80-4473-AAB2-C08C32D78F07}"/>
              </a:ext>
            </a:extLst>
          </p:cNvPr>
          <p:cNvSpPr>
            <a:spLocks noGrp="1"/>
          </p:cNvSpPr>
          <p:nvPr>
            <p:ph type="title"/>
          </p:nvPr>
        </p:nvSpPr>
        <p:spPr>
          <a:xfrm>
            <a:off x="628650" y="76200"/>
            <a:ext cx="6457950" cy="1206500"/>
          </a:xfrm>
          <a:ln>
            <a:miter lim="800000"/>
            <a:headEnd/>
            <a:tailEnd/>
          </a:ln>
        </p:spPr>
        <p:txBody>
          <a:bodyPr/>
          <a:lstStyle/>
          <a:p>
            <a:pPr eaLnBrk="1" hangingPunct="1"/>
            <a:r>
              <a:rPr lang="en-US" altLang="en-US" sz="4400">
                <a:solidFill>
                  <a:schemeClr val="tx1"/>
                </a:solidFill>
              </a:rPr>
              <a:t>Variations of Transform and Conquer</a:t>
            </a:r>
          </a:p>
        </p:txBody>
      </p:sp>
      <p:sp>
        <p:nvSpPr>
          <p:cNvPr id="12291" name="Content Placeholder 2">
            <a:extLst>
              <a:ext uri="{FF2B5EF4-FFF2-40B4-BE49-F238E27FC236}">
                <a16:creationId xmlns:a16="http://schemas.microsoft.com/office/drawing/2014/main" id="{B7204E2D-E68B-4C6C-BBBF-62E0EF7C3B68}"/>
              </a:ext>
            </a:extLst>
          </p:cNvPr>
          <p:cNvSpPr>
            <a:spLocks noGrp="1"/>
          </p:cNvSpPr>
          <p:nvPr>
            <p:ph idx="1"/>
          </p:nvPr>
        </p:nvSpPr>
        <p:spPr>
          <a:xfrm>
            <a:off x="628650" y="1447800"/>
            <a:ext cx="7886700" cy="4648200"/>
          </a:xfrm>
          <a:ln>
            <a:miter lim="800000"/>
            <a:headEnd/>
            <a:tailEnd/>
          </a:ln>
        </p:spPr>
        <p:txBody>
          <a:bodyPr/>
          <a:lstStyle/>
          <a:p>
            <a:pPr marL="0" indent="0" eaLnBrk="1" hangingPunct="1">
              <a:buFont typeface="Arial" panose="020B0604020202020204" pitchFamily="34" charset="0"/>
              <a:buNone/>
            </a:pPr>
            <a:r>
              <a:rPr lang="en-US" altLang="en-US" dirty="0"/>
              <a:t>Three variants of transform and conquer are as follows: </a:t>
            </a:r>
          </a:p>
          <a:p>
            <a:pPr marL="0" indent="0" eaLnBrk="1" hangingPunct="1">
              <a:buFont typeface="Arial" panose="020B0604020202020204" pitchFamily="34" charset="0"/>
              <a:buNone/>
            </a:pPr>
            <a:r>
              <a:rPr lang="en-US" altLang="en-US" dirty="0"/>
              <a:t>– Instance Simplification </a:t>
            </a:r>
          </a:p>
          <a:p>
            <a:pPr marL="0" indent="0" eaLnBrk="1" hangingPunct="1">
              <a:buFont typeface="Arial" panose="020B0604020202020204" pitchFamily="34" charset="0"/>
              <a:buNone/>
            </a:pPr>
            <a:r>
              <a:rPr lang="en-US" altLang="en-US" dirty="0"/>
              <a:t>– Representation Change </a:t>
            </a:r>
          </a:p>
          <a:p>
            <a:pPr marL="0" indent="0" eaLnBrk="1" hangingPunct="1">
              <a:buFont typeface="Arial" panose="020B0604020202020204" pitchFamily="34" charset="0"/>
              <a:buNone/>
            </a:pPr>
            <a:r>
              <a:rPr lang="en-US" altLang="en-US" dirty="0"/>
              <a:t>– Problem Reduction</a:t>
            </a:r>
          </a:p>
        </p:txBody>
      </p:sp>
      <p:sp>
        <p:nvSpPr>
          <p:cNvPr id="4" name="Slide Number Placeholder 3">
            <a:extLst>
              <a:ext uri="{FF2B5EF4-FFF2-40B4-BE49-F238E27FC236}">
                <a16:creationId xmlns:a16="http://schemas.microsoft.com/office/drawing/2014/main" id="{2562BCFC-6556-460C-A235-A14E7BF619EB}"/>
              </a:ext>
            </a:extLst>
          </p:cNvPr>
          <p:cNvSpPr>
            <a:spLocks noGrp="1"/>
          </p:cNvSpPr>
          <p:nvPr>
            <p:ph type="sldNum" sz="quarter" idx="12"/>
          </p:nvPr>
        </p:nvSpPr>
        <p:spPr/>
        <p:txBody>
          <a:bodyPr/>
          <a:lstStyle/>
          <a:p>
            <a:pPr>
              <a:defRPr/>
            </a:pPr>
            <a:fld id="{A1ECED78-F068-4B08-8272-2307C4049636}" type="slidenum">
              <a:rPr lang="en-US"/>
              <a:pPr>
                <a:defRPr/>
              </a:pPr>
              <a:t>3</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E56752D-5134-4B9C-B065-8DA3FC3FDB29}"/>
              </a:ext>
            </a:extLst>
          </p:cNvPr>
          <p:cNvSpPr>
            <a:spLocks noGrp="1"/>
          </p:cNvSpPr>
          <p:nvPr>
            <p:ph type="title"/>
          </p:nvPr>
        </p:nvSpPr>
        <p:spPr>
          <a:xfrm>
            <a:off x="628650" y="165100"/>
            <a:ext cx="6381750" cy="969963"/>
          </a:xfrm>
          <a:ln>
            <a:miter lim="800000"/>
            <a:headEnd/>
            <a:tailEnd/>
          </a:ln>
        </p:spPr>
        <p:txBody>
          <a:bodyPr/>
          <a:lstStyle/>
          <a:p>
            <a:pPr eaLnBrk="1" hangingPunct="1"/>
            <a:r>
              <a:rPr lang="en-US" altLang="en-US" sz="4400">
                <a:solidFill>
                  <a:schemeClr val="tx1"/>
                </a:solidFill>
              </a:rPr>
              <a:t>Instance simplification</a:t>
            </a:r>
          </a:p>
        </p:txBody>
      </p:sp>
      <p:sp>
        <p:nvSpPr>
          <p:cNvPr id="13315" name="Content Placeholder 2">
            <a:extLst>
              <a:ext uri="{FF2B5EF4-FFF2-40B4-BE49-F238E27FC236}">
                <a16:creationId xmlns:a16="http://schemas.microsoft.com/office/drawing/2014/main" id="{1A074608-5941-48C8-9A2D-C0A8D0C5B0CC}"/>
              </a:ext>
            </a:extLst>
          </p:cNvPr>
          <p:cNvSpPr>
            <a:spLocks noGrp="1"/>
          </p:cNvSpPr>
          <p:nvPr>
            <p:ph idx="1"/>
          </p:nvPr>
        </p:nvSpPr>
        <p:spPr>
          <a:xfrm>
            <a:off x="420688" y="1371600"/>
            <a:ext cx="8094662" cy="4800600"/>
          </a:xfrm>
          <a:ln>
            <a:miter lim="800000"/>
            <a:headEnd/>
            <a:tailEnd/>
          </a:ln>
        </p:spPr>
        <p:txBody>
          <a:bodyPr/>
          <a:lstStyle/>
          <a:p>
            <a:pPr algn="just" eaLnBrk="1" hangingPunct="1">
              <a:lnSpc>
                <a:spcPct val="150000"/>
              </a:lnSpc>
            </a:pPr>
            <a:r>
              <a:rPr lang="en-US" altLang="en-US" dirty="0"/>
              <a:t>Instance simplification is one variant where the problem transformed to the same problem of simpler or convenient instance. The illustrated example of roman number to Arabic number system is an example of instance simplification. </a:t>
            </a:r>
          </a:p>
        </p:txBody>
      </p:sp>
      <p:sp>
        <p:nvSpPr>
          <p:cNvPr id="4" name="Slide Number Placeholder 3">
            <a:extLst>
              <a:ext uri="{FF2B5EF4-FFF2-40B4-BE49-F238E27FC236}">
                <a16:creationId xmlns:a16="http://schemas.microsoft.com/office/drawing/2014/main" id="{89F65081-5108-423C-943A-3FE5B7BCA7E4}"/>
              </a:ext>
            </a:extLst>
          </p:cNvPr>
          <p:cNvSpPr>
            <a:spLocks noGrp="1"/>
          </p:cNvSpPr>
          <p:nvPr>
            <p:ph type="sldNum" sz="quarter" idx="12"/>
          </p:nvPr>
        </p:nvSpPr>
        <p:spPr/>
        <p:txBody>
          <a:bodyPr/>
          <a:lstStyle/>
          <a:p>
            <a:pPr>
              <a:defRPr/>
            </a:pPr>
            <a:fld id="{D8E226BE-0F2A-4C1E-B16D-5F9CE8139DD6}" type="slidenum">
              <a:rPr lang="en-US"/>
              <a:pPr>
                <a:defRPr/>
              </a:pPr>
              <a:t>4</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042CDF0-E379-48D5-AAC4-246E9D7AFBFA}"/>
              </a:ext>
            </a:extLst>
          </p:cNvPr>
          <p:cNvSpPr>
            <a:spLocks noGrp="1"/>
          </p:cNvSpPr>
          <p:nvPr>
            <p:ph type="title"/>
          </p:nvPr>
        </p:nvSpPr>
        <p:spPr>
          <a:xfrm>
            <a:off x="628650" y="165100"/>
            <a:ext cx="6305550" cy="969963"/>
          </a:xfrm>
          <a:ln>
            <a:miter lim="800000"/>
            <a:headEnd/>
            <a:tailEnd/>
          </a:ln>
        </p:spPr>
        <p:txBody>
          <a:bodyPr/>
          <a:lstStyle/>
          <a:p>
            <a:pPr eaLnBrk="1" hangingPunct="1"/>
            <a:r>
              <a:rPr lang="en-US" altLang="en-US" sz="4400">
                <a:solidFill>
                  <a:schemeClr val="tx1"/>
                </a:solidFill>
              </a:rPr>
              <a:t>Representation Change</a:t>
            </a:r>
          </a:p>
        </p:txBody>
      </p:sp>
      <p:sp>
        <p:nvSpPr>
          <p:cNvPr id="14339" name="Content Placeholder 2">
            <a:extLst>
              <a:ext uri="{FF2B5EF4-FFF2-40B4-BE49-F238E27FC236}">
                <a16:creationId xmlns:a16="http://schemas.microsoft.com/office/drawing/2014/main" id="{3030F5EB-C224-4612-A077-6E66520F5618}"/>
              </a:ext>
            </a:extLst>
          </p:cNvPr>
          <p:cNvSpPr>
            <a:spLocks noGrp="1"/>
          </p:cNvSpPr>
          <p:nvPr>
            <p:ph idx="1"/>
          </p:nvPr>
        </p:nvSpPr>
        <p:spPr>
          <a:xfrm>
            <a:off x="628650" y="1371600"/>
            <a:ext cx="7886700" cy="4800600"/>
          </a:xfrm>
          <a:ln>
            <a:miter lim="800000"/>
            <a:headEnd/>
            <a:tailEnd/>
          </a:ln>
        </p:spPr>
        <p:txBody>
          <a:bodyPr/>
          <a:lstStyle/>
          <a:p>
            <a:pPr algn="just" eaLnBrk="1" hangingPunct="1">
              <a:lnSpc>
                <a:spcPct val="150000"/>
              </a:lnSpc>
            </a:pPr>
            <a:r>
              <a:rPr lang="en-US" altLang="en-US" dirty="0"/>
              <a:t>Representation Change is another variety where the strategy involves the transformation of an instance to a different representation. But this is done without affecting the instance. </a:t>
            </a:r>
          </a:p>
        </p:txBody>
      </p:sp>
      <p:sp>
        <p:nvSpPr>
          <p:cNvPr id="4" name="Slide Number Placeholder 3">
            <a:extLst>
              <a:ext uri="{FF2B5EF4-FFF2-40B4-BE49-F238E27FC236}">
                <a16:creationId xmlns:a16="http://schemas.microsoft.com/office/drawing/2014/main" id="{0EA545FF-FD24-4AEF-B381-98A640808D19}"/>
              </a:ext>
            </a:extLst>
          </p:cNvPr>
          <p:cNvSpPr>
            <a:spLocks noGrp="1"/>
          </p:cNvSpPr>
          <p:nvPr>
            <p:ph type="sldNum" sz="quarter" idx="12"/>
          </p:nvPr>
        </p:nvSpPr>
        <p:spPr/>
        <p:txBody>
          <a:bodyPr/>
          <a:lstStyle/>
          <a:p>
            <a:pPr>
              <a:defRPr/>
            </a:pPr>
            <a:fld id="{BF14F94B-2503-43BD-BBC2-BFD508E00FE6}" type="slidenum">
              <a:rPr lang="en-US"/>
              <a:pPr>
                <a:defRPr/>
              </a:pPr>
              <a:t>5</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EA2EC8B-A0D5-408D-979E-7953F914124A}"/>
              </a:ext>
            </a:extLst>
          </p:cNvPr>
          <p:cNvSpPr>
            <a:spLocks noGrp="1"/>
          </p:cNvSpPr>
          <p:nvPr>
            <p:ph type="title"/>
          </p:nvPr>
        </p:nvSpPr>
        <p:spPr>
          <a:xfrm>
            <a:off x="628650" y="165100"/>
            <a:ext cx="6305550" cy="969963"/>
          </a:xfrm>
          <a:ln>
            <a:miter lim="800000"/>
            <a:headEnd/>
            <a:tailEnd/>
          </a:ln>
        </p:spPr>
        <p:txBody>
          <a:bodyPr/>
          <a:lstStyle/>
          <a:p>
            <a:pPr eaLnBrk="1" hangingPunct="1"/>
            <a:r>
              <a:rPr lang="en-US" altLang="en-US" sz="4400">
                <a:solidFill>
                  <a:schemeClr val="tx1"/>
                </a:solidFill>
              </a:rPr>
              <a:t>Problem reduction</a:t>
            </a:r>
          </a:p>
        </p:txBody>
      </p:sp>
      <p:sp>
        <p:nvSpPr>
          <p:cNvPr id="15363" name="Content Placeholder 2">
            <a:extLst>
              <a:ext uri="{FF2B5EF4-FFF2-40B4-BE49-F238E27FC236}">
                <a16:creationId xmlns:a16="http://schemas.microsoft.com/office/drawing/2014/main" id="{55138D48-5937-465A-8AF2-23CA5D78B324}"/>
              </a:ext>
            </a:extLst>
          </p:cNvPr>
          <p:cNvSpPr>
            <a:spLocks noGrp="1"/>
          </p:cNvSpPr>
          <p:nvPr>
            <p:ph idx="1"/>
          </p:nvPr>
        </p:nvSpPr>
        <p:spPr>
          <a:xfrm>
            <a:off x="420688" y="1371600"/>
            <a:ext cx="8094662" cy="4800600"/>
          </a:xfrm>
          <a:ln>
            <a:miter lim="800000"/>
            <a:headEnd/>
            <a:tailEnd/>
          </a:ln>
        </p:spPr>
        <p:txBody>
          <a:bodyPr/>
          <a:lstStyle/>
          <a:p>
            <a:pPr algn="just" eaLnBrk="1" hangingPunct="1">
              <a:lnSpc>
                <a:spcPct val="150000"/>
              </a:lnSpc>
            </a:pPr>
            <a:r>
              <a:rPr lang="en-US" altLang="en-US" dirty="0"/>
              <a:t>Problem reduction is a strategy that involves a transformation of a problem A to another type of problem B. It is assumed that the solution of problem B already exists. The illustrated example of reduction of computing LCM (Last Common Multiple) in terms of GCD is an example of problem reduction. s GCD. Hypothetically, let us assume that an algorithm exists only for GCD. </a:t>
            </a:r>
          </a:p>
        </p:txBody>
      </p:sp>
      <p:sp>
        <p:nvSpPr>
          <p:cNvPr id="4" name="Slide Number Placeholder 3">
            <a:extLst>
              <a:ext uri="{FF2B5EF4-FFF2-40B4-BE49-F238E27FC236}">
                <a16:creationId xmlns:a16="http://schemas.microsoft.com/office/drawing/2014/main" id="{B83C8E84-BFF4-48CB-9207-A6B964641DC0}"/>
              </a:ext>
            </a:extLst>
          </p:cNvPr>
          <p:cNvSpPr>
            <a:spLocks noGrp="1"/>
          </p:cNvSpPr>
          <p:nvPr>
            <p:ph type="sldNum" sz="quarter" idx="12"/>
          </p:nvPr>
        </p:nvSpPr>
        <p:spPr/>
        <p:txBody>
          <a:bodyPr/>
          <a:lstStyle/>
          <a:p>
            <a:pPr>
              <a:defRPr/>
            </a:pPr>
            <a:fld id="{0E4932F4-8BC0-4EE6-AA31-F47403D6289F}" type="slidenum">
              <a:rPr lang="en-US"/>
              <a:pPr>
                <a:defRPr/>
              </a:pPr>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CF5598C-FCFB-4549-93A9-FE5375391B8B}"/>
              </a:ext>
            </a:extLst>
          </p:cNvPr>
          <p:cNvSpPr>
            <a:spLocks noGrp="1"/>
          </p:cNvSpPr>
          <p:nvPr>
            <p:ph type="title"/>
          </p:nvPr>
        </p:nvSpPr>
        <p:spPr>
          <a:xfrm>
            <a:off x="628650" y="165100"/>
            <a:ext cx="6305550" cy="1054100"/>
          </a:xfrm>
          <a:ln>
            <a:miter lim="800000"/>
            <a:headEnd/>
            <a:tailEnd/>
          </a:ln>
        </p:spPr>
        <p:txBody>
          <a:bodyPr/>
          <a:lstStyle/>
          <a:p>
            <a:pPr eaLnBrk="1" hangingPunct="1"/>
            <a:r>
              <a:rPr lang="en-US" altLang="en-US" dirty="0">
                <a:solidFill>
                  <a:schemeClr val="tx1"/>
                </a:solidFill>
              </a:rPr>
              <a:t>Transform and conquer approach</a:t>
            </a:r>
          </a:p>
        </p:txBody>
      </p:sp>
      <p:sp>
        <p:nvSpPr>
          <p:cNvPr id="3" name="Content Placeholder 2">
            <a:extLst>
              <a:ext uri="{FF2B5EF4-FFF2-40B4-BE49-F238E27FC236}">
                <a16:creationId xmlns:a16="http://schemas.microsoft.com/office/drawing/2014/main" id="{38F4E026-6DED-45E8-91A9-9FC973744A9B}"/>
              </a:ext>
            </a:extLst>
          </p:cNvPr>
          <p:cNvSpPr>
            <a:spLocks noGrp="1"/>
          </p:cNvSpPr>
          <p:nvPr>
            <p:ph idx="1"/>
          </p:nvPr>
        </p:nvSpPr>
        <p:spPr>
          <a:xfrm>
            <a:off x="420688" y="1371600"/>
            <a:ext cx="8094662" cy="4984750"/>
          </a:xfrm>
        </p:spPr>
        <p:txBody>
          <a:bodyPr rtlCol="0">
            <a:normAutofit/>
          </a:bodyPr>
          <a:lstStyle/>
          <a:p>
            <a:pPr algn="just" eaLnBrk="1" fontAlgn="auto" hangingPunct="1">
              <a:spcAft>
                <a:spcPts val="0"/>
              </a:spcAft>
              <a:defRPr/>
            </a:pPr>
            <a:r>
              <a:rPr lang="en-US" dirty="0"/>
              <a:t>Transform and conquer approach Instead, the array can be sorted and run length of an element can be calculated on the sorted array. Informally, mode finding using presorting is given as follows: </a:t>
            </a:r>
          </a:p>
          <a:p>
            <a:pPr marL="457200" indent="-457200" algn="just" eaLnBrk="1" fontAlgn="auto" hangingPunct="1">
              <a:spcAft>
                <a:spcPts val="0"/>
              </a:spcAft>
              <a:buFont typeface="Arial" panose="020B0604020202020204" pitchFamily="34" charset="0"/>
              <a:buAutoNum type="arabicParenR"/>
              <a:defRPr/>
            </a:pPr>
            <a:r>
              <a:rPr lang="en-US" dirty="0"/>
              <a:t>Sort the element of an array. </a:t>
            </a:r>
          </a:p>
          <a:p>
            <a:pPr marL="457200" indent="-457200" algn="just" eaLnBrk="1" fontAlgn="auto" hangingPunct="1">
              <a:spcAft>
                <a:spcPts val="0"/>
              </a:spcAft>
              <a:buFont typeface="Arial" panose="020B0604020202020204" pitchFamily="34" charset="0"/>
              <a:buAutoNum type="arabicParenR"/>
              <a:defRPr/>
            </a:pPr>
            <a:r>
              <a:rPr lang="en-US" dirty="0"/>
              <a:t>Calculate the run length of an element </a:t>
            </a:r>
          </a:p>
          <a:p>
            <a:pPr marL="457200" indent="-457200" algn="just" eaLnBrk="1" fontAlgn="auto" hangingPunct="1">
              <a:spcAft>
                <a:spcPts val="0"/>
              </a:spcAft>
              <a:buFont typeface="Arial" panose="020B0604020202020204" pitchFamily="34" charset="0"/>
              <a:buAutoNum type="arabicParenR"/>
              <a:defRPr/>
            </a:pPr>
            <a:r>
              <a:rPr lang="en-US" dirty="0"/>
              <a:t>Print the element having longest length </a:t>
            </a:r>
          </a:p>
          <a:p>
            <a:pPr marL="457200" indent="-457200" algn="just" eaLnBrk="1" fontAlgn="auto" hangingPunct="1">
              <a:spcAft>
                <a:spcPts val="0"/>
              </a:spcAft>
              <a:buFont typeface="Arial" panose="020B0604020202020204" pitchFamily="34" charset="0"/>
              <a:buAutoNum type="arabicParenR"/>
              <a:defRPr/>
            </a:pPr>
            <a:r>
              <a:rPr lang="en-US" dirty="0"/>
              <a:t>Exit.</a:t>
            </a:r>
          </a:p>
        </p:txBody>
      </p:sp>
      <p:sp>
        <p:nvSpPr>
          <p:cNvPr id="4" name="Slide Number Placeholder 3">
            <a:extLst>
              <a:ext uri="{FF2B5EF4-FFF2-40B4-BE49-F238E27FC236}">
                <a16:creationId xmlns:a16="http://schemas.microsoft.com/office/drawing/2014/main" id="{44B8372A-0410-40ED-A90B-9FB5A2174F3D}"/>
              </a:ext>
            </a:extLst>
          </p:cNvPr>
          <p:cNvSpPr>
            <a:spLocks noGrp="1"/>
          </p:cNvSpPr>
          <p:nvPr>
            <p:ph type="sldNum" sz="quarter" idx="12"/>
          </p:nvPr>
        </p:nvSpPr>
        <p:spPr/>
        <p:txBody>
          <a:bodyPr/>
          <a:lstStyle/>
          <a:p>
            <a:pPr>
              <a:defRPr/>
            </a:pPr>
            <a:fld id="{16C0BBE4-0341-4E2C-BC12-FC49C07342F3}" type="slidenum">
              <a:rPr lang="en-US"/>
              <a:pPr>
                <a:defRPr/>
              </a:pPr>
              <a:t>7</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403B128-F718-41FD-82EE-8A8399DF6113}"/>
              </a:ext>
            </a:extLst>
          </p:cNvPr>
          <p:cNvSpPr>
            <a:spLocks noGrp="1" noChangeArrowheads="1"/>
          </p:cNvSpPr>
          <p:nvPr>
            <p:ph type="title"/>
          </p:nvPr>
        </p:nvSpPr>
        <p:spPr>
          <a:xfrm>
            <a:off x="628650" y="165100"/>
            <a:ext cx="6305550" cy="969963"/>
          </a:xfrm>
          <a:ln>
            <a:miter lim="800000"/>
            <a:headEnd/>
            <a:tailEnd/>
          </a:ln>
        </p:spPr>
        <p:txBody>
          <a:bodyPr/>
          <a:lstStyle/>
          <a:p>
            <a:pPr eaLnBrk="1" hangingPunct="1"/>
            <a:r>
              <a:rPr lang="en-US" altLang="en-US" sz="4400">
                <a:solidFill>
                  <a:schemeClr val="tx1"/>
                </a:solidFill>
              </a:rPr>
              <a:t>Heaps and Heapsort</a:t>
            </a:r>
          </a:p>
        </p:txBody>
      </p:sp>
      <p:sp>
        <p:nvSpPr>
          <p:cNvPr id="365571" name="Rectangle 3">
            <a:extLst>
              <a:ext uri="{FF2B5EF4-FFF2-40B4-BE49-F238E27FC236}">
                <a16:creationId xmlns:a16="http://schemas.microsoft.com/office/drawing/2014/main" id="{78573BA0-3BBF-4629-A82F-674DAD1725E3}"/>
              </a:ext>
            </a:extLst>
          </p:cNvPr>
          <p:cNvSpPr>
            <a:spLocks noGrp="1" noChangeArrowheads="1"/>
          </p:cNvSpPr>
          <p:nvPr>
            <p:ph idx="1"/>
          </p:nvPr>
        </p:nvSpPr>
        <p:spPr>
          <a:xfrm>
            <a:off x="420688" y="1371600"/>
            <a:ext cx="7886700" cy="4351338"/>
          </a:xfrm>
        </p:spPr>
        <p:txBody>
          <a:bodyPr rtlCol="0">
            <a:normAutofit lnSpcReduction="10000"/>
          </a:bodyPr>
          <a:lstStyle/>
          <a:p>
            <a:pPr algn="just" eaLnBrk="1" fontAlgn="auto" hangingPunct="1">
              <a:spcAft>
                <a:spcPts val="0"/>
              </a:spcAft>
              <a:buFont typeface="Monotype Sorts" pitchFamily="2" charset="2"/>
              <a:buNone/>
              <a:defRPr/>
            </a:pPr>
            <a:r>
              <a:rPr lang="en-US" altLang="en-US" sz="2800" u="sng" dirty="0"/>
              <a:t>Definition</a:t>
            </a:r>
            <a:r>
              <a:rPr lang="en-US" altLang="en-US" sz="2800" dirty="0"/>
              <a:t>  </a:t>
            </a:r>
            <a:r>
              <a:rPr lang="en-US" altLang="en-US" dirty="0"/>
              <a:t>A </a:t>
            </a:r>
            <a:r>
              <a:rPr lang="en-US" altLang="en-US" i="1" dirty="0"/>
              <a:t>heap</a:t>
            </a:r>
            <a:r>
              <a:rPr lang="en-US" altLang="en-US" dirty="0"/>
              <a:t> is a binary tree with keys at its nodes (one key per node) such that:</a:t>
            </a:r>
          </a:p>
          <a:p>
            <a:pPr algn="just" eaLnBrk="1" fontAlgn="auto" hangingPunct="1">
              <a:spcAft>
                <a:spcPts val="0"/>
              </a:spcAft>
              <a:defRPr/>
            </a:pPr>
            <a:r>
              <a:rPr lang="en-US" altLang="en-US" dirty="0"/>
              <a:t>It is essentially complete, i.e., all its levels are full except possibly the last level, where only some rightmost keys may be missing</a:t>
            </a:r>
          </a:p>
          <a:p>
            <a:pPr algn="just" eaLnBrk="1" fontAlgn="auto" hangingPunct="1">
              <a:spcAft>
                <a:spcPts val="0"/>
              </a:spcAft>
              <a:defRPr/>
            </a:pPr>
            <a:endParaRPr lang="en-US" altLang="en-US" dirty="0"/>
          </a:p>
          <a:p>
            <a:pPr algn="just" eaLnBrk="1" fontAlgn="auto" hangingPunct="1">
              <a:spcAft>
                <a:spcPts val="0"/>
              </a:spcAft>
              <a:defRPr/>
            </a:pPr>
            <a:endParaRPr lang="en-US" altLang="en-US" dirty="0"/>
          </a:p>
          <a:p>
            <a:pPr algn="just" eaLnBrk="1" fontAlgn="auto" hangingPunct="1">
              <a:spcAft>
                <a:spcPts val="0"/>
              </a:spcAft>
              <a:defRPr/>
            </a:pPr>
            <a:endParaRPr lang="en-US" altLang="en-US" dirty="0"/>
          </a:p>
          <a:p>
            <a:pPr algn="just" eaLnBrk="1" fontAlgn="auto" hangingPunct="1">
              <a:spcAft>
                <a:spcPts val="0"/>
              </a:spcAft>
              <a:defRPr/>
            </a:pPr>
            <a:endParaRPr lang="en-US" altLang="en-US" dirty="0"/>
          </a:p>
          <a:p>
            <a:pPr algn="just" eaLnBrk="1" fontAlgn="auto" hangingPunct="1">
              <a:spcAft>
                <a:spcPts val="0"/>
              </a:spcAft>
              <a:defRPr/>
            </a:pPr>
            <a:r>
              <a:rPr lang="en-US" altLang="en-US" dirty="0"/>
              <a:t>The key at each node is </a:t>
            </a:r>
            <a:r>
              <a:rPr lang="en-US" altLang="en-US" dirty="0">
                <a:latin typeface="Lucida Grande" pitchFamily="84" charset="0"/>
              </a:rPr>
              <a:t>≥</a:t>
            </a:r>
            <a:r>
              <a:rPr lang="en-US" altLang="en-US" dirty="0"/>
              <a:t> keys at its children (this is called a </a:t>
            </a:r>
            <a:r>
              <a:rPr lang="en-US" altLang="en-US" i="1" dirty="0"/>
              <a:t>max-heap</a:t>
            </a:r>
            <a:r>
              <a:rPr lang="en-US" altLang="en-US" dirty="0"/>
              <a:t>)</a:t>
            </a:r>
          </a:p>
          <a:p>
            <a:pPr algn="just" eaLnBrk="1" fontAlgn="auto" hangingPunct="1">
              <a:spcAft>
                <a:spcPts val="0"/>
              </a:spcAft>
              <a:defRPr/>
            </a:pPr>
            <a:endParaRPr lang="en-US" altLang="en-US" dirty="0"/>
          </a:p>
        </p:txBody>
      </p:sp>
      <p:grpSp>
        <p:nvGrpSpPr>
          <p:cNvPr id="18436" name="Group 4">
            <a:extLst>
              <a:ext uri="{FF2B5EF4-FFF2-40B4-BE49-F238E27FC236}">
                <a16:creationId xmlns:a16="http://schemas.microsoft.com/office/drawing/2014/main" id="{1CBB2F3F-88BD-4F4F-A818-9BB225F367FC}"/>
              </a:ext>
            </a:extLst>
          </p:cNvPr>
          <p:cNvGrpSpPr>
            <a:grpSpLocks/>
          </p:cNvGrpSpPr>
          <p:nvPr/>
        </p:nvGrpSpPr>
        <p:grpSpPr bwMode="auto">
          <a:xfrm>
            <a:off x="2667000" y="3124200"/>
            <a:ext cx="2362200" cy="1295400"/>
            <a:chOff x="3504" y="2448"/>
            <a:chExt cx="1488" cy="816"/>
          </a:xfrm>
        </p:grpSpPr>
        <p:sp>
          <p:nvSpPr>
            <p:cNvPr id="18437" name="AutoShape 5">
              <a:extLst>
                <a:ext uri="{FF2B5EF4-FFF2-40B4-BE49-F238E27FC236}">
                  <a16:creationId xmlns:a16="http://schemas.microsoft.com/office/drawing/2014/main" id="{C4D2E420-658A-4032-B031-0A4AFE644E1D}"/>
                </a:ext>
              </a:extLst>
            </p:cNvPr>
            <p:cNvSpPr>
              <a:spLocks noChangeArrowheads="1"/>
            </p:cNvSpPr>
            <p:nvPr/>
          </p:nvSpPr>
          <p:spPr bwMode="auto">
            <a:xfrm>
              <a:off x="3600" y="2448"/>
              <a:ext cx="1392" cy="672"/>
            </a:xfrm>
            <a:prstGeom prst="triangle">
              <a:avLst>
                <a:gd name="adj" fmla="val 50000"/>
              </a:avLst>
            </a:prstGeom>
            <a:solidFill>
              <a:schemeClr val="accent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38" name="Oval 6">
              <a:extLst>
                <a:ext uri="{FF2B5EF4-FFF2-40B4-BE49-F238E27FC236}">
                  <a16:creationId xmlns:a16="http://schemas.microsoft.com/office/drawing/2014/main" id="{A9C41D61-56C6-4910-964E-CE283C7DF211}"/>
                </a:ext>
              </a:extLst>
            </p:cNvPr>
            <p:cNvSpPr>
              <a:spLocks noChangeArrowheads="1"/>
            </p:cNvSpPr>
            <p:nvPr/>
          </p:nvSpPr>
          <p:spPr bwMode="auto">
            <a:xfrm>
              <a:off x="4464" y="3120"/>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39" name="Oval 7">
              <a:extLst>
                <a:ext uri="{FF2B5EF4-FFF2-40B4-BE49-F238E27FC236}">
                  <a16:creationId xmlns:a16="http://schemas.microsoft.com/office/drawing/2014/main" id="{D846B1A6-A601-4BD7-AE3D-E2890299EDB8}"/>
                </a:ext>
              </a:extLst>
            </p:cNvPr>
            <p:cNvSpPr>
              <a:spLocks noChangeArrowheads="1"/>
            </p:cNvSpPr>
            <p:nvPr/>
          </p:nvSpPr>
          <p:spPr bwMode="auto">
            <a:xfrm>
              <a:off x="4368" y="3216"/>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40" name="Line 8">
              <a:extLst>
                <a:ext uri="{FF2B5EF4-FFF2-40B4-BE49-F238E27FC236}">
                  <a16:creationId xmlns:a16="http://schemas.microsoft.com/office/drawing/2014/main" id="{7083AD30-A45C-4316-A714-B2F3C1062F1C}"/>
                </a:ext>
              </a:extLst>
            </p:cNvPr>
            <p:cNvSpPr>
              <a:spLocks noChangeShapeType="1"/>
            </p:cNvSpPr>
            <p:nvPr/>
          </p:nvSpPr>
          <p:spPr bwMode="auto">
            <a:xfrm flipH="1">
              <a:off x="4416" y="3168"/>
              <a:ext cx="48" cy="4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8441" name="Group 9">
              <a:extLst>
                <a:ext uri="{FF2B5EF4-FFF2-40B4-BE49-F238E27FC236}">
                  <a16:creationId xmlns:a16="http://schemas.microsoft.com/office/drawing/2014/main" id="{F8039504-DCC8-45F3-BF27-D47A9FD4BAA5}"/>
                </a:ext>
              </a:extLst>
            </p:cNvPr>
            <p:cNvGrpSpPr>
              <a:grpSpLocks/>
            </p:cNvGrpSpPr>
            <p:nvPr/>
          </p:nvGrpSpPr>
          <p:grpSpPr bwMode="auto">
            <a:xfrm>
              <a:off x="4080" y="3120"/>
              <a:ext cx="240" cy="144"/>
              <a:chOff x="1056" y="4032"/>
              <a:chExt cx="240" cy="144"/>
            </a:xfrm>
          </p:grpSpPr>
          <p:sp>
            <p:nvSpPr>
              <p:cNvPr id="18454" name="Oval 10">
                <a:extLst>
                  <a:ext uri="{FF2B5EF4-FFF2-40B4-BE49-F238E27FC236}">
                    <a16:creationId xmlns:a16="http://schemas.microsoft.com/office/drawing/2014/main" id="{F059AE31-D79D-4B27-83E0-294DDB01E22C}"/>
                  </a:ext>
                </a:extLst>
              </p:cNvPr>
              <p:cNvSpPr>
                <a:spLocks noChangeArrowheads="1"/>
              </p:cNvSpPr>
              <p:nvPr/>
            </p:nvSpPr>
            <p:spPr bwMode="auto">
              <a:xfrm>
                <a:off x="1152" y="4032"/>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55" name="Oval 11">
                <a:extLst>
                  <a:ext uri="{FF2B5EF4-FFF2-40B4-BE49-F238E27FC236}">
                    <a16:creationId xmlns:a16="http://schemas.microsoft.com/office/drawing/2014/main" id="{F0058FAF-F8EE-4F45-9CD6-FA113640E5C6}"/>
                  </a:ext>
                </a:extLst>
              </p:cNvPr>
              <p:cNvSpPr>
                <a:spLocks noChangeArrowheads="1"/>
              </p:cNvSpPr>
              <p:nvPr/>
            </p:nvSpPr>
            <p:spPr bwMode="auto">
              <a:xfrm>
                <a:off x="1056" y="4128"/>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56" name="Oval 12">
                <a:extLst>
                  <a:ext uri="{FF2B5EF4-FFF2-40B4-BE49-F238E27FC236}">
                    <a16:creationId xmlns:a16="http://schemas.microsoft.com/office/drawing/2014/main" id="{6A2F0917-DA05-47D4-AE8C-D3D6494FF299}"/>
                  </a:ext>
                </a:extLst>
              </p:cNvPr>
              <p:cNvSpPr>
                <a:spLocks noChangeArrowheads="1"/>
              </p:cNvSpPr>
              <p:nvPr/>
            </p:nvSpPr>
            <p:spPr bwMode="auto">
              <a:xfrm>
                <a:off x="1248" y="4128"/>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57" name="Line 13">
                <a:extLst>
                  <a:ext uri="{FF2B5EF4-FFF2-40B4-BE49-F238E27FC236}">
                    <a16:creationId xmlns:a16="http://schemas.microsoft.com/office/drawing/2014/main" id="{F56A3EEC-3BB1-4CA4-99E3-7BF94A4CCABA}"/>
                  </a:ext>
                </a:extLst>
              </p:cNvPr>
              <p:cNvSpPr>
                <a:spLocks noChangeShapeType="1"/>
              </p:cNvSpPr>
              <p:nvPr/>
            </p:nvSpPr>
            <p:spPr bwMode="auto">
              <a:xfrm flipH="1">
                <a:off x="1104" y="4080"/>
                <a:ext cx="48" cy="4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458" name="Line 14">
                <a:extLst>
                  <a:ext uri="{FF2B5EF4-FFF2-40B4-BE49-F238E27FC236}">
                    <a16:creationId xmlns:a16="http://schemas.microsoft.com/office/drawing/2014/main" id="{EC0418E4-3DAB-48E8-9F3D-70F07D42E31A}"/>
                  </a:ext>
                </a:extLst>
              </p:cNvPr>
              <p:cNvSpPr>
                <a:spLocks noChangeShapeType="1"/>
              </p:cNvSpPr>
              <p:nvPr/>
            </p:nvSpPr>
            <p:spPr bwMode="auto">
              <a:xfrm>
                <a:off x="1200" y="4080"/>
                <a:ext cx="48" cy="4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8442" name="Group 15">
              <a:extLst>
                <a:ext uri="{FF2B5EF4-FFF2-40B4-BE49-F238E27FC236}">
                  <a16:creationId xmlns:a16="http://schemas.microsoft.com/office/drawing/2014/main" id="{EE531537-7A3A-43E5-8C82-7D29B896B690}"/>
                </a:ext>
              </a:extLst>
            </p:cNvPr>
            <p:cNvGrpSpPr>
              <a:grpSpLocks/>
            </p:cNvGrpSpPr>
            <p:nvPr/>
          </p:nvGrpSpPr>
          <p:grpSpPr bwMode="auto">
            <a:xfrm>
              <a:off x="3792" y="3120"/>
              <a:ext cx="240" cy="144"/>
              <a:chOff x="1056" y="4032"/>
              <a:chExt cx="240" cy="144"/>
            </a:xfrm>
          </p:grpSpPr>
          <p:sp>
            <p:nvSpPr>
              <p:cNvPr id="18449" name="Oval 16">
                <a:extLst>
                  <a:ext uri="{FF2B5EF4-FFF2-40B4-BE49-F238E27FC236}">
                    <a16:creationId xmlns:a16="http://schemas.microsoft.com/office/drawing/2014/main" id="{2323FB36-A9D8-4692-825C-A14D08203AF4}"/>
                  </a:ext>
                </a:extLst>
              </p:cNvPr>
              <p:cNvSpPr>
                <a:spLocks noChangeArrowheads="1"/>
              </p:cNvSpPr>
              <p:nvPr/>
            </p:nvSpPr>
            <p:spPr bwMode="auto">
              <a:xfrm>
                <a:off x="1152" y="4032"/>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50" name="Oval 17">
                <a:extLst>
                  <a:ext uri="{FF2B5EF4-FFF2-40B4-BE49-F238E27FC236}">
                    <a16:creationId xmlns:a16="http://schemas.microsoft.com/office/drawing/2014/main" id="{8FFD6D3C-72D5-4C36-969B-61FECDC19AC9}"/>
                  </a:ext>
                </a:extLst>
              </p:cNvPr>
              <p:cNvSpPr>
                <a:spLocks noChangeArrowheads="1"/>
              </p:cNvSpPr>
              <p:nvPr/>
            </p:nvSpPr>
            <p:spPr bwMode="auto">
              <a:xfrm>
                <a:off x="1056" y="4128"/>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51" name="Oval 18">
                <a:extLst>
                  <a:ext uri="{FF2B5EF4-FFF2-40B4-BE49-F238E27FC236}">
                    <a16:creationId xmlns:a16="http://schemas.microsoft.com/office/drawing/2014/main" id="{7F320C1D-FF5F-4BE6-B127-510C687A9745}"/>
                  </a:ext>
                </a:extLst>
              </p:cNvPr>
              <p:cNvSpPr>
                <a:spLocks noChangeArrowheads="1"/>
              </p:cNvSpPr>
              <p:nvPr/>
            </p:nvSpPr>
            <p:spPr bwMode="auto">
              <a:xfrm>
                <a:off x="1248" y="4128"/>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52" name="Line 19">
                <a:extLst>
                  <a:ext uri="{FF2B5EF4-FFF2-40B4-BE49-F238E27FC236}">
                    <a16:creationId xmlns:a16="http://schemas.microsoft.com/office/drawing/2014/main" id="{57CE7493-2165-444A-BB8C-CAA8552A1661}"/>
                  </a:ext>
                </a:extLst>
              </p:cNvPr>
              <p:cNvSpPr>
                <a:spLocks noChangeShapeType="1"/>
              </p:cNvSpPr>
              <p:nvPr/>
            </p:nvSpPr>
            <p:spPr bwMode="auto">
              <a:xfrm flipH="1">
                <a:off x="1104" y="4080"/>
                <a:ext cx="48" cy="4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453" name="Line 20">
                <a:extLst>
                  <a:ext uri="{FF2B5EF4-FFF2-40B4-BE49-F238E27FC236}">
                    <a16:creationId xmlns:a16="http://schemas.microsoft.com/office/drawing/2014/main" id="{D1796958-BC54-4902-BD76-477CF7509D87}"/>
                  </a:ext>
                </a:extLst>
              </p:cNvPr>
              <p:cNvSpPr>
                <a:spLocks noChangeShapeType="1"/>
              </p:cNvSpPr>
              <p:nvPr/>
            </p:nvSpPr>
            <p:spPr bwMode="auto">
              <a:xfrm>
                <a:off x="1200" y="4080"/>
                <a:ext cx="48" cy="4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8443" name="Group 21">
              <a:extLst>
                <a:ext uri="{FF2B5EF4-FFF2-40B4-BE49-F238E27FC236}">
                  <a16:creationId xmlns:a16="http://schemas.microsoft.com/office/drawing/2014/main" id="{1A17321A-F875-4B4C-A891-57529B7F28DE}"/>
                </a:ext>
              </a:extLst>
            </p:cNvPr>
            <p:cNvGrpSpPr>
              <a:grpSpLocks/>
            </p:cNvGrpSpPr>
            <p:nvPr/>
          </p:nvGrpSpPr>
          <p:grpSpPr bwMode="auto">
            <a:xfrm>
              <a:off x="3504" y="3120"/>
              <a:ext cx="240" cy="144"/>
              <a:chOff x="1056" y="4032"/>
              <a:chExt cx="240" cy="144"/>
            </a:xfrm>
          </p:grpSpPr>
          <p:sp>
            <p:nvSpPr>
              <p:cNvPr id="18444" name="Oval 22">
                <a:extLst>
                  <a:ext uri="{FF2B5EF4-FFF2-40B4-BE49-F238E27FC236}">
                    <a16:creationId xmlns:a16="http://schemas.microsoft.com/office/drawing/2014/main" id="{91AF983B-3E1A-4A44-84E5-EC23DBCCB46A}"/>
                  </a:ext>
                </a:extLst>
              </p:cNvPr>
              <p:cNvSpPr>
                <a:spLocks noChangeArrowheads="1"/>
              </p:cNvSpPr>
              <p:nvPr/>
            </p:nvSpPr>
            <p:spPr bwMode="auto">
              <a:xfrm>
                <a:off x="1152" y="4032"/>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45" name="Oval 23">
                <a:extLst>
                  <a:ext uri="{FF2B5EF4-FFF2-40B4-BE49-F238E27FC236}">
                    <a16:creationId xmlns:a16="http://schemas.microsoft.com/office/drawing/2014/main" id="{6D6B8AC6-FC94-4176-8DF3-89F0D7C5C883}"/>
                  </a:ext>
                </a:extLst>
              </p:cNvPr>
              <p:cNvSpPr>
                <a:spLocks noChangeArrowheads="1"/>
              </p:cNvSpPr>
              <p:nvPr/>
            </p:nvSpPr>
            <p:spPr bwMode="auto">
              <a:xfrm>
                <a:off x="1056" y="4128"/>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46" name="Oval 24">
                <a:extLst>
                  <a:ext uri="{FF2B5EF4-FFF2-40B4-BE49-F238E27FC236}">
                    <a16:creationId xmlns:a16="http://schemas.microsoft.com/office/drawing/2014/main" id="{35BDF105-5FB7-4B18-BF46-578576041612}"/>
                  </a:ext>
                </a:extLst>
              </p:cNvPr>
              <p:cNvSpPr>
                <a:spLocks noChangeArrowheads="1"/>
              </p:cNvSpPr>
              <p:nvPr/>
            </p:nvSpPr>
            <p:spPr bwMode="auto">
              <a:xfrm>
                <a:off x="1248" y="4128"/>
                <a:ext cx="48" cy="48"/>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18447" name="Line 25">
                <a:extLst>
                  <a:ext uri="{FF2B5EF4-FFF2-40B4-BE49-F238E27FC236}">
                    <a16:creationId xmlns:a16="http://schemas.microsoft.com/office/drawing/2014/main" id="{A4909476-13B0-4383-A190-97CABA63C1EA}"/>
                  </a:ext>
                </a:extLst>
              </p:cNvPr>
              <p:cNvSpPr>
                <a:spLocks noChangeShapeType="1"/>
              </p:cNvSpPr>
              <p:nvPr/>
            </p:nvSpPr>
            <p:spPr bwMode="auto">
              <a:xfrm flipH="1">
                <a:off x="1104" y="4080"/>
                <a:ext cx="48" cy="4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448" name="Line 26">
                <a:extLst>
                  <a:ext uri="{FF2B5EF4-FFF2-40B4-BE49-F238E27FC236}">
                    <a16:creationId xmlns:a16="http://schemas.microsoft.com/office/drawing/2014/main" id="{D425B334-8872-4FF2-9D6E-F18B7A0D0A64}"/>
                  </a:ext>
                </a:extLst>
              </p:cNvPr>
              <p:cNvSpPr>
                <a:spLocks noChangeShapeType="1"/>
              </p:cNvSpPr>
              <p:nvPr/>
            </p:nvSpPr>
            <p:spPr bwMode="auto">
              <a:xfrm>
                <a:off x="1200" y="4080"/>
                <a:ext cx="48" cy="48"/>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3FA1979-30A3-49E4-A899-B3E821865219}"/>
              </a:ext>
            </a:extLst>
          </p:cNvPr>
          <p:cNvSpPr>
            <a:spLocks noGrp="1" noChangeArrowheads="1"/>
          </p:cNvSpPr>
          <p:nvPr>
            <p:ph type="title"/>
          </p:nvPr>
        </p:nvSpPr>
        <p:spPr>
          <a:xfrm>
            <a:off x="685800" y="209550"/>
            <a:ext cx="6553200" cy="1114425"/>
          </a:xfrm>
          <a:ln w="19050">
            <a:solidFill>
              <a:schemeClr val="tx1"/>
            </a:solidFill>
            <a:miter lim="800000"/>
            <a:headEnd/>
            <a:tailEnd/>
          </a:ln>
        </p:spPr>
        <p:txBody>
          <a:bodyPr/>
          <a:lstStyle/>
          <a:p>
            <a:pPr algn="ctr" eaLnBrk="1" hangingPunct="1"/>
            <a:r>
              <a:rPr lang="en-US" altLang="en-US" sz="4400" b="1" dirty="0">
                <a:latin typeface="Times New Roman" panose="02020603050405020304" pitchFamily="18" charset="0"/>
                <a:cs typeface="Times New Roman" panose="02020603050405020304" pitchFamily="18" charset="0"/>
              </a:rPr>
              <a:t>Illustration of the heap’s definition</a:t>
            </a:r>
          </a:p>
        </p:txBody>
      </p:sp>
      <p:sp>
        <p:nvSpPr>
          <p:cNvPr id="20483" name="Rectangle 3">
            <a:extLst>
              <a:ext uri="{FF2B5EF4-FFF2-40B4-BE49-F238E27FC236}">
                <a16:creationId xmlns:a16="http://schemas.microsoft.com/office/drawing/2014/main" id="{9A4E1BBF-F4F7-47D5-9F68-C6AE9283BEA1}"/>
              </a:ext>
            </a:extLst>
          </p:cNvPr>
          <p:cNvSpPr>
            <a:spLocks noGrp="1" noChangeArrowheads="1"/>
          </p:cNvSpPr>
          <p:nvPr>
            <p:ph type="body" sz="half" idx="1"/>
          </p:nvPr>
        </p:nvSpPr>
        <p:spPr>
          <a:xfrm>
            <a:off x="192088" y="1441450"/>
            <a:ext cx="8839200" cy="4905375"/>
          </a:xfrm>
        </p:spPr>
        <p:txBody>
          <a:bodyPr/>
          <a:lstStyle/>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dirty="0"/>
          </a:p>
          <a:p>
            <a:pPr eaLnBrk="1" hangingPunct="1">
              <a:buFont typeface="Monotype Sorts" pitchFamily="2" charset="2"/>
              <a:buNone/>
            </a:pPr>
            <a:endParaRPr lang="en-US" altLang="en-US" sz="2000" i="1" dirty="0"/>
          </a:p>
          <a:p>
            <a:pPr eaLnBrk="1" hangingPunct="1">
              <a:buFont typeface="Monotype Sorts" pitchFamily="2" charset="2"/>
              <a:buNone/>
            </a:pPr>
            <a:endParaRPr lang="en-US" altLang="en-US" sz="2000" dirty="0"/>
          </a:p>
        </p:txBody>
      </p:sp>
      <p:pic>
        <p:nvPicPr>
          <p:cNvPr id="20484" name="Picture 10">
            <a:extLst>
              <a:ext uri="{FF2B5EF4-FFF2-40B4-BE49-F238E27FC236}">
                <a16:creationId xmlns:a16="http://schemas.microsoft.com/office/drawing/2014/main" id="{B2DE4BC6-434D-4EB6-87D0-6338A52E67A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81000" y="1676400"/>
            <a:ext cx="8686800" cy="1663700"/>
          </a:xfrm>
          <a:solidFill>
            <a:schemeClr val="bg1"/>
          </a:solidFill>
        </p:spPr>
      </p:pic>
      <p:sp>
        <p:nvSpPr>
          <p:cNvPr id="366604" name="Text Box 12">
            <a:extLst>
              <a:ext uri="{FF2B5EF4-FFF2-40B4-BE49-F238E27FC236}">
                <a16:creationId xmlns:a16="http://schemas.microsoft.com/office/drawing/2014/main" id="{E9D9A696-2EC4-4B35-886D-D7F50519C495}"/>
              </a:ext>
            </a:extLst>
          </p:cNvPr>
          <p:cNvSpPr txBox="1">
            <a:spLocks noChangeArrowheads="1"/>
          </p:cNvSpPr>
          <p:nvPr/>
        </p:nvSpPr>
        <p:spPr bwMode="auto">
          <a:xfrm>
            <a:off x="1143000" y="3657600"/>
            <a:ext cx="1371600" cy="473075"/>
          </a:xfrm>
          <a:prstGeom prst="rect">
            <a:avLst/>
          </a:prstGeom>
          <a:noFill/>
          <a:ln>
            <a:noFill/>
          </a:ln>
          <a:effectLst/>
        </p:spPr>
        <p:txBody>
          <a:bodyPr>
            <a:spAutoFit/>
          </a:bodyPr>
          <a:lstStyle/>
          <a:p>
            <a:pPr algn="ctr">
              <a:spcBef>
                <a:spcPct val="50000"/>
              </a:spcBef>
              <a:defRPr/>
            </a:pPr>
            <a:r>
              <a:rPr lang="en-US" altLang="en-US" b="1">
                <a:solidFill>
                  <a:schemeClr val="hlink"/>
                </a:solidFill>
                <a:effectLst>
                  <a:outerShdw blurRad="38100" dist="38100" dir="2700000" algn="tl">
                    <a:srgbClr val="000000"/>
                  </a:outerShdw>
                </a:effectLst>
              </a:rPr>
              <a:t>a heap</a:t>
            </a:r>
          </a:p>
        </p:txBody>
      </p:sp>
      <p:sp>
        <p:nvSpPr>
          <p:cNvPr id="366605" name="Text Box 13">
            <a:extLst>
              <a:ext uri="{FF2B5EF4-FFF2-40B4-BE49-F238E27FC236}">
                <a16:creationId xmlns:a16="http://schemas.microsoft.com/office/drawing/2014/main" id="{DFD6D44B-0718-4D2D-AA53-73D1A2A6444A}"/>
              </a:ext>
            </a:extLst>
          </p:cNvPr>
          <p:cNvSpPr txBox="1">
            <a:spLocks noChangeArrowheads="1"/>
          </p:cNvSpPr>
          <p:nvPr/>
        </p:nvSpPr>
        <p:spPr bwMode="auto">
          <a:xfrm>
            <a:off x="4114800" y="3657600"/>
            <a:ext cx="1676400" cy="473075"/>
          </a:xfrm>
          <a:prstGeom prst="rect">
            <a:avLst/>
          </a:prstGeom>
          <a:noFill/>
          <a:ln>
            <a:noFill/>
          </a:ln>
          <a:effectLst/>
        </p:spPr>
        <p:txBody>
          <a:bodyPr>
            <a:spAutoFit/>
          </a:bodyPr>
          <a:lstStyle/>
          <a:p>
            <a:pPr algn="ctr">
              <a:spcBef>
                <a:spcPct val="50000"/>
              </a:spcBef>
              <a:defRPr/>
            </a:pPr>
            <a:r>
              <a:rPr lang="en-US" altLang="en-US" b="1">
                <a:solidFill>
                  <a:schemeClr val="hlink"/>
                </a:solidFill>
                <a:effectLst>
                  <a:outerShdw blurRad="38100" dist="38100" dir="2700000" algn="tl">
                    <a:srgbClr val="000000"/>
                  </a:outerShdw>
                </a:effectLst>
              </a:rPr>
              <a:t>not a heap</a:t>
            </a:r>
          </a:p>
        </p:txBody>
      </p:sp>
      <p:sp>
        <p:nvSpPr>
          <p:cNvPr id="366606" name="Text Box 14">
            <a:extLst>
              <a:ext uri="{FF2B5EF4-FFF2-40B4-BE49-F238E27FC236}">
                <a16:creationId xmlns:a16="http://schemas.microsoft.com/office/drawing/2014/main" id="{4BA0911A-4A16-4972-9B14-A1ACF3558058}"/>
              </a:ext>
            </a:extLst>
          </p:cNvPr>
          <p:cNvSpPr txBox="1">
            <a:spLocks noChangeArrowheads="1"/>
          </p:cNvSpPr>
          <p:nvPr/>
        </p:nvSpPr>
        <p:spPr bwMode="auto">
          <a:xfrm>
            <a:off x="7086600" y="3657600"/>
            <a:ext cx="1676400" cy="473075"/>
          </a:xfrm>
          <a:prstGeom prst="rect">
            <a:avLst/>
          </a:prstGeom>
          <a:noFill/>
          <a:ln>
            <a:noFill/>
          </a:ln>
          <a:effectLst/>
        </p:spPr>
        <p:txBody>
          <a:bodyPr>
            <a:spAutoFit/>
          </a:bodyPr>
          <a:lstStyle/>
          <a:p>
            <a:pPr algn="ctr">
              <a:spcBef>
                <a:spcPct val="50000"/>
              </a:spcBef>
              <a:defRPr/>
            </a:pPr>
            <a:r>
              <a:rPr lang="en-US" altLang="en-US" b="1">
                <a:solidFill>
                  <a:schemeClr val="hlink"/>
                </a:solidFill>
                <a:effectLst>
                  <a:outerShdw blurRad="38100" dist="38100" dir="2700000" algn="tl">
                    <a:srgbClr val="000000"/>
                  </a:outerShdw>
                </a:effectLst>
              </a:rPr>
              <a:t>not a heap</a:t>
            </a:r>
          </a:p>
        </p:txBody>
      </p:sp>
      <p:sp>
        <p:nvSpPr>
          <p:cNvPr id="20488" name="Text Box 15">
            <a:extLst>
              <a:ext uri="{FF2B5EF4-FFF2-40B4-BE49-F238E27FC236}">
                <a16:creationId xmlns:a16="http://schemas.microsoft.com/office/drawing/2014/main" id="{BCCFD67A-0382-41F4-ABCA-468F10B9388D}"/>
              </a:ext>
            </a:extLst>
          </p:cNvPr>
          <p:cNvSpPr txBox="1">
            <a:spLocks noChangeArrowheads="1"/>
          </p:cNvSpPr>
          <p:nvPr/>
        </p:nvSpPr>
        <p:spPr bwMode="auto">
          <a:xfrm>
            <a:off x="838200" y="5181600"/>
            <a:ext cx="78486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endParaRPr lang="en-US" altLang="en-US"/>
          </a:p>
        </p:txBody>
      </p:sp>
      <p:sp>
        <p:nvSpPr>
          <p:cNvPr id="366608" name="Text Box 16">
            <a:extLst>
              <a:ext uri="{FF2B5EF4-FFF2-40B4-BE49-F238E27FC236}">
                <a16:creationId xmlns:a16="http://schemas.microsoft.com/office/drawing/2014/main" id="{C37F97B5-4108-47A0-ABB2-D0070003FE5C}"/>
              </a:ext>
            </a:extLst>
          </p:cNvPr>
          <p:cNvSpPr txBox="1">
            <a:spLocks noChangeArrowheads="1"/>
          </p:cNvSpPr>
          <p:nvPr/>
        </p:nvSpPr>
        <p:spPr bwMode="auto">
          <a:xfrm>
            <a:off x="381000" y="4521200"/>
            <a:ext cx="8305800" cy="769441"/>
          </a:xfrm>
          <a:prstGeom prst="rect">
            <a:avLst/>
          </a:prstGeom>
          <a:noFill/>
          <a:ln>
            <a:noFill/>
          </a:ln>
          <a:effectLst/>
        </p:spPr>
        <p:txBody>
          <a:bodyPr wrap="square">
            <a:spAutoFit/>
          </a:bodyPr>
          <a:lstStyle/>
          <a:p>
            <a:pPr algn="just">
              <a:spcBef>
                <a:spcPct val="50000"/>
              </a:spcBef>
              <a:defRPr/>
            </a:pPr>
            <a:r>
              <a:rPr lang="en-US" altLang="en-US" sz="2200" b="1" dirty="0">
                <a:cs typeface="Times New Roman" panose="02020603050405020304" pitchFamily="18" charset="0"/>
              </a:rPr>
              <a:t>Note: Heap’s elements are ordered top down (along any path  </a:t>
            </a:r>
            <a:br>
              <a:rPr lang="en-US" altLang="en-US" sz="2200" b="1" dirty="0">
                <a:cs typeface="Times New Roman" panose="02020603050405020304" pitchFamily="18" charset="0"/>
              </a:rPr>
            </a:br>
            <a:r>
              <a:rPr lang="en-US" altLang="en-US" sz="2200" b="1" dirty="0">
                <a:cs typeface="Times New Roman" panose="02020603050405020304" pitchFamily="18" charset="0"/>
              </a:rPr>
              <a:t>              down from its root), but they are not ordered left to right.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2273650-8A95-41C8-83EE-CFE99C6E65ED}"/>
              </a:ext>
            </a:extLst>
          </p:cNvPr>
          <p:cNvSpPr>
            <a:spLocks noGrp="1" noChangeArrowheads="1"/>
          </p:cNvSpPr>
          <p:nvPr>
            <p:ph type="title"/>
          </p:nvPr>
        </p:nvSpPr>
        <p:spPr>
          <a:xfrm>
            <a:off x="628650" y="165100"/>
            <a:ext cx="6305550" cy="1206500"/>
          </a:xfrm>
          <a:ln>
            <a:miter lim="800000"/>
            <a:headEnd/>
            <a:tailEnd/>
          </a:ln>
        </p:spPr>
        <p:txBody>
          <a:bodyPr/>
          <a:lstStyle/>
          <a:p>
            <a:pPr eaLnBrk="1" hangingPunct="1"/>
            <a:r>
              <a:rPr lang="en-US" altLang="en-US" sz="4400">
                <a:solidFill>
                  <a:schemeClr val="tx1"/>
                </a:solidFill>
              </a:rPr>
              <a:t>Some Important Properties of a Heap</a:t>
            </a:r>
          </a:p>
        </p:txBody>
      </p:sp>
      <p:sp>
        <p:nvSpPr>
          <p:cNvPr id="22531" name="Rectangle 3">
            <a:extLst>
              <a:ext uri="{FF2B5EF4-FFF2-40B4-BE49-F238E27FC236}">
                <a16:creationId xmlns:a16="http://schemas.microsoft.com/office/drawing/2014/main" id="{E71E22CB-F127-4BE7-837C-4518C20A46E5}"/>
              </a:ext>
            </a:extLst>
          </p:cNvPr>
          <p:cNvSpPr>
            <a:spLocks noGrp="1" noChangeArrowheads="1"/>
          </p:cNvSpPr>
          <p:nvPr>
            <p:ph idx="1"/>
          </p:nvPr>
        </p:nvSpPr>
        <p:spPr>
          <a:xfrm>
            <a:off x="420688" y="1600200"/>
            <a:ext cx="8113712" cy="4648200"/>
          </a:xfrm>
          <a:ln>
            <a:miter lim="800000"/>
            <a:headEnd/>
            <a:tailEnd/>
          </a:ln>
        </p:spPr>
        <p:txBody>
          <a:bodyPr/>
          <a:lstStyle/>
          <a:p>
            <a:pPr eaLnBrk="1" hangingPunct="1"/>
            <a:r>
              <a:rPr lang="en-US" altLang="en-US"/>
              <a:t>The root contains the largest key</a:t>
            </a:r>
          </a:p>
          <a:p>
            <a:pPr eaLnBrk="1" hangingPunct="1"/>
            <a:endParaRPr lang="en-US" altLang="en-US"/>
          </a:p>
          <a:p>
            <a:pPr eaLnBrk="1" hangingPunct="1"/>
            <a:r>
              <a:rPr lang="en-US" altLang="en-US"/>
              <a:t>The subtree rooted at any node of a heap is also a heap</a:t>
            </a:r>
            <a:br>
              <a:rPr lang="en-US" altLang="en-US"/>
            </a:br>
            <a:endParaRPr lang="en-US" altLang="en-US"/>
          </a:p>
          <a:p>
            <a:pPr eaLnBrk="1" hangingPunct="1"/>
            <a:r>
              <a:rPr lang="en-US" altLang="en-US"/>
              <a:t>A heap can be represented as an array</a:t>
            </a:r>
            <a:endParaRPr lang="en-US" altLang="en-US" i="1"/>
          </a:p>
          <a:p>
            <a:pPr eaLnBrk="1" hangingPunct="1">
              <a:buFont typeface="Monotype Sorts" pitchFamily="2" charset="2"/>
              <a:buNone/>
            </a:pP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B30D65FC-55B0-4463-A946-0A1A02E6AB9E}"/>
              </a:ext>
            </a:extLst>
          </p:cNvPr>
          <p:cNvSpPr>
            <a:spLocks noGrp="1"/>
          </p:cNvSpPr>
          <p:nvPr>
            <p:ph type="title"/>
          </p:nvPr>
        </p:nvSpPr>
        <p:spPr>
          <a:xfrm>
            <a:off x="628650" y="165100"/>
            <a:ext cx="6305550" cy="749300"/>
          </a:xfrm>
          <a:ln>
            <a:miter lim="800000"/>
            <a:headEnd/>
            <a:tailEnd/>
          </a:ln>
        </p:spPr>
        <p:txBody>
          <a:bodyPr/>
          <a:lstStyle/>
          <a:p>
            <a:pPr eaLnBrk="1" hangingPunct="1"/>
            <a:r>
              <a:rPr lang="en-US" altLang="en-US" sz="4400">
                <a:solidFill>
                  <a:schemeClr val="tx1"/>
                </a:solidFill>
              </a:rPr>
              <a:t>Heap Property</a:t>
            </a:r>
          </a:p>
        </p:txBody>
      </p:sp>
      <p:sp>
        <p:nvSpPr>
          <p:cNvPr id="24579" name="Content Placeholder 2">
            <a:extLst>
              <a:ext uri="{FF2B5EF4-FFF2-40B4-BE49-F238E27FC236}">
                <a16:creationId xmlns:a16="http://schemas.microsoft.com/office/drawing/2014/main" id="{70CA1DA8-3986-420C-9C32-0A213F04F337}"/>
              </a:ext>
            </a:extLst>
          </p:cNvPr>
          <p:cNvSpPr>
            <a:spLocks noGrp="1"/>
          </p:cNvSpPr>
          <p:nvPr>
            <p:ph idx="1"/>
          </p:nvPr>
        </p:nvSpPr>
        <p:spPr>
          <a:xfrm>
            <a:off x="655612" y="1066800"/>
            <a:ext cx="7859737" cy="5105400"/>
          </a:xfrm>
          <a:ln>
            <a:miter lim="800000"/>
            <a:headEnd/>
            <a:tailEnd/>
          </a:ln>
        </p:spPr>
        <p:txBody>
          <a:bodyPr/>
          <a:lstStyle/>
          <a:p>
            <a:pPr algn="just" eaLnBrk="1" hangingPunct="1">
              <a:lnSpc>
                <a:spcPct val="150000"/>
              </a:lnSpc>
            </a:pPr>
            <a:r>
              <a:rPr lang="en-US" altLang="en-US" b="1"/>
              <a:t>Heap Property:</a:t>
            </a:r>
            <a:r>
              <a:rPr lang="en-US" altLang="en-US"/>
              <a:t> All nodes are either </a:t>
            </a:r>
            <a:r>
              <a:rPr lang="en-US" altLang="en-US" b="1"/>
              <a:t>greater than or equal to</a:t>
            </a:r>
            <a:r>
              <a:rPr lang="en-US" altLang="en-US"/>
              <a:t> or </a:t>
            </a:r>
            <a:r>
              <a:rPr lang="en-US" altLang="en-US" b="1"/>
              <a:t>less than or equal to</a:t>
            </a:r>
            <a:r>
              <a:rPr lang="en-US" altLang="en-US"/>
              <a:t> each of its children. If the parent nodes are greater than their child nodes, heap is called a </a:t>
            </a:r>
            <a:r>
              <a:rPr lang="en-US" altLang="en-US" b="1"/>
              <a:t>Max-Heap</a:t>
            </a:r>
            <a:r>
              <a:rPr lang="en-US" altLang="en-US"/>
              <a:t>, and if the parent nodes are smaller than their child nodes, heap is called </a:t>
            </a:r>
            <a:r>
              <a:rPr lang="en-US" altLang="en-US" b="1"/>
              <a:t>Min-Heap</a:t>
            </a:r>
            <a:r>
              <a:rPr lang="en-US" altLang="en-US"/>
              <a:t>.</a:t>
            </a:r>
          </a:p>
        </p:txBody>
      </p:sp>
      <p:sp>
        <p:nvSpPr>
          <p:cNvPr id="4" name="Slide Number Placeholder 3">
            <a:extLst>
              <a:ext uri="{FF2B5EF4-FFF2-40B4-BE49-F238E27FC236}">
                <a16:creationId xmlns:a16="http://schemas.microsoft.com/office/drawing/2014/main" id="{1263FD70-22D6-4A8F-A1C2-46DFD7228BA3}"/>
              </a:ext>
            </a:extLst>
          </p:cNvPr>
          <p:cNvSpPr>
            <a:spLocks noGrp="1"/>
          </p:cNvSpPr>
          <p:nvPr>
            <p:ph type="sldNum" sz="quarter" idx="12"/>
          </p:nvPr>
        </p:nvSpPr>
        <p:spPr/>
        <p:txBody>
          <a:bodyPr/>
          <a:lstStyle/>
          <a:p>
            <a:pPr>
              <a:defRPr/>
            </a:pPr>
            <a:fld id="{FB12D7E8-DB89-49B9-A6D2-0CA60BB3BF00}" type="slidenum">
              <a:rPr lang="en-US"/>
              <a:pPr>
                <a:defRPr/>
              </a:pPr>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6DEBFAD-0BDF-4B9D-BCEC-7F4B809229EB}"/>
              </a:ext>
            </a:extLst>
          </p:cNvPr>
          <p:cNvSpPr>
            <a:spLocks noGrp="1"/>
          </p:cNvSpPr>
          <p:nvPr>
            <p:ph type="title"/>
          </p:nvPr>
        </p:nvSpPr>
        <p:spPr>
          <a:xfrm>
            <a:off x="628650" y="165100"/>
            <a:ext cx="6305550" cy="969963"/>
          </a:xfrm>
          <a:ln>
            <a:miter lim="800000"/>
            <a:headEnd/>
            <a:tailEnd/>
          </a:ln>
        </p:spPr>
        <p:txBody>
          <a:bodyPr/>
          <a:lstStyle/>
          <a:p>
            <a:pPr eaLnBrk="1" hangingPunct="1"/>
            <a:r>
              <a:rPr lang="en-US" altLang="en-US" sz="4400">
                <a:solidFill>
                  <a:schemeClr val="tx1"/>
                </a:solidFill>
              </a:rPr>
              <a:t>Heap Property</a:t>
            </a:r>
          </a:p>
        </p:txBody>
      </p:sp>
      <p:sp>
        <p:nvSpPr>
          <p:cNvPr id="4" name="Slide Number Placeholder 3">
            <a:extLst>
              <a:ext uri="{FF2B5EF4-FFF2-40B4-BE49-F238E27FC236}">
                <a16:creationId xmlns:a16="http://schemas.microsoft.com/office/drawing/2014/main" id="{A16E5DC5-97C1-4DA9-AAFD-A203D4A100D2}"/>
              </a:ext>
            </a:extLst>
          </p:cNvPr>
          <p:cNvSpPr>
            <a:spLocks noGrp="1"/>
          </p:cNvSpPr>
          <p:nvPr>
            <p:ph type="sldNum" sz="quarter" idx="12"/>
          </p:nvPr>
        </p:nvSpPr>
        <p:spPr/>
        <p:txBody>
          <a:bodyPr/>
          <a:lstStyle/>
          <a:p>
            <a:pPr>
              <a:defRPr/>
            </a:pPr>
            <a:fld id="{F05101D3-1892-423F-AE03-69425AABEA69}" type="slidenum">
              <a:rPr lang="en-US"/>
              <a:pPr>
                <a:defRPr/>
              </a:pPr>
              <a:t>12</a:t>
            </a:fld>
            <a:endParaRPr lang="en-US"/>
          </a:p>
        </p:txBody>
      </p:sp>
      <p:pic>
        <p:nvPicPr>
          <p:cNvPr id="25604" name="Content Placeholder 4">
            <a:extLst>
              <a:ext uri="{FF2B5EF4-FFF2-40B4-BE49-F238E27FC236}">
                <a16:creationId xmlns:a16="http://schemas.microsoft.com/office/drawing/2014/main" id="{F7DB309B-121D-449D-8A1C-C80F901F6AE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295400"/>
            <a:ext cx="7683179" cy="4876800"/>
          </a:xfrm>
          <a:ln>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A3A885B-976B-4839-8112-5AFB8AC2CAAC}"/>
              </a:ext>
            </a:extLst>
          </p:cNvPr>
          <p:cNvSpPr>
            <a:spLocks noGrp="1" noChangeArrowheads="1"/>
          </p:cNvSpPr>
          <p:nvPr>
            <p:ph type="title"/>
          </p:nvPr>
        </p:nvSpPr>
        <p:spPr>
          <a:xfrm>
            <a:off x="628650" y="165100"/>
            <a:ext cx="6305550" cy="1144588"/>
          </a:xfrm>
          <a:ln>
            <a:miter lim="800000"/>
            <a:headEnd/>
            <a:tailEnd/>
          </a:ln>
        </p:spPr>
        <p:txBody>
          <a:bodyPr/>
          <a:lstStyle/>
          <a:p>
            <a:pPr eaLnBrk="1" hangingPunct="1"/>
            <a:r>
              <a:rPr lang="en-US" altLang="en-US" sz="4400">
                <a:solidFill>
                  <a:schemeClr val="tx1"/>
                </a:solidFill>
              </a:rPr>
              <a:t>Heap’s Array Representation</a:t>
            </a:r>
          </a:p>
        </p:txBody>
      </p:sp>
      <p:sp>
        <p:nvSpPr>
          <p:cNvPr id="370691" name="Rectangle 3">
            <a:extLst>
              <a:ext uri="{FF2B5EF4-FFF2-40B4-BE49-F238E27FC236}">
                <a16:creationId xmlns:a16="http://schemas.microsoft.com/office/drawing/2014/main" id="{1B770FE4-3C35-4D06-B325-3DD6E42A3480}"/>
              </a:ext>
            </a:extLst>
          </p:cNvPr>
          <p:cNvSpPr>
            <a:spLocks noGrp="1" noChangeArrowheads="1"/>
          </p:cNvSpPr>
          <p:nvPr>
            <p:ph idx="1"/>
          </p:nvPr>
        </p:nvSpPr>
        <p:spPr>
          <a:xfrm>
            <a:off x="628650" y="1524000"/>
            <a:ext cx="7981950" cy="4953000"/>
          </a:xfrm>
        </p:spPr>
        <p:txBody>
          <a:bodyPr rtlCol="0">
            <a:normAutofit fontScale="92500" lnSpcReduction="10000"/>
          </a:bodyPr>
          <a:lstStyle/>
          <a:p>
            <a:pPr algn="just" eaLnBrk="1" fontAlgn="auto" hangingPunct="1">
              <a:spcAft>
                <a:spcPts val="0"/>
              </a:spcAft>
              <a:buFont typeface="Monotype Sorts" pitchFamily="2" charset="2"/>
              <a:buNone/>
              <a:defRPr/>
            </a:pPr>
            <a:r>
              <a:rPr lang="en-US" altLang="en-US" dirty="0"/>
              <a:t>Store heap’s elements in an array (whose elements indexed, for convenience, 1 to </a:t>
            </a:r>
            <a:r>
              <a:rPr lang="en-US" altLang="en-US" i="1" dirty="0"/>
              <a:t>n</a:t>
            </a:r>
            <a:r>
              <a:rPr lang="en-US" altLang="en-US" dirty="0"/>
              <a:t>) in top-down left-to-right order</a:t>
            </a:r>
          </a:p>
          <a:p>
            <a:pPr algn="just" eaLnBrk="1" fontAlgn="auto" hangingPunct="1">
              <a:spcAft>
                <a:spcPts val="0"/>
              </a:spcAft>
              <a:buFont typeface="Monotype Sorts" pitchFamily="2" charset="2"/>
              <a:buNone/>
              <a:defRPr/>
            </a:pPr>
            <a:r>
              <a:rPr lang="en-US" altLang="en-US" dirty="0"/>
              <a:t>Example:</a:t>
            </a:r>
          </a:p>
          <a:p>
            <a:pPr algn="just" eaLnBrk="1" fontAlgn="auto" hangingPunct="1">
              <a:spcAft>
                <a:spcPts val="0"/>
              </a:spcAft>
              <a:defRPr/>
            </a:pPr>
            <a:endParaRPr lang="en-US" altLang="en-US" sz="2000" dirty="0"/>
          </a:p>
          <a:p>
            <a:pPr algn="just" eaLnBrk="1" fontAlgn="auto" hangingPunct="1">
              <a:spcAft>
                <a:spcPts val="0"/>
              </a:spcAft>
              <a:defRPr/>
            </a:pPr>
            <a:endParaRPr lang="en-US" altLang="en-US" sz="2000" dirty="0"/>
          </a:p>
          <a:p>
            <a:pPr algn="just" eaLnBrk="1" fontAlgn="auto" hangingPunct="1">
              <a:spcAft>
                <a:spcPts val="0"/>
              </a:spcAft>
              <a:defRPr/>
            </a:pPr>
            <a:endParaRPr lang="en-US" altLang="en-US" sz="2000" dirty="0"/>
          </a:p>
          <a:p>
            <a:pPr algn="just" eaLnBrk="1" fontAlgn="auto" hangingPunct="1">
              <a:spcAft>
                <a:spcPts val="0"/>
              </a:spcAft>
              <a:defRPr/>
            </a:pPr>
            <a:endParaRPr lang="en-US" altLang="en-US" sz="2000" dirty="0"/>
          </a:p>
          <a:p>
            <a:pPr algn="just" eaLnBrk="1" fontAlgn="auto" hangingPunct="1">
              <a:spcAft>
                <a:spcPts val="0"/>
              </a:spcAft>
              <a:defRPr/>
            </a:pPr>
            <a:endParaRPr lang="en-US" altLang="en-US" sz="2000" dirty="0"/>
          </a:p>
          <a:p>
            <a:pPr algn="just" eaLnBrk="1" fontAlgn="auto" hangingPunct="1">
              <a:spcAft>
                <a:spcPts val="0"/>
              </a:spcAft>
              <a:defRPr/>
            </a:pPr>
            <a:endParaRPr lang="en-US" altLang="en-US" sz="2000" dirty="0"/>
          </a:p>
          <a:p>
            <a:pPr algn="just" eaLnBrk="1" fontAlgn="auto" hangingPunct="1">
              <a:spcAft>
                <a:spcPts val="0"/>
              </a:spcAft>
              <a:defRPr/>
            </a:pPr>
            <a:endParaRPr lang="en-US" altLang="en-US" sz="2000" dirty="0"/>
          </a:p>
          <a:p>
            <a:pPr algn="just" eaLnBrk="1" fontAlgn="auto" hangingPunct="1">
              <a:spcAft>
                <a:spcPts val="0"/>
              </a:spcAft>
              <a:defRPr/>
            </a:pPr>
            <a:r>
              <a:rPr lang="en-US" altLang="en-US" dirty="0"/>
              <a:t>Left child of node </a:t>
            </a:r>
            <a:r>
              <a:rPr lang="en-US" altLang="en-US" i="1" dirty="0"/>
              <a:t>j</a:t>
            </a:r>
            <a:r>
              <a:rPr lang="en-US" altLang="en-US" dirty="0"/>
              <a:t> is at 2</a:t>
            </a:r>
            <a:r>
              <a:rPr lang="en-US" altLang="en-US" i="1" dirty="0"/>
              <a:t>j</a:t>
            </a:r>
          </a:p>
          <a:p>
            <a:pPr algn="just" eaLnBrk="1" fontAlgn="auto" hangingPunct="1">
              <a:spcAft>
                <a:spcPts val="0"/>
              </a:spcAft>
              <a:defRPr/>
            </a:pPr>
            <a:r>
              <a:rPr lang="en-US" altLang="en-US" dirty="0"/>
              <a:t>Right child of node </a:t>
            </a:r>
            <a:r>
              <a:rPr lang="en-US" altLang="en-US" i="1" dirty="0"/>
              <a:t>j</a:t>
            </a:r>
            <a:r>
              <a:rPr lang="en-US" altLang="en-US" dirty="0"/>
              <a:t> is at 2</a:t>
            </a:r>
            <a:r>
              <a:rPr lang="en-US" altLang="en-US" i="1" dirty="0"/>
              <a:t>j</a:t>
            </a:r>
            <a:r>
              <a:rPr lang="en-US" altLang="en-US" dirty="0"/>
              <a:t>+1</a:t>
            </a:r>
          </a:p>
          <a:p>
            <a:pPr algn="just" eaLnBrk="1" fontAlgn="auto" hangingPunct="1">
              <a:spcAft>
                <a:spcPts val="0"/>
              </a:spcAft>
              <a:defRPr/>
            </a:pPr>
            <a:r>
              <a:rPr lang="en-US" altLang="en-US" dirty="0"/>
              <a:t>Parent of node </a:t>
            </a:r>
            <a:r>
              <a:rPr lang="en-US" altLang="en-US" i="1" dirty="0"/>
              <a:t>j</a:t>
            </a:r>
            <a:r>
              <a:rPr lang="en-US" altLang="en-US" dirty="0"/>
              <a:t> is at </a:t>
            </a:r>
            <a:r>
              <a:rPr lang="en-US" altLang="en-US" sz="2000" dirty="0">
                <a:sym typeface="Symbol" panose="05050102010706020507" pitchFamily="18" charset="2"/>
              </a:rPr>
              <a:t></a:t>
            </a:r>
            <a:r>
              <a:rPr lang="en-US" altLang="en-US" i="1" dirty="0"/>
              <a:t>j</a:t>
            </a:r>
            <a:r>
              <a:rPr lang="en-US" altLang="en-US" dirty="0"/>
              <a:t>/2</a:t>
            </a:r>
            <a:r>
              <a:rPr lang="en-US" altLang="en-US" sz="2000" dirty="0">
                <a:sym typeface="Symbol" panose="05050102010706020507" pitchFamily="18" charset="2"/>
              </a:rPr>
              <a:t> </a:t>
            </a:r>
            <a:endParaRPr lang="en-US" altLang="en-US" dirty="0"/>
          </a:p>
          <a:p>
            <a:pPr algn="just" eaLnBrk="1" fontAlgn="auto" hangingPunct="1">
              <a:spcAft>
                <a:spcPts val="0"/>
              </a:spcAft>
              <a:defRPr/>
            </a:pPr>
            <a:r>
              <a:rPr lang="en-US" altLang="en-US" dirty="0"/>
              <a:t>Parental nodes are represented in the first </a:t>
            </a:r>
            <a:r>
              <a:rPr lang="en-US" altLang="en-US" sz="2000" dirty="0">
                <a:sym typeface="Symbol" panose="05050102010706020507" pitchFamily="18" charset="2"/>
              </a:rPr>
              <a:t></a:t>
            </a:r>
            <a:r>
              <a:rPr lang="en-US" altLang="en-US" i="1" dirty="0"/>
              <a:t>n</a:t>
            </a:r>
            <a:r>
              <a:rPr lang="en-US" altLang="en-US" dirty="0"/>
              <a:t>/2</a:t>
            </a:r>
            <a:r>
              <a:rPr lang="en-US" altLang="en-US" sz="2000" dirty="0">
                <a:sym typeface="Symbol" panose="05050102010706020507" pitchFamily="18" charset="2"/>
              </a:rPr>
              <a:t>  </a:t>
            </a:r>
            <a:r>
              <a:rPr lang="en-US" altLang="en-US" dirty="0"/>
              <a:t>locations</a:t>
            </a:r>
          </a:p>
          <a:p>
            <a:pPr algn="just" eaLnBrk="1" fontAlgn="auto" hangingPunct="1">
              <a:spcAft>
                <a:spcPts val="0"/>
              </a:spcAft>
              <a:defRPr/>
            </a:pPr>
            <a:endParaRPr lang="en-US" altLang="en-US" dirty="0"/>
          </a:p>
        </p:txBody>
      </p:sp>
      <p:sp>
        <p:nvSpPr>
          <p:cNvPr id="26628" name="Line 8">
            <a:extLst>
              <a:ext uri="{FF2B5EF4-FFF2-40B4-BE49-F238E27FC236}">
                <a16:creationId xmlns:a16="http://schemas.microsoft.com/office/drawing/2014/main" id="{A8A5E33A-A5F9-4DF2-84A5-6B7BAC6CA536}"/>
              </a:ext>
            </a:extLst>
          </p:cNvPr>
          <p:cNvSpPr>
            <a:spLocks noChangeShapeType="1"/>
          </p:cNvSpPr>
          <p:nvPr/>
        </p:nvSpPr>
        <p:spPr bwMode="auto">
          <a:xfrm flipH="1">
            <a:off x="4343400" y="5638800"/>
            <a:ext cx="762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29" name="Oval 9">
            <a:extLst>
              <a:ext uri="{FF2B5EF4-FFF2-40B4-BE49-F238E27FC236}">
                <a16:creationId xmlns:a16="http://schemas.microsoft.com/office/drawing/2014/main" id="{700AD945-F63D-4A03-9E02-3EF279799AC7}"/>
              </a:ext>
            </a:extLst>
          </p:cNvPr>
          <p:cNvSpPr>
            <a:spLocks noChangeArrowheads="1"/>
          </p:cNvSpPr>
          <p:nvPr/>
        </p:nvSpPr>
        <p:spPr bwMode="auto">
          <a:xfrm>
            <a:off x="1752600" y="2514600"/>
            <a:ext cx="457200" cy="4572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solidFill>
                  <a:schemeClr val="bg2"/>
                </a:solidFill>
              </a:rPr>
              <a:t>9</a:t>
            </a:r>
          </a:p>
        </p:txBody>
      </p:sp>
      <p:sp>
        <p:nvSpPr>
          <p:cNvPr id="26630" name="Oval 10">
            <a:extLst>
              <a:ext uri="{FF2B5EF4-FFF2-40B4-BE49-F238E27FC236}">
                <a16:creationId xmlns:a16="http://schemas.microsoft.com/office/drawing/2014/main" id="{8064DC07-C422-4D2A-BD88-12F51822AB6B}"/>
              </a:ext>
            </a:extLst>
          </p:cNvPr>
          <p:cNvSpPr>
            <a:spLocks noChangeArrowheads="1"/>
          </p:cNvSpPr>
          <p:nvPr/>
        </p:nvSpPr>
        <p:spPr bwMode="auto">
          <a:xfrm>
            <a:off x="685800" y="4038600"/>
            <a:ext cx="457200" cy="4572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solidFill>
                  <a:schemeClr val="bg2"/>
                </a:solidFill>
              </a:rPr>
              <a:t>1</a:t>
            </a:r>
          </a:p>
        </p:txBody>
      </p:sp>
      <p:sp>
        <p:nvSpPr>
          <p:cNvPr id="26631" name="Oval 11">
            <a:extLst>
              <a:ext uri="{FF2B5EF4-FFF2-40B4-BE49-F238E27FC236}">
                <a16:creationId xmlns:a16="http://schemas.microsoft.com/office/drawing/2014/main" id="{6DF61060-8D82-4644-9A01-18C972D96DD0}"/>
              </a:ext>
            </a:extLst>
          </p:cNvPr>
          <p:cNvSpPr>
            <a:spLocks noChangeArrowheads="1"/>
          </p:cNvSpPr>
          <p:nvPr/>
        </p:nvSpPr>
        <p:spPr bwMode="auto">
          <a:xfrm>
            <a:off x="1066800" y="3276600"/>
            <a:ext cx="457200" cy="4572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solidFill>
                  <a:schemeClr val="bg2"/>
                </a:solidFill>
              </a:rPr>
              <a:t>5</a:t>
            </a:r>
          </a:p>
        </p:txBody>
      </p:sp>
      <p:sp>
        <p:nvSpPr>
          <p:cNvPr id="26632" name="Oval 12">
            <a:extLst>
              <a:ext uri="{FF2B5EF4-FFF2-40B4-BE49-F238E27FC236}">
                <a16:creationId xmlns:a16="http://schemas.microsoft.com/office/drawing/2014/main" id="{CE6816FF-3B85-49F2-B49C-4064E6368C13}"/>
              </a:ext>
            </a:extLst>
          </p:cNvPr>
          <p:cNvSpPr>
            <a:spLocks noChangeArrowheads="1"/>
          </p:cNvSpPr>
          <p:nvPr/>
        </p:nvSpPr>
        <p:spPr bwMode="auto">
          <a:xfrm>
            <a:off x="2438400" y="3276600"/>
            <a:ext cx="457200" cy="4572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solidFill>
                  <a:schemeClr val="bg2"/>
                </a:solidFill>
              </a:rPr>
              <a:t>3</a:t>
            </a:r>
          </a:p>
        </p:txBody>
      </p:sp>
      <p:sp>
        <p:nvSpPr>
          <p:cNvPr id="26633" name="Line 13">
            <a:extLst>
              <a:ext uri="{FF2B5EF4-FFF2-40B4-BE49-F238E27FC236}">
                <a16:creationId xmlns:a16="http://schemas.microsoft.com/office/drawing/2014/main" id="{C45AA88F-4FF9-447C-92F9-C6D690894DFB}"/>
              </a:ext>
            </a:extLst>
          </p:cNvPr>
          <p:cNvSpPr>
            <a:spLocks noChangeShapeType="1"/>
          </p:cNvSpPr>
          <p:nvPr/>
        </p:nvSpPr>
        <p:spPr bwMode="auto">
          <a:xfrm flipH="1">
            <a:off x="1295400" y="2819400"/>
            <a:ext cx="457200" cy="4572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34" name="Line 14">
            <a:extLst>
              <a:ext uri="{FF2B5EF4-FFF2-40B4-BE49-F238E27FC236}">
                <a16:creationId xmlns:a16="http://schemas.microsoft.com/office/drawing/2014/main" id="{25630C54-0DAC-4B02-BE39-6B9024845DD0}"/>
              </a:ext>
            </a:extLst>
          </p:cNvPr>
          <p:cNvSpPr>
            <a:spLocks noChangeShapeType="1"/>
          </p:cNvSpPr>
          <p:nvPr/>
        </p:nvSpPr>
        <p:spPr bwMode="auto">
          <a:xfrm flipH="1">
            <a:off x="914400" y="3657600"/>
            <a:ext cx="228600" cy="3810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35" name="Line 15">
            <a:extLst>
              <a:ext uri="{FF2B5EF4-FFF2-40B4-BE49-F238E27FC236}">
                <a16:creationId xmlns:a16="http://schemas.microsoft.com/office/drawing/2014/main" id="{2A81034C-731D-457B-977F-58E561B3C185}"/>
              </a:ext>
            </a:extLst>
          </p:cNvPr>
          <p:cNvSpPr>
            <a:spLocks noChangeShapeType="1"/>
          </p:cNvSpPr>
          <p:nvPr/>
        </p:nvSpPr>
        <p:spPr bwMode="auto">
          <a:xfrm>
            <a:off x="2209800" y="2819400"/>
            <a:ext cx="381000" cy="4572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36" name="Text Box 16">
            <a:extLst>
              <a:ext uri="{FF2B5EF4-FFF2-40B4-BE49-F238E27FC236}">
                <a16:creationId xmlns:a16="http://schemas.microsoft.com/office/drawing/2014/main" id="{9C5C4BE4-6D55-4DA2-88A4-5D48A19E2168}"/>
              </a:ext>
            </a:extLst>
          </p:cNvPr>
          <p:cNvSpPr txBox="1">
            <a:spLocks noChangeArrowheads="1"/>
          </p:cNvSpPr>
          <p:nvPr/>
        </p:nvSpPr>
        <p:spPr bwMode="auto">
          <a:xfrm>
            <a:off x="1736725" y="28575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1800"/>
          </a:p>
        </p:txBody>
      </p:sp>
      <p:sp>
        <p:nvSpPr>
          <p:cNvPr id="26637" name="Text Box 17">
            <a:extLst>
              <a:ext uri="{FF2B5EF4-FFF2-40B4-BE49-F238E27FC236}">
                <a16:creationId xmlns:a16="http://schemas.microsoft.com/office/drawing/2014/main" id="{7581AF3A-8B10-4600-B9AE-D87BB723C300}"/>
              </a:ext>
            </a:extLst>
          </p:cNvPr>
          <p:cNvSpPr txBox="1">
            <a:spLocks noChangeArrowheads="1"/>
          </p:cNvSpPr>
          <p:nvPr/>
        </p:nvSpPr>
        <p:spPr bwMode="auto">
          <a:xfrm>
            <a:off x="2571750" y="3733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1800"/>
          </a:p>
        </p:txBody>
      </p:sp>
      <p:sp>
        <p:nvSpPr>
          <p:cNvPr id="26638" name="Text Box 18">
            <a:extLst>
              <a:ext uri="{FF2B5EF4-FFF2-40B4-BE49-F238E27FC236}">
                <a16:creationId xmlns:a16="http://schemas.microsoft.com/office/drawing/2014/main" id="{F271F567-3276-4D80-BFCA-3AE1D7F99481}"/>
              </a:ext>
            </a:extLst>
          </p:cNvPr>
          <p:cNvSpPr txBox="1">
            <a:spLocks noChangeArrowheads="1"/>
          </p:cNvSpPr>
          <p:nvPr/>
        </p:nvSpPr>
        <p:spPr bwMode="auto">
          <a:xfrm>
            <a:off x="2438400" y="2971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1800"/>
          </a:p>
        </p:txBody>
      </p:sp>
      <p:sp>
        <p:nvSpPr>
          <p:cNvPr id="26639" name="Text Box 19">
            <a:extLst>
              <a:ext uri="{FF2B5EF4-FFF2-40B4-BE49-F238E27FC236}">
                <a16:creationId xmlns:a16="http://schemas.microsoft.com/office/drawing/2014/main" id="{49902647-CEDF-4829-8291-3E72601FDFDE}"/>
              </a:ext>
            </a:extLst>
          </p:cNvPr>
          <p:cNvSpPr txBox="1">
            <a:spLocks noChangeArrowheads="1"/>
          </p:cNvSpPr>
          <p:nvPr/>
        </p:nvSpPr>
        <p:spPr bwMode="auto">
          <a:xfrm>
            <a:off x="3562350" y="28194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1800"/>
          </a:p>
        </p:txBody>
      </p:sp>
      <p:sp>
        <p:nvSpPr>
          <p:cNvPr id="26640" name="Oval 20">
            <a:extLst>
              <a:ext uri="{FF2B5EF4-FFF2-40B4-BE49-F238E27FC236}">
                <a16:creationId xmlns:a16="http://schemas.microsoft.com/office/drawing/2014/main" id="{9BCF8D33-3370-49B1-8F95-433CA3516550}"/>
              </a:ext>
            </a:extLst>
          </p:cNvPr>
          <p:cNvSpPr>
            <a:spLocks noChangeArrowheads="1"/>
          </p:cNvSpPr>
          <p:nvPr/>
        </p:nvSpPr>
        <p:spPr bwMode="auto">
          <a:xfrm>
            <a:off x="1371600" y="4038600"/>
            <a:ext cx="457200" cy="4572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solidFill>
                  <a:schemeClr val="bg2"/>
                </a:solidFill>
              </a:rPr>
              <a:t>4</a:t>
            </a:r>
          </a:p>
        </p:txBody>
      </p:sp>
      <p:sp>
        <p:nvSpPr>
          <p:cNvPr id="26641" name="Oval 21">
            <a:extLst>
              <a:ext uri="{FF2B5EF4-FFF2-40B4-BE49-F238E27FC236}">
                <a16:creationId xmlns:a16="http://schemas.microsoft.com/office/drawing/2014/main" id="{2AF88664-6A92-4D35-80F9-6D0D5240D24F}"/>
              </a:ext>
            </a:extLst>
          </p:cNvPr>
          <p:cNvSpPr>
            <a:spLocks noChangeArrowheads="1"/>
          </p:cNvSpPr>
          <p:nvPr/>
        </p:nvSpPr>
        <p:spPr bwMode="auto">
          <a:xfrm>
            <a:off x="2133600" y="4038600"/>
            <a:ext cx="457200" cy="4572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solidFill>
                  <a:schemeClr val="bg2"/>
                </a:solidFill>
              </a:rPr>
              <a:t>2</a:t>
            </a:r>
          </a:p>
        </p:txBody>
      </p:sp>
      <p:sp>
        <p:nvSpPr>
          <p:cNvPr id="26642" name="Line 22">
            <a:extLst>
              <a:ext uri="{FF2B5EF4-FFF2-40B4-BE49-F238E27FC236}">
                <a16:creationId xmlns:a16="http://schemas.microsoft.com/office/drawing/2014/main" id="{1D8B6CC4-0750-4A97-92C1-0DC030EABD14}"/>
              </a:ext>
            </a:extLst>
          </p:cNvPr>
          <p:cNvSpPr>
            <a:spLocks noChangeShapeType="1"/>
          </p:cNvSpPr>
          <p:nvPr/>
        </p:nvSpPr>
        <p:spPr bwMode="auto">
          <a:xfrm>
            <a:off x="1447800" y="3657600"/>
            <a:ext cx="152400" cy="3810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43" name="Line 23">
            <a:extLst>
              <a:ext uri="{FF2B5EF4-FFF2-40B4-BE49-F238E27FC236}">
                <a16:creationId xmlns:a16="http://schemas.microsoft.com/office/drawing/2014/main" id="{8B238F90-FF38-4430-97A1-38A300CE64D3}"/>
              </a:ext>
            </a:extLst>
          </p:cNvPr>
          <p:cNvSpPr>
            <a:spLocks noChangeShapeType="1"/>
          </p:cNvSpPr>
          <p:nvPr/>
        </p:nvSpPr>
        <p:spPr bwMode="auto">
          <a:xfrm flipH="1">
            <a:off x="2362200" y="3657600"/>
            <a:ext cx="152400" cy="3810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6644" name="Group 25">
            <a:extLst>
              <a:ext uri="{FF2B5EF4-FFF2-40B4-BE49-F238E27FC236}">
                <a16:creationId xmlns:a16="http://schemas.microsoft.com/office/drawing/2014/main" id="{DA660BB1-B1CA-4CBA-91C5-2EFF8F691EB3}"/>
              </a:ext>
            </a:extLst>
          </p:cNvPr>
          <p:cNvGrpSpPr>
            <a:grpSpLocks/>
          </p:cNvGrpSpPr>
          <p:nvPr/>
        </p:nvGrpSpPr>
        <p:grpSpPr bwMode="auto">
          <a:xfrm>
            <a:off x="5715000" y="2667000"/>
            <a:ext cx="2286000" cy="990600"/>
            <a:chOff x="3072" y="1536"/>
            <a:chExt cx="1440" cy="624"/>
          </a:xfrm>
        </p:grpSpPr>
        <p:sp>
          <p:nvSpPr>
            <p:cNvPr id="26646" name="Text Box 26">
              <a:extLst>
                <a:ext uri="{FF2B5EF4-FFF2-40B4-BE49-F238E27FC236}">
                  <a16:creationId xmlns:a16="http://schemas.microsoft.com/office/drawing/2014/main" id="{5E4CFB4E-095D-45B0-B7DE-F490C0826D9C}"/>
                </a:ext>
              </a:extLst>
            </p:cNvPr>
            <p:cNvSpPr txBox="1">
              <a:spLocks noChangeArrowheads="1"/>
            </p:cNvSpPr>
            <p:nvPr/>
          </p:nvSpPr>
          <p:spPr bwMode="auto">
            <a:xfrm>
              <a:off x="3158" y="1800"/>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1800"/>
            </a:p>
          </p:txBody>
        </p:sp>
        <p:sp>
          <p:nvSpPr>
            <p:cNvPr id="26647" name="Rectangle 27">
              <a:extLst>
                <a:ext uri="{FF2B5EF4-FFF2-40B4-BE49-F238E27FC236}">
                  <a16:creationId xmlns:a16="http://schemas.microsoft.com/office/drawing/2014/main" id="{0772E1F7-1017-449D-A74B-3F64D8591206}"/>
                </a:ext>
              </a:extLst>
            </p:cNvPr>
            <p:cNvSpPr>
              <a:spLocks noChangeArrowheads="1"/>
            </p:cNvSpPr>
            <p:nvPr/>
          </p:nvSpPr>
          <p:spPr bwMode="auto">
            <a:xfrm>
              <a:off x="3072" y="1800"/>
              <a:ext cx="1440" cy="360"/>
            </a:xfrm>
            <a:prstGeom prst="rect">
              <a:avLst/>
            </a:prstGeom>
            <a:solidFill>
              <a:schemeClr val="accent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p>
          </p:txBody>
        </p:sp>
        <p:sp>
          <p:nvSpPr>
            <p:cNvPr id="26648" name="Line 28">
              <a:extLst>
                <a:ext uri="{FF2B5EF4-FFF2-40B4-BE49-F238E27FC236}">
                  <a16:creationId xmlns:a16="http://schemas.microsoft.com/office/drawing/2014/main" id="{05F01407-E335-44C5-A8F7-024F8B656B70}"/>
                </a:ext>
              </a:extLst>
            </p:cNvPr>
            <p:cNvSpPr>
              <a:spLocks noChangeShapeType="1"/>
            </p:cNvSpPr>
            <p:nvPr/>
          </p:nvSpPr>
          <p:spPr bwMode="auto">
            <a:xfrm>
              <a:off x="3312" y="1800"/>
              <a:ext cx="0" cy="36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49" name="Line 29">
              <a:extLst>
                <a:ext uri="{FF2B5EF4-FFF2-40B4-BE49-F238E27FC236}">
                  <a16:creationId xmlns:a16="http://schemas.microsoft.com/office/drawing/2014/main" id="{225898E6-2AC4-4999-8632-E9B7298CA34E}"/>
                </a:ext>
              </a:extLst>
            </p:cNvPr>
            <p:cNvSpPr>
              <a:spLocks noChangeShapeType="1"/>
            </p:cNvSpPr>
            <p:nvPr/>
          </p:nvSpPr>
          <p:spPr bwMode="auto">
            <a:xfrm>
              <a:off x="4269" y="1776"/>
              <a:ext cx="0" cy="36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50" name="Line 30">
              <a:extLst>
                <a:ext uri="{FF2B5EF4-FFF2-40B4-BE49-F238E27FC236}">
                  <a16:creationId xmlns:a16="http://schemas.microsoft.com/office/drawing/2014/main" id="{6FF71002-5E09-4B57-A0F9-8F053A80D34A}"/>
                </a:ext>
              </a:extLst>
            </p:cNvPr>
            <p:cNvSpPr>
              <a:spLocks noChangeShapeType="1"/>
            </p:cNvSpPr>
            <p:nvPr/>
          </p:nvSpPr>
          <p:spPr bwMode="auto">
            <a:xfrm>
              <a:off x="4512" y="1800"/>
              <a:ext cx="0" cy="36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51" name="Line 31">
              <a:extLst>
                <a:ext uri="{FF2B5EF4-FFF2-40B4-BE49-F238E27FC236}">
                  <a16:creationId xmlns:a16="http://schemas.microsoft.com/office/drawing/2014/main" id="{6D9B24EF-9336-48C8-B954-A71F7876BA9F}"/>
                </a:ext>
              </a:extLst>
            </p:cNvPr>
            <p:cNvSpPr>
              <a:spLocks noChangeShapeType="1"/>
            </p:cNvSpPr>
            <p:nvPr/>
          </p:nvSpPr>
          <p:spPr bwMode="auto">
            <a:xfrm>
              <a:off x="3552" y="1800"/>
              <a:ext cx="0" cy="36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52" name="Line 32">
              <a:extLst>
                <a:ext uri="{FF2B5EF4-FFF2-40B4-BE49-F238E27FC236}">
                  <a16:creationId xmlns:a16="http://schemas.microsoft.com/office/drawing/2014/main" id="{99E34E5A-6EB4-4880-8C3F-8C705348456E}"/>
                </a:ext>
              </a:extLst>
            </p:cNvPr>
            <p:cNvSpPr>
              <a:spLocks noChangeShapeType="1"/>
            </p:cNvSpPr>
            <p:nvPr/>
          </p:nvSpPr>
          <p:spPr bwMode="auto">
            <a:xfrm>
              <a:off x="3792" y="1800"/>
              <a:ext cx="0" cy="36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53" name="Line 33">
              <a:extLst>
                <a:ext uri="{FF2B5EF4-FFF2-40B4-BE49-F238E27FC236}">
                  <a16:creationId xmlns:a16="http://schemas.microsoft.com/office/drawing/2014/main" id="{C8DEA173-8FB0-4FBA-94E9-CB22451E4DCC}"/>
                </a:ext>
              </a:extLst>
            </p:cNvPr>
            <p:cNvSpPr>
              <a:spLocks noChangeShapeType="1"/>
            </p:cNvSpPr>
            <p:nvPr/>
          </p:nvSpPr>
          <p:spPr bwMode="auto">
            <a:xfrm>
              <a:off x="4032" y="1800"/>
              <a:ext cx="0" cy="36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54" name="Text Box 34">
              <a:extLst>
                <a:ext uri="{FF2B5EF4-FFF2-40B4-BE49-F238E27FC236}">
                  <a16:creationId xmlns:a16="http://schemas.microsoft.com/office/drawing/2014/main" id="{284B5BBB-D0F5-4396-88F5-A56B46EC720A}"/>
                </a:ext>
              </a:extLst>
            </p:cNvPr>
            <p:cNvSpPr txBox="1">
              <a:spLocks noChangeArrowheads="1"/>
            </p:cNvSpPr>
            <p:nvPr/>
          </p:nvSpPr>
          <p:spPr bwMode="auto">
            <a:xfrm>
              <a:off x="3072" y="1536"/>
              <a:ext cx="14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t>1   2   3   4   5   6</a:t>
              </a:r>
            </a:p>
          </p:txBody>
        </p:sp>
        <p:sp>
          <p:nvSpPr>
            <p:cNvPr id="26655" name="Text Box 35">
              <a:extLst>
                <a:ext uri="{FF2B5EF4-FFF2-40B4-BE49-F238E27FC236}">
                  <a16:creationId xmlns:a16="http://schemas.microsoft.com/office/drawing/2014/main" id="{C30A90DD-D262-4908-AACA-49C9486A4974}"/>
                </a:ext>
              </a:extLst>
            </p:cNvPr>
            <p:cNvSpPr txBox="1">
              <a:spLocks noChangeArrowheads="1"/>
            </p:cNvSpPr>
            <p:nvPr/>
          </p:nvSpPr>
          <p:spPr bwMode="auto">
            <a:xfrm>
              <a:off x="3072" y="1872"/>
              <a:ext cx="14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solidFill>
                    <a:schemeClr val="bg2"/>
                  </a:solidFill>
                </a:rPr>
                <a:t>9   5   3   1   4   2</a:t>
              </a:r>
            </a:p>
          </p:txBody>
        </p:sp>
      </p:grpSp>
      <p:sp>
        <p:nvSpPr>
          <p:cNvPr id="26645" name="Line 41">
            <a:extLst>
              <a:ext uri="{FF2B5EF4-FFF2-40B4-BE49-F238E27FC236}">
                <a16:creationId xmlns:a16="http://schemas.microsoft.com/office/drawing/2014/main" id="{5311D132-BCF2-4924-8211-EF07BEDE9A99}"/>
              </a:ext>
            </a:extLst>
          </p:cNvPr>
          <p:cNvSpPr>
            <a:spLocks noChangeShapeType="1"/>
          </p:cNvSpPr>
          <p:nvPr/>
        </p:nvSpPr>
        <p:spPr bwMode="auto">
          <a:xfrm>
            <a:off x="3886200" y="3429000"/>
            <a:ext cx="914400" cy="0"/>
          </a:xfrm>
          <a:prstGeom prst="line">
            <a:avLst/>
          </a:prstGeom>
          <a:noFill/>
          <a:ln w="762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5E96ACC1-D92A-4C51-98E8-D935AE01ADED}"/>
              </a:ext>
            </a:extLst>
          </p:cNvPr>
          <p:cNvSpPr>
            <a:spLocks noGrp="1" noChangeArrowheads="1"/>
          </p:cNvSpPr>
          <p:nvPr>
            <p:ph type="title"/>
          </p:nvPr>
        </p:nvSpPr>
        <p:spPr>
          <a:xfrm>
            <a:off x="685800" y="152400"/>
            <a:ext cx="6400800" cy="1219200"/>
          </a:xfrm>
          <a:ln>
            <a:miter lim="800000"/>
            <a:headEnd/>
            <a:tailEnd/>
          </a:ln>
        </p:spPr>
        <p:txBody>
          <a:bodyPr/>
          <a:lstStyle/>
          <a:p>
            <a:pPr eaLnBrk="1" hangingPunct="1"/>
            <a:r>
              <a:rPr lang="en-US" altLang="en-US" sz="4400">
                <a:solidFill>
                  <a:schemeClr val="tx1"/>
                </a:solidFill>
              </a:rPr>
              <a:t>Heap Construction (bottom-up)</a:t>
            </a:r>
          </a:p>
        </p:txBody>
      </p:sp>
      <p:sp>
        <p:nvSpPr>
          <p:cNvPr id="28675" name="Rectangle 2">
            <a:extLst>
              <a:ext uri="{FF2B5EF4-FFF2-40B4-BE49-F238E27FC236}">
                <a16:creationId xmlns:a16="http://schemas.microsoft.com/office/drawing/2014/main" id="{0A6420B1-B533-4A8A-ABD8-D0512E2B0A79}"/>
              </a:ext>
            </a:extLst>
          </p:cNvPr>
          <p:cNvSpPr>
            <a:spLocks noGrp="1" noChangeArrowheads="1"/>
          </p:cNvSpPr>
          <p:nvPr>
            <p:ph idx="1"/>
          </p:nvPr>
        </p:nvSpPr>
        <p:spPr>
          <a:xfrm>
            <a:off x="381000" y="1447800"/>
            <a:ext cx="7886700" cy="4351338"/>
          </a:xfrm>
          <a:ln>
            <a:miter lim="800000"/>
            <a:headEnd/>
            <a:tailEnd/>
          </a:ln>
        </p:spPr>
        <p:txBody>
          <a:bodyPr/>
          <a:lstStyle/>
          <a:p>
            <a:pPr marL="1028700" indent="-1028700" eaLnBrk="1" hangingPunct="1">
              <a:buFont typeface="Monotype Sorts" pitchFamily="2" charset="2"/>
              <a:buNone/>
            </a:pPr>
            <a:r>
              <a:rPr lang="en-US" altLang="en-US" dirty="0"/>
              <a:t>Step 0: Initialize the structure with keys in the order given</a:t>
            </a:r>
          </a:p>
          <a:p>
            <a:pPr marL="1028700" indent="-1028700" eaLnBrk="1" hangingPunct="1"/>
            <a:endParaRPr lang="en-US" altLang="en-US" dirty="0"/>
          </a:p>
          <a:p>
            <a:pPr marL="1028700" indent="-1028700" eaLnBrk="1" hangingPunct="1">
              <a:buFont typeface="Monotype Sorts" pitchFamily="2" charset="2"/>
              <a:buNone/>
            </a:pPr>
            <a:r>
              <a:rPr lang="en-US" altLang="en-US" dirty="0"/>
              <a:t>Step 1: Starting with the last (rightmost) parental node, fix the heap rooted at it, if it doesn’t satisfy the heap condition: keep exchanging  it with its larger child until the heap</a:t>
            </a:r>
            <a:r>
              <a:rPr lang="en-US" altLang="en-US" sz="2800" dirty="0"/>
              <a:t> </a:t>
            </a:r>
            <a:r>
              <a:rPr lang="en-US" altLang="en-US" dirty="0"/>
              <a:t>condition holds</a:t>
            </a:r>
            <a:br>
              <a:rPr lang="en-US" altLang="en-US" dirty="0"/>
            </a:br>
            <a:endParaRPr lang="en-US" altLang="en-US" dirty="0"/>
          </a:p>
          <a:p>
            <a:pPr marL="1028700" indent="-1028700" eaLnBrk="1" hangingPunct="1">
              <a:buFont typeface="Monotype Sorts" pitchFamily="2" charset="2"/>
              <a:buNone/>
            </a:pPr>
            <a:r>
              <a:rPr lang="en-US" altLang="en-US" dirty="0"/>
              <a:t>Step 2: Repeat Step 1 for the preceding parental node</a:t>
            </a:r>
          </a:p>
          <a:p>
            <a:pPr marL="1143000" lvl="1" indent="0" eaLnBrk="1" hangingPunct="1">
              <a:buFont typeface="Monotype Sorts" pitchFamily="2" charset="2"/>
              <a:buNone/>
            </a:pPr>
            <a:endParaRPr lang="en-US" altLang="en-US" dirty="0"/>
          </a:p>
          <a:p>
            <a:pPr marL="1028700" indent="-1028700" eaLnBrk="1" hangingPunct="1">
              <a:buFont typeface="Monotype Sorts" pitchFamily="2" charset="2"/>
              <a:buNone/>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542E20BE-4900-4CDD-942D-254049EE3D4A}"/>
              </a:ext>
            </a:extLst>
          </p:cNvPr>
          <p:cNvSpPr>
            <a:spLocks noGrp="1" noChangeArrowheads="1"/>
          </p:cNvSpPr>
          <p:nvPr>
            <p:ph type="title"/>
          </p:nvPr>
        </p:nvSpPr>
        <p:spPr>
          <a:xfrm>
            <a:off x="628650" y="165100"/>
            <a:ext cx="6305550" cy="1130300"/>
          </a:xfrm>
          <a:ln>
            <a:miter lim="800000"/>
            <a:headEnd/>
            <a:tailEnd/>
          </a:ln>
        </p:spPr>
        <p:txBody>
          <a:bodyPr/>
          <a:lstStyle/>
          <a:p>
            <a:pPr eaLnBrk="1" hangingPunct="1"/>
            <a:r>
              <a:rPr lang="en-US" altLang="en-US" sz="4400">
                <a:solidFill>
                  <a:schemeClr val="tx1"/>
                </a:solidFill>
              </a:rPr>
              <a:t>Example of Heap Construction</a:t>
            </a:r>
          </a:p>
        </p:txBody>
      </p:sp>
      <p:pic>
        <p:nvPicPr>
          <p:cNvPr id="30723" name="Picture 4">
            <a:extLst>
              <a:ext uri="{FF2B5EF4-FFF2-40B4-BE49-F238E27FC236}">
                <a16:creationId xmlns:a16="http://schemas.microsoft.com/office/drawing/2014/main" id="{6A440366-825A-4D85-8799-9835B08BE0F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2089150"/>
            <a:ext cx="8686800" cy="3168650"/>
          </a:xfrm>
          <a:solidFill>
            <a:schemeClr val="bg1"/>
          </a:solidFill>
          <a:ln>
            <a:miter lim="800000"/>
            <a:headEnd/>
            <a:tailEnd/>
          </a:ln>
        </p:spPr>
      </p:pic>
      <p:sp>
        <p:nvSpPr>
          <p:cNvPr id="425990" name="Text Box 6">
            <a:extLst>
              <a:ext uri="{FF2B5EF4-FFF2-40B4-BE49-F238E27FC236}">
                <a16:creationId xmlns:a16="http://schemas.microsoft.com/office/drawing/2014/main" id="{95C029DA-815C-460C-BF41-59FEFB409C0B}"/>
              </a:ext>
            </a:extLst>
          </p:cNvPr>
          <p:cNvSpPr txBox="1">
            <a:spLocks noChangeArrowheads="1"/>
          </p:cNvSpPr>
          <p:nvPr/>
        </p:nvSpPr>
        <p:spPr bwMode="auto">
          <a:xfrm>
            <a:off x="609600" y="1508125"/>
            <a:ext cx="5715000" cy="473075"/>
          </a:xfrm>
          <a:prstGeom prst="rect">
            <a:avLst/>
          </a:prstGeom>
          <a:noFill/>
          <a:ln>
            <a:noFill/>
          </a:ln>
          <a:effectLst/>
        </p:spPr>
        <p:txBody>
          <a:bodyPr>
            <a:spAutoFit/>
          </a:bodyPr>
          <a:lstStyle/>
          <a:p>
            <a:pPr>
              <a:spcBef>
                <a:spcPct val="50000"/>
              </a:spcBef>
              <a:defRPr/>
            </a:pPr>
            <a:r>
              <a:rPr lang="en-US" altLang="en-US" b="1" dirty="0"/>
              <a:t>Construct a heap for the list 2, 9, 7, 6, 5, 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A0E08E4F-FD16-4917-BD45-EF6484256A28}"/>
              </a:ext>
            </a:extLst>
          </p:cNvPr>
          <p:cNvSpPr>
            <a:spLocks noGrp="1" noChangeArrowheads="1"/>
          </p:cNvSpPr>
          <p:nvPr>
            <p:ph type="title"/>
          </p:nvPr>
        </p:nvSpPr>
        <p:spPr>
          <a:xfrm>
            <a:off x="628650" y="165100"/>
            <a:ext cx="6305550" cy="969963"/>
          </a:xfrm>
          <a:ln>
            <a:miter lim="800000"/>
            <a:headEnd/>
            <a:tailEnd/>
          </a:ln>
        </p:spPr>
        <p:txBody>
          <a:bodyPr/>
          <a:lstStyle/>
          <a:p>
            <a:pPr eaLnBrk="1" hangingPunct="1"/>
            <a:r>
              <a:rPr lang="en-US" altLang="en-US" sz="4400">
                <a:solidFill>
                  <a:schemeClr val="tx1"/>
                </a:solidFill>
              </a:rPr>
              <a:t>Heapsort</a:t>
            </a:r>
          </a:p>
        </p:txBody>
      </p:sp>
      <p:sp>
        <p:nvSpPr>
          <p:cNvPr id="32771" name="Rectangle 2">
            <a:extLst>
              <a:ext uri="{FF2B5EF4-FFF2-40B4-BE49-F238E27FC236}">
                <a16:creationId xmlns:a16="http://schemas.microsoft.com/office/drawing/2014/main" id="{8772784F-B924-4715-850A-5D51522F86FE}"/>
              </a:ext>
            </a:extLst>
          </p:cNvPr>
          <p:cNvSpPr>
            <a:spLocks noGrp="1" noChangeArrowheads="1"/>
          </p:cNvSpPr>
          <p:nvPr>
            <p:ph idx="1"/>
          </p:nvPr>
        </p:nvSpPr>
        <p:spPr>
          <a:xfrm>
            <a:off x="420688" y="1371600"/>
            <a:ext cx="7886700" cy="4351338"/>
          </a:xfrm>
          <a:ln>
            <a:miter lim="800000"/>
            <a:headEnd/>
            <a:tailEnd/>
          </a:ln>
        </p:spPr>
        <p:txBody>
          <a:bodyPr/>
          <a:lstStyle/>
          <a:p>
            <a:pPr marL="457200" indent="-457200" eaLnBrk="1" hangingPunct="1">
              <a:buFont typeface="Monotype Sorts" pitchFamily="2" charset="2"/>
              <a:buNone/>
            </a:pPr>
            <a:r>
              <a:rPr lang="en-US" altLang="en-US"/>
              <a:t>Stage 1: Construct a heap for a given list of </a:t>
            </a:r>
            <a:r>
              <a:rPr lang="en-US" altLang="en-US" i="1"/>
              <a:t>n</a:t>
            </a:r>
            <a:r>
              <a:rPr lang="en-US" altLang="en-US"/>
              <a:t> keys</a:t>
            </a:r>
          </a:p>
          <a:p>
            <a:pPr marL="457200" indent="-457200" eaLnBrk="1" hangingPunct="1"/>
            <a:endParaRPr lang="en-US" altLang="en-US"/>
          </a:p>
          <a:p>
            <a:pPr marL="457200" indent="-457200" eaLnBrk="1" hangingPunct="1">
              <a:buFont typeface="Monotype Sorts" pitchFamily="2" charset="2"/>
              <a:buNone/>
            </a:pPr>
            <a:r>
              <a:rPr lang="en-US" altLang="en-US"/>
              <a:t>Stage 2: Repeat operation of root removal </a:t>
            </a:r>
            <a:r>
              <a:rPr lang="en-US" altLang="en-US" i="1"/>
              <a:t>n</a:t>
            </a:r>
            <a:r>
              <a:rPr lang="en-US" altLang="en-US"/>
              <a:t>-1 times:</a:t>
            </a:r>
          </a:p>
          <a:p>
            <a:pPr marL="1485900" lvl="2" indent="-342900" eaLnBrk="1" hangingPunct="1"/>
            <a:r>
              <a:rPr lang="en-US" altLang="en-US"/>
              <a:t>Exchange keys in the root and in the last (rightmost) leaf</a:t>
            </a:r>
          </a:p>
          <a:p>
            <a:pPr marL="1485900" lvl="2" indent="-342900" eaLnBrk="1" hangingPunct="1"/>
            <a:r>
              <a:rPr lang="en-US" altLang="en-US"/>
              <a:t>Decrease heap size by 1</a:t>
            </a:r>
          </a:p>
          <a:p>
            <a:pPr marL="1485900" lvl="2" indent="-342900" eaLnBrk="1" hangingPunct="1"/>
            <a:r>
              <a:rPr lang="en-US" altLang="en-US"/>
              <a:t>If necessary,  swap new root with larger child until the heap condition holds</a:t>
            </a:r>
          </a:p>
          <a:p>
            <a:pPr marL="457200" indent="-457200" eaLnBrk="1" hangingPunct="1">
              <a:buFont typeface="Monotype Sorts" pitchFamily="2" charset="2"/>
              <a:buNone/>
            </a:pPr>
            <a:endParaRPr lang="en-US" altLang="en-US"/>
          </a:p>
          <a:p>
            <a:pPr marL="457200" indent="-457200" eaLnBrk="1" hangingPunct="1">
              <a:buFont typeface="Monotype Sorts" pitchFamily="2" charset="2"/>
              <a:buNone/>
            </a:pPr>
            <a:endParaRPr lang="en-US" altLang="en-US"/>
          </a:p>
          <a:p>
            <a:pPr marL="457200" indent="-457200" eaLnBrk="1" hangingPunct="1">
              <a:buFont typeface="Monotype Sorts" pitchFamily="2" charset="2"/>
              <a:buNone/>
            </a:pP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14939650-B016-4FFF-858F-2EFC0923AED8}"/>
              </a:ext>
            </a:extLst>
          </p:cNvPr>
          <p:cNvSpPr>
            <a:spLocks noGrp="1" noChangeArrowheads="1"/>
          </p:cNvSpPr>
          <p:nvPr>
            <p:ph type="title"/>
          </p:nvPr>
        </p:nvSpPr>
        <p:spPr>
          <a:xfrm>
            <a:off x="628650" y="165100"/>
            <a:ext cx="6305550" cy="1358900"/>
          </a:xfrm>
          <a:ln>
            <a:miter lim="800000"/>
            <a:headEnd/>
            <a:tailEnd/>
          </a:ln>
        </p:spPr>
        <p:txBody>
          <a:bodyPr/>
          <a:lstStyle/>
          <a:p>
            <a:pPr eaLnBrk="1" hangingPunct="1"/>
            <a:r>
              <a:rPr lang="en-US" altLang="en-US" sz="4400">
                <a:solidFill>
                  <a:schemeClr val="tx1"/>
                </a:solidFill>
              </a:rPr>
              <a:t>Example of Sorting by Heapsort</a:t>
            </a:r>
          </a:p>
        </p:txBody>
      </p:sp>
      <p:sp>
        <p:nvSpPr>
          <p:cNvPr id="34819" name="Rectangle 2">
            <a:extLst>
              <a:ext uri="{FF2B5EF4-FFF2-40B4-BE49-F238E27FC236}">
                <a16:creationId xmlns:a16="http://schemas.microsoft.com/office/drawing/2014/main" id="{20E31E38-4081-48C5-B3E4-01DA1B7FC55D}"/>
              </a:ext>
            </a:extLst>
          </p:cNvPr>
          <p:cNvSpPr>
            <a:spLocks noGrp="1" noChangeArrowheads="1"/>
          </p:cNvSpPr>
          <p:nvPr>
            <p:ph idx="1"/>
          </p:nvPr>
        </p:nvSpPr>
        <p:spPr>
          <a:xfrm>
            <a:off x="628650" y="1600200"/>
            <a:ext cx="7829550" cy="4876800"/>
          </a:xfrm>
          <a:ln>
            <a:miter lim="800000"/>
            <a:headEnd/>
            <a:tailEnd/>
          </a:ln>
        </p:spPr>
        <p:txBody>
          <a:bodyPr/>
          <a:lstStyle/>
          <a:p>
            <a:pPr marL="457200" indent="-457200" eaLnBrk="1" hangingPunct="1">
              <a:buFont typeface="Monotype Sorts" pitchFamily="2" charset="2"/>
              <a:buNone/>
            </a:pPr>
            <a:r>
              <a:rPr lang="en-US" altLang="en-US" sz="2000" dirty="0"/>
              <a:t>Sort the list  2,  9,  7,  6,  5,  8  by heapsort</a:t>
            </a:r>
          </a:p>
          <a:p>
            <a:pPr marL="457200" indent="-457200" eaLnBrk="1" hangingPunct="1">
              <a:buFont typeface="Monotype Sorts" pitchFamily="2" charset="2"/>
              <a:buNone/>
            </a:pPr>
            <a:endParaRPr lang="en-US" altLang="en-US" sz="2000" dirty="0"/>
          </a:p>
          <a:p>
            <a:pPr marL="457200" indent="-457200" eaLnBrk="1" hangingPunct="1">
              <a:buFont typeface="Monotype Sorts" pitchFamily="2" charset="2"/>
              <a:buNone/>
            </a:pPr>
            <a:r>
              <a:rPr lang="en-US" altLang="en-US" sz="2000" dirty="0"/>
              <a:t>Stage 1 (heap construction)		 Stage 2 (root/max removal)</a:t>
            </a:r>
          </a:p>
          <a:p>
            <a:pPr marL="457200" indent="-457200" eaLnBrk="1" hangingPunct="1">
              <a:buFont typeface="Monotype Sorts" pitchFamily="2" charset="2"/>
              <a:buNone/>
            </a:pPr>
            <a:r>
              <a:rPr lang="en-US" altLang="en-US" sz="2000" dirty="0"/>
              <a:t>     1   9   </a:t>
            </a:r>
            <a:r>
              <a:rPr lang="en-US" altLang="en-US" sz="2000" u="sng" dirty="0"/>
              <a:t>7</a:t>
            </a:r>
            <a:r>
              <a:rPr lang="en-US" altLang="en-US" sz="2000" dirty="0"/>
              <a:t>   6   5   8			       </a:t>
            </a:r>
            <a:r>
              <a:rPr lang="en-US" altLang="en-US" sz="2000" u="sng" dirty="0"/>
              <a:t>9</a:t>
            </a:r>
            <a:r>
              <a:rPr lang="en-US" altLang="en-US" sz="2000" dirty="0"/>
              <a:t>   6   8   2   5   7</a:t>
            </a:r>
          </a:p>
          <a:p>
            <a:pPr marL="457200" indent="-457200" eaLnBrk="1" hangingPunct="1">
              <a:buFont typeface="Monotype Sorts" pitchFamily="2" charset="2"/>
              <a:buNone/>
            </a:pPr>
            <a:r>
              <a:rPr lang="en-US" altLang="en-US" sz="2000" dirty="0"/>
              <a:t>     2   </a:t>
            </a:r>
            <a:r>
              <a:rPr lang="en-US" altLang="en-US" sz="2000" u="sng" dirty="0"/>
              <a:t>9</a:t>
            </a:r>
            <a:r>
              <a:rPr lang="en-US" altLang="en-US" sz="2000" dirty="0"/>
              <a:t>   8   6   5   7			       7   6   8   2   5 | 9</a:t>
            </a:r>
          </a:p>
          <a:p>
            <a:pPr marL="457200" indent="-457200" eaLnBrk="1" hangingPunct="1">
              <a:buFont typeface="Monotype Sorts" pitchFamily="2" charset="2"/>
              <a:buNone/>
            </a:pPr>
            <a:r>
              <a:rPr lang="en-US" altLang="en-US" sz="2000" dirty="0"/>
              <a:t>     </a:t>
            </a:r>
            <a:r>
              <a:rPr lang="en-US" altLang="en-US" sz="2000" u="sng" dirty="0"/>
              <a:t>2</a:t>
            </a:r>
            <a:r>
              <a:rPr lang="en-US" altLang="en-US" sz="2000" dirty="0"/>
              <a:t>   9   8   6   5   7			       </a:t>
            </a:r>
            <a:r>
              <a:rPr lang="en-US" altLang="en-US" sz="2000" u="sng" dirty="0"/>
              <a:t>8</a:t>
            </a:r>
            <a:r>
              <a:rPr lang="en-US" altLang="en-US" sz="2000" dirty="0"/>
              <a:t>   6   7   2   5 | 9</a:t>
            </a:r>
          </a:p>
          <a:p>
            <a:pPr marL="457200" indent="-457200" eaLnBrk="1" hangingPunct="1">
              <a:buFont typeface="Monotype Sorts" pitchFamily="2" charset="2"/>
              <a:buNone/>
            </a:pPr>
            <a:r>
              <a:rPr lang="en-US" altLang="en-US" sz="2000" dirty="0"/>
              <a:t>     9   </a:t>
            </a:r>
            <a:r>
              <a:rPr lang="en-US" altLang="en-US" sz="2000" u="sng" dirty="0"/>
              <a:t>2</a:t>
            </a:r>
            <a:r>
              <a:rPr lang="en-US" altLang="en-US" sz="2000" dirty="0"/>
              <a:t>   8   6   5   7			       5   6   7   2 | 8   9</a:t>
            </a:r>
          </a:p>
          <a:p>
            <a:pPr marL="457200" indent="-457200" eaLnBrk="1" hangingPunct="1">
              <a:buFont typeface="Monotype Sorts" pitchFamily="2" charset="2"/>
              <a:buNone/>
            </a:pPr>
            <a:r>
              <a:rPr lang="en-US" altLang="en-US" sz="2000" dirty="0"/>
              <a:t>     9   6   8   2   5   7			       </a:t>
            </a:r>
            <a:r>
              <a:rPr lang="en-US" altLang="en-US" sz="2000" u="sng" dirty="0"/>
              <a:t>7</a:t>
            </a:r>
            <a:r>
              <a:rPr lang="en-US" altLang="en-US" sz="2000" dirty="0"/>
              <a:t>   6   5   2 | 8   9</a:t>
            </a:r>
          </a:p>
          <a:p>
            <a:pPr marL="457200" indent="-457200" eaLnBrk="1" hangingPunct="1">
              <a:buFont typeface="Monotype Sorts" pitchFamily="2" charset="2"/>
              <a:buNone/>
            </a:pPr>
            <a:r>
              <a:rPr lang="en-US" altLang="en-US" sz="2000" dirty="0"/>
              <a:t>						       2   6   5 | 7   8   9</a:t>
            </a:r>
          </a:p>
          <a:p>
            <a:pPr marL="457200" indent="-457200" eaLnBrk="1" hangingPunct="1">
              <a:buFont typeface="Monotype Sorts" pitchFamily="2" charset="2"/>
              <a:buNone/>
            </a:pPr>
            <a:r>
              <a:rPr lang="en-US" altLang="en-US" sz="2000" dirty="0"/>
              <a:t>						       </a:t>
            </a:r>
            <a:r>
              <a:rPr lang="en-US" altLang="en-US" sz="2000" u="sng" dirty="0"/>
              <a:t>6</a:t>
            </a:r>
            <a:r>
              <a:rPr lang="en-US" altLang="en-US" sz="2000" dirty="0"/>
              <a:t>   2   5 | 7   8   9</a:t>
            </a:r>
          </a:p>
          <a:p>
            <a:pPr marL="457200" indent="-457200" eaLnBrk="1" hangingPunct="1">
              <a:buFont typeface="Monotype Sorts" pitchFamily="2" charset="2"/>
              <a:buNone/>
            </a:pPr>
            <a:r>
              <a:rPr lang="en-US" altLang="en-US" sz="2000" dirty="0"/>
              <a:t>						       5   2 | 6   7   8   9</a:t>
            </a:r>
          </a:p>
          <a:p>
            <a:pPr marL="457200" indent="-457200" eaLnBrk="1" hangingPunct="1">
              <a:buFont typeface="Monotype Sorts" pitchFamily="2" charset="2"/>
              <a:buNone/>
            </a:pPr>
            <a:r>
              <a:rPr lang="en-US" altLang="en-US" sz="2000" dirty="0"/>
              <a:t>						       </a:t>
            </a:r>
            <a:r>
              <a:rPr lang="en-US" altLang="en-US" sz="2000" u="sng" dirty="0"/>
              <a:t>5</a:t>
            </a:r>
            <a:r>
              <a:rPr lang="en-US" altLang="en-US" sz="2000" dirty="0"/>
              <a:t>   2 | 6   7   8   9</a:t>
            </a:r>
          </a:p>
          <a:p>
            <a:pPr marL="457200" indent="-457200" eaLnBrk="1" hangingPunct="1">
              <a:buFont typeface="Monotype Sorts" pitchFamily="2" charset="2"/>
              <a:buNone/>
            </a:pPr>
            <a:r>
              <a:rPr lang="en-US" altLang="en-US" sz="2000" dirty="0"/>
              <a:t>						       2 | 5   6   7   8   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5E48D-9DE3-42E5-8683-7F6BA2CF8AC7}"/>
              </a:ext>
            </a:extLst>
          </p:cNvPr>
          <p:cNvSpPr>
            <a:spLocks noGrp="1"/>
          </p:cNvSpPr>
          <p:nvPr>
            <p:ph type="title"/>
          </p:nvPr>
        </p:nvSpPr>
        <p:spPr>
          <a:xfrm>
            <a:off x="609600" y="110705"/>
            <a:ext cx="6305550" cy="901460"/>
          </a:xfrm>
        </p:spPr>
        <p:txBody>
          <a:bodyPr/>
          <a:lstStyle/>
          <a:p>
            <a:br>
              <a:rPr lang="en-US" sz="3600" dirty="0">
                <a:solidFill>
                  <a:schemeClr val="tx1"/>
                </a:solidFill>
              </a:rPr>
            </a:br>
            <a:r>
              <a:rPr lang="en-US" sz="3600" dirty="0">
                <a:solidFill>
                  <a:schemeClr val="tx1"/>
                </a:solidFill>
              </a:rPr>
              <a:t>Relationship between Array Indexes and Tree Elements</a:t>
            </a:r>
            <a:br>
              <a:rPr lang="en-US" sz="3600" dirty="0">
                <a:solidFill>
                  <a:schemeClr val="tx1"/>
                </a:solidFill>
              </a:rPr>
            </a:br>
            <a:endParaRPr lang="en-US" sz="3600" dirty="0">
              <a:solidFill>
                <a:schemeClr val="tx1"/>
              </a:solidFill>
            </a:endParaRPr>
          </a:p>
        </p:txBody>
      </p:sp>
      <p:sp>
        <p:nvSpPr>
          <p:cNvPr id="3" name="Content Placeholder 2">
            <a:extLst>
              <a:ext uri="{FF2B5EF4-FFF2-40B4-BE49-F238E27FC236}">
                <a16:creationId xmlns:a16="http://schemas.microsoft.com/office/drawing/2014/main" id="{8F6C61E6-D2B5-47AC-95DB-5034D234BABD}"/>
              </a:ext>
            </a:extLst>
          </p:cNvPr>
          <p:cNvSpPr>
            <a:spLocks noGrp="1"/>
          </p:cNvSpPr>
          <p:nvPr>
            <p:ph idx="1"/>
          </p:nvPr>
        </p:nvSpPr>
        <p:spPr>
          <a:xfrm>
            <a:off x="609600" y="1188872"/>
            <a:ext cx="7905750" cy="4856243"/>
          </a:xfrm>
        </p:spPr>
        <p:txBody>
          <a:bodyPr>
            <a:normAutofit/>
          </a:bodyPr>
          <a:lstStyle/>
          <a:p>
            <a:pPr algn="just"/>
            <a:r>
              <a:rPr lang="en-US" dirty="0"/>
              <a:t>A complete binary tree has an interesting property that we can use to find the children and parents of any node.</a:t>
            </a:r>
          </a:p>
          <a:p>
            <a:pPr algn="just"/>
            <a:r>
              <a:rPr lang="en-US" dirty="0"/>
              <a:t>If the index of any element in the array is </a:t>
            </a:r>
            <a:r>
              <a:rPr lang="en-US" dirty="0" err="1"/>
              <a:t>i</a:t>
            </a:r>
            <a:r>
              <a:rPr lang="en-US" dirty="0"/>
              <a:t>, the element in the index 2i+1 will become the left child and element in 2i+2 index will become the right child. Also, the parent of any element at index </a:t>
            </a:r>
            <a:r>
              <a:rPr lang="en-US" dirty="0" err="1"/>
              <a:t>i</a:t>
            </a:r>
            <a:r>
              <a:rPr lang="en-US" dirty="0"/>
              <a:t> is given by the lower bound of (i-1)/2.</a:t>
            </a:r>
          </a:p>
          <a:p>
            <a:pPr algn="just"/>
            <a:endParaRPr lang="en-US" dirty="0"/>
          </a:p>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09DE195D-C276-4742-BF67-683F14B2F055}"/>
              </a:ext>
            </a:extLst>
          </p:cNvPr>
          <p:cNvSpPr>
            <a:spLocks noGrp="1"/>
          </p:cNvSpPr>
          <p:nvPr>
            <p:ph type="sldNum" sz="quarter" idx="12"/>
          </p:nvPr>
        </p:nvSpPr>
        <p:spPr/>
        <p:txBody>
          <a:bodyPr/>
          <a:lstStyle/>
          <a:p>
            <a:pPr>
              <a:defRPr/>
            </a:pPr>
            <a:fld id="{877A0F1B-A584-4F12-8C0C-809C04166842}" type="slidenum">
              <a:rPr lang="en-US" smtClean="0"/>
              <a:pPr>
                <a:defRPr/>
              </a:pPr>
              <a:t>18</a:t>
            </a:fld>
            <a:endParaRPr lang="en-US"/>
          </a:p>
        </p:txBody>
      </p:sp>
      <p:pic>
        <p:nvPicPr>
          <p:cNvPr id="17410" name="Picture 2" descr="on the left, there is a graph and on the right there is an array representation of the same graph to compare equivalent indices">
            <a:extLst>
              <a:ext uri="{FF2B5EF4-FFF2-40B4-BE49-F238E27FC236}">
                <a16:creationId xmlns:a16="http://schemas.microsoft.com/office/drawing/2014/main" id="{052F2167-6108-4AD5-8F12-D1ABB63540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659" y="3429000"/>
            <a:ext cx="5265255" cy="224012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46D0E96-8884-46C4-A2D7-5FE24367157F}"/>
              </a:ext>
            </a:extLst>
          </p:cNvPr>
          <p:cNvSpPr/>
          <p:nvPr/>
        </p:nvSpPr>
        <p:spPr>
          <a:xfrm>
            <a:off x="2305114" y="5675783"/>
            <a:ext cx="4855304" cy="369332"/>
          </a:xfrm>
          <a:prstGeom prst="rect">
            <a:avLst/>
          </a:prstGeom>
        </p:spPr>
        <p:txBody>
          <a:bodyPr wrap="none">
            <a:spAutoFit/>
          </a:bodyPr>
          <a:lstStyle/>
          <a:p>
            <a:r>
              <a:rPr lang="en-US" sz="1800" b="1" dirty="0">
                <a:latin typeface="euclid_circular_a"/>
              </a:rPr>
              <a:t>Fig: Relationship between array and heap indices</a:t>
            </a:r>
            <a:endParaRPr lang="en-US" sz="1800" b="1" dirty="0"/>
          </a:p>
        </p:txBody>
      </p:sp>
    </p:spTree>
    <p:extLst>
      <p:ext uri="{BB962C8B-B14F-4D97-AF65-F5344CB8AC3E}">
        <p14:creationId xmlns:p14="http://schemas.microsoft.com/office/powerpoint/2010/main" val="217204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B3EAE-452B-4F18-A6B9-6C4F8241596F}"/>
              </a:ext>
            </a:extLst>
          </p:cNvPr>
          <p:cNvSpPr>
            <a:spLocks noGrp="1"/>
          </p:cNvSpPr>
          <p:nvPr>
            <p:ph type="title"/>
          </p:nvPr>
        </p:nvSpPr>
        <p:spPr/>
        <p:txBody>
          <a:bodyPr/>
          <a:lstStyle/>
          <a:p>
            <a:r>
              <a:rPr lang="en-US" sz="3300" dirty="0">
                <a:solidFill>
                  <a:schemeClr val="tx1"/>
                </a:solidFill>
              </a:rPr>
              <a:t>Min Heap and Max Heap</a:t>
            </a:r>
          </a:p>
        </p:txBody>
      </p:sp>
      <p:sp>
        <p:nvSpPr>
          <p:cNvPr id="3" name="Content Placeholder 2">
            <a:extLst>
              <a:ext uri="{FF2B5EF4-FFF2-40B4-BE49-F238E27FC236}">
                <a16:creationId xmlns:a16="http://schemas.microsoft.com/office/drawing/2014/main" id="{64B13D94-3A21-43FF-AA86-B8C3DD7CB4C8}"/>
              </a:ext>
            </a:extLst>
          </p:cNvPr>
          <p:cNvSpPr>
            <a:spLocks noGrp="1"/>
          </p:cNvSpPr>
          <p:nvPr>
            <p:ph idx="1"/>
          </p:nvPr>
        </p:nvSpPr>
        <p:spPr>
          <a:xfrm>
            <a:off x="647700" y="1371600"/>
            <a:ext cx="7886700" cy="4968875"/>
          </a:xfrm>
        </p:spPr>
        <p:txBody>
          <a:bodyPr/>
          <a:lstStyle/>
          <a:p>
            <a:r>
              <a:rPr lang="en-US" dirty="0"/>
              <a:t>The following example diagram shows Max-Heap and Min-Heap.</a:t>
            </a:r>
          </a:p>
          <a:p>
            <a:endParaRPr lang="en-US" dirty="0"/>
          </a:p>
        </p:txBody>
      </p:sp>
      <p:sp>
        <p:nvSpPr>
          <p:cNvPr id="4" name="Slide Number Placeholder 3">
            <a:extLst>
              <a:ext uri="{FF2B5EF4-FFF2-40B4-BE49-F238E27FC236}">
                <a16:creationId xmlns:a16="http://schemas.microsoft.com/office/drawing/2014/main" id="{E9833241-C3E2-4DCC-B8B9-FEEE4A84ACDD}"/>
              </a:ext>
            </a:extLst>
          </p:cNvPr>
          <p:cNvSpPr>
            <a:spLocks noGrp="1"/>
          </p:cNvSpPr>
          <p:nvPr>
            <p:ph type="sldNum" sz="quarter" idx="12"/>
          </p:nvPr>
        </p:nvSpPr>
        <p:spPr/>
        <p:txBody>
          <a:bodyPr/>
          <a:lstStyle/>
          <a:p>
            <a:pPr>
              <a:defRPr/>
            </a:pPr>
            <a:fld id="{877A0F1B-A584-4F12-8C0C-809C04166842}" type="slidenum">
              <a:rPr lang="en-US" smtClean="0"/>
              <a:pPr>
                <a:defRPr/>
              </a:pPr>
              <a:t>19</a:t>
            </a:fld>
            <a:endParaRPr lang="en-US"/>
          </a:p>
        </p:txBody>
      </p:sp>
      <p:pic>
        <p:nvPicPr>
          <p:cNvPr id="20484" name="Picture 4" descr="max heap min heap comparison">
            <a:extLst>
              <a:ext uri="{FF2B5EF4-FFF2-40B4-BE49-F238E27FC236}">
                <a16:creationId xmlns:a16="http://schemas.microsoft.com/office/drawing/2014/main" id="{0EA52A16-877F-426B-A341-C8049816E8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376" y="2329270"/>
            <a:ext cx="6334623" cy="3074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300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6249-B74A-4D2C-ACB6-36B5C4481CB0}"/>
              </a:ext>
            </a:extLst>
          </p:cNvPr>
          <p:cNvSpPr>
            <a:spLocks noGrp="1"/>
          </p:cNvSpPr>
          <p:nvPr>
            <p:ph type="title"/>
          </p:nvPr>
        </p:nvSpPr>
        <p:spPr/>
        <p:txBody>
          <a:bodyPr/>
          <a:lstStyle/>
          <a:p>
            <a:br>
              <a:rPr lang="en-US" sz="3300" dirty="0">
                <a:solidFill>
                  <a:schemeClr val="tx1"/>
                </a:solidFill>
              </a:rPr>
            </a:br>
            <a:r>
              <a:rPr lang="en-US" sz="3300" dirty="0">
                <a:solidFill>
                  <a:schemeClr val="tx1"/>
                </a:solidFill>
              </a:rPr>
              <a:t>How to "</a:t>
            </a:r>
            <a:r>
              <a:rPr lang="en-US" sz="3300" dirty="0" err="1">
                <a:solidFill>
                  <a:schemeClr val="tx1"/>
                </a:solidFill>
              </a:rPr>
              <a:t>heapify</a:t>
            </a:r>
            <a:r>
              <a:rPr lang="en-US" sz="3300" dirty="0">
                <a:solidFill>
                  <a:schemeClr val="tx1"/>
                </a:solidFill>
              </a:rPr>
              <a:t>" a tree</a:t>
            </a:r>
            <a:br>
              <a:rPr lang="en-US" sz="3300" dirty="0">
                <a:solidFill>
                  <a:schemeClr val="tx1"/>
                </a:solidFill>
              </a:rPr>
            </a:br>
            <a:endParaRPr lang="en-US" sz="3300" dirty="0">
              <a:solidFill>
                <a:schemeClr val="tx1"/>
              </a:solidFill>
            </a:endParaRPr>
          </a:p>
        </p:txBody>
      </p:sp>
      <p:sp>
        <p:nvSpPr>
          <p:cNvPr id="3" name="Content Placeholder 2">
            <a:extLst>
              <a:ext uri="{FF2B5EF4-FFF2-40B4-BE49-F238E27FC236}">
                <a16:creationId xmlns:a16="http://schemas.microsoft.com/office/drawing/2014/main" id="{84291959-B412-4E85-99F7-EBF1FB09450A}"/>
              </a:ext>
            </a:extLst>
          </p:cNvPr>
          <p:cNvSpPr>
            <a:spLocks noGrp="1"/>
          </p:cNvSpPr>
          <p:nvPr>
            <p:ph idx="1"/>
          </p:nvPr>
        </p:nvSpPr>
        <p:spPr/>
        <p:txBody>
          <a:bodyPr/>
          <a:lstStyle/>
          <a:p>
            <a:pPr algn="just"/>
            <a:r>
              <a:rPr lang="en-US" dirty="0"/>
              <a:t>Starting from a complete binary tree, we can modify it to become a Max-Heap by running a function called </a:t>
            </a:r>
            <a:r>
              <a:rPr lang="en-US" dirty="0" err="1"/>
              <a:t>heapify</a:t>
            </a:r>
            <a:r>
              <a:rPr lang="en-US" dirty="0"/>
              <a:t> on all the non-leaf elements of the heap.</a:t>
            </a:r>
          </a:p>
          <a:p>
            <a:pPr algn="just"/>
            <a:r>
              <a:rPr lang="en-US" dirty="0"/>
              <a:t>Since </a:t>
            </a:r>
            <a:r>
              <a:rPr lang="en-US" dirty="0" err="1"/>
              <a:t>heapify</a:t>
            </a:r>
            <a:r>
              <a:rPr lang="en-US" dirty="0"/>
              <a:t> uses recursion, it can be difficult to grasp. So let's first think about how you would </a:t>
            </a:r>
            <a:r>
              <a:rPr lang="en-US" dirty="0" err="1"/>
              <a:t>heapify</a:t>
            </a:r>
            <a:r>
              <a:rPr lang="en-US" dirty="0"/>
              <a:t> a tree with just three elements.</a:t>
            </a:r>
          </a:p>
          <a:p>
            <a:pPr algn="just"/>
            <a:endParaRPr lang="en-US" dirty="0"/>
          </a:p>
        </p:txBody>
      </p:sp>
      <p:sp>
        <p:nvSpPr>
          <p:cNvPr id="4" name="Slide Number Placeholder 3">
            <a:extLst>
              <a:ext uri="{FF2B5EF4-FFF2-40B4-BE49-F238E27FC236}">
                <a16:creationId xmlns:a16="http://schemas.microsoft.com/office/drawing/2014/main" id="{D4C6D03A-1F1A-4F4C-A807-91EDB7B27ECA}"/>
              </a:ext>
            </a:extLst>
          </p:cNvPr>
          <p:cNvSpPr>
            <a:spLocks noGrp="1"/>
          </p:cNvSpPr>
          <p:nvPr>
            <p:ph type="sldNum" sz="quarter" idx="12"/>
          </p:nvPr>
        </p:nvSpPr>
        <p:spPr/>
        <p:txBody>
          <a:bodyPr/>
          <a:lstStyle/>
          <a:p>
            <a:pPr>
              <a:defRPr/>
            </a:pPr>
            <a:fld id="{877A0F1B-A584-4F12-8C0C-809C04166842}" type="slidenum">
              <a:rPr lang="en-US" smtClean="0"/>
              <a:pPr>
                <a:defRPr/>
              </a:pPr>
              <a:t>20</a:t>
            </a:fld>
            <a:endParaRPr lang="en-US"/>
          </a:p>
        </p:txBody>
      </p:sp>
    </p:spTree>
    <p:extLst>
      <p:ext uri="{BB962C8B-B14F-4D97-AF65-F5344CB8AC3E}">
        <p14:creationId xmlns:p14="http://schemas.microsoft.com/office/powerpoint/2010/main" val="1290343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8BE5A-C67D-462E-B749-B270D1829B95}"/>
              </a:ext>
            </a:extLst>
          </p:cNvPr>
          <p:cNvSpPr>
            <a:spLocks noGrp="1"/>
          </p:cNvSpPr>
          <p:nvPr>
            <p:ph type="title"/>
          </p:nvPr>
        </p:nvSpPr>
        <p:spPr/>
        <p:txBody>
          <a:bodyPr/>
          <a:lstStyle/>
          <a:p>
            <a:r>
              <a:rPr lang="en-US" sz="3200" dirty="0">
                <a:solidFill>
                  <a:schemeClr val="tx1"/>
                </a:solidFill>
              </a:rPr>
              <a:t>How to </a:t>
            </a:r>
            <a:r>
              <a:rPr lang="en-US" sz="3200" dirty="0" err="1">
                <a:solidFill>
                  <a:schemeClr val="tx1"/>
                </a:solidFill>
              </a:rPr>
              <a:t>heapify</a:t>
            </a:r>
            <a:r>
              <a:rPr lang="en-US" sz="3200" dirty="0">
                <a:solidFill>
                  <a:schemeClr val="tx1"/>
                </a:solidFill>
              </a:rPr>
              <a:t> root element when its subtrees are max-heaps</a:t>
            </a:r>
          </a:p>
        </p:txBody>
      </p:sp>
      <p:sp>
        <p:nvSpPr>
          <p:cNvPr id="3" name="Content Placeholder 2">
            <a:extLst>
              <a:ext uri="{FF2B5EF4-FFF2-40B4-BE49-F238E27FC236}">
                <a16:creationId xmlns:a16="http://schemas.microsoft.com/office/drawing/2014/main" id="{90D9D184-E491-47C4-ADA2-288F009336F9}"/>
              </a:ext>
            </a:extLst>
          </p:cNvPr>
          <p:cNvSpPr>
            <a:spLocks noGrp="1"/>
          </p:cNvSpPr>
          <p:nvPr>
            <p:ph idx="1"/>
          </p:nvPr>
        </p:nvSpPr>
        <p:spPr>
          <a:xfrm>
            <a:off x="628649" y="1371600"/>
            <a:ext cx="7668783" cy="4648200"/>
          </a:xfrm>
        </p:spPr>
        <p:txBody>
          <a:bodyPr>
            <a:normAutofit/>
          </a:bodyPr>
          <a:lstStyle/>
          <a:p>
            <a:pPr algn="just"/>
            <a:r>
              <a:rPr lang="en-US" dirty="0"/>
              <a:t>The top element isn't a max-heap but all the sub-trees are max-heaps.</a:t>
            </a:r>
          </a:p>
          <a:p>
            <a:pPr algn="just"/>
            <a:r>
              <a:rPr lang="en-US" dirty="0"/>
              <a:t>To maintain the max-heap property for the entire tree, we will have to keep pushing 2 downwards until it reaches its correct position.</a:t>
            </a:r>
          </a:p>
          <a:p>
            <a:pPr algn="just"/>
            <a:endParaRPr lang="en-US" dirty="0"/>
          </a:p>
        </p:txBody>
      </p:sp>
      <p:sp>
        <p:nvSpPr>
          <p:cNvPr id="4" name="Slide Number Placeholder 3">
            <a:extLst>
              <a:ext uri="{FF2B5EF4-FFF2-40B4-BE49-F238E27FC236}">
                <a16:creationId xmlns:a16="http://schemas.microsoft.com/office/drawing/2014/main" id="{9DD4134E-CE45-47D7-9D2F-A93D080CBAD7}"/>
              </a:ext>
            </a:extLst>
          </p:cNvPr>
          <p:cNvSpPr>
            <a:spLocks noGrp="1"/>
          </p:cNvSpPr>
          <p:nvPr>
            <p:ph type="sldNum" sz="quarter" idx="12"/>
          </p:nvPr>
        </p:nvSpPr>
        <p:spPr/>
        <p:txBody>
          <a:bodyPr/>
          <a:lstStyle/>
          <a:p>
            <a:pPr>
              <a:defRPr/>
            </a:pPr>
            <a:fld id="{877A0F1B-A584-4F12-8C0C-809C04166842}" type="slidenum">
              <a:rPr lang="en-US" smtClean="0"/>
              <a:pPr>
                <a:defRPr/>
              </a:pPr>
              <a:t>21</a:t>
            </a:fld>
            <a:endParaRPr lang="en-US"/>
          </a:p>
        </p:txBody>
      </p:sp>
      <p:pic>
        <p:nvPicPr>
          <p:cNvPr id="18434" name="Picture 2" descr="steps to heapify root element when both of its subtrees are already max-heaps">
            <a:extLst>
              <a:ext uri="{FF2B5EF4-FFF2-40B4-BE49-F238E27FC236}">
                <a16:creationId xmlns:a16="http://schemas.microsoft.com/office/drawing/2014/main" id="{C760E8A1-20F9-4103-8E6A-32B298272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0012" y="2789527"/>
            <a:ext cx="5405438" cy="3087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3021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2097-8D0A-4983-A4B9-968FE6B2E5E3}"/>
              </a:ext>
            </a:extLst>
          </p:cNvPr>
          <p:cNvSpPr>
            <a:spLocks noGrp="1"/>
          </p:cNvSpPr>
          <p:nvPr>
            <p:ph type="title"/>
          </p:nvPr>
        </p:nvSpPr>
        <p:spPr/>
        <p:txBody>
          <a:bodyPr/>
          <a:lstStyle/>
          <a:p>
            <a:r>
              <a:rPr lang="en-US" sz="3300" dirty="0">
                <a:solidFill>
                  <a:schemeClr val="tx1"/>
                </a:solidFill>
              </a:rPr>
              <a:t>Contd..</a:t>
            </a:r>
          </a:p>
        </p:txBody>
      </p:sp>
      <p:sp>
        <p:nvSpPr>
          <p:cNvPr id="4" name="Slide Number Placeholder 3">
            <a:extLst>
              <a:ext uri="{FF2B5EF4-FFF2-40B4-BE49-F238E27FC236}">
                <a16:creationId xmlns:a16="http://schemas.microsoft.com/office/drawing/2014/main" id="{A4FF7C56-5871-4DFA-823F-778B7A59B693}"/>
              </a:ext>
            </a:extLst>
          </p:cNvPr>
          <p:cNvSpPr>
            <a:spLocks noGrp="1"/>
          </p:cNvSpPr>
          <p:nvPr>
            <p:ph type="sldNum" sz="quarter" idx="12"/>
          </p:nvPr>
        </p:nvSpPr>
        <p:spPr/>
        <p:txBody>
          <a:bodyPr/>
          <a:lstStyle/>
          <a:p>
            <a:pPr>
              <a:defRPr/>
            </a:pPr>
            <a:fld id="{877A0F1B-A584-4F12-8C0C-809C04166842}" type="slidenum">
              <a:rPr lang="en-US" smtClean="0"/>
              <a:pPr>
                <a:defRPr/>
              </a:pPr>
              <a:t>22</a:t>
            </a:fld>
            <a:endParaRPr lang="en-US"/>
          </a:p>
        </p:txBody>
      </p:sp>
      <p:sp>
        <p:nvSpPr>
          <p:cNvPr id="7" name="AutoShape 6" descr="image showing tree data with root element containing two max-heap subtrees">
            <a:extLst>
              <a:ext uri="{FF2B5EF4-FFF2-40B4-BE49-F238E27FC236}">
                <a16:creationId xmlns:a16="http://schemas.microsoft.com/office/drawing/2014/main" id="{B5640D60-FA59-4035-88CD-D6E58FAAC1DF}"/>
              </a:ext>
            </a:extLst>
          </p:cNvPr>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algn="just">
              <a:lnSpc>
                <a:spcPct val="150000"/>
              </a:lnSpc>
            </a:pPr>
            <a:r>
              <a:rPr lang="en-US" dirty="0"/>
              <a:t>Thus, to maintain the max-heap property in a tree where both sub-trees are max-heaps, we need to run </a:t>
            </a:r>
            <a:r>
              <a:rPr lang="en-US" dirty="0" err="1"/>
              <a:t>heapify</a:t>
            </a:r>
            <a:r>
              <a:rPr lang="en-US" dirty="0"/>
              <a:t> on the root element repeatedly until it is larger than its children or it becomes a leaf node.</a:t>
            </a:r>
          </a:p>
        </p:txBody>
      </p:sp>
      <p:sp>
        <p:nvSpPr>
          <p:cNvPr id="8" name="AutoShape 8" descr="image showing tree data with root element containing two max-heap subtrees">
            <a:extLst>
              <a:ext uri="{FF2B5EF4-FFF2-40B4-BE49-F238E27FC236}">
                <a16:creationId xmlns:a16="http://schemas.microsoft.com/office/drawing/2014/main" id="{8EFD2915-CB13-4FDB-B140-7F80B1F36417}"/>
              </a:ext>
            </a:extLst>
          </p:cNvPr>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2389810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32B77-87BD-43B9-91AF-00D14F99A0CC}"/>
              </a:ext>
            </a:extLst>
          </p:cNvPr>
          <p:cNvSpPr>
            <a:spLocks noGrp="1"/>
          </p:cNvSpPr>
          <p:nvPr>
            <p:ph type="title"/>
          </p:nvPr>
        </p:nvSpPr>
        <p:spPr/>
        <p:txBody>
          <a:bodyPr/>
          <a:lstStyle/>
          <a:p>
            <a:br>
              <a:rPr lang="en-US" sz="3300" dirty="0">
                <a:solidFill>
                  <a:schemeClr val="tx1"/>
                </a:solidFill>
              </a:rPr>
            </a:br>
            <a:r>
              <a:rPr lang="en-US" sz="3300" dirty="0">
                <a:solidFill>
                  <a:schemeClr val="tx1"/>
                </a:solidFill>
              </a:rPr>
              <a:t>Build max-heap</a:t>
            </a:r>
            <a:br>
              <a:rPr lang="en-US" sz="3300" dirty="0">
                <a:solidFill>
                  <a:schemeClr val="tx1"/>
                </a:solidFill>
              </a:rPr>
            </a:br>
            <a:endParaRPr lang="en-US" sz="3300" dirty="0">
              <a:solidFill>
                <a:schemeClr val="tx1"/>
              </a:solidFill>
            </a:endParaRPr>
          </a:p>
        </p:txBody>
      </p:sp>
      <p:sp>
        <p:nvSpPr>
          <p:cNvPr id="3" name="Content Placeholder 2">
            <a:extLst>
              <a:ext uri="{FF2B5EF4-FFF2-40B4-BE49-F238E27FC236}">
                <a16:creationId xmlns:a16="http://schemas.microsoft.com/office/drawing/2014/main" id="{CA9DAB1D-526F-4B40-99B2-4104CFCD7B4E}"/>
              </a:ext>
            </a:extLst>
          </p:cNvPr>
          <p:cNvSpPr>
            <a:spLocks noGrp="1"/>
          </p:cNvSpPr>
          <p:nvPr>
            <p:ph idx="1"/>
          </p:nvPr>
        </p:nvSpPr>
        <p:spPr>
          <a:xfrm>
            <a:off x="628650" y="1371600"/>
            <a:ext cx="7753350" cy="4876800"/>
          </a:xfrm>
        </p:spPr>
        <p:txBody>
          <a:bodyPr/>
          <a:lstStyle/>
          <a:p>
            <a:pPr algn="just">
              <a:lnSpc>
                <a:spcPct val="150000"/>
              </a:lnSpc>
            </a:pPr>
            <a:r>
              <a:rPr lang="en-US" dirty="0"/>
              <a:t>To build a max-heap from any tree, we can thus start </a:t>
            </a:r>
            <a:r>
              <a:rPr lang="en-US" dirty="0" err="1"/>
              <a:t>heapifying</a:t>
            </a:r>
            <a:r>
              <a:rPr lang="en-US" dirty="0"/>
              <a:t> each sub-tree from the bottom up and end up with a max-heap after the function is applied to all the elements including the root element.</a:t>
            </a:r>
          </a:p>
          <a:p>
            <a:pPr algn="just">
              <a:lnSpc>
                <a:spcPct val="150000"/>
              </a:lnSpc>
            </a:pPr>
            <a:endParaRPr lang="en-US" dirty="0"/>
          </a:p>
          <a:p>
            <a:pPr algn="just">
              <a:lnSpc>
                <a:spcPct val="150000"/>
              </a:lnSpc>
            </a:pPr>
            <a:r>
              <a:rPr lang="en-US" dirty="0"/>
              <a:t>In the case of a complete tree, the first index of a non-leaf node is given by n/2 - 1. All other nodes after that are leaf-nodes and thus don't need to be </a:t>
            </a:r>
            <a:r>
              <a:rPr lang="en-US" dirty="0" err="1"/>
              <a:t>heapified</a:t>
            </a:r>
            <a:r>
              <a:rPr lang="en-US" dirty="0"/>
              <a:t>.</a:t>
            </a:r>
          </a:p>
        </p:txBody>
      </p:sp>
      <p:sp>
        <p:nvSpPr>
          <p:cNvPr id="4" name="Slide Number Placeholder 3">
            <a:extLst>
              <a:ext uri="{FF2B5EF4-FFF2-40B4-BE49-F238E27FC236}">
                <a16:creationId xmlns:a16="http://schemas.microsoft.com/office/drawing/2014/main" id="{2488197A-6623-41F3-952B-951AEFDBAD6D}"/>
              </a:ext>
            </a:extLst>
          </p:cNvPr>
          <p:cNvSpPr>
            <a:spLocks noGrp="1"/>
          </p:cNvSpPr>
          <p:nvPr>
            <p:ph type="sldNum" sz="quarter" idx="12"/>
          </p:nvPr>
        </p:nvSpPr>
        <p:spPr/>
        <p:txBody>
          <a:bodyPr/>
          <a:lstStyle/>
          <a:p>
            <a:pPr>
              <a:defRPr/>
            </a:pPr>
            <a:fld id="{877A0F1B-A584-4F12-8C0C-809C04166842}" type="slidenum">
              <a:rPr lang="en-US" smtClean="0"/>
              <a:pPr>
                <a:defRPr/>
              </a:pPr>
              <a:t>23</a:t>
            </a:fld>
            <a:endParaRPr lang="en-US"/>
          </a:p>
        </p:txBody>
      </p:sp>
    </p:spTree>
    <p:extLst>
      <p:ext uri="{BB962C8B-B14F-4D97-AF65-F5344CB8AC3E}">
        <p14:creationId xmlns:p14="http://schemas.microsoft.com/office/powerpoint/2010/main" val="2607750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67CE-C130-4340-85DD-B125A15B6BE6}"/>
              </a:ext>
            </a:extLst>
          </p:cNvPr>
          <p:cNvSpPr>
            <a:spLocks noGrp="1"/>
          </p:cNvSpPr>
          <p:nvPr>
            <p:ph type="title"/>
          </p:nvPr>
        </p:nvSpPr>
        <p:spPr/>
        <p:txBody>
          <a:bodyPr/>
          <a:lstStyle/>
          <a:p>
            <a:r>
              <a:rPr lang="en-US" dirty="0">
                <a:solidFill>
                  <a:schemeClr val="tx1"/>
                </a:solidFill>
              </a:rPr>
              <a:t>Steps to build max heap for heap sort</a:t>
            </a:r>
          </a:p>
        </p:txBody>
      </p:sp>
      <p:sp>
        <p:nvSpPr>
          <p:cNvPr id="4" name="Slide Number Placeholder 3">
            <a:extLst>
              <a:ext uri="{FF2B5EF4-FFF2-40B4-BE49-F238E27FC236}">
                <a16:creationId xmlns:a16="http://schemas.microsoft.com/office/drawing/2014/main" id="{DCF270C9-8497-4F47-ABE3-4D1C6A1196A5}"/>
              </a:ext>
            </a:extLst>
          </p:cNvPr>
          <p:cNvSpPr>
            <a:spLocks noGrp="1"/>
          </p:cNvSpPr>
          <p:nvPr>
            <p:ph type="sldNum" sz="quarter" idx="12"/>
          </p:nvPr>
        </p:nvSpPr>
        <p:spPr/>
        <p:txBody>
          <a:bodyPr/>
          <a:lstStyle/>
          <a:p>
            <a:pPr>
              <a:defRPr/>
            </a:pPr>
            <a:fld id="{877A0F1B-A584-4F12-8C0C-809C04166842}" type="slidenum">
              <a:rPr lang="en-US" smtClean="0"/>
              <a:pPr>
                <a:defRPr/>
              </a:pPr>
              <a:t>24</a:t>
            </a:fld>
            <a:endParaRPr lang="en-US"/>
          </a:p>
        </p:txBody>
      </p:sp>
      <p:pic>
        <p:nvPicPr>
          <p:cNvPr id="21506" name="Picture 2" descr="steps to build max heap for heap sort">
            <a:extLst>
              <a:ext uri="{FF2B5EF4-FFF2-40B4-BE49-F238E27FC236}">
                <a16:creationId xmlns:a16="http://schemas.microsoft.com/office/drawing/2014/main" id="{54D79DCB-D4A3-4C59-9314-A020DE604BA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1931"/>
          <a:stretch/>
        </p:blipFill>
        <p:spPr bwMode="auto">
          <a:xfrm>
            <a:off x="628651" y="2461846"/>
            <a:ext cx="7162506" cy="376335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02B5D48-962A-4039-9D95-3120AD8D6F0A}"/>
              </a:ext>
            </a:extLst>
          </p:cNvPr>
          <p:cNvSpPr txBox="1"/>
          <p:nvPr/>
        </p:nvSpPr>
        <p:spPr>
          <a:xfrm>
            <a:off x="3505200" y="6323841"/>
            <a:ext cx="1964531" cy="369332"/>
          </a:xfrm>
          <a:prstGeom prst="rect">
            <a:avLst/>
          </a:prstGeom>
          <a:noFill/>
        </p:spPr>
        <p:txBody>
          <a:bodyPr wrap="square" rtlCol="0">
            <a:spAutoFit/>
          </a:bodyPr>
          <a:lstStyle/>
          <a:p>
            <a:r>
              <a:rPr lang="en-IN" sz="1800" dirty="0"/>
              <a:t>Figure 2: </a:t>
            </a:r>
            <a:r>
              <a:rPr lang="en-IN" sz="1800" dirty="0" err="1"/>
              <a:t>Heapify</a:t>
            </a:r>
            <a:endParaRPr lang="en-IN" sz="1800" dirty="0"/>
          </a:p>
        </p:txBody>
      </p:sp>
      <p:pic>
        <p:nvPicPr>
          <p:cNvPr id="6" name="Picture 2" descr="steps to build max heap for heap sort">
            <a:extLst>
              <a:ext uri="{FF2B5EF4-FFF2-40B4-BE49-F238E27FC236}">
                <a16:creationId xmlns:a16="http://schemas.microsoft.com/office/drawing/2014/main" id="{9AC59F47-CE02-4974-A4F1-A11D167D9FA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796" r="8960" b="46102"/>
          <a:stretch/>
        </p:blipFill>
        <p:spPr bwMode="auto">
          <a:xfrm>
            <a:off x="628650" y="1198030"/>
            <a:ext cx="7162507" cy="1297712"/>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209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9E5FC-4915-42AB-8BD6-EBE94D533ED0}"/>
              </a:ext>
            </a:extLst>
          </p:cNvPr>
          <p:cNvSpPr>
            <a:spLocks noGrp="1"/>
          </p:cNvSpPr>
          <p:nvPr>
            <p:ph type="title"/>
          </p:nvPr>
        </p:nvSpPr>
        <p:spPr/>
        <p:txBody>
          <a:bodyPr/>
          <a:lstStyle/>
          <a:p>
            <a:br>
              <a:rPr lang="en-US" dirty="0">
                <a:solidFill>
                  <a:schemeClr val="tx1"/>
                </a:solidFill>
              </a:rPr>
            </a:br>
            <a:r>
              <a:rPr lang="en-US" dirty="0">
                <a:solidFill>
                  <a:schemeClr val="tx1"/>
                </a:solidFill>
              </a:rPr>
              <a:t>Steps to build max heap for heap sort</a:t>
            </a:r>
            <a:br>
              <a:rPr lang="en-US" dirty="0">
                <a:solidFill>
                  <a:schemeClr val="tx1"/>
                </a:solidFill>
              </a:rPr>
            </a:br>
            <a:endParaRPr lang="en-US" dirty="0">
              <a:solidFill>
                <a:schemeClr val="tx1"/>
              </a:solidFill>
            </a:endParaRPr>
          </a:p>
        </p:txBody>
      </p:sp>
      <p:sp>
        <p:nvSpPr>
          <p:cNvPr id="4" name="Slide Number Placeholder 3">
            <a:extLst>
              <a:ext uri="{FF2B5EF4-FFF2-40B4-BE49-F238E27FC236}">
                <a16:creationId xmlns:a16="http://schemas.microsoft.com/office/drawing/2014/main" id="{449AA7B1-09F5-40E4-B464-6020BE6A21DC}"/>
              </a:ext>
            </a:extLst>
          </p:cNvPr>
          <p:cNvSpPr>
            <a:spLocks noGrp="1"/>
          </p:cNvSpPr>
          <p:nvPr>
            <p:ph type="sldNum" sz="quarter" idx="12"/>
          </p:nvPr>
        </p:nvSpPr>
        <p:spPr/>
        <p:txBody>
          <a:bodyPr/>
          <a:lstStyle/>
          <a:p>
            <a:pPr>
              <a:defRPr/>
            </a:pPr>
            <a:fld id="{877A0F1B-A584-4F12-8C0C-809C04166842}" type="slidenum">
              <a:rPr lang="en-US" smtClean="0"/>
              <a:pPr>
                <a:defRPr/>
              </a:pPr>
              <a:t>25</a:t>
            </a:fld>
            <a:endParaRPr lang="en-US"/>
          </a:p>
        </p:txBody>
      </p:sp>
      <p:pic>
        <p:nvPicPr>
          <p:cNvPr id="22530" name="Picture 2" descr="steps to build max heap for heap sort">
            <a:extLst>
              <a:ext uri="{FF2B5EF4-FFF2-40B4-BE49-F238E27FC236}">
                <a16:creationId xmlns:a16="http://schemas.microsoft.com/office/drawing/2014/main" id="{CCFF6A42-71AB-4541-B7D5-20782A9328A0}"/>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7320"/>
          <a:stretch/>
        </p:blipFill>
        <p:spPr bwMode="auto">
          <a:xfrm>
            <a:off x="628650" y="1244160"/>
            <a:ext cx="7600950" cy="46994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9D7BC5F-228A-482D-89EC-9DDA3D2A7C42}"/>
              </a:ext>
            </a:extLst>
          </p:cNvPr>
          <p:cNvSpPr txBox="1"/>
          <p:nvPr/>
        </p:nvSpPr>
        <p:spPr>
          <a:xfrm>
            <a:off x="3200400" y="5943600"/>
            <a:ext cx="2195513" cy="369332"/>
          </a:xfrm>
          <a:prstGeom prst="rect">
            <a:avLst/>
          </a:prstGeom>
          <a:noFill/>
        </p:spPr>
        <p:txBody>
          <a:bodyPr wrap="square" rtlCol="0">
            <a:spAutoFit/>
          </a:bodyPr>
          <a:lstStyle/>
          <a:p>
            <a:r>
              <a:rPr lang="en-IN" sz="1800" dirty="0"/>
              <a:t>Figure 3: </a:t>
            </a:r>
            <a:r>
              <a:rPr lang="en-IN" sz="1800" dirty="0" err="1"/>
              <a:t>Heapify</a:t>
            </a:r>
            <a:endParaRPr lang="en-IN" sz="1800" dirty="0"/>
          </a:p>
        </p:txBody>
      </p:sp>
    </p:spTree>
    <p:extLst>
      <p:ext uri="{BB962C8B-B14F-4D97-AF65-F5344CB8AC3E}">
        <p14:creationId xmlns:p14="http://schemas.microsoft.com/office/powerpoint/2010/main" val="3925419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2051-0000-470F-8D01-BC979B4478FD}"/>
              </a:ext>
            </a:extLst>
          </p:cNvPr>
          <p:cNvSpPr>
            <a:spLocks noGrp="1"/>
          </p:cNvSpPr>
          <p:nvPr>
            <p:ph type="title"/>
          </p:nvPr>
        </p:nvSpPr>
        <p:spPr/>
        <p:txBody>
          <a:bodyPr/>
          <a:lstStyle/>
          <a:p>
            <a:br>
              <a:rPr lang="en-US" dirty="0">
                <a:solidFill>
                  <a:schemeClr val="tx1"/>
                </a:solidFill>
              </a:rPr>
            </a:br>
            <a:r>
              <a:rPr lang="en-US" dirty="0">
                <a:solidFill>
                  <a:schemeClr val="tx1"/>
                </a:solidFill>
              </a:rPr>
              <a:t>Steps to build max heap for heap sort</a:t>
            </a:r>
            <a:br>
              <a:rPr lang="en-US" dirty="0">
                <a:solidFill>
                  <a:schemeClr val="tx1"/>
                </a:solidFill>
              </a:rPr>
            </a:br>
            <a:endParaRPr lang="en-US" dirty="0">
              <a:solidFill>
                <a:schemeClr val="tx1"/>
              </a:solidFill>
            </a:endParaRPr>
          </a:p>
        </p:txBody>
      </p:sp>
      <p:sp>
        <p:nvSpPr>
          <p:cNvPr id="4" name="Slide Number Placeholder 3">
            <a:extLst>
              <a:ext uri="{FF2B5EF4-FFF2-40B4-BE49-F238E27FC236}">
                <a16:creationId xmlns:a16="http://schemas.microsoft.com/office/drawing/2014/main" id="{EF95453C-C90A-439D-AC68-5ED9B444660C}"/>
              </a:ext>
            </a:extLst>
          </p:cNvPr>
          <p:cNvSpPr>
            <a:spLocks noGrp="1"/>
          </p:cNvSpPr>
          <p:nvPr>
            <p:ph type="sldNum" sz="quarter" idx="12"/>
          </p:nvPr>
        </p:nvSpPr>
        <p:spPr/>
        <p:txBody>
          <a:bodyPr/>
          <a:lstStyle/>
          <a:p>
            <a:pPr>
              <a:defRPr/>
            </a:pPr>
            <a:fld id="{877A0F1B-A584-4F12-8C0C-809C04166842}" type="slidenum">
              <a:rPr lang="en-US" smtClean="0"/>
              <a:pPr>
                <a:defRPr/>
              </a:pPr>
              <a:t>26</a:t>
            </a:fld>
            <a:endParaRPr lang="en-US"/>
          </a:p>
        </p:txBody>
      </p:sp>
      <p:pic>
        <p:nvPicPr>
          <p:cNvPr id="23554" name="Picture 2" descr="steps to build max heap for heap sort">
            <a:extLst>
              <a:ext uri="{FF2B5EF4-FFF2-40B4-BE49-F238E27FC236}">
                <a16:creationId xmlns:a16="http://schemas.microsoft.com/office/drawing/2014/main" id="{8B5E5F4B-8460-4847-B07E-59C54025A8D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7970"/>
          <a:stretch/>
        </p:blipFill>
        <p:spPr bwMode="auto">
          <a:xfrm>
            <a:off x="585105" y="1295400"/>
            <a:ext cx="7930246" cy="4932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9053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F7693-6DE8-4D0D-AE0A-FEF413FE5758}"/>
              </a:ext>
            </a:extLst>
          </p:cNvPr>
          <p:cNvSpPr>
            <a:spLocks noGrp="1"/>
          </p:cNvSpPr>
          <p:nvPr>
            <p:ph type="title"/>
          </p:nvPr>
        </p:nvSpPr>
        <p:spPr/>
        <p:txBody>
          <a:bodyPr/>
          <a:lstStyle/>
          <a:p>
            <a:r>
              <a:rPr lang="en-US" sz="3300" dirty="0">
                <a:solidFill>
                  <a:schemeClr val="tx1"/>
                </a:solidFill>
              </a:rPr>
              <a:t>Contd..</a:t>
            </a:r>
          </a:p>
        </p:txBody>
      </p:sp>
      <p:sp>
        <p:nvSpPr>
          <p:cNvPr id="4" name="Slide Number Placeholder 3">
            <a:extLst>
              <a:ext uri="{FF2B5EF4-FFF2-40B4-BE49-F238E27FC236}">
                <a16:creationId xmlns:a16="http://schemas.microsoft.com/office/drawing/2014/main" id="{323192CC-7056-49B3-ACFD-B1842F4B0DD5}"/>
              </a:ext>
            </a:extLst>
          </p:cNvPr>
          <p:cNvSpPr>
            <a:spLocks noGrp="1"/>
          </p:cNvSpPr>
          <p:nvPr>
            <p:ph type="sldNum" sz="quarter" idx="12"/>
          </p:nvPr>
        </p:nvSpPr>
        <p:spPr/>
        <p:txBody>
          <a:bodyPr/>
          <a:lstStyle/>
          <a:p>
            <a:pPr>
              <a:defRPr/>
            </a:pPr>
            <a:fld id="{877A0F1B-A584-4F12-8C0C-809C04166842}" type="slidenum">
              <a:rPr lang="en-US" smtClean="0"/>
              <a:pPr>
                <a:defRPr/>
              </a:pPr>
              <a:t>27</a:t>
            </a:fld>
            <a:endParaRPr lang="en-US" dirty="0"/>
          </a:p>
        </p:txBody>
      </p:sp>
      <p:pic>
        <p:nvPicPr>
          <p:cNvPr id="12" name="Content Placeholder 11">
            <a:extLst>
              <a:ext uri="{FF2B5EF4-FFF2-40B4-BE49-F238E27FC236}">
                <a16:creationId xmlns:a16="http://schemas.microsoft.com/office/drawing/2014/main" id="{D83BBE4F-1277-4C8B-8E24-5D84DB9FE1B7}"/>
              </a:ext>
            </a:extLst>
          </p:cNvPr>
          <p:cNvPicPr>
            <a:picLocks noGrp="1" noChangeAspect="1"/>
          </p:cNvPicPr>
          <p:nvPr>
            <p:ph idx="1"/>
          </p:nvPr>
        </p:nvPicPr>
        <p:blipFill rotWithShape="1">
          <a:blip r:embed="rId2"/>
          <a:srcRect l="34241" t="37003" r="8569" b="8786"/>
          <a:stretch/>
        </p:blipFill>
        <p:spPr>
          <a:xfrm>
            <a:off x="628649" y="1371600"/>
            <a:ext cx="7842761" cy="4419600"/>
          </a:xfrm>
          <a:prstGeom prst="rect">
            <a:avLst/>
          </a:prstGeom>
        </p:spPr>
      </p:pic>
      <p:sp>
        <p:nvSpPr>
          <p:cNvPr id="3" name="TextBox 2">
            <a:extLst>
              <a:ext uri="{FF2B5EF4-FFF2-40B4-BE49-F238E27FC236}">
                <a16:creationId xmlns:a16="http://schemas.microsoft.com/office/drawing/2014/main" id="{083B0537-A34D-4A33-922E-29E1D7937269}"/>
              </a:ext>
            </a:extLst>
          </p:cNvPr>
          <p:cNvSpPr txBox="1"/>
          <p:nvPr/>
        </p:nvSpPr>
        <p:spPr>
          <a:xfrm>
            <a:off x="3352800" y="5955268"/>
            <a:ext cx="3240881" cy="369332"/>
          </a:xfrm>
          <a:prstGeom prst="rect">
            <a:avLst/>
          </a:prstGeom>
          <a:noFill/>
        </p:spPr>
        <p:txBody>
          <a:bodyPr wrap="square" rtlCol="0">
            <a:spAutoFit/>
          </a:bodyPr>
          <a:lstStyle/>
          <a:p>
            <a:r>
              <a:rPr lang="en-IN" sz="1800" dirty="0"/>
              <a:t>Figure 4: Swapping</a:t>
            </a:r>
          </a:p>
        </p:txBody>
      </p:sp>
    </p:spTree>
    <p:extLst>
      <p:ext uri="{BB962C8B-B14F-4D97-AF65-F5344CB8AC3E}">
        <p14:creationId xmlns:p14="http://schemas.microsoft.com/office/powerpoint/2010/main" val="1771469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C862B-BA3B-4016-8F60-A24B479756D4}"/>
              </a:ext>
            </a:extLst>
          </p:cNvPr>
          <p:cNvSpPr>
            <a:spLocks noGrp="1"/>
          </p:cNvSpPr>
          <p:nvPr>
            <p:ph type="title"/>
          </p:nvPr>
        </p:nvSpPr>
        <p:spPr/>
        <p:txBody>
          <a:bodyPr/>
          <a:lstStyle/>
          <a:p>
            <a:r>
              <a:rPr lang="en-US" sz="3300" dirty="0">
                <a:solidFill>
                  <a:schemeClr val="tx1"/>
                </a:solidFill>
              </a:rPr>
              <a:t>Contd..</a:t>
            </a:r>
          </a:p>
        </p:txBody>
      </p:sp>
      <p:pic>
        <p:nvPicPr>
          <p:cNvPr id="5" name="Content Placeholder 4">
            <a:extLst>
              <a:ext uri="{FF2B5EF4-FFF2-40B4-BE49-F238E27FC236}">
                <a16:creationId xmlns:a16="http://schemas.microsoft.com/office/drawing/2014/main" id="{2337471E-BDED-4EE6-9647-9F53B7B1C2E1}"/>
              </a:ext>
            </a:extLst>
          </p:cNvPr>
          <p:cNvPicPr>
            <a:picLocks noGrp="1" noChangeAspect="1"/>
          </p:cNvPicPr>
          <p:nvPr>
            <p:ph idx="1"/>
          </p:nvPr>
        </p:nvPicPr>
        <p:blipFill rotWithShape="1">
          <a:blip r:embed="rId2"/>
          <a:srcRect l="34755" t="41431" r="10452" b="7013"/>
          <a:stretch/>
        </p:blipFill>
        <p:spPr>
          <a:xfrm>
            <a:off x="628649" y="1410334"/>
            <a:ext cx="7792901" cy="4457066"/>
          </a:xfrm>
          <a:prstGeom prst="rect">
            <a:avLst/>
          </a:prstGeom>
        </p:spPr>
      </p:pic>
      <p:sp>
        <p:nvSpPr>
          <p:cNvPr id="4" name="Slide Number Placeholder 3">
            <a:extLst>
              <a:ext uri="{FF2B5EF4-FFF2-40B4-BE49-F238E27FC236}">
                <a16:creationId xmlns:a16="http://schemas.microsoft.com/office/drawing/2014/main" id="{59568E62-0080-4DC5-8D32-1EE9C5D68719}"/>
              </a:ext>
            </a:extLst>
          </p:cNvPr>
          <p:cNvSpPr>
            <a:spLocks noGrp="1"/>
          </p:cNvSpPr>
          <p:nvPr>
            <p:ph type="sldNum" sz="quarter" idx="12"/>
          </p:nvPr>
        </p:nvSpPr>
        <p:spPr/>
        <p:txBody>
          <a:bodyPr/>
          <a:lstStyle/>
          <a:p>
            <a:pPr>
              <a:defRPr/>
            </a:pPr>
            <a:fld id="{877A0F1B-A584-4F12-8C0C-809C04166842}" type="slidenum">
              <a:rPr lang="en-US" smtClean="0"/>
              <a:pPr>
                <a:defRPr/>
              </a:pPr>
              <a:t>28</a:t>
            </a:fld>
            <a:endParaRPr lang="en-US"/>
          </a:p>
        </p:txBody>
      </p:sp>
      <p:sp>
        <p:nvSpPr>
          <p:cNvPr id="3" name="TextBox 2">
            <a:extLst>
              <a:ext uri="{FF2B5EF4-FFF2-40B4-BE49-F238E27FC236}">
                <a16:creationId xmlns:a16="http://schemas.microsoft.com/office/drawing/2014/main" id="{EDAE5B93-B09B-4F4F-AA9C-FF8398439EFB}"/>
              </a:ext>
            </a:extLst>
          </p:cNvPr>
          <p:cNvSpPr txBox="1"/>
          <p:nvPr/>
        </p:nvSpPr>
        <p:spPr>
          <a:xfrm>
            <a:off x="3322567" y="5773340"/>
            <a:ext cx="2405063" cy="369332"/>
          </a:xfrm>
          <a:prstGeom prst="rect">
            <a:avLst/>
          </a:prstGeom>
          <a:noFill/>
        </p:spPr>
        <p:txBody>
          <a:bodyPr wrap="square" rtlCol="0">
            <a:spAutoFit/>
          </a:bodyPr>
          <a:lstStyle/>
          <a:p>
            <a:r>
              <a:rPr lang="en-IN" sz="1800" dirty="0"/>
              <a:t>Figure 5: </a:t>
            </a:r>
            <a:r>
              <a:rPr lang="en-IN" sz="1800" dirty="0" err="1"/>
              <a:t>Heapify</a:t>
            </a:r>
            <a:endParaRPr lang="en-IN" sz="1800" dirty="0"/>
          </a:p>
        </p:txBody>
      </p:sp>
    </p:spTree>
    <p:extLst>
      <p:ext uri="{BB962C8B-B14F-4D97-AF65-F5344CB8AC3E}">
        <p14:creationId xmlns:p14="http://schemas.microsoft.com/office/powerpoint/2010/main" val="2070343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D3C2-8C10-4684-8914-E3D461D92FA1}"/>
              </a:ext>
            </a:extLst>
          </p:cNvPr>
          <p:cNvSpPr>
            <a:spLocks noGrp="1"/>
          </p:cNvSpPr>
          <p:nvPr>
            <p:ph type="title"/>
          </p:nvPr>
        </p:nvSpPr>
        <p:spPr/>
        <p:txBody>
          <a:bodyPr/>
          <a:lstStyle/>
          <a:p>
            <a:r>
              <a:rPr lang="en-US" sz="3300" dirty="0">
                <a:solidFill>
                  <a:schemeClr val="tx1"/>
                </a:solidFill>
              </a:rPr>
              <a:t>Contd..</a:t>
            </a:r>
          </a:p>
        </p:txBody>
      </p:sp>
      <p:pic>
        <p:nvPicPr>
          <p:cNvPr id="5" name="Content Placeholder 4">
            <a:extLst>
              <a:ext uri="{FF2B5EF4-FFF2-40B4-BE49-F238E27FC236}">
                <a16:creationId xmlns:a16="http://schemas.microsoft.com/office/drawing/2014/main" id="{8781FF4C-3FC6-40BE-B5E7-CABCE863CA18}"/>
              </a:ext>
            </a:extLst>
          </p:cNvPr>
          <p:cNvPicPr>
            <a:picLocks noGrp="1" noChangeAspect="1"/>
          </p:cNvPicPr>
          <p:nvPr>
            <p:ph idx="1"/>
          </p:nvPr>
        </p:nvPicPr>
        <p:blipFill rotWithShape="1">
          <a:blip r:embed="rId2"/>
          <a:srcRect l="35953" t="23603" r="12508" b="24622"/>
          <a:stretch/>
        </p:blipFill>
        <p:spPr>
          <a:xfrm>
            <a:off x="628649" y="1371600"/>
            <a:ext cx="7622073" cy="4419600"/>
          </a:xfrm>
          <a:prstGeom prst="rect">
            <a:avLst/>
          </a:prstGeom>
        </p:spPr>
      </p:pic>
      <p:sp>
        <p:nvSpPr>
          <p:cNvPr id="4" name="Slide Number Placeholder 3">
            <a:extLst>
              <a:ext uri="{FF2B5EF4-FFF2-40B4-BE49-F238E27FC236}">
                <a16:creationId xmlns:a16="http://schemas.microsoft.com/office/drawing/2014/main" id="{D68E1D1D-B05B-49DB-8C49-9326E6863E14}"/>
              </a:ext>
            </a:extLst>
          </p:cNvPr>
          <p:cNvSpPr>
            <a:spLocks noGrp="1"/>
          </p:cNvSpPr>
          <p:nvPr>
            <p:ph type="sldNum" sz="quarter" idx="12"/>
          </p:nvPr>
        </p:nvSpPr>
        <p:spPr/>
        <p:txBody>
          <a:bodyPr/>
          <a:lstStyle/>
          <a:p>
            <a:pPr>
              <a:defRPr/>
            </a:pPr>
            <a:fld id="{877A0F1B-A584-4F12-8C0C-809C04166842}" type="slidenum">
              <a:rPr lang="en-US" smtClean="0"/>
              <a:pPr>
                <a:defRPr/>
              </a:pPr>
              <a:t>29</a:t>
            </a:fld>
            <a:endParaRPr lang="en-US"/>
          </a:p>
        </p:txBody>
      </p:sp>
      <p:sp>
        <p:nvSpPr>
          <p:cNvPr id="3" name="TextBox 2">
            <a:extLst>
              <a:ext uri="{FF2B5EF4-FFF2-40B4-BE49-F238E27FC236}">
                <a16:creationId xmlns:a16="http://schemas.microsoft.com/office/drawing/2014/main" id="{D6EE655F-EE9C-46BE-85C9-54290C568914}"/>
              </a:ext>
            </a:extLst>
          </p:cNvPr>
          <p:cNvSpPr txBox="1"/>
          <p:nvPr/>
        </p:nvSpPr>
        <p:spPr>
          <a:xfrm>
            <a:off x="3000485" y="5770098"/>
            <a:ext cx="3450431" cy="369332"/>
          </a:xfrm>
          <a:prstGeom prst="rect">
            <a:avLst/>
          </a:prstGeom>
          <a:noFill/>
        </p:spPr>
        <p:txBody>
          <a:bodyPr wrap="square" rtlCol="0">
            <a:spAutoFit/>
          </a:bodyPr>
          <a:lstStyle/>
          <a:p>
            <a:r>
              <a:rPr lang="en-IN" sz="1800" dirty="0"/>
              <a:t>Figure 6: Removing element</a:t>
            </a:r>
          </a:p>
        </p:txBody>
      </p:sp>
    </p:spTree>
    <p:extLst>
      <p:ext uri="{BB962C8B-B14F-4D97-AF65-F5344CB8AC3E}">
        <p14:creationId xmlns:p14="http://schemas.microsoft.com/office/powerpoint/2010/main" val="1035614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A04D-0D8B-4C59-A136-6CE66D41EAAA}"/>
              </a:ext>
            </a:extLst>
          </p:cNvPr>
          <p:cNvSpPr>
            <a:spLocks noGrp="1"/>
          </p:cNvSpPr>
          <p:nvPr>
            <p:ph type="title"/>
          </p:nvPr>
        </p:nvSpPr>
        <p:spPr/>
        <p:txBody>
          <a:bodyPr/>
          <a:lstStyle/>
          <a:p>
            <a:r>
              <a:rPr lang="en-US" sz="3300" dirty="0">
                <a:solidFill>
                  <a:schemeClr val="tx1"/>
                </a:solidFill>
              </a:rPr>
              <a:t>Contd..</a:t>
            </a:r>
          </a:p>
        </p:txBody>
      </p:sp>
      <p:pic>
        <p:nvPicPr>
          <p:cNvPr id="5" name="Content Placeholder 4">
            <a:extLst>
              <a:ext uri="{FF2B5EF4-FFF2-40B4-BE49-F238E27FC236}">
                <a16:creationId xmlns:a16="http://schemas.microsoft.com/office/drawing/2014/main" id="{63A48643-5BDA-4516-AAB1-DC7774E8FC88}"/>
              </a:ext>
            </a:extLst>
          </p:cNvPr>
          <p:cNvPicPr>
            <a:picLocks noGrp="1" noChangeAspect="1"/>
          </p:cNvPicPr>
          <p:nvPr>
            <p:ph idx="1"/>
          </p:nvPr>
        </p:nvPicPr>
        <p:blipFill rotWithShape="1">
          <a:blip r:embed="rId2"/>
          <a:srcRect l="36124" t="28476" r="8912" b="18836"/>
          <a:stretch/>
        </p:blipFill>
        <p:spPr>
          <a:xfrm>
            <a:off x="628650" y="1371600"/>
            <a:ext cx="7910598" cy="4495800"/>
          </a:xfrm>
          <a:prstGeom prst="rect">
            <a:avLst/>
          </a:prstGeom>
        </p:spPr>
      </p:pic>
      <p:sp>
        <p:nvSpPr>
          <p:cNvPr id="4" name="Slide Number Placeholder 3">
            <a:extLst>
              <a:ext uri="{FF2B5EF4-FFF2-40B4-BE49-F238E27FC236}">
                <a16:creationId xmlns:a16="http://schemas.microsoft.com/office/drawing/2014/main" id="{C1F29144-76C8-4D92-8534-0CD45F009F44}"/>
              </a:ext>
            </a:extLst>
          </p:cNvPr>
          <p:cNvSpPr>
            <a:spLocks noGrp="1"/>
          </p:cNvSpPr>
          <p:nvPr>
            <p:ph type="sldNum" sz="quarter" idx="12"/>
          </p:nvPr>
        </p:nvSpPr>
        <p:spPr/>
        <p:txBody>
          <a:bodyPr/>
          <a:lstStyle/>
          <a:p>
            <a:pPr>
              <a:defRPr/>
            </a:pPr>
            <a:fld id="{877A0F1B-A584-4F12-8C0C-809C04166842}" type="slidenum">
              <a:rPr lang="en-US" smtClean="0"/>
              <a:pPr>
                <a:defRPr/>
              </a:pPr>
              <a:t>30</a:t>
            </a:fld>
            <a:endParaRPr lang="en-US"/>
          </a:p>
        </p:txBody>
      </p:sp>
      <p:sp>
        <p:nvSpPr>
          <p:cNvPr id="3" name="TextBox 2">
            <a:extLst>
              <a:ext uri="{FF2B5EF4-FFF2-40B4-BE49-F238E27FC236}">
                <a16:creationId xmlns:a16="http://schemas.microsoft.com/office/drawing/2014/main" id="{FB414B22-7CBC-4773-805C-455E6BEB4A3D}"/>
              </a:ext>
            </a:extLst>
          </p:cNvPr>
          <p:cNvSpPr txBox="1"/>
          <p:nvPr/>
        </p:nvSpPr>
        <p:spPr>
          <a:xfrm>
            <a:off x="3581400" y="5804944"/>
            <a:ext cx="2493169" cy="369332"/>
          </a:xfrm>
          <a:prstGeom prst="rect">
            <a:avLst/>
          </a:prstGeom>
          <a:noFill/>
        </p:spPr>
        <p:txBody>
          <a:bodyPr wrap="square" rtlCol="0">
            <a:spAutoFit/>
          </a:bodyPr>
          <a:lstStyle/>
          <a:p>
            <a:r>
              <a:rPr lang="en-IN" sz="1800" dirty="0"/>
              <a:t>Figure 7: Swapping</a:t>
            </a:r>
          </a:p>
        </p:txBody>
      </p:sp>
    </p:spTree>
    <p:extLst>
      <p:ext uri="{BB962C8B-B14F-4D97-AF65-F5344CB8AC3E}">
        <p14:creationId xmlns:p14="http://schemas.microsoft.com/office/powerpoint/2010/main" val="1251055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E74D1-9E41-4455-A90E-4F06F985E735}"/>
              </a:ext>
            </a:extLst>
          </p:cNvPr>
          <p:cNvSpPr>
            <a:spLocks noGrp="1"/>
          </p:cNvSpPr>
          <p:nvPr>
            <p:ph type="title"/>
          </p:nvPr>
        </p:nvSpPr>
        <p:spPr/>
        <p:txBody>
          <a:bodyPr/>
          <a:lstStyle/>
          <a:p>
            <a:r>
              <a:rPr lang="en-US" sz="3300" dirty="0">
                <a:solidFill>
                  <a:schemeClr val="tx1"/>
                </a:solidFill>
              </a:rPr>
              <a:t>Contd..</a:t>
            </a:r>
          </a:p>
        </p:txBody>
      </p:sp>
      <p:pic>
        <p:nvPicPr>
          <p:cNvPr id="5" name="Content Placeholder 4">
            <a:extLst>
              <a:ext uri="{FF2B5EF4-FFF2-40B4-BE49-F238E27FC236}">
                <a16:creationId xmlns:a16="http://schemas.microsoft.com/office/drawing/2014/main" id="{A7D33E03-2229-4DF7-B801-24C41CC6AC32}"/>
              </a:ext>
            </a:extLst>
          </p:cNvPr>
          <p:cNvPicPr>
            <a:picLocks noGrp="1" noChangeAspect="1"/>
          </p:cNvPicPr>
          <p:nvPr>
            <p:ph idx="1"/>
          </p:nvPr>
        </p:nvPicPr>
        <p:blipFill rotWithShape="1">
          <a:blip r:embed="rId2"/>
          <a:srcRect l="35782" t="34430" r="12164" b="19751"/>
          <a:stretch/>
        </p:blipFill>
        <p:spPr>
          <a:xfrm>
            <a:off x="628651" y="1347377"/>
            <a:ext cx="7741281" cy="4443823"/>
          </a:xfrm>
          <a:prstGeom prst="rect">
            <a:avLst/>
          </a:prstGeom>
        </p:spPr>
      </p:pic>
      <p:sp>
        <p:nvSpPr>
          <p:cNvPr id="4" name="Slide Number Placeholder 3">
            <a:extLst>
              <a:ext uri="{FF2B5EF4-FFF2-40B4-BE49-F238E27FC236}">
                <a16:creationId xmlns:a16="http://schemas.microsoft.com/office/drawing/2014/main" id="{08C084E5-5247-4357-AAE4-1EF37BAB3566}"/>
              </a:ext>
            </a:extLst>
          </p:cNvPr>
          <p:cNvSpPr>
            <a:spLocks noGrp="1"/>
          </p:cNvSpPr>
          <p:nvPr>
            <p:ph type="sldNum" sz="quarter" idx="12"/>
          </p:nvPr>
        </p:nvSpPr>
        <p:spPr/>
        <p:txBody>
          <a:bodyPr/>
          <a:lstStyle/>
          <a:p>
            <a:pPr>
              <a:defRPr/>
            </a:pPr>
            <a:fld id="{877A0F1B-A584-4F12-8C0C-809C04166842}" type="slidenum">
              <a:rPr lang="en-US" smtClean="0"/>
              <a:pPr>
                <a:defRPr/>
              </a:pPr>
              <a:t>31</a:t>
            </a:fld>
            <a:endParaRPr lang="en-US"/>
          </a:p>
        </p:txBody>
      </p:sp>
      <p:sp>
        <p:nvSpPr>
          <p:cNvPr id="3" name="TextBox 2">
            <a:extLst>
              <a:ext uri="{FF2B5EF4-FFF2-40B4-BE49-F238E27FC236}">
                <a16:creationId xmlns:a16="http://schemas.microsoft.com/office/drawing/2014/main" id="{2F3B32AF-A25E-4FCB-93CB-CA1168F65CA4}"/>
              </a:ext>
            </a:extLst>
          </p:cNvPr>
          <p:cNvSpPr txBox="1"/>
          <p:nvPr/>
        </p:nvSpPr>
        <p:spPr>
          <a:xfrm>
            <a:off x="3636168" y="5791200"/>
            <a:ext cx="1871663" cy="369332"/>
          </a:xfrm>
          <a:prstGeom prst="rect">
            <a:avLst/>
          </a:prstGeom>
          <a:noFill/>
        </p:spPr>
        <p:txBody>
          <a:bodyPr wrap="square" rtlCol="0">
            <a:spAutoFit/>
          </a:bodyPr>
          <a:lstStyle/>
          <a:p>
            <a:r>
              <a:rPr lang="en-IN" sz="1800" dirty="0"/>
              <a:t>Figure 8: </a:t>
            </a:r>
            <a:r>
              <a:rPr lang="en-IN" sz="1800" dirty="0" err="1"/>
              <a:t>Heapify</a:t>
            </a:r>
            <a:endParaRPr lang="en-IN" sz="1800" dirty="0"/>
          </a:p>
        </p:txBody>
      </p:sp>
    </p:spTree>
    <p:extLst>
      <p:ext uri="{BB962C8B-B14F-4D97-AF65-F5344CB8AC3E}">
        <p14:creationId xmlns:p14="http://schemas.microsoft.com/office/powerpoint/2010/main" val="164144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7929-B7AC-446D-BA40-163B0FC82378}"/>
              </a:ext>
            </a:extLst>
          </p:cNvPr>
          <p:cNvSpPr>
            <a:spLocks noGrp="1"/>
          </p:cNvSpPr>
          <p:nvPr>
            <p:ph type="title"/>
          </p:nvPr>
        </p:nvSpPr>
        <p:spPr/>
        <p:txBody>
          <a:bodyPr/>
          <a:lstStyle/>
          <a:p>
            <a:r>
              <a:rPr lang="en-US" sz="3300" dirty="0">
                <a:solidFill>
                  <a:schemeClr val="tx1"/>
                </a:solidFill>
              </a:rPr>
              <a:t>Contd..</a:t>
            </a:r>
          </a:p>
        </p:txBody>
      </p:sp>
      <p:pic>
        <p:nvPicPr>
          <p:cNvPr id="7" name="Content Placeholder 6">
            <a:extLst>
              <a:ext uri="{FF2B5EF4-FFF2-40B4-BE49-F238E27FC236}">
                <a16:creationId xmlns:a16="http://schemas.microsoft.com/office/drawing/2014/main" id="{60B343D8-A0F4-4335-B96E-F41CF737E83C}"/>
              </a:ext>
            </a:extLst>
          </p:cNvPr>
          <p:cNvPicPr>
            <a:picLocks noGrp="1" noChangeAspect="1"/>
          </p:cNvPicPr>
          <p:nvPr>
            <p:ph idx="1"/>
          </p:nvPr>
        </p:nvPicPr>
        <p:blipFill rotWithShape="1">
          <a:blip r:embed="rId2"/>
          <a:srcRect l="35782" t="37612" r="12336" b="17009"/>
          <a:stretch/>
        </p:blipFill>
        <p:spPr>
          <a:xfrm>
            <a:off x="628650" y="1295400"/>
            <a:ext cx="7878046" cy="4496994"/>
          </a:xfrm>
          <a:prstGeom prst="rect">
            <a:avLst/>
          </a:prstGeom>
        </p:spPr>
      </p:pic>
      <p:sp>
        <p:nvSpPr>
          <p:cNvPr id="4" name="Slide Number Placeholder 3">
            <a:extLst>
              <a:ext uri="{FF2B5EF4-FFF2-40B4-BE49-F238E27FC236}">
                <a16:creationId xmlns:a16="http://schemas.microsoft.com/office/drawing/2014/main" id="{84EE9EE3-E38D-430E-9D55-234A8A1983D6}"/>
              </a:ext>
            </a:extLst>
          </p:cNvPr>
          <p:cNvSpPr>
            <a:spLocks noGrp="1"/>
          </p:cNvSpPr>
          <p:nvPr>
            <p:ph type="sldNum" sz="quarter" idx="12"/>
          </p:nvPr>
        </p:nvSpPr>
        <p:spPr/>
        <p:txBody>
          <a:bodyPr/>
          <a:lstStyle/>
          <a:p>
            <a:pPr>
              <a:defRPr/>
            </a:pPr>
            <a:fld id="{877A0F1B-A584-4F12-8C0C-809C04166842}" type="slidenum">
              <a:rPr lang="en-US" smtClean="0"/>
              <a:pPr>
                <a:defRPr/>
              </a:pPr>
              <a:t>32</a:t>
            </a:fld>
            <a:endParaRPr lang="en-US"/>
          </a:p>
        </p:txBody>
      </p:sp>
      <p:sp>
        <p:nvSpPr>
          <p:cNvPr id="3" name="TextBox 2">
            <a:extLst>
              <a:ext uri="{FF2B5EF4-FFF2-40B4-BE49-F238E27FC236}">
                <a16:creationId xmlns:a16="http://schemas.microsoft.com/office/drawing/2014/main" id="{56A47547-AE1F-4F84-A6AE-9F96E648A730}"/>
              </a:ext>
            </a:extLst>
          </p:cNvPr>
          <p:cNvSpPr txBox="1"/>
          <p:nvPr/>
        </p:nvSpPr>
        <p:spPr>
          <a:xfrm>
            <a:off x="3119873" y="5792394"/>
            <a:ext cx="2895600" cy="369332"/>
          </a:xfrm>
          <a:prstGeom prst="rect">
            <a:avLst/>
          </a:prstGeom>
          <a:noFill/>
        </p:spPr>
        <p:txBody>
          <a:bodyPr wrap="square" rtlCol="0">
            <a:spAutoFit/>
          </a:bodyPr>
          <a:lstStyle/>
          <a:p>
            <a:r>
              <a:rPr lang="en-IN" sz="1800" dirty="0"/>
              <a:t>Figure 9: Removing element</a:t>
            </a:r>
          </a:p>
        </p:txBody>
      </p:sp>
    </p:spTree>
    <p:extLst>
      <p:ext uri="{BB962C8B-B14F-4D97-AF65-F5344CB8AC3E}">
        <p14:creationId xmlns:p14="http://schemas.microsoft.com/office/powerpoint/2010/main" val="4257923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Swap, Remove and </a:t>
            </a:r>
            <a:r>
              <a:rPr lang="en-US" sz="3300" dirty="0" err="1">
                <a:solidFill>
                  <a:schemeClr val="tx1"/>
                </a:solidFill>
              </a:rPr>
              <a:t>Heapify</a:t>
            </a:r>
            <a:endParaRPr lang="en-US" sz="3300" dirty="0">
              <a:solidFill>
                <a:schemeClr val="tx1"/>
              </a:solidFill>
            </a:endParaRP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33</a:t>
            </a:fld>
            <a:endParaRPr lang="en-US"/>
          </a:p>
        </p:txBody>
      </p:sp>
      <p:pic>
        <p:nvPicPr>
          <p:cNvPr id="11" name="Content Placeholder 10">
            <a:extLst>
              <a:ext uri="{FF2B5EF4-FFF2-40B4-BE49-F238E27FC236}">
                <a16:creationId xmlns:a16="http://schemas.microsoft.com/office/drawing/2014/main" id="{14A84DA7-7EBF-40C5-BDC3-495C6D9EC76C}"/>
              </a:ext>
            </a:extLst>
          </p:cNvPr>
          <p:cNvPicPr>
            <a:picLocks noGrp="1" noChangeAspect="1"/>
          </p:cNvPicPr>
          <p:nvPr>
            <p:ph idx="1"/>
          </p:nvPr>
        </p:nvPicPr>
        <p:blipFill rotWithShape="1">
          <a:blip r:embed="rId2"/>
          <a:srcRect l="36467" t="27562" r="16617" b="9090"/>
          <a:stretch/>
        </p:blipFill>
        <p:spPr>
          <a:xfrm>
            <a:off x="570674" y="1447800"/>
            <a:ext cx="8002651" cy="4572000"/>
          </a:xfrm>
          <a:prstGeom prst="rect">
            <a:avLst/>
          </a:prstGeom>
        </p:spPr>
      </p:pic>
    </p:spTree>
    <p:extLst>
      <p:ext uri="{BB962C8B-B14F-4D97-AF65-F5344CB8AC3E}">
        <p14:creationId xmlns:p14="http://schemas.microsoft.com/office/powerpoint/2010/main" val="184425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34</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Sort the given array using Heap Sort method.</a:t>
            </a:r>
            <a:endParaRPr lang="en-IN" dirty="0"/>
          </a:p>
        </p:txBody>
      </p:sp>
      <p:pic>
        <p:nvPicPr>
          <p:cNvPr id="1026" name="Picture 2" descr="Heap Sort Algorithm">
            <a:extLst>
              <a:ext uri="{FF2B5EF4-FFF2-40B4-BE49-F238E27FC236}">
                <a16:creationId xmlns:a16="http://schemas.microsoft.com/office/drawing/2014/main" id="{AC0D19BB-65A2-4EE7-9514-8620327B3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254" y="2133600"/>
            <a:ext cx="6735536" cy="94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347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35</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2050" name="Picture 2" descr="Heap Sort Algorithm">
            <a:extLst>
              <a:ext uri="{FF2B5EF4-FFF2-40B4-BE49-F238E27FC236}">
                <a16:creationId xmlns:a16="http://schemas.microsoft.com/office/drawing/2014/main" id="{DBFEC2E9-D950-4A39-BD24-17754C8EDC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243296"/>
            <a:ext cx="6173091" cy="28283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eap Sort Algorithm">
            <a:extLst>
              <a:ext uri="{FF2B5EF4-FFF2-40B4-BE49-F238E27FC236}">
                <a16:creationId xmlns:a16="http://schemas.microsoft.com/office/drawing/2014/main" id="{642095A0-7523-493F-8DA4-53382FF9F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345" y="1381124"/>
            <a:ext cx="6090346" cy="85264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eap Sort Algorithm">
            <a:extLst>
              <a:ext uri="{FF2B5EF4-FFF2-40B4-BE49-F238E27FC236}">
                <a16:creationId xmlns:a16="http://schemas.microsoft.com/office/drawing/2014/main" id="{835C0555-6F7A-4559-BC51-B34DC667F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2772" y="5081218"/>
            <a:ext cx="476250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413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36</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3074" name="Picture 2" descr="Heap Sort Algorithm">
            <a:extLst>
              <a:ext uri="{FF2B5EF4-FFF2-40B4-BE49-F238E27FC236}">
                <a16:creationId xmlns:a16="http://schemas.microsoft.com/office/drawing/2014/main" id="{2756690F-6336-4FE5-A3CF-626B2C8E1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763" y="1600200"/>
            <a:ext cx="7041859" cy="279113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eap Sort Algorithm">
            <a:extLst>
              <a:ext uri="{FF2B5EF4-FFF2-40B4-BE49-F238E27FC236}">
                <a16:creationId xmlns:a16="http://schemas.microsoft.com/office/drawing/2014/main" id="{D8C51013-D5CF-4373-8613-F243D5F01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6317" y="4644705"/>
            <a:ext cx="5238750" cy="73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795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37</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7170" name="Picture 2" descr="Heap Sort Algorithm">
            <a:extLst>
              <a:ext uri="{FF2B5EF4-FFF2-40B4-BE49-F238E27FC236}">
                <a16:creationId xmlns:a16="http://schemas.microsoft.com/office/drawing/2014/main" id="{96074D1C-356A-4F7E-8FBC-91A3DF05C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981" y="1425739"/>
            <a:ext cx="7760391" cy="307593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eap Sort Algorithm">
            <a:extLst>
              <a:ext uri="{FF2B5EF4-FFF2-40B4-BE49-F238E27FC236}">
                <a16:creationId xmlns:a16="http://schemas.microsoft.com/office/drawing/2014/main" id="{7BD25FD4-DC2B-4180-91F3-FE85516506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5926" y="4752616"/>
            <a:ext cx="476250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879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38</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6146" name="Picture 2" descr="Heap Sort Algorithm">
            <a:extLst>
              <a:ext uri="{FF2B5EF4-FFF2-40B4-BE49-F238E27FC236}">
                <a16:creationId xmlns:a16="http://schemas.microsoft.com/office/drawing/2014/main" id="{B793F106-959C-43FF-8C10-4C748EB385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456" y="1392702"/>
            <a:ext cx="7282343" cy="288645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eap Sort Algorithm">
            <a:extLst>
              <a:ext uri="{FF2B5EF4-FFF2-40B4-BE49-F238E27FC236}">
                <a16:creationId xmlns:a16="http://schemas.microsoft.com/office/drawing/2014/main" id="{B61E9071-31E3-4BD1-8988-1D978F35A6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1008" y="4536798"/>
            <a:ext cx="476250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8505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39</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pPr marL="0" indent="0">
              <a:buNone/>
            </a:pPr>
            <a:r>
              <a:rPr lang="en-US" dirty="0"/>
              <a:t>a</a:t>
            </a:r>
            <a:endParaRPr lang="en-IN" dirty="0"/>
          </a:p>
        </p:txBody>
      </p:sp>
      <p:pic>
        <p:nvPicPr>
          <p:cNvPr id="5122" name="Picture 2" descr="Heap Sort Algorithm">
            <a:extLst>
              <a:ext uri="{FF2B5EF4-FFF2-40B4-BE49-F238E27FC236}">
                <a16:creationId xmlns:a16="http://schemas.microsoft.com/office/drawing/2014/main" id="{332B1B80-4CDF-44D3-8BE5-14ACEE53D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164" y="1524000"/>
            <a:ext cx="7237400" cy="286864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eap Sort Algorithm">
            <a:extLst>
              <a:ext uri="{FF2B5EF4-FFF2-40B4-BE49-F238E27FC236}">
                <a16:creationId xmlns:a16="http://schemas.microsoft.com/office/drawing/2014/main" id="{4FA8C7D5-C22E-46C7-ADBF-91734DEA5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531" y="4692679"/>
            <a:ext cx="476250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230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40</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4098" name="Picture 2" descr="Heap Sort Algorithm">
            <a:extLst>
              <a:ext uri="{FF2B5EF4-FFF2-40B4-BE49-F238E27FC236}">
                <a16:creationId xmlns:a16="http://schemas.microsoft.com/office/drawing/2014/main" id="{AB499FE5-CD90-4338-A5E7-A32064A41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49" y="1715025"/>
            <a:ext cx="7419867" cy="242912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eap Sort Algorithm">
            <a:extLst>
              <a:ext uri="{FF2B5EF4-FFF2-40B4-BE49-F238E27FC236}">
                <a16:creationId xmlns:a16="http://schemas.microsoft.com/office/drawing/2014/main" id="{AB8FE943-A601-4B7B-88B0-523ABD1DB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380687"/>
            <a:ext cx="476250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9712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41</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8194" name="Picture 2" descr="Heap Sort Algorithm">
            <a:extLst>
              <a:ext uri="{FF2B5EF4-FFF2-40B4-BE49-F238E27FC236}">
                <a16:creationId xmlns:a16="http://schemas.microsoft.com/office/drawing/2014/main" id="{41BE8B43-4DBB-40B0-956C-4DB82C092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588" y="1524000"/>
            <a:ext cx="6902824" cy="21336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eap Sort Algorithm">
            <a:extLst>
              <a:ext uri="{FF2B5EF4-FFF2-40B4-BE49-F238E27FC236}">
                <a16:creationId xmlns:a16="http://schemas.microsoft.com/office/drawing/2014/main" id="{3F4321BF-2C33-4403-8EBF-DB26A06B42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114800"/>
            <a:ext cx="5909164" cy="827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045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42</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9218" name="Picture 2" descr="Heap Sort Algorithm">
            <a:extLst>
              <a:ext uri="{FF2B5EF4-FFF2-40B4-BE49-F238E27FC236}">
                <a16:creationId xmlns:a16="http://schemas.microsoft.com/office/drawing/2014/main" id="{92B66460-CC52-4E1E-B9DA-CCC091D85A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374" y="1373187"/>
            <a:ext cx="7788426" cy="146208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eap Sort Algorithm">
            <a:extLst>
              <a:ext uri="{FF2B5EF4-FFF2-40B4-BE49-F238E27FC236}">
                <a16:creationId xmlns:a16="http://schemas.microsoft.com/office/drawing/2014/main" id="{7603D562-BC5C-4CD5-9C26-74172E6BD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961008"/>
            <a:ext cx="6181307" cy="865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0625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6FD-C038-4D2A-8511-619AAFE506A2}"/>
              </a:ext>
            </a:extLst>
          </p:cNvPr>
          <p:cNvSpPr>
            <a:spLocks noGrp="1"/>
          </p:cNvSpPr>
          <p:nvPr>
            <p:ph type="title"/>
          </p:nvPr>
        </p:nvSpPr>
        <p:spPr/>
        <p:txBody>
          <a:bodyPr/>
          <a:lstStyle/>
          <a:p>
            <a:r>
              <a:rPr lang="en-US" sz="3300" dirty="0">
                <a:solidFill>
                  <a:schemeClr val="tx1"/>
                </a:solidFill>
              </a:rPr>
              <a:t>Example</a:t>
            </a:r>
          </a:p>
        </p:txBody>
      </p:sp>
      <p:sp>
        <p:nvSpPr>
          <p:cNvPr id="4" name="Slide Number Placeholder 3">
            <a:extLst>
              <a:ext uri="{FF2B5EF4-FFF2-40B4-BE49-F238E27FC236}">
                <a16:creationId xmlns:a16="http://schemas.microsoft.com/office/drawing/2014/main" id="{AF4B602A-FAAA-4B58-9517-D2110D403289}"/>
              </a:ext>
            </a:extLst>
          </p:cNvPr>
          <p:cNvSpPr>
            <a:spLocks noGrp="1"/>
          </p:cNvSpPr>
          <p:nvPr>
            <p:ph type="sldNum" sz="quarter" idx="12"/>
          </p:nvPr>
        </p:nvSpPr>
        <p:spPr/>
        <p:txBody>
          <a:bodyPr/>
          <a:lstStyle/>
          <a:p>
            <a:pPr>
              <a:defRPr/>
            </a:pPr>
            <a:fld id="{877A0F1B-A584-4F12-8C0C-809C04166842}" type="slidenum">
              <a:rPr lang="en-US" smtClean="0"/>
              <a:pPr>
                <a:defRPr/>
              </a:pPr>
              <a:t>43</a:t>
            </a:fld>
            <a:endParaRPr lang="en-US"/>
          </a:p>
        </p:txBody>
      </p:sp>
      <p:sp>
        <p:nvSpPr>
          <p:cNvPr id="3" name="Content Placeholder 2">
            <a:extLst>
              <a:ext uri="{FF2B5EF4-FFF2-40B4-BE49-F238E27FC236}">
                <a16:creationId xmlns:a16="http://schemas.microsoft.com/office/drawing/2014/main" id="{7BC455A5-6289-4448-BC83-E39F749A1BBE}"/>
              </a:ext>
            </a:extLst>
          </p:cNvPr>
          <p:cNvSpPr>
            <a:spLocks noGrp="1"/>
          </p:cNvSpPr>
          <p:nvPr>
            <p:ph idx="1"/>
          </p:nvPr>
        </p:nvSpPr>
        <p:spPr/>
        <p:txBody>
          <a:bodyPr/>
          <a:lstStyle/>
          <a:p>
            <a:r>
              <a:rPr lang="en-US" dirty="0"/>
              <a:t>a</a:t>
            </a:r>
            <a:endParaRPr lang="en-IN" dirty="0"/>
          </a:p>
        </p:txBody>
      </p:sp>
      <p:pic>
        <p:nvPicPr>
          <p:cNvPr id="10242" name="Picture 2" descr="Heap Sort Algorithm">
            <a:extLst>
              <a:ext uri="{FF2B5EF4-FFF2-40B4-BE49-F238E27FC236}">
                <a16:creationId xmlns:a16="http://schemas.microsoft.com/office/drawing/2014/main" id="{6C0D1BEF-32D4-4528-AEB9-751EB7AF5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16" y="1506371"/>
            <a:ext cx="6797749" cy="115993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CB816F0-7007-4486-9AAD-B5ACF280F366}"/>
              </a:ext>
            </a:extLst>
          </p:cNvPr>
          <p:cNvSpPr txBox="1"/>
          <p:nvPr/>
        </p:nvSpPr>
        <p:spPr>
          <a:xfrm>
            <a:off x="671316" y="3299716"/>
            <a:ext cx="7177284" cy="1200329"/>
          </a:xfrm>
          <a:prstGeom prst="rect">
            <a:avLst/>
          </a:prstGeom>
          <a:noFill/>
        </p:spPr>
        <p:txBody>
          <a:bodyPr wrap="square">
            <a:spAutoFit/>
          </a:bodyPr>
          <a:lstStyle/>
          <a:p>
            <a:pPr algn="just"/>
            <a:r>
              <a:rPr lang="en-US" b="0" i="0" dirty="0">
                <a:solidFill>
                  <a:srgbClr val="333333"/>
                </a:solidFill>
                <a:effectLst/>
                <a:cs typeface="Times New Roman" panose="02020603050405020304" pitchFamily="18" charset="0"/>
              </a:rPr>
              <a:t>After completion of sorting, the array elements are -</a:t>
            </a:r>
          </a:p>
          <a:p>
            <a:br>
              <a:rPr lang="en-US" dirty="0">
                <a:cs typeface="Times New Roman" panose="02020603050405020304" pitchFamily="18" charset="0"/>
              </a:rPr>
            </a:br>
            <a:endParaRPr lang="en-IN" dirty="0">
              <a:cs typeface="Times New Roman" panose="02020603050405020304" pitchFamily="18" charset="0"/>
            </a:endParaRPr>
          </a:p>
        </p:txBody>
      </p:sp>
      <p:pic>
        <p:nvPicPr>
          <p:cNvPr id="10244" name="Picture 4" descr="Heap Sort Algorithm">
            <a:extLst>
              <a:ext uri="{FF2B5EF4-FFF2-40B4-BE49-F238E27FC236}">
                <a16:creationId xmlns:a16="http://schemas.microsoft.com/office/drawing/2014/main" id="{E3248A82-9E1A-43E9-8178-4F4A1F1AC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1415" y="4177297"/>
            <a:ext cx="5958893" cy="834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549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6DBC-6B5E-489B-A41A-C37A7151BC43}"/>
              </a:ext>
            </a:extLst>
          </p:cNvPr>
          <p:cNvSpPr>
            <a:spLocks noGrp="1"/>
          </p:cNvSpPr>
          <p:nvPr>
            <p:ph type="title"/>
          </p:nvPr>
        </p:nvSpPr>
        <p:spPr>
          <a:xfrm>
            <a:off x="628650" y="165100"/>
            <a:ext cx="6305550" cy="969963"/>
          </a:xfrm>
        </p:spPr>
        <p:txBody>
          <a:bodyPr rtlCol="0"/>
          <a:lstStyle/>
          <a:p>
            <a:pPr eaLnBrk="1" fontAlgn="auto" hangingPunct="1">
              <a:spcAft>
                <a:spcPts val="0"/>
              </a:spcAft>
              <a:defRPr/>
            </a:pPr>
            <a:r>
              <a:rPr lang="en-US" dirty="0"/>
              <a:t>References</a:t>
            </a:r>
          </a:p>
        </p:txBody>
      </p:sp>
      <p:sp>
        <p:nvSpPr>
          <p:cNvPr id="3" name="Content Placeholder 2">
            <a:extLst>
              <a:ext uri="{FF2B5EF4-FFF2-40B4-BE49-F238E27FC236}">
                <a16:creationId xmlns:a16="http://schemas.microsoft.com/office/drawing/2014/main" id="{067EBE9D-B21A-4255-A927-C09FF5A95A2B}"/>
              </a:ext>
            </a:extLst>
          </p:cNvPr>
          <p:cNvSpPr>
            <a:spLocks noGrp="1"/>
          </p:cNvSpPr>
          <p:nvPr>
            <p:ph idx="1"/>
          </p:nvPr>
        </p:nvSpPr>
        <p:spPr>
          <a:xfrm>
            <a:off x="420688" y="1371600"/>
            <a:ext cx="7886700" cy="4351338"/>
          </a:xfrm>
        </p:spPr>
        <p:txBody>
          <a:bodyPr rtlCol="0">
            <a:normAutofit/>
          </a:bodyPr>
          <a:lstStyle/>
          <a:p>
            <a:pPr marL="457200" indent="-457200" eaLnBrk="1" fontAlgn="auto" hangingPunct="1">
              <a:spcAft>
                <a:spcPts val="0"/>
              </a:spcAft>
              <a:buFont typeface="+mj-lt"/>
              <a:buAutoNum type="arabicParenR"/>
              <a:defRPr/>
            </a:pPr>
            <a:r>
              <a:rPr lang="en-US" dirty="0">
                <a:hlinkClick r:id="rId2"/>
              </a:rPr>
              <a:t>http://epgp.inflibnet.ac.in/epgpdata/uploads/epgp_content/S000007CS/P001064/M014960/ET/1459249858E17.pdf</a:t>
            </a:r>
            <a:endParaRPr lang="en-US" dirty="0"/>
          </a:p>
          <a:p>
            <a:pPr marL="457200" indent="-457200" eaLnBrk="1" fontAlgn="auto" hangingPunct="1">
              <a:spcAft>
                <a:spcPts val="0"/>
              </a:spcAft>
              <a:buFont typeface="+mj-lt"/>
              <a:buAutoNum type="arabicParenR"/>
              <a:defRPr/>
            </a:pPr>
            <a:r>
              <a:rPr lang="en-US" dirty="0">
                <a:hlinkClick r:id="rId3"/>
              </a:rPr>
              <a:t>https://www.studytonight.com/data-structures/heap-sort</a:t>
            </a:r>
            <a:endParaRPr lang="en-US" dirty="0"/>
          </a:p>
          <a:p>
            <a:pPr marL="457200" indent="-457200" eaLnBrk="1" fontAlgn="auto" hangingPunct="1">
              <a:spcAft>
                <a:spcPts val="0"/>
              </a:spcAft>
              <a:buFont typeface="+mj-lt"/>
              <a:buAutoNum type="arabicParenR"/>
              <a:defRPr/>
            </a:pPr>
            <a:r>
              <a:rPr lang="en-US" dirty="0">
                <a:hlinkClick r:id="rId4"/>
              </a:rPr>
              <a:t>https://www.interviewbit.com/tutorial/heap-sort-algorithm/</a:t>
            </a:r>
            <a:endParaRPr lang="en-US" dirty="0"/>
          </a:p>
          <a:p>
            <a:pPr marL="0" indent="0" algn="just">
              <a:buFont typeface="Arial" panose="020B0604020202020204" pitchFamily="34" charset="0"/>
              <a:buNone/>
              <a:defRPr/>
            </a:pPr>
            <a:r>
              <a:rPr lang="en-US" dirty="0"/>
              <a:t>Books:</a:t>
            </a:r>
          </a:p>
          <a:p>
            <a:pPr marL="457200" indent="-457200" algn="just">
              <a:buFont typeface="Arial" panose="020B0604020202020204" pitchFamily="34" charset="0"/>
              <a:buAutoNum type="arabicPeriod"/>
              <a:defRPr/>
            </a:pPr>
            <a:r>
              <a:rPr lang="en-US" dirty="0"/>
              <a:t>Introduction to Algorithms by </a:t>
            </a:r>
            <a:r>
              <a:rPr lang="en-US" dirty="0" err="1"/>
              <a:t>Coreman</a:t>
            </a:r>
            <a:r>
              <a:rPr lang="en-US" dirty="0"/>
              <a:t>, </a:t>
            </a:r>
            <a:r>
              <a:rPr lang="en-US" dirty="0" err="1"/>
              <a:t>Leiserson</a:t>
            </a:r>
            <a:r>
              <a:rPr lang="en-US" dirty="0"/>
              <a:t>, </a:t>
            </a:r>
            <a:r>
              <a:rPr lang="en-US" dirty="0" err="1"/>
              <a:t>Rivest</a:t>
            </a:r>
            <a:r>
              <a:rPr lang="en-US" dirty="0"/>
              <a:t>, Stein.</a:t>
            </a:r>
          </a:p>
          <a:p>
            <a:pPr marL="457200" indent="-457200" algn="just">
              <a:buFont typeface="Arial" panose="020B0604020202020204" pitchFamily="34" charset="0"/>
              <a:buAutoNum type="arabicPeriod"/>
              <a:defRPr/>
            </a:pPr>
            <a:r>
              <a:rPr lang="en-US" dirty="0"/>
              <a:t>Fundamentals of Algorithms by Ellis Horwitz, Sartaj </a:t>
            </a:r>
            <a:r>
              <a:rPr lang="en-US" dirty="0" err="1"/>
              <a:t>Sahni</a:t>
            </a:r>
            <a:r>
              <a:rPr lang="en-US" dirty="0"/>
              <a:t>, </a:t>
            </a:r>
            <a:r>
              <a:rPr lang="en-US" dirty="0" err="1"/>
              <a:t>Sanguthevar</a:t>
            </a:r>
            <a:r>
              <a:rPr lang="en-US" dirty="0"/>
              <a:t> </a:t>
            </a:r>
            <a:r>
              <a:rPr lang="en-US" dirty="0" err="1"/>
              <a:t>Rajasekaran</a:t>
            </a:r>
            <a:endParaRPr lang="en-US" dirty="0"/>
          </a:p>
          <a:p>
            <a:pPr eaLnBrk="1" fontAlgn="auto" hangingPunct="1">
              <a:spcAft>
                <a:spcPts val="0"/>
              </a:spcAft>
              <a:defRPr/>
            </a:pPr>
            <a:endParaRPr lang="en-US" dirty="0"/>
          </a:p>
        </p:txBody>
      </p:sp>
      <p:sp>
        <p:nvSpPr>
          <p:cNvPr id="4" name="Slide Number Placeholder 3">
            <a:extLst>
              <a:ext uri="{FF2B5EF4-FFF2-40B4-BE49-F238E27FC236}">
                <a16:creationId xmlns:a16="http://schemas.microsoft.com/office/drawing/2014/main" id="{CA368230-028E-4522-B07D-77D3DBCA3227}"/>
              </a:ext>
            </a:extLst>
          </p:cNvPr>
          <p:cNvSpPr>
            <a:spLocks noGrp="1"/>
          </p:cNvSpPr>
          <p:nvPr>
            <p:ph type="sldNum" sz="quarter" idx="12"/>
          </p:nvPr>
        </p:nvSpPr>
        <p:spPr/>
        <p:txBody>
          <a:bodyPr/>
          <a:lstStyle/>
          <a:p>
            <a:pPr>
              <a:defRPr/>
            </a:pPr>
            <a:fld id="{C8B279A9-262C-4192-86DD-E11ABC144A4F}" type="slidenum">
              <a:rPr lang="en-US"/>
              <a:pPr>
                <a:defRPr/>
              </a:pPr>
              <a:t>44</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6DBC-6B5E-489B-A41A-C37A7151BC43}"/>
              </a:ext>
            </a:extLst>
          </p:cNvPr>
          <p:cNvSpPr>
            <a:spLocks noGrp="1"/>
          </p:cNvSpPr>
          <p:nvPr>
            <p:ph type="title"/>
          </p:nvPr>
        </p:nvSpPr>
        <p:spPr>
          <a:xfrm>
            <a:off x="628650" y="165100"/>
            <a:ext cx="6305550" cy="969963"/>
          </a:xfrm>
        </p:spPr>
        <p:txBody>
          <a:bodyPr rtlCol="0"/>
          <a:lstStyle/>
          <a:p>
            <a:pPr eaLnBrk="1" fontAlgn="auto" hangingPunct="1">
              <a:spcAft>
                <a:spcPts val="0"/>
              </a:spcAft>
              <a:defRPr/>
            </a:pPr>
            <a:r>
              <a:rPr lang="en-US" dirty="0"/>
              <a:t>References</a:t>
            </a:r>
          </a:p>
        </p:txBody>
      </p:sp>
      <p:sp>
        <p:nvSpPr>
          <p:cNvPr id="3" name="Content Placeholder 2">
            <a:extLst>
              <a:ext uri="{FF2B5EF4-FFF2-40B4-BE49-F238E27FC236}">
                <a16:creationId xmlns:a16="http://schemas.microsoft.com/office/drawing/2014/main" id="{067EBE9D-B21A-4255-A927-C09FF5A95A2B}"/>
              </a:ext>
            </a:extLst>
          </p:cNvPr>
          <p:cNvSpPr>
            <a:spLocks noGrp="1"/>
          </p:cNvSpPr>
          <p:nvPr>
            <p:ph idx="1"/>
          </p:nvPr>
        </p:nvSpPr>
        <p:spPr>
          <a:xfrm>
            <a:off x="420688" y="1371600"/>
            <a:ext cx="7886700" cy="4351338"/>
          </a:xfrm>
        </p:spPr>
        <p:txBody>
          <a:bodyPr rtlCol="0">
            <a:normAutofit/>
          </a:bodyPr>
          <a:lstStyle/>
          <a:p>
            <a:pPr marL="457200" indent="-457200" eaLnBrk="1" fontAlgn="auto" hangingPunct="1">
              <a:spcAft>
                <a:spcPts val="0"/>
              </a:spcAft>
              <a:buFont typeface="+mj-lt"/>
              <a:buAutoNum type="arabicParenR"/>
              <a:defRPr/>
            </a:pPr>
            <a:r>
              <a:rPr lang="en-US" dirty="0">
                <a:hlinkClick r:id="rId2"/>
              </a:rPr>
              <a:t>http://epgp.inflibnet.ac.in/epgpdata/uploads/epgp_content/S000007CS/P001064/M014960/ET/1459249858E17.pdf</a:t>
            </a:r>
            <a:endParaRPr lang="en-US" dirty="0"/>
          </a:p>
          <a:p>
            <a:pPr marL="457200" indent="-457200" eaLnBrk="1" fontAlgn="auto" hangingPunct="1">
              <a:spcAft>
                <a:spcPts val="0"/>
              </a:spcAft>
              <a:buFont typeface="+mj-lt"/>
              <a:buAutoNum type="arabicParenR"/>
              <a:defRPr/>
            </a:pPr>
            <a:r>
              <a:rPr lang="en-US" dirty="0">
                <a:hlinkClick r:id="rId3"/>
              </a:rPr>
              <a:t>https://www.studytonight.com/data-structures/heap-sort</a:t>
            </a:r>
            <a:endParaRPr lang="en-US" dirty="0"/>
          </a:p>
          <a:p>
            <a:pPr marL="457200" indent="-457200" eaLnBrk="1" fontAlgn="auto" hangingPunct="1">
              <a:spcAft>
                <a:spcPts val="0"/>
              </a:spcAft>
              <a:buFont typeface="+mj-lt"/>
              <a:buAutoNum type="arabicParenR"/>
              <a:defRPr/>
            </a:pPr>
            <a:r>
              <a:rPr lang="en-US" dirty="0">
                <a:hlinkClick r:id="rId4"/>
              </a:rPr>
              <a:t>https://www.interviewbit.com/tutorial/heap-sort-algorithm/</a:t>
            </a:r>
            <a:endParaRPr lang="en-US" dirty="0"/>
          </a:p>
          <a:p>
            <a:pPr marL="0" indent="0" algn="just">
              <a:buFont typeface="Arial" panose="020B0604020202020204" pitchFamily="34" charset="0"/>
              <a:buNone/>
              <a:defRPr/>
            </a:pPr>
            <a:r>
              <a:rPr lang="en-US" dirty="0"/>
              <a:t>Books:</a:t>
            </a:r>
          </a:p>
          <a:p>
            <a:pPr marL="457200" indent="-457200" algn="just">
              <a:buFont typeface="Arial" panose="020B0604020202020204" pitchFamily="34" charset="0"/>
              <a:buAutoNum type="arabicPeriod"/>
              <a:defRPr/>
            </a:pPr>
            <a:r>
              <a:rPr lang="en-US" dirty="0"/>
              <a:t>Introduction to Algorithms by </a:t>
            </a:r>
            <a:r>
              <a:rPr lang="en-US" dirty="0" err="1"/>
              <a:t>Coreman</a:t>
            </a:r>
            <a:r>
              <a:rPr lang="en-US" dirty="0"/>
              <a:t>, </a:t>
            </a:r>
            <a:r>
              <a:rPr lang="en-US" dirty="0" err="1"/>
              <a:t>Leiserson</a:t>
            </a:r>
            <a:r>
              <a:rPr lang="en-US" dirty="0"/>
              <a:t>, </a:t>
            </a:r>
            <a:r>
              <a:rPr lang="en-US" dirty="0" err="1"/>
              <a:t>Rivest</a:t>
            </a:r>
            <a:r>
              <a:rPr lang="en-US" dirty="0"/>
              <a:t>, Stein.</a:t>
            </a:r>
          </a:p>
          <a:p>
            <a:pPr marL="457200" indent="-457200" algn="just">
              <a:buFont typeface="Arial" panose="020B0604020202020204" pitchFamily="34" charset="0"/>
              <a:buAutoNum type="arabicPeriod"/>
              <a:defRPr/>
            </a:pPr>
            <a:r>
              <a:rPr lang="en-US" dirty="0"/>
              <a:t>Fundamentals of Algorithms by Ellis Horwitz, Sartaj </a:t>
            </a:r>
            <a:r>
              <a:rPr lang="en-US" dirty="0" err="1"/>
              <a:t>Sahni</a:t>
            </a:r>
            <a:r>
              <a:rPr lang="en-US" dirty="0"/>
              <a:t>, </a:t>
            </a:r>
            <a:r>
              <a:rPr lang="en-US" dirty="0" err="1"/>
              <a:t>Sanguthevar</a:t>
            </a:r>
            <a:r>
              <a:rPr lang="en-US" dirty="0"/>
              <a:t> </a:t>
            </a:r>
            <a:r>
              <a:rPr lang="en-US" dirty="0" err="1"/>
              <a:t>Rajasekaran</a:t>
            </a:r>
            <a:endParaRPr lang="en-US" dirty="0"/>
          </a:p>
          <a:p>
            <a:pPr eaLnBrk="1" fontAlgn="auto" hangingPunct="1">
              <a:spcAft>
                <a:spcPts val="0"/>
              </a:spcAft>
              <a:defRPr/>
            </a:pPr>
            <a:endParaRPr lang="en-US" dirty="0"/>
          </a:p>
        </p:txBody>
      </p:sp>
      <p:sp>
        <p:nvSpPr>
          <p:cNvPr id="4" name="Slide Number Placeholder 3">
            <a:extLst>
              <a:ext uri="{FF2B5EF4-FFF2-40B4-BE49-F238E27FC236}">
                <a16:creationId xmlns:a16="http://schemas.microsoft.com/office/drawing/2014/main" id="{CA368230-028E-4522-B07D-77D3DBCA3227}"/>
              </a:ext>
            </a:extLst>
          </p:cNvPr>
          <p:cNvSpPr>
            <a:spLocks noGrp="1"/>
          </p:cNvSpPr>
          <p:nvPr>
            <p:ph type="sldNum" sz="quarter" idx="12"/>
          </p:nvPr>
        </p:nvSpPr>
        <p:spPr/>
        <p:txBody>
          <a:bodyPr/>
          <a:lstStyle/>
          <a:p>
            <a:pPr>
              <a:defRPr/>
            </a:pPr>
            <a:fld id="{C8B279A9-262C-4192-86DD-E11ABC144A4F}" type="slidenum">
              <a:rPr lang="en-US"/>
              <a:pPr>
                <a:defRPr/>
              </a:pPr>
              <a:t>45</a:t>
            </a:fld>
            <a:endParaRPr lang="en-US"/>
          </a:p>
        </p:txBody>
      </p:sp>
    </p:spTree>
    <p:extLst>
      <p:ext uri="{BB962C8B-B14F-4D97-AF65-F5344CB8AC3E}">
        <p14:creationId xmlns:p14="http://schemas.microsoft.com/office/powerpoint/2010/main" val="27625040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613E37E-25B7-44EB-ADF4-80F612F76242}"/>
              </a:ext>
            </a:extLst>
          </p:cNvPr>
          <p:cNvSpPr/>
          <p:nvPr/>
        </p:nvSpPr>
        <p:spPr>
          <a:xfrm>
            <a:off x="0" y="857250"/>
            <a:ext cx="9144000" cy="3514725"/>
          </a:xfrm>
          <a:prstGeom prst="rect">
            <a:avLst/>
          </a:prstGeom>
          <a:solidFill>
            <a:schemeClr val="accent6">
              <a:lumMod val="50000"/>
              <a:alpha val="60000"/>
            </a:schemeClr>
          </a:solidFill>
          <a:ln w="12700" cap="flat" cmpd="sng" algn="ctr">
            <a:noFill/>
            <a:prstDash val="solid"/>
            <a:miter lim="800000"/>
          </a:ln>
          <a:effectLst/>
        </p:spPr>
        <p:txBody>
          <a:bodyPr anchor="ctr"/>
          <a:lstStyle/>
          <a:p>
            <a:pPr algn="ctr" defTabSz="685800" eaLnBrk="1" fontAlgn="auto" hangingPunct="1">
              <a:spcBef>
                <a:spcPts val="0"/>
              </a:spcBef>
              <a:spcAft>
                <a:spcPts val="0"/>
              </a:spcAft>
              <a:defRPr/>
            </a:pPr>
            <a:r>
              <a:rPr lang="en-US" sz="1350" dirty="0">
                <a:solidFill>
                  <a:prstClr val="white"/>
                </a:solidFill>
                <a:latin typeface="Calibri Light"/>
              </a:rPr>
              <a:t> </a:t>
            </a:r>
          </a:p>
        </p:txBody>
      </p:sp>
      <p:sp>
        <p:nvSpPr>
          <p:cNvPr id="39939" name="Title 1">
            <a:extLst>
              <a:ext uri="{FF2B5EF4-FFF2-40B4-BE49-F238E27FC236}">
                <a16:creationId xmlns:a16="http://schemas.microsoft.com/office/drawing/2014/main" id="{BB229B03-8256-41A9-9B2A-4EFB070B2911}"/>
              </a:ext>
            </a:extLst>
          </p:cNvPr>
          <p:cNvSpPr txBox="1">
            <a:spLocks noChangeArrowheads="1"/>
          </p:cNvSpPr>
          <p:nvPr/>
        </p:nvSpPr>
        <p:spPr bwMode="auto">
          <a:xfrm>
            <a:off x="1114425" y="2544763"/>
            <a:ext cx="80438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685800">
              <a:defRPr sz="2400">
                <a:solidFill>
                  <a:schemeClr val="tx1"/>
                </a:solidFill>
                <a:latin typeface="Times New Roman" panose="02020603050405020304" pitchFamily="18" charset="0"/>
              </a:defRPr>
            </a:lvl1pPr>
            <a:lvl2pPr marL="742950" indent="-285750" defTabSz="685800">
              <a:defRPr sz="2400">
                <a:solidFill>
                  <a:schemeClr val="tx1"/>
                </a:solidFill>
                <a:latin typeface="Times New Roman" panose="02020603050405020304" pitchFamily="18" charset="0"/>
              </a:defRPr>
            </a:lvl2pPr>
            <a:lvl3pPr marL="1143000" indent="-228600" defTabSz="685800">
              <a:defRPr sz="2400">
                <a:solidFill>
                  <a:schemeClr val="tx1"/>
                </a:solidFill>
                <a:latin typeface="Times New Roman" panose="02020603050405020304" pitchFamily="18" charset="0"/>
              </a:defRPr>
            </a:lvl3pPr>
            <a:lvl4pPr marL="1600200" indent="-228600" defTabSz="685800">
              <a:defRPr sz="2400">
                <a:solidFill>
                  <a:schemeClr val="tx1"/>
                </a:solidFill>
                <a:latin typeface="Times New Roman" panose="02020603050405020304" pitchFamily="18" charset="0"/>
              </a:defRPr>
            </a:lvl4pPr>
            <a:lvl5pPr marL="2057400" indent="-228600" defTabSz="685800">
              <a:defRPr sz="2400">
                <a:solidFill>
                  <a:schemeClr val="tx1"/>
                </a:solidFill>
                <a:latin typeface="Times New Roman" panose="02020603050405020304" pitchFamily="18" charset="0"/>
              </a:defRPr>
            </a:lvl5pPr>
            <a:lvl6pPr marL="2514600" indent="-228600" defTabSz="6858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858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858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85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6000">
                <a:solidFill>
                  <a:srgbClr val="FFFFFF"/>
                </a:solidFill>
                <a:latin typeface="Casper" panose="02000506000000020004"/>
                <a:cs typeface="Segoe UI" panose="020B0502040204020203" pitchFamily="34" charset="0"/>
              </a:rPr>
              <a:t>THANK YOU</a:t>
            </a:r>
          </a:p>
        </p:txBody>
      </p:sp>
      <p:sp>
        <p:nvSpPr>
          <p:cNvPr id="22" name="Diamond 6">
            <a:extLst>
              <a:ext uri="{FF2B5EF4-FFF2-40B4-BE49-F238E27FC236}">
                <a16:creationId xmlns:a16="http://schemas.microsoft.com/office/drawing/2014/main" id="{0C500D5C-73BD-4A04-A920-356F44DFE26D}"/>
              </a:ext>
            </a:extLst>
          </p:cNvPr>
          <p:cNvSpPr/>
          <p:nvPr/>
        </p:nvSpPr>
        <p:spPr>
          <a:xfrm>
            <a:off x="1981200" y="1768475"/>
            <a:ext cx="1822450"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anchor="ctr"/>
          <a:lstStyle/>
          <a:p>
            <a:pPr algn="ctr" defTabSz="685800" eaLnBrk="1" fontAlgn="auto" hangingPunct="1">
              <a:spcBef>
                <a:spcPts val="0"/>
              </a:spcBef>
              <a:spcAft>
                <a:spcPts val="0"/>
              </a:spcAft>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5FEAB008-F309-4B00-ACB3-DCB8753B77DE}"/>
              </a:ext>
            </a:extLst>
          </p:cNvPr>
          <p:cNvSpPr/>
          <p:nvPr/>
        </p:nvSpPr>
        <p:spPr>
          <a:xfrm>
            <a:off x="2173288" y="1768475"/>
            <a:ext cx="182403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anchor="ctr"/>
          <a:lstStyle/>
          <a:p>
            <a:pPr algn="ctr" defTabSz="685800" eaLnBrk="1" fontAlgn="auto" hangingPunct="1">
              <a:spcBef>
                <a:spcPts val="0"/>
              </a:spcBef>
              <a:spcAft>
                <a:spcPts val="0"/>
              </a:spcAft>
              <a:defRPr/>
            </a:pPr>
            <a:endParaRPr lang="en-US" sz="1350">
              <a:solidFill>
                <a:prstClr val="white"/>
              </a:solidFill>
              <a:latin typeface="Calibri Light"/>
            </a:endParaRPr>
          </a:p>
        </p:txBody>
      </p:sp>
      <p:grpSp>
        <p:nvGrpSpPr>
          <p:cNvPr id="39942" name="Group 28">
            <a:extLst>
              <a:ext uri="{FF2B5EF4-FFF2-40B4-BE49-F238E27FC236}">
                <a16:creationId xmlns:a16="http://schemas.microsoft.com/office/drawing/2014/main" id="{EA355FF5-AF63-41F5-A5BA-D9DE9B7A6CF8}"/>
              </a:ext>
            </a:extLst>
          </p:cNvPr>
          <p:cNvGrpSpPr>
            <a:grpSpLocks/>
          </p:cNvGrpSpPr>
          <p:nvPr/>
        </p:nvGrpSpPr>
        <p:grpSpPr bwMode="auto">
          <a:xfrm>
            <a:off x="177800" y="971550"/>
            <a:ext cx="307975" cy="1209675"/>
            <a:chOff x="83821" y="0"/>
            <a:chExt cx="219636" cy="903079"/>
          </a:xfrm>
        </p:grpSpPr>
        <p:sp>
          <p:nvSpPr>
            <p:cNvPr id="30" name="Rectangle 29">
              <a:extLst>
                <a:ext uri="{FF2B5EF4-FFF2-40B4-BE49-F238E27FC236}">
                  <a16:creationId xmlns:a16="http://schemas.microsoft.com/office/drawing/2014/main" id="{ECE21A63-4CF5-41D9-A96C-1A46E39B55D1}"/>
                </a:ext>
              </a:extLst>
            </p:cNvPr>
            <p:cNvSpPr/>
            <p:nvPr/>
          </p:nvSpPr>
          <p:spPr>
            <a:xfrm>
              <a:off x="83821" y="0"/>
              <a:ext cx="219636" cy="21095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31" name="Rectangle 30">
              <a:extLst>
                <a:ext uri="{FF2B5EF4-FFF2-40B4-BE49-F238E27FC236}">
                  <a16:creationId xmlns:a16="http://schemas.microsoft.com/office/drawing/2014/main" id="{7DF78245-DA86-41E2-9141-829979C89922}"/>
                </a:ext>
              </a:extLst>
            </p:cNvPr>
            <p:cNvSpPr/>
            <p:nvPr/>
          </p:nvSpPr>
          <p:spPr>
            <a:xfrm>
              <a:off x="83821" y="408875"/>
              <a:ext cx="219636" cy="494204"/>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32" name="Rectangle 31">
              <a:extLst>
                <a:ext uri="{FF2B5EF4-FFF2-40B4-BE49-F238E27FC236}">
                  <a16:creationId xmlns:a16="http://schemas.microsoft.com/office/drawing/2014/main" id="{67A1E07C-3ABE-476B-9563-9414FCEAC72B}"/>
                </a:ext>
              </a:extLst>
            </p:cNvPr>
            <p:cNvSpPr/>
            <p:nvPr/>
          </p:nvSpPr>
          <p:spPr>
            <a:xfrm>
              <a:off x="83821" y="210955"/>
              <a:ext cx="217372" cy="220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sp>
        <p:nvSpPr>
          <p:cNvPr id="39943" name="Slide Number Placeholder 1">
            <a:extLst>
              <a:ext uri="{FF2B5EF4-FFF2-40B4-BE49-F238E27FC236}">
                <a16:creationId xmlns:a16="http://schemas.microsoft.com/office/drawing/2014/main" id="{EA7F05C6-B77E-4EF0-9779-A9F8674FA3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AE90992-43FE-4919-B7BB-2BC7C308184B}" type="slidenum">
              <a:rPr lang="en-US" altLang="en-US" sz="900" smtClean="0">
                <a:solidFill>
                  <a:srgbClr val="898989"/>
                </a:solidFill>
              </a:rPr>
              <a:pPr/>
              <a:t>46</a:t>
            </a:fld>
            <a:endParaRPr lang="en-US" altLang="en-US" sz="900">
              <a:solidFill>
                <a:srgbClr val="898989"/>
              </a:solidFill>
            </a:endParaRPr>
          </a:p>
        </p:txBody>
      </p:sp>
      <p:pic>
        <p:nvPicPr>
          <p:cNvPr id="39944" name="Picture 158">
            <a:extLst>
              <a:ext uri="{FF2B5EF4-FFF2-40B4-BE49-F238E27FC236}">
                <a16:creationId xmlns:a16="http://schemas.microsoft.com/office/drawing/2014/main" id="{15FA7546-0154-4AEC-BD96-461147DF0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285875"/>
            <a:ext cx="2571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TextBox 2">
            <a:extLst>
              <a:ext uri="{FF2B5EF4-FFF2-40B4-BE49-F238E27FC236}">
                <a16:creationId xmlns:a16="http://schemas.microsoft.com/office/drawing/2014/main" id="{60DCA151-1860-489B-82B9-F1A19CE42E5E}"/>
              </a:ext>
            </a:extLst>
          </p:cNvPr>
          <p:cNvSpPr txBox="1">
            <a:spLocks noChangeArrowheads="1"/>
          </p:cNvSpPr>
          <p:nvPr/>
        </p:nvSpPr>
        <p:spPr bwMode="auto">
          <a:xfrm>
            <a:off x="2514600" y="4964113"/>
            <a:ext cx="3200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IN" altLang="en-US" sz="1800" dirty="0"/>
              <a:t>For query: gurpreetkaur.uic@cumail.in</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5313</TotalTime>
  <Words>1682</Words>
  <Application>Microsoft Office PowerPoint</Application>
  <PresentationFormat>On-screen Show (4:3)</PresentationFormat>
  <Paragraphs>238</Paragraphs>
  <Slides>47</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Arial</vt:lpstr>
      <vt:lpstr>Calibri</vt:lpstr>
      <vt:lpstr>Calibri Light</vt:lpstr>
      <vt:lpstr>Casper</vt:lpstr>
      <vt:lpstr>euclid_circular_a</vt:lpstr>
      <vt:lpstr>Karla</vt:lpstr>
      <vt:lpstr>Lucida Grande</vt:lpstr>
      <vt:lpstr>Monotype Sorts</vt:lpstr>
      <vt:lpstr>Raleway ExtraBold</vt:lpstr>
      <vt:lpstr>Symbol</vt:lpstr>
      <vt:lpstr>Times New Roman</vt:lpstr>
      <vt:lpstr>1_Office Theme</vt:lpstr>
      <vt:lpstr>PowerPoint Presentation</vt:lpstr>
      <vt:lpstr>Topics to be covered</vt:lpstr>
      <vt:lpstr>Transform and Conquer</vt:lpstr>
      <vt:lpstr>Variations of Transform and Conquer</vt:lpstr>
      <vt:lpstr>Instance simplification</vt:lpstr>
      <vt:lpstr>Representation Change</vt:lpstr>
      <vt:lpstr>Problem reduction</vt:lpstr>
      <vt:lpstr>Transform and conquer approach</vt:lpstr>
      <vt:lpstr>Heaps and Heapsort</vt:lpstr>
      <vt:lpstr>Illustration of the heap’s definition</vt:lpstr>
      <vt:lpstr>Some Important Properties of a Heap</vt:lpstr>
      <vt:lpstr>Heap Property</vt:lpstr>
      <vt:lpstr>Heap Property</vt:lpstr>
      <vt:lpstr>Heap’s Array Representation</vt:lpstr>
      <vt:lpstr>Heap Construction (bottom-up)</vt:lpstr>
      <vt:lpstr>Example of Heap Construction</vt:lpstr>
      <vt:lpstr>Heapsort</vt:lpstr>
      <vt:lpstr>Example of Sorting by Heapsort</vt:lpstr>
      <vt:lpstr> Relationship between Array Indexes and Tree Elements </vt:lpstr>
      <vt:lpstr>Min Heap and Max Heap</vt:lpstr>
      <vt:lpstr> How to "heapify" a tree </vt:lpstr>
      <vt:lpstr>How to heapify root element when its subtrees are max-heaps</vt:lpstr>
      <vt:lpstr>Contd..</vt:lpstr>
      <vt:lpstr> Build max-heap </vt:lpstr>
      <vt:lpstr>Steps to build max heap for heap sort</vt:lpstr>
      <vt:lpstr> Steps to build max heap for heap sort </vt:lpstr>
      <vt:lpstr> Steps to build max heap for heap sort </vt:lpstr>
      <vt:lpstr>Contd..</vt:lpstr>
      <vt:lpstr>Contd..</vt:lpstr>
      <vt:lpstr>Contd..</vt:lpstr>
      <vt:lpstr>Contd..</vt:lpstr>
      <vt:lpstr>Contd..</vt:lpstr>
      <vt:lpstr>Contd..</vt:lpstr>
      <vt:lpstr>Swap, Remove and Heapify</vt:lpstr>
      <vt:lpstr>Example</vt:lpstr>
      <vt:lpstr>Example</vt:lpstr>
      <vt:lpstr>Example</vt:lpstr>
      <vt:lpstr>Example</vt:lpstr>
      <vt:lpstr>Example</vt:lpstr>
      <vt:lpstr>Example</vt:lpstr>
      <vt:lpstr>Example</vt:lpstr>
      <vt:lpstr>Example</vt:lpstr>
      <vt:lpstr>Example</vt:lpstr>
      <vt:lpstr>Example</vt:lpstr>
      <vt:lpstr>References</vt:lpstr>
      <vt:lpstr>References</vt:lpstr>
      <vt:lpstr>PowerPoint Presentation</vt:lpstr>
    </vt:vector>
  </TitlesOfParts>
  <Company>Villanova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Transform-and-Conquer</dc:title>
  <dc:creator>Anany Levitin</dc:creator>
  <cp:lastModifiedBy>Paramjeet Singh</cp:lastModifiedBy>
  <cp:revision>210</cp:revision>
  <dcterms:created xsi:type="dcterms:W3CDTF">1999-08-23T17:38:43Z</dcterms:created>
  <dcterms:modified xsi:type="dcterms:W3CDTF">2025-02-27T09:43:51Z</dcterms:modified>
</cp:coreProperties>
</file>