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77" r:id="rId2"/>
    <p:sldId id="325" r:id="rId3"/>
    <p:sldId id="401" r:id="rId4"/>
    <p:sldId id="402" r:id="rId5"/>
    <p:sldId id="406" r:id="rId6"/>
    <p:sldId id="407" r:id="rId7"/>
    <p:sldId id="405"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408" r:id="rId22"/>
    <p:sldId id="409" r:id="rId23"/>
    <p:sldId id="326" r:id="rId24"/>
    <p:sldId id="282" r:id="rId25"/>
    <p:sldId id="327" r:id="rId26"/>
    <p:sldId id="341" r:id="rId27"/>
    <p:sldId id="410" r:id="rId28"/>
    <p:sldId id="411" r:id="rId29"/>
    <p:sldId id="31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3" r:id="rId44"/>
    <p:sldId id="342" r:id="rId45"/>
    <p:sldId id="344" r:id="rId46"/>
    <p:sldId id="400" r:id="rId47"/>
    <p:sldId id="27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4660"/>
  </p:normalViewPr>
  <p:slideViewPr>
    <p:cSldViewPr snapToGrid="0">
      <p:cViewPr varScale="1">
        <p:scale>
          <a:sx n="79" d="100"/>
          <a:sy n="79" d="100"/>
        </p:scale>
        <p:origin x="1402"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A6250A-6A0F-408F-A85A-A9C5E3F008CE}" type="datetimeFigureOut">
              <a:rPr lang="en-US" smtClean="0"/>
              <a:t>9/16/2025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96942A-A03E-43F9-BD79-8B1835FD899D}" type="slidenum">
              <a:rPr lang="en-US" smtClean="0"/>
              <a:t>‹#›</a:t>
            </a:fld>
            <a:endParaRPr lang="en-US"/>
          </a:p>
        </p:txBody>
      </p:sp>
    </p:spTree>
    <p:extLst>
      <p:ext uri="{BB962C8B-B14F-4D97-AF65-F5344CB8AC3E}">
        <p14:creationId xmlns:p14="http://schemas.microsoft.com/office/powerpoint/2010/main" val="1166692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7391D1D7-02B1-402B-A0D3-36733DFCCAE8}" type="slidenum">
              <a:rPr lang="en-US" altLang="tr-TR"/>
              <a:pPr/>
              <a:t>8</a:t>
            </a:fld>
            <a:endParaRPr lang="en-US" altLang="tr-TR"/>
          </a:p>
        </p:txBody>
      </p:sp>
      <p:sp>
        <p:nvSpPr>
          <p:cNvPr id="73731" name="Rectangle 2"/>
          <p:cNvSpPr>
            <a:spLocks noGrp="1" noRot="1" noChangeAspect="1" noChangeArrowheads="1" noTextEdit="1"/>
          </p:cNvSpPr>
          <p:nvPr>
            <p:ph type="sldImg"/>
          </p:nvPr>
        </p:nvSpPr>
        <p:spPr>
          <a:xfrm>
            <a:off x="457200" y="720725"/>
            <a:ext cx="6400800" cy="3600450"/>
          </a:xfrm>
          <a:ln/>
        </p:spPr>
      </p:sp>
      <p:sp>
        <p:nvSpPr>
          <p:cNvPr id="73732" name="Rectangle 3"/>
          <p:cNvSpPr>
            <a:spLocks noGrp="1" noChangeArrowheads="1"/>
          </p:cNvSpPr>
          <p:nvPr>
            <p:ph type="body" idx="1"/>
          </p:nvPr>
        </p:nvSpPr>
        <p:spPr>
          <a:noFill/>
          <a:ln/>
        </p:spPr>
        <p:txBody>
          <a:bodyPr/>
          <a:lstStyle/>
          <a:p>
            <a:pPr eaLnBrk="1" hangingPunct="1"/>
            <a:endParaRPr lang="tr-TR" alt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30876" y="115888"/>
            <a:ext cx="8501448" cy="987982"/>
          </a:xfrm>
          <a:ln w="9525"/>
        </p:spPr>
        <p:txBody>
          <a:bodyPr/>
          <a:lstStyle>
            <a:lvl1pPr algn="ctr">
              <a:defRPr sz="4400"/>
            </a:lvl1pPr>
          </a:lstStyle>
          <a:p>
            <a:r>
              <a:rPr lang="en-US" dirty="0"/>
              <a:t>Click to edit Master title style</a:t>
            </a:r>
          </a:p>
        </p:txBody>
      </p:sp>
      <p:sp>
        <p:nvSpPr>
          <p:cNvPr id="3" name="Subtitle 2"/>
          <p:cNvSpPr>
            <a:spLocks noGrp="1"/>
          </p:cNvSpPr>
          <p:nvPr>
            <p:ph type="subTitle" idx="1"/>
          </p:nvPr>
        </p:nvSpPr>
        <p:spPr>
          <a:xfrm>
            <a:off x="1524000" y="2481692"/>
            <a:ext cx="9144000" cy="1655762"/>
          </a:xfrm>
          <a:ln w="12700"/>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198257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DDA3A13D-002A-4DAE-A0A4-09B496615083}" type="datetime1">
              <a:rPr lang="en-IN" smtClean="0"/>
              <a:pPr>
                <a:defRPr/>
              </a:pPr>
              <a:t>16-09-2025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9"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032790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6"/>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7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2A43B873-B2C5-4E14-BA73-BF75CE28118A}" type="datetime1">
              <a:rPr lang="en-IN" smtClean="0"/>
              <a:pPr>
                <a:defRPr/>
              </a:pPr>
              <a:t>16-09-2025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3B8BE4B-7506-4E30-B2A2-DA8EEEBD4BC2}" type="slidenum">
              <a:rPr lang="en-US"/>
              <a:pPr>
                <a:defRPr/>
              </a:pPr>
              <a:t>‹#›</a:t>
            </a:fld>
            <a:endParaRPr lang="en-US"/>
          </a:p>
        </p:txBody>
      </p:sp>
    </p:spTree>
    <p:extLst>
      <p:ext uri="{BB962C8B-B14F-4D97-AF65-F5344CB8AC3E}">
        <p14:creationId xmlns:p14="http://schemas.microsoft.com/office/powerpoint/2010/main" val="3447810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2908FDEF-DEF3-4A12-AF81-CB868CC3169E}" type="datetime1">
              <a:rPr lang="en-IN" smtClean="0"/>
              <a:pPr>
                <a:defRPr/>
              </a:pPr>
              <a:t>16-09-2025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8355890C-95A5-4C66-AF69-0E2F51413115}" type="slidenum">
              <a:rPr lang="en-US"/>
              <a:pPr>
                <a:defRPr/>
              </a:pPr>
              <a:t>‹#›</a:t>
            </a:fld>
            <a:endParaRPr lang="en-US"/>
          </a:p>
        </p:txBody>
      </p:sp>
    </p:spTree>
    <p:extLst>
      <p:ext uri="{BB962C8B-B14F-4D97-AF65-F5344CB8AC3E}">
        <p14:creationId xmlns:p14="http://schemas.microsoft.com/office/powerpoint/2010/main" val="2818361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3"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F90DABC3-A8BC-40E3-97AC-049E3E7D5476}" type="datetime1">
              <a:rPr lang="en-IN" smtClean="0"/>
              <a:pPr>
                <a:defRPr/>
              </a:pPr>
              <a:t>16-09-2025</a:t>
            </a:fld>
            <a:endParaRPr lang="en-US"/>
          </a:p>
        </p:txBody>
      </p:sp>
      <p:sp>
        <p:nvSpPr>
          <p:cNvPr id="8" name="Footer Placeholder 7"/>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25E09A63-014E-40C1-8AE1-2C05C50868D9}" type="slidenum">
              <a:rPr lang="en-US"/>
              <a:pPr>
                <a:defRPr/>
              </a:pPr>
              <a:t>‹#›</a:t>
            </a:fld>
            <a:endParaRPr lang="en-US"/>
          </a:p>
        </p:txBody>
      </p:sp>
    </p:spTree>
    <p:extLst>
      <p:ext uri="{BB962C8B-B14F-4D97-AF65-F5344CB8AC3E}">
        <p14:creationId xmlns:p14="http://schemas.microsoft.com/office/powerpoint/2010/main" val="2174552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1C5355C-D302-4B02-A1B7-AAD4CF8356D6}" type="datetime1">
              <a:rPr lang="en-IN" smtClean="0"/>
              <a:pPr>
                <a:defRPr/>
              </a:pPr>
              <a:t>16-09-2025</a:t>
            </a:fld>
            <a:endParaRPr lang="en-US" dirty="0"/>
          </a:p>
        </p:txBody>
      </p:sp>
      <p:sp>
        <p:nvSpPr>
          <p:cNvPr id="4" name="Footer Placeholder 3"/>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D4C8B8AC-37F6-49D1-840B-A73DD7487E95}" type="slidenum">
              <a:rPr lang="en-US"/>
              <a:pPr>
                <a:defRPr/>
              </a:pPr>
              <a:t>‹#›</a:t>
            </a:fld>
            <a:endParaRPr lang="en-US"/>
          </a:p>
        </p:txBody>
      </p:sp>
    </p:spTree>
    <p:extLst>
      <p:ext uri="{BB962C8B-B14F-4D97-AF65-F5344CB8AC3E}">
        <p14:creationId xmlns:p14="http://schemas.microsoft.com/office/powerpoint/2010/main" val="4027886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DB3FBFE0-CF3C-47FB-BB37-3E4276CF5403}" type="datetime1">
              <a:rPr lang="en-IN" smtClean="0"/>
              <a:pPr>
                <a:defRPr/>
              </a:pPr>
              <a:t>16-09-2025</a:t>
            </a:fld>
            <a:endParaRPr lang="en-US"/>
          </a:p>
        </p:txBody>
      </p:sp>
      <p:sp>
        <p:nvSpPr>
          <p:cNvPr id="3" name="Footer Placeholder 2"/>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pPr>
              <a:defRPr/>
            </a:pPr>
            <a:fld id="{36C8E44C-20D7-45D0-9294-0943E4C8711D}" type="slidenum">
              <a:rPr lang="en-US"/>
              <a:pPr>
                <a:defRPr/>
              </a:pPr>
              <a:t>‹#›</a:t>
            </a:fld>
            <a:endParaRPr lang="en-US"/>
          </a:p>
        </p:txBody>
      </p:sp>
    </p:spTree>
    <p:extLst>
      <p:ext uri="{BB962C8B-B14F-4D97-AF65-F5344CB8AC3E}">
        <p14:creationId xmlns:p14="http://schemas.microsoft.com/office/powerpoint/2010/main" val="4081135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33"/>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F04A1D30-6E6C-4E25-8B6A-87F2613AE5A0}" type="datetime1">
              <a:rPr lang="en-IN" smtClean="0"/>
              <a:pPr>
                <a:defRPr/>
              </a:pPr>
              <a:t>16-09-2025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E84D5B4D-161F-447E-822C-287C913B5ED0}" type="slidenum">
              <a:rPr lang="en-US"/>
              <a:pPr>
                <a:defRPr/>
              </a:pPr>
              <a:t>‹#›</a:t>
            </a:fld>
            <a:endParaRPr lang="en-US"/>
          </a:p>
        </p:txBody>
      </p:sp>
    </p:spTree>
    <p:extLst>
      <p:ext uri="{BB962C8B-B14F-4D97-AF65-F5344CB8AC3E}">
        <p14:creationId xmlns:p14="http://schemas.microsoft.com/office/powerpoint/2010/main" val="2525373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33"/>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87FBF4C6-185A-46A3-9D7F-6BB7D394C217}" type="datetime1">
              <a:rPr lang="en-IN" smtClean="0"/>
              <a:pPr>
                <a:defRPr/>
              </a:pPr>
              <a:t>16-09-2025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5213A965-8E4D-4D59-922A-894ECEF074D2}" type="slidenum">
              <a:rPr lang="en-US"/>
              <a:pPr>
                <a:defRPr/>
              </a:pPr>
              <a:t>‹#›</a:t>
            </a:fld>
            <a:endParaRPr lang="en-US"/>
          </a:p>
        </p:txBody>
      </p:sp>
    </p:spTree>
    <p:extLst>
      <p:ext uri="{BB962C8B-B14F-4D97-AF65-F5344CB8AC3E}">
        <p14:creationId xmlns:p14="http://schemas.microsoft.com/office/powerpoint/2010/main" val="158002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86299E4D-C97C-4277-A5E3-6DD2C88C69AC}" type="datetime1">
              <a:rPr lang="en-IN" smtClean="0"/>
              <a:pPr>
                <a:defRPr/>
              </a:pPr>
              <a:t>16-09-2025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0B419EA-2E48-41C1-8B52-8AB71FBA6423}" type="slidenum">
              <a:rPr lang="en-US"/>
              <a:pPr>
                <a:defRPr/>
              </a:pPr>
              <a:t>‹#›</a:t>
            </a:fld>
            <a:endParaRPr lang="en-US"/>
          </a:p>
        </p:txBody>
      </p:sp>
    </p:spTree>
    <p:extLst>
      <p:ext uri="{BB962C8B-B14F-4D97-AF65-F5344CB8AC3E}">
        <p14:creationId xmlns:p14="http://schemas.microsoft.com/office/powerpoint/2010/main" val="3074987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D5632B09-77A4-4C2E-9235-F31F3AA65BC6}" type="datetime1">
              <a:rPr lang="en-IN" smtClean="0"/>
              <a:pPr>
                <a:defRPr/>
              </a:pPr>
              <a:t>16-09-2025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3E9D30-6671-4A98-B002-C510EBC495A1}" type="slidenum">
              <a:rPr lang="en-US"/>
              <a:pPr>
                <a:defRPr/>
              </a:pPr>
              <a:t>‹#›</a:t>
            </a:fld>
            <a:endParaRPr lang="en-US"/>
          </a:p>
        </p:txBody>
      </p:sp>
    </p:spTree>
    <p:extLst>
      <p:ext uri="{BB962C8B-B14F-4D97-AF65-F5344CB8AC3E}">
        <p14:creationId xmlns:p14="http://schemas.microsoft.com/office/powerpoint/2010/main" val="3987428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0" y="0"/>
            <a:ext cx="0" cy="0"/>
          </a:xfrm>
          <a:prstGeom prst="rect">
            <a:avLst/>
          </a:prstGeom>
        </p:spPr>
        <p:txBody>
          <a:bodyPr/>
          <a:lstStyle>
            <a:lvl1pPr eaLnBrk="1" fontAlgn="auto" hangingPunct="1">
              <a:spcBef>
                <a:spcPts val="0"/>
              </a:spcBef>
              <a:spcAft>
                <a:spcPts val="0"/>
              </a:spcAft>
              <a:defRPr>
                <a:solidFill>
                  <a:prstClr val="black">
                    <a:tint val="75000"/>
                  </a:prstClr>
                </a:solidFill>
                <a:latin typeface="+mn-lt"/>
              </a:defRPr>
            </a:lvl1pPr>
          </a:lstStyle>
          <a:p>
            <a:pPr>
              <a:defRPr/>
            </a:pPr>
            <a:fld id="{95FAC074-733C-4587-ACAD-7CE0BC35126B}" type="datetime1">
              <a:rPr lang="en-IN" smtClean="0"/>
              <a:pPr>
                <a:defRPr/>
              </a:pPr>
              <a:t>16-09-2025</a:t>
            </a:fld>
            <a:endParaRPr lang="en-US"/>
          </a:p>
        </p:txBody>
      </p:sp>
      <p:sp>
        <p:nvSpPr>
          <p:cNvPr id="3" name="Footer Placeholder 4"/>
          <p:cNvSpPr>
            <a:spLocks noGrp="1"/>
          </p:cNvSpPr>
          <p:nvPr>
            <p:ph type="ftr" sz="quarter" idx="11"/>
          </p:nvPr>
        </p:nvSpPr>
        <p:spPr>
          <a:xfrm>
            <a:off x="0" y="0"/>
            <a:ext cx="0" cy="0"/>
          </a:xfrm>
          <a:prstGeom prst="rect">
            <a:avLst/>
          </a:prstGeom>
        </p:spPr>
        <p:txBody>
          <a:bodyPr/>
          <a:lstStyle>
            <a:lvl1pPr eaLnBrk="1" fontAlgn="auto" hangingPunct="1">
              <a:spcBef>
                <a:spcPts val="0"/>
              </a:spcBef>
              <a:spcAft>
                <a:spcPts val="0"/>
              </a:spcAft>
              <a:defRPr>
                <a:solidFill>
                  <a:prstClr val="black">
                    <a:tint val="75000"/>
                  </a:prstClr>
                </a:solidFill>
                <a:latin typeface="+mn-lt"/>
              </a:defRPr>
            </a:lvl1pPr>
          </a:lstStyle>
          <a:p>
            <a:pPr>
              <a:defRPr/>
            </a:pPr>
            <a:endParaRPr lang="en-US"/>
          </a:p>
        </p:txBody>
      </p:sp>
      <p:sp>
        <p:nvSpPr>
          <p:cNvPr id="4" name="Slide Number Placeholder 5"/>
          <p:cNvSpPr>
            <a:spLocks noGrp="1"/>
          </p:cNvSpPr>
          <p:nvPr>
            <p:ph type="sldNum" sz="quarter" idx="12"/>
          </p:nvPr>
        </p:nvSpPr>
        <p:spPr/>
        <p:txBody>
          <a:bodyPr/>
          <a:lstStyle>
            <a:lvl1pPr>
              <a:defRPr>
                <a:solidFill>
                  <a:prstClr val="black">
                    <a:tint val="75000"/>
                  </a:prstClr>
                </a:solidFill>
              </a:defRPr>
            </a:lvl1pPr>
          </a:lstStyle>
          <a:p>
            <a:pPr>
              <a:defRPr/>
            </a:pPr>
            <a:fld id="{BEC0BCEC-4877-466A-8FCC-8DE3B6353D8C}" type="slidenum">
              <a:rPr lang="en-US"/>
              <a:pPr>
                <a:defRPr/>
              </a:pPr>
              <a:t>‹#›</a:t>
            </a:fld>
            <a:endParaRPr lang="en-US"/>
          </a:p>
        </p:txBody>
      </p:sp>
    </p:spTree>
    <p:extLst>
      <p:ext uri="{BB962C8B-B14F-4D97-AF65-F5344CB8AC3E}">
        <p14:creationId xmlns:p14="http://schemas.microsoft.com/office/powerpoint/2010/main" val="1810670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03976" y="298268"/>
            <a:ext cx="6508845" cy="1026947"/>
          </a:xfrm>
        </p:spPr>
        <p:txBody>
          <a:bodyPr/>
          <a:lstStyle>
            <a:lvl1pPr algn="ctr">
              <a:defRPr b="1" baseline="0"/>
            </a:lvl1pPr>
          </a:lstStyle>
          <a:p>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78DB4601-2995-44E6-B910-63DA1D2371D9}" type="datetime1">
              <a:rPr lang="en-IN" smtClean="0"/>
              <a:pPr/>
              <a:t>16-09-2025</a:t>
            </a:fld>
            <a:endParaRPr lang="en-IN" dirty="0"/>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D0ACE207-8893-440E-B420-229E26CA706E}" type="slidenum">
              <a:rPr lang="en-IN" smtClean="0"/>
              <a:pPr/>
              <a:t>‹#›</a:t>
            </a:fld>
            <a:endParaRPr lang="en-IN" dirty="0"/>
          </a:p>
        </p:txBody>
      </p:sp>
    </p:spTree>
    <p:extLst>
      <p:ext uri="{BB962C8B-B14F-4D97-AF65-F5344CB8AC3E}">
        <p14:creationId xmlns:p14="http://schemas.microsoft.com/office/powerpoint/2010/main" val="33308714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1552" y="284820"/>
            <a:ext cx="6508845" cy="1026947"/>
          </a:xfrm>
        </p:spPr>
        <p:txBody>
          <a:bodyPr/>
          <a:lstStyle>
            <a:lvl1pPr algn="ctr">
              <a:defRPr b="1" baseline="0"/>
            </a:lvl1pPr>
          </a:lstStyle>
          <a:p>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CA24D128-A0F1-4AC5-82E1-AC072AEB0948}" type="datetime1">
              <a:rPr lang="en-IN" smtClean="0"/>
              <a:pPr/>
              <a:t>16-09-2025</a:t>
            </a:fld>
            <a:endParaRPr lang="en-IN" dirty="0"/>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ACE207-8893-440E-B420-229E26CA706E}" type="slidenum">
              <a:rPr lang="en-IN" smtClean="0"/>
              <a:pPr/>
              <a:t>‹#›</a:t>
            </a:fld>
            <a:endParaRPr lang="en-IN" dirty="0"/>
          </a:p>
        </p:txBody>
      </p:sp>
    </p:spTree>
    <p:extLst>
      <p:ext uri="{BB962C8B-B14F-4D97-AF65-F5344CB8AC3E}">
        <p14:creationId xmlns:p14="http://schemas.microsoft.com/office/powerpoint/2010/main" val="37134461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66"/>
            <a:ext cx="2743200" cy="365125"/>
          </a:xfrm>
          <a:prstGeom prst="rect">
            <a:avLst/>
          </a:prstGeom>
        </p:spPr>
        <p:txBody>
          <a:bodyPr/>
          <a:lstStyle/>
          <a:p>
            <a:fld id="{29B0F5C1-2554-4C29-AB91-395FAB3D34A5}" type="datetime1">
              <a:rPr lang="en-IN" smtClean="0"/>
              <a:pPr/>
              <a:t>16-09-2025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55461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1755" y="365504"/>
            <a:ext cx="6508845" cy="1026947"/>
          </a:xfrm>
          <a:ln w="9525">
            <a:solidFill>
              <a:schemeClr val="tx1"/>
            </a:solidFill>
          </a:ln>
        </p:spPr>
        <p:txBody>
          <a:bodyPr/>
          <a:lstStyle>
            <a:lvl1pPr algn="ctr">
              <a:defRPr b="1" baseline="0"/>
            </a:lvl1pPr>
          </a:lstStyle>
          <a:p>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58C43034-7AE7-4995-9B41-B63842ED1825}" type="datetime1">
              <a:rPr lang="en-IN" smtClean="0"/>
              <a:pPr/>
              <a:t>16-09-2025</a:t>
            </a:fld>
            <a:endParaRPr lang="en-IN" dirty="0"/>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D0ACE207-8893-440E-B420-229E26CA706E}" type="slidenum">
              <a:rPr lang="en-IN" smtClean="0"/>
              <a:pPr/>
              <a:t>‹#›</a:t>
            </a:fld>
            <a:endParaRPr lang="en-IN" dirty="0"/>
          </a:p>
        </p:txBody>
      </p:sp>
    </p:spTree>
    <p:extLst>
      <p:ext uri="{BB962C8B-B14F-4D97-AF65-F5344CB8AC3E}">
        <p14:creationId xmlns:p14="http://schemas.microsoft.com/office/powerpoint/2010/main" val="40886142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8"/>
            <a:ext cx="2743200" cy="365125"/>
          </a:xfrm>
          <a:prstGeom prst="rect">
            <a:avLst/>
          </a:prstGeom>
        </p:spPr>
        <p:txBody>
          <a:bodyPr/>
          <a:lstStyle/>
          <a:p>
            <a:fld id="{02EE9DB3-B5CA-43C7-AA53-A7E70D1B38E9}" type="datetime1">
              <a:rPr lang="en-IN" smtClean="0">
                <a:solidFill>
                  <a:prstClr val="black">
                    <a:tint val="75000"/>
                  </a:prstClr>
                </a:solidFill>
              </a:rPr>
              <a:pPr/>
              <a:t>16-09-2025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4693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923928" y="134944"/>
            <a:ext cx="8391525" cy="904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8" name="Text Placeholder 2"/>
          <p:cNvSpPr>
            <a:spLocks noGrp="1"/>
          </p:cNvSpPr>
          <p:nvPr>
            <p:ph type="body" idx="1"/>
          </p:nvPr>
        </p:nvSpPr>
        <p:spPr bwMode="auto">
          <a:xfrm>
            <a:off x="679451" y="1311275"/>
            <a:ext cx="10515600" cy="43513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b="1">
                <a:solidFill>
                  <a:srgbClr val="002060"/>
                </a:solidFill>
                <a:latin typeface="Times New Roman" panose="02020603050405020304" pitchFamily="18" charset="0"/>
                <a:cs typeface="Times New Roman" panose="02020603050405020304" pitchFamily="18" charset="0"/>
              </a:defRPr>
            </a:lvl1pPr>
          </a:lstStyle>
          <a:p>
            <a:pPr>
              <a:defRPr/>
            </a:pPr>
            <a:fld id="{4217D2EB-7CAE-4DD9-9E8B-49A7BAE930E7}" type="slidenum">
              <a:rPr lang="en-US"/>
              <a:pPr>
                <a:defRPr/>
              </a:pPr>
              <a:t>‹#›</a:t>
            </a:fld>
            <a:endParaRPr lang="en-US" dirty="0"/>
          </a:p>
        </p:txBody>
      </p:sp>
      <p:pic>
        <p:nvPicPr>
          <p:cNvPr id="1030" name="Picture 2" descr="Image result for chandigarh university logo"/>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11129" y="104775"/>
            <a:ext cx="606425"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ight Triangle 14">
            <a:extLst>
              <a:ext uri="{FF2B5EF4-FFF2-40B4-BE49-F238E27FC236}">
                <a16:creationId xmlns:a16="http://schemas.microsoft.com/office/drawing/2014/main" id="{0983CA01-DED8-4A8A-82CA-5B1BE1DADB0C}"/>
              </a:ext>
            </a:extLst>
          </p:cNvPr>
          <p:cNvSpPr/>
          <p:nvPr userDrawn="1"/>
        </p:nvSpPr>
        <p:spPr>
          <a:xfrm flipH="1">
            <a:off x="-2753939" y="293688"/>
            <a:ext cx="5146676" cy="5853112"/>
          </a:xfrm>
          <a:prstGeom prst="rtTriangle">
            <a:avLst/>
          </a:prstGeom>
          <a:solidFill>
            <a:schemeClr val="bg1">
              <a:lumMod val="85000"/>
              <a:alpha val="26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800" kern="0">
              <a:solidFill>
                <a:srgbClr val="FFFFFF"/>
              </a:solidFill>
              <a:latin typeface="Calibri" panose="020F0502020204030204"/>
            </a:endParaRPr>
          </a:p>
        </p:txBody>
      </p:sp>
      <p:grpSp>
        <p:nvGrpSpPr>
          <p:cNvPr id="2" name="Group 8"/>
          <p:cNvGrpSpPr>
            <a:grpSpLocks/>
          </p:cNvGrpSpPr>
          <p:nvPr userDrawn="1"/>
        </p:nvGrpSpPr>
        <p:grpSpPr bwMode="auto">
          <a:xfrm>
            <a:off x="11668129" y="5108575"/>
            <a:ext cx="409575" cy="1612900"/>
            <a:chOff x="83821" y="0"/>
            <a:chExt cx="219636" cy="903079"/>
          </a:xfrm>
        </p:grpSpPr>
        <p:sp>
          <p:nvSpPr>
            <p:cNvPr id="10" name="Rectangle 9"/>
            <p:cNvSpPr/>
            <p:nvPr/>
          </p:nvSpPr>
          <p:spPr>
            <a:xfrm>
              <a:off x="83821" y="0"/>
              <a:ext cx="219636" cy="2106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p:cNvSpPr/>
            <p:nvPr/>
          </p:nvSpPr>
          <p:spPr>
            <a:xfrm>
              <a:off x="84673" y="408874"/>
              <a:ext cx="218784" cy="49420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p:cNvSpPr/>
            <p:nvPr/>
          </p:nvSpPr>
          <p:spPr>
            <a:xfrm>
              <a:off x="83821" y="210659"/>
              <a:ext cx="217933" cy="221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3" name="Group 16"/>
          <p:cNvGrpSpPr>
            <a:grpSpLocks/>
          </p:cNvGrpSpPr>
          <p:nvPr userDrawn="1"/>
        </p:nvGrpSpPr>
        <p:grpSpPr bwMode="auto">
          <a:xfrm rot="10800000">
            <a:off x="3" y="6251581"/>
            <a:ext cx="731839" cy="606425"/>
            <a:chOff x="5401469" y="1588"/>
            <a:chExt cx="1389063" cy="540239"/>
          </a:xfrm>
        </p:grpSpPr>
        <p:sp>
          <p:nvSpPr>
            <p:cNvPr id="1035" name="Freeform 5"/>
            <p:cNvSpPr>
              <a:spLocks/>
            </p:cNvSpPr>
            <p:nvPr/>
          </p:nvSpPr>
          <p:spPr bwMode="auto">
            <a:xfrm>
              <a:off x="5401469" y="1588"/>
              <a:ext cx="1205279" cy="540239"/>
            </a:xfrm>
            <a:custGeom>
              <a:avLst/>
              <a:gdLst>
                <a:gd name="T0" fmla="*/ 0 w 1410"/>
                <a:gd name="T1" fmla="*/ 0 h 632"/>
                <a:gd name="T2" fmla="*/ 2147483646 w 1410"/>
                <a:gd name="T3" fmla="*/ 2147483646 h 632"/>
                <a:gd name="T4" fmla="*/ 2147483646 w 1410"/>
                <a:gd name="T5" fmla="*/ 2147483646 h 632"/>
                <a:gd name="T6" fmla="*/ 2147483646 w 1410"/>
                <a:gd name="T7" fmla="*/ 0 h 632"/>
                <a:gd name="T8" fmla="*/ 0 w 1410"/>
                <a:gd name="T9" fmla="*/ 0 h 6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0" h="632">
                  <a:moveTo>
                    <a:pt x="0" y="0"/>
                  </a:moveTo>
                  <a:lnTo>
                    <a:pt x="630" y="632"/>
                  </a:lnTo>
                  <a:lnTo>
                    <a:pt x="1410" y="632"/>
                  </a:lnTo>
                  <a:lnTo>
                    <a:pt x="780" y="0"/>
                  </a:lnTo>
                  <a:lnTo>
                    <a:pt x="0" y="0"/>
                  </a:lnTo>
                  <a:close/>
                </a:path>
              </a:pathLst>
            </a:custGeom>
            <a:gradFill rotWithShape="1">
              <a:gsLst>
                <a:gs pos="0">
                  <a:srgbClr val="0C344C"/>
                </a:gs>
                <a:gs pos="100000">
                  <a:srgbClr val="D80F79"/>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800"/>
            </a:p>
          </p:txBody>
        </p:sp>
        <p:sp>
          <p:nvSpPr>
            <p:cNvPr id="1036" name="Freeform 6"/>
            <p:cNvSpPr>
              <a:spLocks/>
            </p:cNvSpPr>
            <p:nvPr/>
          </p:nvSpPr>
          <p:spPr bwMode="auto">
            <a:xfrm>
              <a:off x="6252003" y="1588"/>
              <a:ext cx="538529" cy="426549"/>
            </a:xfrm>
            <a:custGeom>
              <a:avLst/>
              <a:gdLst>
                <a:gd name="T0" fmla="*/ 0 w 630"/>
                <a:gd name="T1" fmla="*/ 0 h 499"/>
                <a:gd name="T2" fmla="*/ 2147483646 w 630"/>
                <a:gd name="T3" fmla="*/ 2147483646 h 499"/>
                <a:gd name="T4" fmla="*/ 2147483646 w 630"/>
                <a:gd name="T5" fmla="*/ 2147483646 h 499"/>
                <a:gd name="T6" fmla="*/ 2147483646 w 630"/>
                <a:gd name="T7" fmla="*/ 0 h 499"/>
                <a:gd name="T8" fmla="*/ 0 w 630"/>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0" h="499">
                  <a:moveTo>
                    <a:pt x="0" y="0"/>
                  </a:moveTo>
                  <a:lnTo>
                    <a:pt x="498" y="499"/>
                  </a:lnTo>
                  <a:lnTo>
                    <a:pt x="630" y="499"/>
                  </a:lnTo>
                  <a:lnTo>
                    <a:pt x="132" y="0"/>
                  </a:lnTo>
                  <a:lnTo>
                    <a:pt x="0" y="0"/>
                  </a:lnTo>
                  <a:close/>
                </a:path>
              </a:pathLst>
            </a:custGeom>
            <a:solidFill>
              <a:srgbClr val="BFBE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800"/>
            </a:p>
          </p:txBody>
        </p:sp>
      </p:grpSp>
      <p:pic>
        <p:nvPicPr>
          <p:cNvPr id="16" name="Picture 2" descr="C:\Users\OM\Downloads\naac-sticker.png">
            <a:extLst>
              <a:ext uri="{FF2B5EF4-FFF2-40B4-BE49-F238E27FC236}">
                <a16:creationId xmlns:a16="http://schemas.microsoft.com/office/drawing/2014/main" id="{D7427353-50B9-40E6-8D87-DD3C5C9CF453}"/>
              </a:ext>
            </a:extLst>
          </p:cNvPr>
          <p:cNvPicPr>
            <a:picLocks noChangeAspect="1" noChangeArrowheads="1"/>
          </p:cNvPicPr>
          <p:nvPr userDrawn="1"/>
        </p:nvPicPr>
        <p:blipFill>
          <a:blip r:embed="rId20"/>
          <a:srcRect b="23807"/>
          <a:stretch>
            <a:fillRect/>
          </a:stretch>
        </p:blipFill>
        <p:spPr bwMode="auto">
          <a:xfrm>
            <a:off x="9558792" y="231100"/>
            <a:ext cx="2515736" cy="682387"/>
          </a:xfrm>
          <a:prstGeom prst="rect">
            <a:avLst/>
          </a:prstGeom>
          <a:noFill/>
        </p:spPr>
      </p:pic>
      <p:pic>
        <p:nvPicPr>
          <p:cNvPr id="3074" name="Picture 2">
            <a:extLst>
              <a:ext uri="{FF2B5EF4-FFF2-40B4-BE49-F238E27FC236}">
                <a16:creationId xmlns:a16="http://schemas.microsoft.com/office/drawing/2014/main" id="{C1CE444D-8988-4B91-B06C-D2C51D9F4A3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696700" y="5524500"/>
            <a:ext cx="3302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53026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rtl="0" eaLnBrk="0" fontAlgn="base" hangingPunct="0">
        <a:lnSpc>
          <a:spcPct val="90000"/>
        </a:lnSpc>
        <a:spcBef>
          <a:spcPct val="0"/>
        </a:spcBef>
        <a:spcAft>
          <a:spcPct val="0"/>
        </a:spcAft>
        <a:defRPr sz="4400" b="1" kern="1200">
          <a:solidFill>
            <a:srgbClr val="002060"/>
          </a:solidFill>
          <a:latin typeface="Times New Roman" panose="02020603050405020304" pitchFamily="18" charset="0"/>
          <a:ea typeface="+mj-ea"/>
          <a:cs typeface="Times New Roman" panose="02020603050405020304" pitchFamily="18" charset="0"/>
        </a:defRPr>
      </a:lvl1pPr>
      <a:lvl2pPr algn="ctr" rtl="0" eaLnBrk="0" fontAlgn="base" hangingPunct="0">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2pPr>
      <a:lvl3pPr algn="ctr" rtl="0" eaLnBrk="0" fontAlgn="base" hangingPunct="0">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3pPr>
      <a:lvl4pPr algn="ctr" rtl="0" eaLnBrk="0" fontAlgn="base" hangingPunct="0">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4pPr>
      <a:lvl5pPr algn="ctr" rtl="0" eaLnBrk="0" fontAlgn="base" hangingPunct="0">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5pPr>
      <a:lvl6pPr marL="457200" algn="ctr" rtl="0" fontAlgn="base">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6pPr>
      <a:lvl7pPr marL="914400" algn="ctr" rtl="0" fontAlgn="base">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7pPr>
      <a:lvl8pPr marL="1371600" algn="ctr" rtl="0" fontAlgn="base">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8pPr>
      <a:lvl9pPr marL="1828800" algn="ctr" rtl="0" fontAlgn="base">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hyperlink" Target="https://www.codingame.com/playgrounds/1608/shortest-paths-with-dijkstras-algorithm/dijkstras-algorithm" TargetMode="Externa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702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1021076" y="6014156"/>
            <a:ext cx="4951754"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UNIT-2</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296458" y="1140138"/>
            <a:ext cx="9715499" cy="441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Times New Roman" pitchFamily="18" charset="0"/>
                <a:ea typeface="Karla" pitchFamily="2" charset="0"/>
                <a:cs typeface="Times New Roman" pitchFamily="18" charset="0"/>
              </a:rPr>
              <a:t>UNIVERSITY INSTITUTE OF COMPUTING</a:t>
            </a:r>
          </a:p>
          <a:p>
            <a:pPr lvl="0" algn="ctr" defTabSz="622300">
              <a:lnSpc>
                <a:spcPct val="90000"/>
              </a:lnSpc>
              <a:spcBef>
                <a:spcPct val="0"/>
              </a:spcBef>
              <a:spcAft>
                <a:spcPct val="35000"/>
              </a:spcAft>
            </a:pPr>
            <a:r>
              <a:rPr lang="en-US" sz="2800" b="1" dirty="0">
                <a:latin typeface="Times New Roman" pitchFamily="18" charset="0"/>
                <a:ea typeface="Calibri" panose="020F0502020204030204" pitchFamily="34" charset="0"/>
                <a:cs typeface="Times New Roman" pitchFamily="18" charset="0"/>
              </a:rPr>
              <a:t>MASTER OF COMPUTER APPLICATIONS</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DESIGN AND ANALYSIS OF ALGORITHMS </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 </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itchFamily="18" charset="0"/>
                <a:cs typeface="Times New Roman" pitchFamily="18" charset="0"/>
              </a:rPr>
              <a:t> </a:t>
            </a:r>
          </a:p>
          <a:p>
            <a:pPr eaLnBrk="1" hangingPunct="1"/>
            <a:endParaRPr lang="en-US" sz="1600"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A2F46567-025C-4A55-B246-4A5B5D697920}"/>
              </a:ext>
            </a:extLst>
          </p:cNvPr>
          <p:cNvSpPr>
            <a:spLocks noGrp="1"/>
          </p:cNvSpPr>
          <p:nvPr>
            <p:ph type="sldNum" sz="quarter" idx="12"/>
          </p:nvPr>
        </p:nvSpPr>
        <p:spPr/>
        <p:txBody>
          <a:bodyPr/>
          <a:lstStyle/>
          <a:p>
            <a:fld id="{BDCDBBEF-AA6C-4BA6-85B2-A17D7F280E38}" type="slidenum">
              <a:rPr lang="en-US" smtClean="0"/>
              <a:pPr/>
              <a:t>1</a:t>
            </a:fld>
            <a:endParaRPr lang="en-US"/>
          </a:p>
        </p:txBody>
      </p:sp>
      <p:pic>
        <p:nvPicPr>
          <p:cNvPr id="8371" name="Picture 179">
            <a:extLst>
              <a:ext uri="{FF2B5EF4-FFF2-40B4-BE49-F238E27FC236}">
                <a16:creationId xmlns:a16="http://schemas.microsoft.com/office/drawing/2014/main" id="{6F32BBCC-883F-4C9D-9368-B6CEABBA8F58}"/>
              </a:ext>
            </a:extLst>
          </p:cNvPr>
          <p:cNvPicPr>
            <a:picLocks noChangeAspect="1" noChangeArrowheads="1"/>
          </p:cNvPicPr>
          <p:nvPr/>
        </p:nvPicPr>
        <p:blipFill>
          <a:blip r:embed="rId2">
            <a:lum bright="76000"/>
            <a:extLst>
              <a:ext uri="{28A0092B-C50C-407E-A947-70E740481C1C}">
                <a14:useLocalDpi xmlns:a14="http://schemas.microsoft.com/office/drawing/2010/main" val="0"/>
              </a:ext>
            </a:extLst>
          </a:blip>
          <a:srcRect/>
          <a:stretch>
            <a:fillRect/>
          </a:stretch>
        </p:blipFill>
        <p:spPr bwMode="auto">
          <a:xfrm>
            <a:off x="50800" y="2781300"/>
            <a:ext cx="33020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56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916"/>
            <a:ext cx="8767618" cy="821571"/>
          </a:xfrm>
        </p:spPr>
        <p:txBody>
          <a:bodyPr/>
          <a:lstStyle/>
          <a:p>
            <a:pPr algn="ctr"/>
            <a:r>
              <a:rPr lang="en-US" b="1" dirty="0">
                <a:solidFill>
                  <a:schemeClr val="tx1"/>
                </a:solidFill>
                <a:latin typeface="Times New Roman" pitchFamily="18" charset="0"/>
                <a:cs typeface="Times New Roman" pitchFamily="18" charset="0"/>
              </a:rPr>
              <a:t>Topics to be covered</a:t>
            </a:r>
            <a:endParaRPr lang="en-US"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979055"/>
            <a:ext cx="10515600" cy="5197908"/>
          </a:xfrm>
        </p:spPr>
        <p:txBody>
          <a:bodyPr>
            <a:normAutofit/>
          </a:bodyPr>
          <a:lstStyle/>
          <a:p>
            <a:r>
              <a:rPr lang="en-US" sz="2400" dirty="0"/>
              <a:t>Dijkstra’s Algorithm</a:t>
            </a:r>
          </a:p>
          <a:p>
            <a:r>
              <a:rPr lang="en-US" sz="2400" dirty="0"/>
              <a:t>Huffman Trees and Codes</a:t>
            </a:r>
          </a:p>
          <a:p>
            <a:r>
              <a:rPr lang="en-US" sz="2400" dirty="0"/>
              <a:t>Heaps and Hear Sort</a:t>
            </a: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a:t>
            </a:fld>
            <a:endParaRPr lang="en-US">
              <a:latin typeface="Times New Roman" pitchFamily="18" charset="0"/>
              <a:cs typeface="Times New Roman" pitchFamily="18" charset="0"/>
            </a:endParaRPr>
          </a:p>
        </p:txBody>
      </p:sp>
      <p:sp>
        <p:nvSpPr>
          <p:cNvPr id="5" name="Rectangle 4"/>
          <p:cNvSpPr/>
          <p:nvPr/>
        </p:nvSpPr>
        <p:spPr>
          <a:xfrm>
            <a:off x="838200" y="974292"/>
            <a:ext cx="10515600" cy="519790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67618"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504518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E9C5-3455-4C52-9FAD-970A3B7A9F9A}"/>
              </a:ext>
            </a:extLst>
          </p:cNvPr>
          <p:cNvSpPr>
            <a:spLocks noGrp="1"/>
          </p:cNvSpPr>
          <p:nvPr>
            <p:ph type="title"/>
          </p:nvPr>
        </p:nvSpPr>
        <p:spPr/>
        <p:txBody>
          <a:bodyPr/>
          <a:lstStyle/>
          <a:p>
            <a:r>
              <a:rPr lang="en-US" dirty="0">
                <a:solidFill>
                  <a:schemeClr val="tx1"/>
                </a:solidFill>
              </a:rPr>
              <a:t>Introduction</a:t>
            </a:r>
          </a:p>
        </p:txBody>
      </p:sp>
      <p:sp>
        <p:nvSpPr>
          <p:cNvPr id="3" name="Content Placeholder 2">
            <a:extLst>
              <a:ext uri="{FF2B5EF4-FFF2-40B4-BE49-F238E27FC236}">
                <a16:creationId xmlns:a16="http://schemas.microsoft.com/office/drawing/2014/main" id="{0FE6A591-4414-4AAB-855D-445C484E355C}"/>
              </a:ext>
            </a:extLst>
          </p:cNvPr>
          <p:cNvSpPr>
            <a:spLocks noGrp="1"/>
          </p:cNvSpPr>
          <p:nvPr>
            <p:ph idx="1"/>
          </p:nvPr>
        </p:nvSpPr>
        <p:spPr>
          <a:xfrm>
            <a:off x="618980" y="1252024"/>
            <a:ext cx="10646411" cy="5118399"/>
          </a:xfrm>
        </p:spPr>
        <p:txBody>
          <a:bodyPr/>
          <a:lstStyle/>
          <a:p>
            <a:r>
              <a:rPr lang="en-US" dirty="0"/>
              <a:t>Dijkstra Algorithm is a very famous greedy algorithm.</a:t>
            </a:r>
          </a:p>
          <a:p>
            <a:r>
              <a:rPr lang="en-US" dirty="0"/>
              <a:t>It is used for solving the single source shortest path problem.</a:t>
            </a:r>
          </a:p>
          <a:p>
            <a:r>
              <a:rPr lang="en-US" dirty="0"/>
              <a:t>It computes the shortest path from one particular source node to all other remaining nodes of the graph.</a:t>
            </a:r>
          </a:p>
          <a:p>
            <a:endParaRPr lang="en-US" dirty="0"/>
          </a:p>
        </p:txBody>
      </p:sp>
      <p:sp>
        <p:nvSpPr>
          <p:cNvPr id="4" name="Slide Number Placeholder 3">
            <a:extLst>
              <a:ext uri="{FF2B5EF4-FFF2-40B4-BE49-F238E27FC236}">
                <a16:creationId xmlns:a16="http://schemas.microsoft.com/office/drawing/2014/main" id="{3490AA7A-453F-4309-9077-A011F5D53296}"/>
              </a:ext>
            </a:extLst>
          </p:cNvPr>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12226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0C19-EB81-4AF1-A82B-98456111CBFC}"/>
              </a:ext>
            </a:extLst>
          </p:cNvPr>
          <p:cNvSpPr>
            <a:spLocks noGrp="1"/>
          </p:cNvSpPr>
          <p:nvPr>
            <p:ph type="title"/>
          </p:nvPr>
        </p:nvSpPr>
        <p:spPr/>
        <p:txBody>
          <a:bodyPr/>
          <a:lstStyle/>
          <a:p>
            <a:r>
              <a:rPr lang="en-US" b="1" i="0" dirty="0">
                <a:solidFill>
                  <a:srgbClr val="303030"/>
                </a:solidFill>
                <a:effectLst/>
              </a:rPr>
              <a:t>Shortest Path Problem</a:t>
            </a:r>
            <a:endParaRPr lang="en-US" dirty="0">
              <a:solidFill>
                <a:schemeClr val="tx1"/>
              </a:solidFill>
            </a:endParaRPr>
          </a:p>
        </p:txBody>
      </p:sp>
      <p:sp>
        <p:nvSpPr>
          <p:cNvPr id="3" name="Content Placeholder 2">
            <a:extLst>
              <a:ext uri="{FF2B5EF4-FFF2-40B4-BE49-F238E27FC236}">
                <a16:creationId xmlns:a16="http://schemas.microsoft.com/office/drawing/2014/main" id="{D0130B61-1319-46C9-98D7-C86EF2AB7A3E}"/>
              </a:ext>
            </a:extLst>
          </p:cNvPr>
          <p:cNvSpPr>
            <a:spLocks noGrp="1"/>
          </p:cNvSpPr>
          <p:nvPr>
            <p:ph idx="1"/>
          </p:nvPr>
        </p:nvSpPr>
        <p:spPr>
          <a:xfrm>
            <a:off x="679451" y="1167618"/>
            <a:ext cx="10515600" cy="5188737"/>
          </a:xfrm>
        </p:spPr>
        <p:txBody>
          <a:bodyPr/>
          <a:lstStyle/>
          <a:p>
            <a:pPr marL="0" indent="0" algn="l" fontAlgn="base">
              <a:buNone/>
            </a:pPr>
            <a:r>
              <a:rPr lang="en-US" b="0" i="0" dirty="0">
                <a:solidFill>
                  <a:srgbClr val="303030"/>
                </a:solidFill>
                <a:effectLst/>
              </a:rPr>
              <a:t>In data structures,</a:t>
            </a:r>
          </a:p>
          <a:p>
            <a:pPr algn="l" fontAlgn="base">
              <a:buFont typeface="Arial" panose="020B0604020202020204" pitchFamily="34" charset="0"/>
              <a:buChar char="•"/>
            </a:pPr>
            <a:r>
              <a:rPr lang="en-US" b="0" i="0" dirty="0">
                <a:solidFill>
                  <a:srgbClr val="303030"/>
                </a:solidFill>
                <a:effectLst/>
              </a:rPr>
              <a:t>Shortest path problem is a problem of finding the shortest path(s) between vertices of a given graph.</a:t>
            </a:r>
          </a:p>
          <a:p>
            <a:pPr algn="l" fontAlgn="base">
              <a:buFont typeface="Arial" panose="020B0604020202020204" pitchFamily="34" charset="0"/>
              <a:buChar char="•"/>
            </a:pPr>
            <a:r>
              <a:rPr lang="en-US" b="0" i="0" dirty="0">
                <a:solidFill>
                  <a:srgbClr val="303030"/>
                </a:solidFill>
                <a:effectLst/>
              </a:rPr>
              <a:t>Shortest path between two vertices is a path that has the least cost as compared to all other existing paths.</a:t>
            </a:r>
          </a:p>
          <a:p>
            <a:pPr marL="0" indent="0" algn="l" fontAlgn="base">
              <a:buNone/>
            </a:pPr>
            <a:r>
              <a:rPr lang="en-US" b="1" i="0" u="sng" dirty="0">
                <a:solidFill>
                  <a:srgbClr val="303030"/>
                </a:solidFill>
                <a:effectLst/>
              </a:rPr>
              <a:t>Shortest Path Algorithms-</a:t>
            </a:r>
            <a:endParaRPr lang="en-US" b="0" i="0" dirty="0">
              <a:solidFill>
                <a:srgbClr val="303030"/>
              </a:solidFill>
              <a:effectLst/>
            </a:endParaRPr>
          </a:p>
          <a:p>
            <a:pPr algn="l" fontAlgn="base"/>
            <a:r>
              <a:rPr lang="en-US" b="0" i="0" dirty="0">
                <a:solidFill>
                  <a:srgbClr val="303030"/>
                </a:solidFill>
                <a:effectLst/>
              </a:rPr>
              <a:t>Shortest path algorithms are a family of algorithms used for solving the shortest path problem.</a:t>
            </a:r>
          </a:p>
          <a:p>
            <a:pPr algn="l" fontAlgn="base">
              <a:buFont typeface="Arial" panose="020B0604020202020204" pitchFamily="34" charset="0"/>
              <a:buChar char="•"/>
            </a:pPr>
            <a:r>
              <a:rPr lang="en-US" b="0" i="0" dirty="0">
                <a:solidFill>
                  <a:srgbClr val="303030"/>
                </a:solidFill>
                <a:effectLst/>
              </a:rPr>
              <a:t>Google Maps</a:t>
            </a:r>
          </a:p>
          <a:p>
            <a:pPr algn="l" fontAlgn="base">
              <a:buFont typeface="Arial" panose="020B0604020202020204" pitchFamily="34" charset="0"/>
              <a:buChar char="•"/>
            </a:pPr>
            <a:r>
              <a:rPr lang="en-US" b="0" i="0" dirty="0">
                <a:solidFill>
                  <a:srgbClr val="303030"/>
                </a:solidFill>
                <a:effectLst/>
              </a:rPr>
              <a:t>Road Networks</a:t>
            </a:r>
          </a:p>
          <a:p>
            <a:pPr algn="l" fontAlgn="base">
              <a:buFont typeface="Arial" panose="020B0604020202020204" pitchFamily="34" charset="0"/>
              <a:buChar char="•"/>
            </a:pPr>
            <a:r>
              <a:rPr lang="en-US" b="0" i="0" dirty="0">
                <a:solidFill>
                  <a:srgbClr val="303030"/>
                </a:solidFill>
                <a:effectLst/>
              </a:rPr>
              <a:t>Logistics Research</a:t>
            </a:r>
          </a:p>
          <a:p>
            <a:pPr marL="0" indent="0">
              <a:buNone/>
            </a:pPr>
            <a:endParaRPr lang="en-US" dirty="0"/>
          </a:p>
        </p:txBody>
      </p:sp>
      <p:sp>
        <p:nvSpPr>
          <p:cNvPr id="4" name="Slide Number Placeholder 3">
            <a:extLst>
              <a:ext uri="{FF2B5EF4-FFF2-40B4-BE49-F238E27FC236}">
                <a16:creationId xmlns:a16="http://schemas.microsoft.com/office/drawing/2014/main" id="{BDAF2095-73E9-4C15-91A4-D64607D99946}"/>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2706098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0C19-EB81-4AF1-A82B-98456111CBFC}"/>
              </a:ext>
            </a:extLst>
          </p:cNvPr>
          <p:cNvSpPr>
            <a:spLocks noGrp="1"/>
          </p:cNvSpPr>
          <p:nvPr>
            <p:ph type="title"/>
          </p:nvPr>
        </p:nvSpPr>
        <p:spPr/>
        <p:txBody>
          <a:bodyPr/>
          <a:lstStyle/>
          <a:p>
            <a:r>
              <a:rPr lang="en-US" b="1" i="0" dirty="0">
                <a:solidFill>
                  <a:srgbClr val="303030"/>
                </a:solidFill>
                <a:effectLst/>
              </a:rPr>
              <a:t>Shortest Path Problem</a:t>
            </a:r>
            <a:endParaRPr lang="en-US" dirty="0">
              <a:solidFill>
                <a:schemeClr val="tx1"/>
              </a:solidFill>
            </a:endParaRPr>
          </a:p>
        </p:txBody>
      </p:sp>
      <p:sp>
        <p:nvSpPr>
          <p:cNvPr id="3" name="Content Placeholder 2">
            <a:extLst>
              <a:ext uri="{FF2B5EF4-FFF2-40B4-BE49-F238E27FC236}">
                <a16:creationId xmlns:a16="http://schemas.microsoft.com/office/drawing/2014/main" id="{D0130B61-1319-46C9-98D7-C86EF2AB7A3E}"/>
              </a:ext>
            </a:extLst>
          </p:cNvPr>
          <p:cNvSpPr>
            <a:spLocks noGrp="1"/>
          </p:cNvSpPr>
          <p:nvPr>
            <p:ph idx="1"/>
          </p:nvPr>
        </p:nvSpPr>
        <p:spPr>
          <a:xfrm>
            <a:off x="679451" y="1167618"/>
            <a:ext cx="10515600" cy="5188737"/>
          </a:xfrm>
        </p:spPr>
        <p:txBody>
          <a:bodyPr/>
          <a:lstStyle/>
          <a:p>
            <a:pPr marL="0" indent="0" algn="l" fontAlgn="base">
              <a:buNone/>
            </a:pPr>
            <a:r>
              <a:rPr lang="en-US" b="1" i="0" u="sng" dirty="0">
                <a:solidFill>
                  <a:srgbClr val="303030"/>
                </a:solidFill>
                <a:effectLst/>
              </a:rPr>
              <a:t>Types of Shortest Path Problem-</a:t>
            </a:r>
          </a:p>
          <a:p>
            <a:pPr marL="0" indent="0" algn="l" fontAlgn="base">
              <a:buNone/>
            </a:pPr>
            <a:endParaRPr lang="en-US" b="0" i="0" dirty="0">
              <a:solidFill>
                <a:srgbClr val="303030"/>
              </a:solidFill>
              <a:effectLst/>
            </a:endParaRPr>
          </a:p>
          <a:p>
            <a:pPr marL="0" indent="0" algn="l" fontAlgn="base">
              <a:buNone/>
            </a:pPr>
            <a:r>
              <a:rPr lang="en-US" b="1" i="0" u="sng" dirty="0">
                <a:solidFill>
                  <a:srgbClr val="303030"/>
                </a:solidFill>
                <a:effectLst/>
              </a:rPr>
              <a:t>Single-Pair Shortest Path Problem</a:t>
            </a:r>
            <a:r>
              <a:rPr lang="en-US" b="0" i="0" dirty="0">
                <a:solidFill>
                  <a:srgbClr val="303030"/>
                </a:solidFill>
                <a:effectLst/>
              </a:rPr>
              <a:t> </a:t>
            </a:r>
          </a:p>
          <a:p>
            <a:pPr algn="l" fontAlgn="base">
              <a:buFont typeface="Arial" panose="020B0604020202020204" pitchFamily="34" charset="0"/>
              <a:buChar char="•"/>
            </a:pPr>
            <a:r>
              <a:rPr lang="en-US" b="0" i="0" dirty="0">
                <a:solidFill>
                  <a:srgbClr val="303030"/>
                </a:solidFill>
                <a:effectLst/>
              </a:rPr>
              <a:t>It is a shortest path problem where the shortest path between a given pair of vertices is computed.</a:t>
            </a:r>
          </a:p>
          <a:p>
            <a:pPr algn="l" fontAlgn="base">
              <a:buFont typeface="Arial" panose="020B0604020202020204" pitchFamily="34" charset="0"/>
              <a:buChar char="•"/>
            </a:pPr>
            <a:r>
              <a:rPr lang="en-US" b="0" i="0" dirty="0">
                <a:solidFill>
                  <a:srgbClr val="303030"/>
                </a:solidFill>
                <a:effectLst/>
              </a:rPr>
              <a:t>A* Search Algorithm is a famous algorithm used for solving single-pair shortest path problem.</a:t>
            </a:r>
          </a:p>
          <a:p>
            <a:pPr marL="0" indent="0" algn="l" fontAlgn="base">
              <a:buNone/>
            </a:pPr>
            <a:r>
              <a:rPr lang="en-US" b="1" i="0" u="sng" dirty="0">
                <a:solidFill>
                  <a:srgbClr val="303030"/>
                </a:solidFill>
                <a:effectLst/>
              </a:rPr>
              <a:t>Single-Source Shortest Path Problem-</a:t>
            </a:r>
            <a:endParaRPr lang="en-US" b="0" i="0" dirty="0">
              <a:solidFill>
                <a:srgbClr val="303030"/>
              </a:solidFill>
              <a:effectLst/>
            </a:endParaRPr>
          </a:p>
          <a:p>
            <a:pPr algn="l" fontAlgn="base">
              <a:buFont typeface="Arial" panose="020B0604020202020204" pitchFamily="34" charset="0"/>
              <a:buChar char="•"/>
            </a:pPr>
            <a:r>
              <a:rPr lang="en-US" b="0" i="0" dirty="0">
                <a:solidFill>
                  <a:srgbClr val="303030"/>
                </a:solidFill>
                <a:effectLst/>
              </a:rPr>
              <a:t>It is a shortest path problem where the shortest path from a given source vertex to all other remaining vertices is computed.</a:t>
            </a:r>
          </a:p>
          <a:p>
            <a:pPr algn="l" fontAlgn="base">
              <a:buFont typeface="Arial" panose="020B0604020202020204" pitchFamily="34" charset="0"/>
              <a:buChar char="•"/>
            </a:pPr>
            <a:r>
              <a:rPr lang="en-US" b="0" i="0" dirty="0">
                <a:solidFill>
                  <a:srgbClr val="303030"/>
                </a:solidFill>
                <a:effectLst/>
              </a:rPr>
              <a:t>Dijkstra’s Algorithm and Bellman Ford Algorithm are the famous algorithms used for solving single-source shortest path problem. </a:t>
            </a:r>
          </a:p>
          <a:p>
            <a:pPr marL="0" indent="0" algn="l" fontAlgn="base">
              <a:buNone/>
            </a:pPr>
            <a:endParaRPr lang="en-US" b="0" i="0" dirty="0">
              <a:solidFill>
                <a:srgbClr val="303030"/>
              </a:solidFill>
              <a:effectLst/>
            </a:endParaRPr>
          </a:p>
          <a:p>
            <a:pPr algn="l" fontAlgn="base"/>
            <a:endParaRPr lang="en-US" b="0" i="0" dirty="0">
              <a:solidFill>
                <a:srgbClr val="303030"/>
              </a:solidFill>
              <a:effectLst/>
            </a:endParaRPr>
          </a:p>
          <a:p>
            <a:endParaRPr lang="en-US" dirty="0"/>
          </a:p>
        </p:txBody>
      </p:sp>
      <p:sp>
        <p:nvSpPr>
          <p:cNvPr id="4" name="Slide Number Placeholder 3">
            <a:extLst>
              <a:ext uri="{FF2B5EF4-FFF2-40B4-BE49-F238E27FC236}">
                <a16:creationId xmlns:a16="http://schemas.microsoft.com/office/drawing/2014/main" id="{BDAF2095-73E9-4C15-91A4-D64607D99946}"/>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AutoShape 2">
            <a:extLst>
              <a:ext uri="{FF2B5EF4-FFF2-40B4-BE49-F238E27FC236}">
                <a16:creationId xmlns:a16="http://schemas.microsoft.com/office/drawing/2014/main" id="{D53F5CC2-3EFB-4B89-872B-1DB2BFE2B6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81285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0C19-EB81-4AF1-A82B-98456111CBFC}"/>
              </a:ext>
            </a:extLst>
          </p:cNvPr>
          <p:cNvSpPr>
            <a:spLocks noGrp="1"/>
          </p:cNvSpPr>
          <p:nvPr>
            <p:ph type="title"/>
          </p:nvPr>
        </p:nvSpPr>
        <p:spPr/>
        <p:txBody>
          <a:bodyPr/>
          <a:lstStyle/>
          <a:p>
            <a:r>
              <a:rPr lang="en-US" b="1" i="0" dirty="0">
                <a:solidFill>
                  <a:srgbClr val="303030"/>
                </a:solidFill>
                <a:effectLst/>
              </a:rPr>
              <a:t>Shortest Path Problem</a:t>
            </a:r>
            <a:endParaRPr lang="en-US" dirty="0">
              <a:solidFill>
                <a:schemeClr val="tx1"/>
              </a:solidFill>
            </a:endParaRPr>
          </a:p>
        </p:txBody>
      </p:sp>
      <p:sp>
        <p:nvSpPr>
          <p:cNvPr id="3" name="Content Placeholder 2">
            <a:extLst>
              <a:ext uri="{FF2B5EF4-FFF2-40B4-BE49-F238E27FC236}">
                <a16:creationId xmlns:a16="http://schemas.microsoft.com/office/drawing/2014/main" id="{D0130B61-1319-46C9-98D7-C86EF2AB7A3E}"/>
              </a:ext>
            </a:extLst>
          </p:cNvPr>
          <p:cNvSpPr>
            <a:spLocks noGrp="1"/>
          </p:cNvSpPr>
          <p:nvPr>
            <p:ph idx="1"/>
          </p:nvPr>
        </p:nvSpPr>
        <p:spPr>
          <a:xfrm>
            <a:off x="679451" y="1167618"/>
            <a:ext cx="10515600" cy="5188737"/>
          </a:xfrm>
        </p:spPr>
        <p:txBody>
          <a:bodyPr/>
          <a:lstStyle/>
          <a:p>
            <a:pPr marL="0" indent="0" algn="l" fontAlgn="base">
              <a:buNone/>
            </a:pPr>
            <a:r>
              <a:rPr lang="en-US" b="1" i="0" u="sng" dirty="0">
                <a:solidFill>
                  <a:srgbClr val="303030"/>
                </a:solidFill>
                <a:effectLst/>
              </a:rPr>
              <a:t>Single-Destination Shortest Path Problem-</a:t>
            </a:r>
            <a:endParaRPr lang="en-US" b="0" i="0" dirty="0">
              <a:solidFill>
                <a:srgbClr val="303030"/>
              </a:solidFill>
              <a:effectLst/>
            </a:endParaRPr>
          </a:p>
          <a:p>
            <a:pPr algn="l" fontAlgn="base">
              <a:buFont typeface="Arial" panose="020B0604020202020204" pitchFamily="34" charset="0"/>
              <a:buChar char="•"/>
            </a:pPr>
            <a:r>
              <a:rPr lang="en-US" b="0" i="0" dirty="0">
                <a:solidFill>
                  <a:srgbClr val="303030"/>
                </a:solidFill>
                <a:effectLst/>
              </a:rPr>
              <a:t>It is a shortest path problem where the shortest path from all the vertices to a single destination vertex is computed.</a:t>
            </a:r>
          </a:p>
          <a:p>
            <a:pPr algn="l" fontAlgn="base">
              <a:buFont typeface="Arial" panose="020B0604020202020204" pitchFamily="34" charset="0"/>
              <a:buChar char="•"/>
            </a:pPr>
            <a:r>
              <a:rPr lang="en-US" b="0" i="0" dirty="0">
                <a:solidFill>
                  <a:srgbClr val="303030"/>
                </a:solidFill>
                <a:effectLst/>
              </a:rPr>
              <a:t>By reversing the direction of each edge in the graph, this problem reduces to single-source shortest path problem.</a:t>
            </a:r>
          </a:p>
          <a:p>
            <a:pPr algn="l" fontAlgn="base">
              <a:buFont typeface="Arial" panose="020B0604020202020204" pitchFamily="34" charset="0"/>
              <a:buChar char="•"/>
            </a:pPr>
            <a:r>
              <a:rPr lang="en-US" b="0" i="0" dirty="0">
                <a:solidFill>
                  <a:srgbClr val="303030"/>
                </a:solidFill>
                <a:effectLst/>
              </a:rPr>
              <a:t>Dijkstra’s Algorithm is a famous algorithm adapted for solving single-destination shortest path problem.</a:t>
            </a:r>
          </a:p>
          <a:p>
            <a:pPr marL="0" indent="0" algn="l" fontAlgn="base">
              <a:buNone/>
            </a:pPr>
            <a:r>
              <a:rPr lang="en-US" b="1" i="0" u="sng" dirty="0">
                <a:solidFill>
                  <a:srgbClr val="303030"/>
                </a:solidFill>
                <a:effectLst/>
              </a:rPr>
              <a:t>All Pairs Shortest Path Problem-</a:t>
            </a:r>
            <a:endParaRPr lang="en-US" b="0" i="0" dirty="0">
              <a:solidFill>
                <a:srgbClr val="303030"/>
              </a:solidFill>
              <a:effectLst/>
            </a:endParaRPr>
          </a:p>
          <a:p>
            <a:pPr algn="l" fontAlgn="base">
              <a:buFont typeface="Arial" panose="020B0604020202020204" pitchFamily="34" charset="0"/>
              <a:buChar char="•"/>
            </a:pPr>
            <a:r>
              <a:rPr lang="en-US" b="0" i="0" dirty="0">
                <a:solidFill>
                  <a:srgbClr val="303030"/>
                </a:solidFill>
                <a:effectLst/>
              </a:rPr>
              <a:t>It is a shortest path problem where the shortest path between every pair of vertices is computed.</a:t>
            </a:r>
          </a:p>
          <a:p>
            <a:pPr algn="l" fontAlgn="base">
              <a:buFont typeface="Arial" panose="020B0604020202020204" pitchFamily="34" charset="0"/>
              <a:buChar char="•"/>
            </a:pPr>
            <a:r>
              <a:rPr lang="en-US" b="0" i="0" dirty="0">
                <a:solidFill>
                  <a:srgbClr val="303030"/>
                </a:solidFill>
                <a:effectLst/>
              </a:rPr>
              <a:t>Floyd-</a:t>
            </a:r>
            <a:r>
              <a:rPr lang="en-US" b="0" i="0" dirty="0" err="1">
                <a:solidFill>
                  <a:srgbClr val="303030"/>
                </a:solidFill>
                <a:effectLst/>
              </a:rPr>
              <a:t>Warshall</a:t>
            </a:r>
            <a:r>
              <a:rPr lang="en-US" b="0" i="0" dirty="0">
                <a:solidFill>
                  <a:srgbClr val="303030"/>
                </a:solidFill>
                <a:effectLst/>
              </a:rPr>
              <a:t> Algorithm and Johnson’s Algorithm are the famous algorithms used for solving All pairs shortest path problem.</a:t>
            </a:r>
          </a:p>
          <a:p>
            <a:pPr algn="l" fontAlgn="base"/>
            <a:endParaRPr lang="en-US" b="0" i="0" dirty="0">
              <a:solidFill>
                <a:srgbClr val="303030"/>
              </a:solidFill>
              <a:effectLst/>
            </a:endParaRPr>
          </a:p>
          <a:p>
            <a:pPr algn="l" fontAlgn="base"/>
            <a:endParaRPr lang="en-US" b="0" i="0" dirty="0">
              <a:solidFill>
                <a:srgbClr val="303030"/>
              </a:solidFill>
              <a:effectLst/>
            </a:endParaRPr>
          </a:p>
          <a:p>
            <a:endParaRPr lang="en-US" dirty="0"/>
          </a:p>
        </p:txBody>
      </p:sp>
      <p:sp>
        <p:nvSpPr>
          <p:cNvPr id="4" name="Slide Number Placeholder 3">
            <a:extLst>
              <a:ext uri="{FF2B5EF4-FFF2-40B4-BE49-F238E27FC236}">
                <a16:creationId xmlns:a16="http://schemas.microsoft.com/office/drawing/2014/main" id="{BDAF2095-73E9-4C15-91A4-D64607D99946}"/>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5" name="AutoShape 2">
            <a:extLst>
              <a:ext uri="{FF2B5EF4-FFF2-40B4-BE49-F238E27FC236}">
                <a16:creationId xmlns:a16="http://schemas.microsoft.com/office/drawing/2014/main" id="{D53F5CC2-3EFB-4B89-872B-1DB2BFE2B6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930439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0C19-EB81-4AF1-A82B-98456111CBFC}"/>
              </a:ext>
            </a:extLst>
          </p:cNvPr>
          <p:cNvSpPr>
            <a:spLocks noGrp="1"/>
          </p:cNvSpPr>
          <p:nvPr>
            <p:ph type="title"/>
          </p:nvPr>
        </p:nvSpPr>
        <p:spPr/>
        <p:txBody>
          <a:bodyPr/>
          <a:lstStyle/>
          <a:p>
            <a:r>
              <a:rPr lang="en-US" dirty="0">
                <a:solidFill>
                  <a:schemeClr val="tx1"/>
                </a:solidFill>
              </a:rPr>
              <a:t>Dijkstra's Algorithm</a:t>
            </a:r>
          </a:p>
        </p:txBody>
      </p:sp>
      <p:sp>
        <p:nvSpPr>
          <p:cNvPr id="3" name="Content Placeholder 2">
            <a:extLst>
              <a:ext uri="{FF2B5EF4-FFF2-40B4-BE49-F238E27FC236}">
                <a16:creationId xmlns:a16="http://schemas.microsoft.com/office/drawing/2014/main" id="{D0130B61-1319-46C9-98D7-C86EF2AB7A3E}"/>
              </a:ext>
            </a:extLst>
          </p:cNvPr>
          <p:cNvSpPr>
            <a:spLocks noGrp="1"/>
          </p:cNvSpPr>
          <p:nvPr>
            <p:ph idx="1"/>
          </p:nvPr>
        </p:nvSpPr>
        <p:spPr>
          <a:xfrm>
            <a:off x="679450" y="1163782"/>
            <a:ext cx="10542731" cy="5557699"/>
          </a:xfrm>
        </p:spPr>
        <p:txBody>
          <a:bodyPr/>
          <a:lstStyle/>
          <a:p>
            <a:r>
              <a:rPr lang="en-US" dirty="0"/>
              <a:t>Dijkstra Algorithm is a very famous greedy algorithm.</a:t>
            </a:r>
          </a:p>
          <a:p>
            <a:r>
              <a:rPr lang="en-US" dirty="0"/>
              <a:t>It is used for solving the single source shortest path problem.</a:t>
            </a:r>
          </a:p>
          <a:p>
            <a:r>
              <a:rPr lang="en-US" dirty="0"/>
              <a:t>It computes the shortest path from one particular source node to all other remaining nodes of the graph.</a:t>
            </a:r>
          </a:p>
          <a:p>
            <a:pPr marL="0" indent="0">
              <a:lnSpc>
                <a:spcPct val="100000"/>
              </a:lnSpc>
              <a:buNone/>
            </a:pPr>
            <a:r>
              <a:rPr lang="en-US" dirty="0"/>
              <a:t>It is </a:t>
            </a:r>
            <a:r>
              <a:rPr lang="en-US" b="1" dirty="0"/>
              <a:t>important</a:t>
            </a:r>
            <a:r>
              <a:rPr lang="en-US" dirty="0"/>
              <a:t> to note the following points regarding Dijkstra Algorithm-</a:t>
            </a:r>
          </a:p>
          <a:p>
            <a:pPr>
              <a:lnSpc>
                <a:spcPct val="100000"/>
              </a:lnSpc>
            </a:pPr>
            <a:r>
              <a:rPr lang="en-US" dirty="0"/>
              <a:t>Dijkstra algorithm works only for connected graphs.</a:t>
            </a:r>
          </a:p>
          <a:p>
            <a:pPr>
              <a:lnSpc>
                <a:spcPct val="100000"/>
              </a:lnSpc>
            </a:pPr>
            <a:r>
              <a:rPr lang="en-US" dirty="0"/>
              <a:t>Dijkstra algorithm works only for those graphs that do not contain any negative weight edge.</a:t>
            </a:r>
          </a:p>
          <a:p>
            <a:pPr>
              <a:lnSpc>
                <a:spcPct val="100000"/>
              </a:lnSpc>
            </a:pPr>
            <a:r>
              <a:rPr lang="en-US" dirty="0"/>
              <a:t>It provides the value or cost of the shortest paths.</a:t>
            </a:r>
          </a:p>
          <a:p>
            <a:pPr>
              <a:lnSpc>
                <a:spcPct val="100000"/>
              </a:lnSpc>
            </a:pPr>
            <a:r>
              <a:rPr lang="en-US" dirty="0"/>
              <a:t>By making minor modifications in the actual algorithm, the shortest paths can be easily obtained.</a:t>
            </a:r>
          </a:p>
          <a:p>
            <a:pPr>
              <a:lnSpc>
                <a:spcPct val="100000"/>
              </a:lnSpc>
            </a:pPr>
            <a:r>
              <a:rPr lang="en-US" dirty="0"/>
              <a:t>Dijkstra algorithm works for directed as well as undirected graphs.</a:t>
            </a:r>
          </a:p>
          <a:p>
            <a:pPr>
              <a:lnSpc>
                <a:spcPct val="100000"/>
              </a:lnSpc>
            </a:pPr>
            <a:endParaRPr lang="en-US" dirty="0"/>
          </a:p>
        </p:txBody>
      </p:sp>
      <p:sp>
        <p:nvSpPr>
          <p:cNvPr id="4" name="Slide Number Placeholder 3">
            <a:extLst>
              <a:ext uri="{FF2B5EF4-FFF2-40B4-BE49-F238E27FC236}">
                <a16:creationId xmlns:a16="http://schemas.microsoft.com/office/drawing/2014/main" id="{BDAF2095-73E9-4C15-91A4-D64607D99946}"/>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356967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ln>
            <a:solidFill>
              <a:schemeClr val="tx1"/>
            </a:solidFill>
          </a:ln>
        </p:spPr>
        <p:txBody>
          <a:bodyPr/>
          <a:lstStyle/>
          <a:p>
            <a:r>
              <a:rPr lang="en-US" dirty="0">
                <a:solidFill>
                  <a:schemeClr val="tx1"/>
                </a:solidFill>
              </a:rPr>
              <a:t>Dijkstra's Algorithm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3" name="Content Placeholder 2">
            <a:extLst>
              <a:ext uri="{FF2B5EF4-FFF2-40B4-BE49-F238E27FC236}">
                <a16:creationId xmlns:a16="http://schemas.microsoft.com/office/drawing/2014/main" id="{FCAAD06E-AFF5-4370-8F79-C11E06B7C00E}"/>
              </a:ext>
            </a:extLst>
          </p:cNvPr>
          <p:cNvSpPr>
            <a:spLocks noGrp="1"/>
          </p:cNvSpPr>
          <p:nvPr>
            <p:ph idx="1"/>
          </p:nvPr>
        </p:nvSpPr>
        <p:spPr>
          <a:xfrm>
            <a:off x="679451" y="1311275"/>
            <a:ext cx="10515600" cy="5244270"/>
          </a:xfrm>
        </p:spPr>
        <p:txBody>
          <a:bodyPr/>
          <a:lstStyle/>
          <a:p>
            <a:pPr>
              <a:lnSpc>
                <a:spcPct val="150000"/>
              </a:lnSpc>
            </a:pPr>
            <a:r>
              <a:rPr lang="en-US" dirty="0"/>
              <a:t>Dijkstra's Algorithm allows you to calculate the shortest path between one node (you pick which one) and </a:t>
            </a:r>
            <a:r>
              <a:rPr lang="en-US" i="1" dirty="0"/>
              <a:t>every other node in the graph</a:t>
            </a:r>
            <a:r>
              <a:rPr lang="en-US" dirty="0"/>
              <a:t>. </a:t>
            </a:r>
          </a:p>
          <a:p>
            <a:pPr>
              <a:lnSpc>
                <a:spcPct val="150000"/>
              </a:lnSpc>
            </a:pPr>
            <a:r>
              <a:rPr lang="en-US" dirty="0"/>
              <a:t>Calculate the shortest path between node C and the other nodes in our graph:</a:t>
            </a:r>
          </a:p>
        </p:txBody>
      </p:sp>
      <p:pic>
        <p:nvPicPr>
          <p:cNvPr id="2054" name="Picture 6" descr="Graph example">
            <a:extLst>
              <a:ext uri="{FF2B5EF4-FFF2-40B4-BE49-F238E27FC236}">
                <a16:creationId xmlns:a16="http://schemas.microsoft.com/office/drawing/2014/main" id="{88DD5546-66EC-44A9-B06F-DD0742FA9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1" y="3342499"/>
            <a:ext cx="4226168" cy="26096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A4C26-94FC-453E-AE55-23154B953446}"/>
              </a:ext>
            </a:extLst>
          </p:cNvPr>
          <p:cNvSpPr>
            <a:spLocks noGrp="1"/>
          </p:cNvSpPr>
          <p:nvPr>
            <p:ph type="title"/>
          </p:nvPr>
        </p:nvSpPr>
        <p:spPr/>
        <p:txBody>
          <a:bodyPr/>
          <a:lstStyle/>
          <a:p>
            <a:r>
              <a:rPr lang="en-US" dirty="0">
                <a:solidFill>
                  <a:schemeClr val="tx1"/>
                </a:solidFill>
              </a:rPr>
              <a:t>Steps</a:t>
            </a:r>
          </a:p>
        </p:txBody>
      </p:sp>
      <p:sp>
        <p:nvSpPr>
          <p:cNvPr id="4" name="Slide Number Placeholder 3">
            <a:extLst>
              <a:ext uri="{FF2B5EF4-FFF2-40B4-BE49-F238E27FC236}">
                <a16:creationId xmlns:a16="http://schemas.microsoft.com/office/drawing/2014/main" id="{66325EF9-E974-45B1-89E7-F70326B6DEE0}"/>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6" name="Content Placeholder 5">
            <a:extLst>
              <a:ext uri="{FF2B5EF4-FFF2-40B4-BE49-F238E27FC236}">
                <a16:creationId xmlns:a16="http://schemas.microsoft.com/office/drawing/2014/main" id="{670AFFBF-41E3-41E5-878D-6513A41BBD7A}"/>
              </a:ext>
            </a:extLst>
          </p:cNvPr>
          <p:cNvSpPr>
            <a:spLocks noGrp="1"/>
          </p:cNvSpPr>
          <p:nvPr>
            <p:ph idx="1"/>
          </p:nvPr>
        </p:nvSpPr>
        <p:spPr>
          <a:xfrm>
            <a:off x="679451" y="1311275"/>
            <a:ext cx="10515600" cy="5202067"/>
          </a:xfrm>
        </p:spPr>
        <p:txBody>
          <a:bodyPr/>
          <a:lstStyle/>
          <a:p>
            <a:pPr algn="just">
              <a:lnSpc>
                <a:spcPct val="150000"/>
              </a:lnSpc>
            </a:pPr>
            <a:br>
              <a:rPr lang="en-US" dirty="0"/>
            </a:br>
            <a:endParaRPr lang="en-US" dirty="0"/>
          </a:p>
        </p:txBody>
      </p:sp>
      <p:pic>
        <p:nvPicPr>
          <p:cNvPr id="4100" name="Picture 4" descr="Graph example">
            <a:extLst>
              <a:ext uri="{FF2B5EF4-FFF2-40B4-BE49-F238E27FC236}">
                <a16:creationId xmlns:a16="http://schemas.microsoft.com/office/drawing/2014/main" id="{062FBB53-156B-4795-B723-B04BE0A354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3559" y="1800327"/>
            <a:ext cx="6067041" cy="3746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845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67ECE-1BB5-40D4-9D21-4A764128D5A9}"/>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E66843A5-7AE9-4EDD-8FCE-8CDA143D8740}"/>
              </a:ext>
            </a:extLst>
          </p:cNvPr>
          <p:cNvSpPr>
            <a:spLocks noGrp="1"/>
          </p:cNvSpPr>
          <p:nvPr>
            <p:ph idx="1"/>
          </p:nvPr>
        </p:nvSpPr>
        <p:spPr>
          <a:xfrm>
            <a:off x="679451" y="1156527"/>
            <a:ext cx="10515600" cy="5410206"/>
          </a:xfrm>
        </p:spPr>
        <p:txBody>
          <a:bodyPr/>
          <a:lstStyle/>
          <a:p>
            <a:pPr algn="just"/>
            <a:r>
              <a:rPr lang="en-US" dirty="0"/>
              <a:t>We'll also have a </a:t>
            </a:r>
            <a:r>
              <a:rPr lang="en-US" i="1" dirty="0"/>
              <a:t>current node</a:t>
            </a:r>
            <a:r>
              <a:rPr lang="en-US" dirty="0"/>
              <a:t>. Initially, we set it to C (our selected node). In the image, we mark the current node with a red dot.</a:t>
            </a:r>
          </a:p>
          <a:p>
            <a:pPr algn="just"/>
            <a:r>
              <a:rPr lang="en-US" dirty="0"/>
              <a:t>Now, we check the </a:t>
            </a:r>
            <a:r>
              <a:rPr lang="en-US" dirty="0" err="1"/>
              <a:t>neighbours</a:t>
            </a:r>
            <a:r>
              <a:rPr lang="en-US" dirty="0"/>
              <a:t> of our current node (A, B and D) in no specific order. Let's begin with B. We add the minimum distance of the current node (in this case, 0) with the weight of the edge that connects our current node with B (in this case, 7), and we obtain 0 + 7 = 7. We compare that value with the minimum distance of B (infinity); the lowest value is the one that remains as the minimum distance of B (in this case, 7 is less than infinity):</a:t>
            </a:r>
          </a:p>
          <a:p>
            <a:pPr marL="0" indent="0" algn="just">
              <a:buNone/>
            </a:pPr>
            <a:endParaRPr lang="en-US" dirty="0"/>
          </a:p>
        </p:txBody>
      </p:sp>
      <p:sp>
        <p:nvSpPr>
          <p:cNvPr id="4" name="Slide Number Placeholder 3">
            <a:extLst>
              <a:ext uri="{FF2B5EF4-FFF2-40B4-BE49-F238E27FC236}">
                <a16:creationId xmlns:a16="http://schemas.microsoft.com/office/drawing/2014/main" id="{D6433E65-C0DE-4D60-83D9-17CD7191D3C4}"/>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5122" name="Picture 2" descr="Graph example">
            <a:extLst>
              <a:ext uri="{FF2B5EF4-FFF2-40B4-BE49-F238E27FC236}">
                <a16:creationId xmlns:a16="http://schemas.microsoft.com/office/drawing/2014/main" id="{CBDEBFC5-6EA8-4787-986B-5671BE4BA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1" y="4368806"/>
            <a:ext cx="381000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8492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1D36-7B49-4BA9-8447-E3C66A148462}"/>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14613BB7-309E-458C-8AE8-80439CF9FF8B}"/>
              </a:ext>
            </a:extLst>
          </p:cNvPr>
          <p:cNvSpPr>
            <a:spLocks noGrp="1"/>
          </p:cNvSpPr>
          <p:nvPr>
            <p:ph idx="1"/>
          </p:nvPr>
        </p:nvSpPr>
        <p:spPr>
          <a:xfrm>
            <a:off x="679451" y="1311274"/>
            <a:ext cx="10515600" cy="5258337"/>
          </a:xfrm>
        </p:spPr>
        <p:txBody>
          <a:bodyPr/>
          <a:lstStyle/>
          <a:p>
            <a:pPr algn="just">
              <a:lnSpc>
                <a:spcPct val="150000"/>
              </a:lnSpc>
            </a:pPr>
            <a:r>
              <a:rPr lang="en-US" dirty="0"/>
              <a:t>Now, let's check </a:t>
            </a:r>
            <a:r>
              <a:rPr lang="en-US" dirty="0" err="1"/>
              <a:t>neighbour</a:t>
            </a:r>
            <a:r>
              <a:rPr lang="en-US" dirty="0"/>
              <a:t> A. We add 0 (the minimum distance of C, our current node) with 1 (the weight of the edge connecting our current node with A) to obtain 1. We compare that 1 with the minimum distance of A (infinity), and leave the smallest value:</a:t>
            </a:r>
          </a:p>
        </p:txBody>
      </p:sp>
      <p:sp>
        <p:nvSpPr>
          <p:cNvPr id="4" name="Slide Number Placeholder 3">
            <a:extLst>
              <a:ext uri="{FF2B5EF4-FFF2-40B4-BE49-F238E27FC236}">
                <a16:creationId xmlns:a16="http://schemas.microsoft.com/office/drawing/2014/main" id="{8F49D63F-A274-4846-8600-B7505784D3B9}"/>
              </a:ext>
            </a:extLst>
          </p:cNvPr>
          <p:cNvSpPr>
            <a:spLocks noGrp="1"/>
          </p:cNvSpPr>
          <p:nvPr>
            <p:ph type="sldNum" sz="quarter" idx="12"/>
          </p:nvPr>
        </p:nvSpPr>
        <p:spPr/>
        <p:txBody>
          <a:bodyPr/>
          <a:lstStyle/>
          <a:p>
            <a:fld id="{BDCDBBEF-AA6C-4BA6-85B2-A17D7F280E38}" type="slidenum">
              <a:rPr lang="en-US" smtClean="0"/>
              <a:pPr/>
              <a:t>11</a:t>
            </a:fld>
            <a:endParaRPr lang="en-US"/>
          </a:p>
        </p:txBody>
      </p:sp>
      <p:pic>
        <p:nvPicPr>
          <p:cNvPr id="6146" name="Picture 2" descr="Graph example">
            <a:extLst>
              <a:ext uri="{FF2B5EF4-FFF2-40B4-BE49-F238E27FC236}">
                <a16:creationId xmlns:a16="http://schemas.microsoft.com/office/drawing/2014/main" id="{B6ACDBA6-39FE-49B4-A0DA-A69DE599E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5560" y="3305908"/>
            <a:ext cx="4485440" cy="2769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69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A80A6-58DC-4F40-B729-1084A92A40F3}"/>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8EFDCD2C-8D9D-406C-A911-A4A19535E6FC}"/>
              </a:ext>
            </a:extLst>
          </p:cNvPr>
          <p:cNvSpPr>
            <a:spLocks noGrp="1"/>
          </p:cNvSpPr>
          <p:nvPr>
            <p:ph idx="1"/>
          </p:nvPr>
        </p:nvSpPr>
        <p:spPr>
          <a:xfrm>
            <a:off x="679451" y="1311275"/>
            <a:ext cx="10515600" cy="5045081"/>
          </a:xfrm>
        </p:spPr>
        <p:txBody>
          <a:bodyPr/>
          <a:lstStyle/>
          <a:p>
            <a:pPr marL="0" indent="0">
              <a:buNone/>
            </a:pPr>
            <a:r>
              <a:rPr lang="en-US" dirty="0"/>
              <a:t>Repeat the same procedure for D:</a:t>
            </a:r>
          </a:p>
        </p:txBody>
      </p:sp>
      <p:sp>
        <p:nvSpPr>
          <p:cNvPr id="4" name="Slide Number Placeholder 3">
            <a:extLst>
              <a:ext uri="{FF2B5EF4-FFF2-40B4-BE49-F238E27FC236}">
                <a16:creationId xmlns:a16="http://schemas.microsoft.com/office/drawing/2014/main" id="{FC0C0291-6CC6-43E0-B6B9-BC0AA851F6AF}"/>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7170" name="Picture 2" descr="Graph example">
            <a:extLst>
              <a:ext uri="{FF2B5EF4-FFF2-40B4-BE49-F238E27FC236}">
                <a16:creationId xmlns:a16="http://schemas.microsoft.com/office/drawing/2014/main" id="{53356D0D-DA6B-4797-BACE-3DC085A09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4893" y="2209250"/>
            <a:ext cx="4965896" cy="3066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49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46072-2835-432E-80B6-5800EA6EC62E}"/>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55F18ABA-0939-4298-82F9-510B40D88D37}"/>
              </a:ext>
            </a:extLst>
          </p:cNvPr>
          <p:cNvSpPr>
            <a:spLocks noGrp="1"/>
          </p:cNvSpPr>
          <p:nvPr>
            <p:ph idx="1"/>
          </p:nvPr>
        </p:nvSpPr>
        <p:spPr>
          <a:xfrm>
            <a:off x="679451" y="1311274"/>
            <a:ext cx="10515600" cy="5173931"/>
          </a:xfrm>
        </p:spPr>
        <p:txBody>
          <a:bodyPr/>
          <a:lstStyle/>
          <a:p>
            <a:pPr algn="just">
              <a:lnSpc>
                <a:spcPct val="150000"/>
              </a:lnSpc>
            </a:pPr>
            <a:r>
              <a:rPr lang="en-US" dirty="0"/>
              <a:t>We have checked all the </a:t>
            </a:r>
            <a:r>
              <a:rPr lang="en-US" dirty="0" err="1"/>
              <a:t>neighbours</a:t>
            </a:r>
            <a:r>
              <a:rPr lang="en-US" dirty="0"/>
              <a:t> of C. Because of that, we mark it as </a:t>
            </a:r>
            <a:r>
              <a:rPr lang="en-US" i="1" dirty="0"/>
              <a:t>visited</a:t>
            </a:r>
            <a:r>
              <a:rPr lang="en-US" dirty="0"/>
              <a:t>. Let's represent visited nodes with a green check mark:</a:t>
            </a:r>
          </a:p>
          <a:p>
            <a:pPr marL="0" indent="0">
              <a:buNone/>
            </a:pPr>
            <a:endParaRPr lang="en-US" dirty="0"/>
          </a:p>
        </p:txBody>
      </p:sp>
      <p:sp>
        <p:nvSpPr>
          <p:cNvPr id="4" name="Slide Number Placeholder 3">
            <a:extLst>
              <a:ext uri="{FF2B5EF4-FFF2-40B4-BE49-F238E27FC236}">
                <a16:creationId xmlns:a16="http://schemas.microsoft.com/office/drawing/2014/main" id="{DB95078D-8808-4382-B714-BA071C32DB0C}"/>
              </a:ext>
            </a:extLst>
          </p:cNvPr>
          <p:cNvSpPr>
            <a:spLocks noGrp="1"/>
          </p:cNvSpPr>
          <p:nvPr>
            <p:ph type="sldNum" sz="quarter" idx="12"/>
          </p:nvPr>
        </p:nvSpPr>
        <p:spPr/>
        <p:txBody>
          <a:bodyPr/>
          <a:lstStyle/>
          <a:p>
            <a:fld id="{BDCDBBEF-AA6C-4BA6-85B2-A17D7F280E38}" type="slidenum">
              <a:rPr lang="en-US" smtClean="0"/>
              <a:pPr/>
              <a:t>13</a:t>
            </a:fld>
            <a:endParaRPr lang="en-US"/>
          </a:p>
        </p:txBody>
      </p:sp>
      <p:pic>
        <p:nvPicPr>
          <p:cNvPr id="8194" name="Picture 2" descr="Graph example">
            <a:extLst>
              <a:ext uri="{FF2B5EF4-FFF2-40B4-BE49-F238E27FC236}">
                <a16:creationId xmlns:a16="http://schemas.microsoft.com/office/drawing/2014/main" id="{30F22768-133B-460F-844B-91A9A9CCD1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4058" y="2650112"/>
            <a:ext cx="5208285" cy="3216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781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79DA-36B3-4345-9538-01F927406B15}"/>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F8125369-ECEC-438A-9378-DF95ABECB23A}"/>
              </a:ext>
            </a:extLst>
          </p:cNvPr>
          <p:cNvSpPr>
            <a:spLocks noGrp="1"/>
          </p:cNvSpPr>
          <p:nvPr>
            <p:ph idx="1"/>
          </p:nvPr>
        </p:nvSpPr>
        <p:spPr>
          <a:xfrm>
            <a:off x="679451" y="1311274"/>
            <a:ext cx="10515600" cy="5045081"/>
          </a:xfrm>
        </p:spPr>
        <p:txBody>
          <a:bodyPr/>
          <a:lstStyle/>
          <a:p>
            <a:pPr algn="just">
              <a:lnSpc>
                <a:spcPct val="150000"/>
              </a:lnSpc>
            </a:pPr>
            <a:r>
              <a:rPr lang="en-US" dirty="0"/>
              <a:t>We now need to pick a new </a:t>
            </a:r>
            <a:r>
              <a:rPr lang="en-US" i="1" dirty="0"/>
              <a:t>current node</a:t>
            </a:r>
            <a:r>
              <a:rPr lang="en-US" dirty="0"/>
              <a:t>. That node must be the unvisited node with the smallest minimum distance (so, the node with the smallest number and no check mark). That's A. Let's mark it with the red dot:</a:t>
            </a:r>
          </a:p>
        </p:txBody>
      </p:sp>
      <p:sp>
        <p:nvSpPr>
          <p:cNvPr id="4" name="Slide Number Placeholder 3">
            <a:extLst>
              <a:ext uri="{FF2B5EF4-FFF2-40B4-BE49-F238E27FC236}">
                <a16:creationId xmlns:a16="http://schemas.microsoft.com/office/drawing/2014/main" id="{10F773C3-1E86-4912-B5F8-35C856A08E42}"/>
              </a:ext>
            </a:extLst>
          </p:cNvPr>
          <p:cNvSpPr>
            <a:spLocks noGrp="1"/>
          </p:cNvSpPr>
          <p:nvPr>
            <p:ph type="sldNum" sz="quarter" idx="12"/>
          </p:nvPr>
        </p:nvSpPr>
        <p:spPr/>
        <p:txBody>
          <a:bodyPr/>
          <a:lstStyle/>
          <a:p>
            <a:fld id="{BDCDBBEF-AA6C-4BA6-85B2-A17D7F280E38}" type="slidenum">
              <a:rPr lang="en-US" smtClean="0"/>
              <a:pPr/>
              <a:t>14</a:t>
            </a:fld>
            <a:endParaRPr lang="en-US"/>
          </a:p>
        </p:txBody>
      </p:sp>
      <p:pic>
        <p:nvPicPr>
          <p:cNvPr id="9218" name="Picture 2" descr="Graph example">
            <a:extLst>
              <a:ext uri="{FF2B5EF4-FFF2-40B4-BE49-F238E27FC236}">
                <a16:creationId xmlns:a16="http://schemas.microsoft.com/office/drawing/2014/main" id="{7B2FE20E-48B6-4EAD-9707-828AF3F17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816" y="3094893"/>
            <a:ext cx="4848870" cy="2994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4293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F51A1-7511-4657-8A62-4D5063EFF445}"/>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5008518F-159F-46F0-BC0B-CCEB1903FFC3}"/>
              </a:ext>
            </a:extLst>
          </p:cNvPr>
          <p:cNvSpPr>
            <a:spLocks noGrp="1"/>
          </p:cNvSpPr>
          <p:nvPr>
            <p:ph idx="1"/>
          </p:nvPr>
        </p:nvSpPr>
        <p:spPr>
          <a:xfrm>
            <a:off x="679451" y="1311275"/>
            <a:ext cx="10515600" cy="5159863"/>
          </a:xfrm>
        </p:spPr>
        <p:txBody>
          <a:bodyPr/>
          <a:lstStyle/>
          <a:p>
            <a:pPr algn="just">
              <a:lnSpc>
                <a:spcPct val="150000"/>
              </a:lnSpc>
            </a:pPr>
            <a:r>
              <a:rPr lang="en-US" dirty="0"/>
              <a:t>And now we repeat the algorithm. We check the </a:t>
            </a:r>
            <a:r>
              <a:rPr lang="en-US" dirty="0" err="1"/>
              <a:t>neighbours</a:t>
            </a:r>
            <a:r>
              <a:rPr lang="en-US" dirty="0"/>
              <a:t> of our current node, ignoring the visited nodes. This means we only check B.</a:t>
            </a:r>
          </a:p>
          <a:p>
            <a:pPr algn="just">
              <a:lnSpc>
                <a:spcPct val="150000"/>
              </a:lnSpc>
            </a:pPr>
            <a:r>
              <a:rPr lang="en-US" dirty="0"/>
              <a:t>For B, we add 1 (the minimum distance of A, our current node) with 3 (the weight of the edge connecting A and B) to obtain 4. We compare that 4 with the minimum distance of B (7) and leave the smallest value: 4.</a:t>
            </a:r>
          </a:p>
          <a:p>
            <a:pPr algn="just"/>
            <a:endParaRPr lang="en-US" dirty="0"/>
          </a:p>
        </p:txBody>
      </p:sp>
      <p:sp>
        <p:nvSpPr>
          <p:cNvPr id="4" name="Slide Number Placeholder 3">
            <a:extLst>
              <a:ext uri="{FF2B5EF4-FFF2-40B4-BE49-F238E27FC236}">
                <a16:creationId xmlns:a16="http://schemas.microsoft.com/office/drawing/2014/main" id="{58C072F6-33F6-49F3-9F8C-1060B45530E0}"/>
              </a:ext>
            </a:extLst>
          </p:cNvPr>
          <p:cNvSpPr>
            <a:spLocks noGrp="1"/>
          </p:cNvSpPr>
          <p:nvPr>
            <p:ph type="sldNum" sz="quarter" idx="12"/>
          </p:nvPr>
        </p:nvSpPr>
        <p:spPr/>
        <p:txBody>
          <a:bodyPr/>
          <a:lstStyle/>
          <a:p>
            <a:fld id="{BDCDBBEF-AA6C-4BA6-85B2-A17D7F280E38}" type="slidenum">
              <a:rPr lang="en-US" smtClean="0"/>
              <a:pPr/>
              <a:t>15</a:t>
            </a:fld>
            <a:endParaRPr lang="en-US"/>
          </a:p>
        </p:txBody>
      </p:sp>
      <p:pic>
        <p:nvPicPr>
          <p:cNvPr id="10242" name="Picture 2" descr="Graph example">
            <a:extLst>
              <a:ext uri="{FF2B5EF4-FFF2-40B4-BE49-F238E27FC236}">
                <a16:creationId xmlns:a16="http://schemas.microsoft.com/office/drawing/2014/main" id="{DF7B83F8-2DC3-467C-955B-57AF422DA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5563" y="4118463"/>
            <a:ext cx="381000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119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144A-1AF6-4A19-8841-17B5412A7635}"/>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99CE3C16-4197-406B-B775-6C0D46FC23FA}"/>
              </a:ext>
            </a:extLst>
          </p:cNvPr>
          <p:cNvSpPr>
            <a:spLocks noGrp="1"/>
          </p:cNvSpPr>
          <p:nvPr>
            <p:ph idx="1"/>
          </p:nvPr>
        </p:nvSpPr>
        <p:spPr>
          <a:xfrm>
            <a:off x="679451" y="1311275"/>
            <a:ext cx="10515600" cy="5045081"/>
          </a:xfrm>
        </p:spPr>
        <p:txBody>
          <a:bodyPr/>
          <a:lstStyle/>
          <a:p>
            <a:pPr algn="just">
              <a:lnSpc>
                <a:spcPct val="150000"/>
              </a:lnSpc>
            </a:pPr>
            <a:r>
              <a:rPr lang="en-US" dirty="0"/>
              <a:t>Afterwards, we mark A as visited and pick a new current node: D, which is the non-visited node with the smallest current distance.</a:t>
            </a:r>
          </a:p>
        </p:txBody>
      </p:sp>
      <p:sp>
        <p:nvSpPr>
          <p:cNvPr id="4" name="Slide Number Placeholder 3">
            <a:extLst>
              <a:ext uri="{FF2B5EF4-FFF2-40B4-BE49-F238E27FC236}">
                <a16:creationId xmlns:a16="http://schemas.microsoft.com/office/drawing/2014/main" id="{B0D6A3D7-BA73-40AC-900D-76659CE36486}"/>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11266" name="Picture 2" descr="Graph example">
            <a:extLst>
              <a:ext uri="{FF2B5EF4-FFF2-40B4-BE49-F238E27FC236}">
                <a16:creationId xmlns:a16="http://schemas.microsoft.com/office/drawing/2014/main" id="{FBAC34D6-4FF8-4FA3-82EE-E7F30BB80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6085" y="2743201"/>
            <a:ext cx="5034515" cy="3108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664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F59E4-854F-4918-A7D4-AE50919D277E}"/>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5ED75A6E-3CFA-491B-96BE-4B8BF31EFBB4}"/>
              </a:ext>
            </a:extLst>
          </p:cNvPr>
          <p:cNvSpPr>
            <a:spLocks noGrp="1"/>
          </p:cNvSpPr>
          <p:nvPr>
            <p:ph idx="1"/>
          </p:nvPr>
        </p:nvSpPr>
        <p:spPr>
          <a:xfrm>
            <a:off x="679451" y="1311275"/>
            <a:ext cx="10515600" cy="5045081"/>
          </a:xfrm>
        </p:spPr>
        <p:txBody>
          <a:bodyPr/>
          <a:lstStyle/>
          <a:p>
            <a:r>
              <a:rPr lang="en-US" dirty="0"/>
              <a:t>We repeat the algorithm again. This time, we check B and E.</a:t>
            </a:r>
          </a:p>
          <a:p>
            <a:r>
              <a:rPr lang="en-US" dirty="0"/>
              <a:t>For B, we obtain 2 + 5 = 7. We compare that value with B's minimum distance (4) and leave the smallest value (4). For E, we obtain 2 + 7 = 9, compare it with the minimum distance of E (infinity) and leave the smallest one (9).</a:t>
            </a:r>
          </a:p>
          <a:p>
            <a:r>
              <a:rPr lang="en-US" dirty="0"/>
              <a:t>We mark D as visited and set our current node to B.</a:t>
            </a:r>
          </a:p>
          <a:p>
            <a:endParaRPr lang="en-US" dirty="0"/>
          </a:p>
        </p:txBody>
      </p:sp>
      <p:sp>
        <p:nvSpPr>
          <p:cNvPr id="4" name="Slide Number Placeholder 3">
            <a:extLst>
              <a:ext uri="{FF2B5EF4-FFF2-40B4-BE49-F238E27FC236}">
                <a16:creationId xmlns:a16="http://schemas.microsoft.com/office/drawing/2014/main" id="{50469D69-F1A8-41FA-A9AB-B3994180EEC7}"/>
              </a:ext>
            </a:extLst>
          </p:cNvPr>
          <p:cNvSpPr>
            <a:spLocks noGrp="1"/>
          </p:cNvSpPr>
          <p:nvPr>
            <p:ph type="sldNum" sz="quarter" idx="12"/>
          </p:nvPr>
        </p:nvSpPr>
        <p:spPr/>
        <p:txBody>
          <a:bodyPr/>
          <a:lstStyle/>
          <a:p>
            <a:fld id="{BDCDBBEF-AA6C-4BA6-85B2-A17D7F280E38}" type="slidenum">
              <a:rPr lang="en-US" smtClean="0"/>
              <a:pPr/>
              <a:t>17</a:t>
            </a:fld>
            <a:endParaRPr lang="en-US"/>
          </a:p>
        </p:txBody>
      </p:sp>
      <p:pic>
        <p:nvPicPr>
          <p:cNvPr id="12290" name="Picture 2" descr="Graph example">
            <a:extLst>
              <a:ext uri="{FF2B5EF4-FFF2-40B4-BE49-F238E27FC236}">
                <a16:creationId xmlns:a16="http://schemas.microsoft.com/office/drawing/2014/main" id="{6C2A7E3F-046D-43B8-A33B-38E20E0D1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7743" y="3355914"/>
            <a:ext cx="4859015" cy="3000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749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CAE75-E64B-4854-8585-9F1A48497C54}"/>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034D4CB7-C07E-48BC-9BD0-EDB6D77C2DAF}"/>
              </a:ext>
            </a:extLst>
          </p:cNvPr>
          <p:cNvSpPr>
            <a:spLocks noGrp="1"/>
          </p:cNvSpPr>
          <p:nvPr>
            <p:ph idx="1"/>
          </p:nvPr>
        </p:nvSpPr>
        <p:spPr>
          <a:xfrm>
            <a:off x="679451" y="1311274"/>
            <a:ext cx="10515600" cy="5045081"/>
          </a:xfrm>
        </p:spPr>
        <p:txBody>
          <a:bodyPr/>
          <a:lstStyle/>
          <a:p>
            <a:pPr>
              <a:lnSpc>
                <a:spcPct val="150000"/>
              </a:lnSpc>
            </a:pPr>
            <a:r>
              <a:rPr lang="en-US" dirty="0"/>
              <a:t>Almost there. We only need to check E. 4 + 1 = 5, which is less than E's minimum distance (9), so we leave the 5. Then, we mark B as visited and set E as the current node.</a:t>
            </a:r>
          </a:p>
        </p:txBody>
      </p:sp>
      <p:sp>
        <p:nvSpPr>
          <p:cNvPr id="4" name="Slide Number Placeholder 3">
            <a:extLst>
              <a:ext uri="{FF2B5EF4-FFF2-40B4-BE49-F238E27FC236}">
                <a16:creationId xmlns:a16="http://schemas.microsoft.com/office/drawing/2014/main" id="{471AE353-1C41-48CA-891B-CF60BDAA72B2}"/>
              </a:ext>
            </a:extLst>
          </p:cNvPr>
          <p:cNvSpPr>
            <a:spLocks noGrp="1"/>
          </p:cNvSpPr>
          <p:nvPr>
            <p:ph type="sldNum" sz="quarter" idx="12"/>
          </p:nvPr>
        </p:nvSpPr>
        <p:spPr/>
        <p:txBody>
          <a:bodyPr/>
          <a:lstStyle/>
          <a:p>
            <a:fld id="{BDCDBBEF-AA6C-4BA6-85B2-A17D7F280E38}" type="slidenum">
              <a:rPr lang="en-US" smtClean="0"/>
              <a:pPr/>
              <a:t>18</a:t>
            </a:fld>
            <a:endParaRPr lang="en-US"/>
          </a:p>
        </p:txBody>
      </p:sp>
      <p:pic>
        <p:nvPicPr>
          <p:cNvPr id="13314" name="Picture 2" descr="Graph example">
            <a:extLst>
              <a:ext uri="{FF2B5EF4-FFF2-40B4-BE49-F238E27FC236}">
                <a16:creationId xmlns:a16="http://schemas.microsoft.com/office/drawing/2014/main" id="{EA1F6F3E-240C-4B51-A170-6BD138AA0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4036" y="2878302"/>
            <a:ext cx="5066564" cy="3128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214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CB550-F9EA-4908-B958-D7CC7AAB83E5}"/>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F7F5A4AB-A249-4A78-B2FE-329DFD80D2D0}"/>
              </a:ext>
            </a:extLst>
          </p:cNvPr>
          <p:cNvSpPr>
            <a:spLocks noGrp="1"/>
          </p:cNvSpPr>
          <p:nvPr>
            <p:ph idx="1"/>
          </p:nvPr>
        </p:nvSpPr>
        <p:spPr>
          <a:xfrm>
            <a:off x="679451" y="1311274"/>
            <a:ext cx="10515600" cy="5045081"/>
          </a:xfrm>
        </p:spPr>
        <p:txBody>
          <a:bodyPr/>
          <a:lstStyle/>
          <a:p>
            <a:pPr algn="just">
              <a:lnSpc>
                <a:spcPct val="150000"/>
              </a:lnSpc>
            </a:pPr>
            <a:r>
              <a:rPr lang="en-US" dirty="0"/>
              <a:t>E doesn't have any non-visited </a:t>
            </a:r>
            <a:r>
              <a:rPr lang="en-US" dirty="0" err="1"/>
              <a:t>neighbours</a:t>
            </a:r>
            <a:r>
              <a:rPr lang="en-US" dirty="0"/>
              <a:t>, so we don't need to check anything. We mark it as visited.</a:t>
            </a:r>
          </a:p>
        </p:txBody>
      </p:sp>
      <p:sp>
        <p:nvSpPr>
          <p:cNvPr id="4" name="Slide Number Placeholder 3">
            <a:extLst>
              <a:ext uri="{FF2B5EF4-FFF2-40B4-BE49-F238E27FC236}">
                <a16:creationId xmlns:a16="http://schemas.microsoft.com/office/drawing/2014/main" id="{F3D5BC68-95BE-4D93-9F1C-8DDDE5CFC9F3}"/>
              </a:ext>
            </a:extLst>
          </p:cNvPr>
          <p:cNvSpPr>
            <a:spLocks noGrp="1"/>
          </p:cNvSpPr>
          <p:nvPr>
            <p:ph type="sldNum" sz="quarter" idx="12"/>
          </p:nvPr>
        </p:nvSpPr>
        <p:spPr/>
        <p:txBody>
          <a:bodyPr/>
          <a:lstStyle/>
          <a:p>
            <a:fld id="{BDCDBBEF-AA6C-4BA6-85B2-A17D7F280E38}" type="slidenum">
              <a:rPr lang="en-US" smtClean="0"/>
              <a:pPr/>
              <a:t>19</a:t>
            </a:fld>
            <a:endParaRPr lang="en-US"/>
          </a:p>
        </p:txBody>
      </p:sp>
      <p:pic>
        <p:nvPicPr>
          <p:cNvPr id="14338" name="Picture 2" descr="Graph example">
            <a:extLst>
              <a:ext uri="{FF2B5EF4-FFF2-40B4-BE49-F238E27FC236}">
                <a16:creationId xmlns:a16="http://schemas.microsoft.com/office/drawing/2014/main" id="{B046A5C5-3499-4BE4-84E5-52BC38D844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3704" y="2727633"/>
            <a:ext cx="4965895" cy="3066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907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8184-9906-4A06-9E1B-68C1F3BDF00C}"/>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C5105DA0-3956-4A0D-ABED-094D8CC6CDA9}"/>
              </a:ext>
            </a:extLst>
          </p:cNvPr>
          <p:cNvSpPr>
            <a:spLocks noGrp="1"/>
          </p:cNvSpPr>
          <p:nvPr>
            <p:ph idx="1"/>
          </p:nvPr>
        </p:nvSpPr>
        <p:spPr>
          <a:xfrm>
            <a:off x="679451" y="1311275"/>
            <a:ext cx="10515600" cy="5045081"/>
          </a:xfrm>
        </p:spPr>
        <p:txBody>
          <a:bodyPr/>
          <a:lstStyle/>
          <a:p>
            <a:pPr algn="just">
              <a:lnSpc>
                <a:spcPct val="150000"/>
              </a:lnSpc>
            </a:pPr>
            <a:r>
              <a:rPr lang="en-US" dirty="0"/>
              <a:t>As there are not unvisited nodes, we're done! The minimum distance of each node now actually represents the minimum distance from that node to node C (the node we picked as our initial node)!</a:t>
            </a:r>
          </a:p>
        </p:txBody>
      </p:sp>
      <p:sp>
        <p:nvSpPr>
          <p:cNvPr id="4" name="Slide Number Placeholder 3">
            <a:extLst>
              <a:ext uri="{FF2B5EF4-FFF2-40B4-BE49-F238E27FC236}">
                <a16:creationId xmlns:a16="http://schemas.microsoft.com/office/drawing/2014/main" id="{791BF002-825C-4EED-84CD-D5BCD149E332}"/>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2666523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8184-9906-4A06-9E1B-68C1F3BDF00C}"/>
              </a:ext>
            </a:extLst>
          </p:cNvPr>
          <p:cNvSpPr>
            <a:spLocks noGrp="1"/>
          </p:cNvSpPr>
          <p:nvPr>
            <p:ph type="title"/>
          </p:nvPr>
        </p:nvSpPr>
        <p:spPr/>
        <p:txBody>
          <a:bodyPr/>
          <a:lstStyle/>
          <a:p>
            <a:r>
              <a:rPr lang="en-US" dirty="0">
                <a:solidFill>
                  <a:schemeClr val="tx1"/>
                </a:solidFill>
              </a:rPr>
              <a:t>Example</a:t>
            </a:r>
          </a:p>
        </p:txBody>
      </p:sp>
      <p:sp>
        <p:nvSpPr>
          <p:cNvPr id="3" name="Content Placeholder 2">
            <a:extLst>
              <a:ext uri="{FF2B5EF4-FFF2-40B4-BE49-F238E27FC236}">
                <a16:creationId xmlns:a16="http://schemas.microsoft.com/office/drawing/2014/main" id="{C5105DA0-3956-4A0D-ABED-094D8CC6CDA9}"/>
              </a:ext>
            </a:extLst>
          </p:cNvPr>
          <p:cNvSpPr>
            <a:spLocks noGrp="1"/>
          </p:cNvSpPr>
          <p:nvPr>
            <p:ph idx="1"/>
          </p:nvPr>
        </p:nvSpPr>
        <p:spPr>
          <a:xfrm>
            <a:off x="679451" y="1242000"/>
            <a:ext cx="10515600" cy="5045081"/>
          </a:xfrm>
        </p:spPr>
        <p:txBody>
          <a:bodyPr/>
          <a:lstStyle/>
          <a:p>
            <a:pPr marL="0" indent="0" algn="just">
              <a:lnSpc>
                <a:spcPct val="150000"/>
              </a:lnSpc>
              <a:buNone/>
            </a:pPr>
            <a:r>
              <a:rPr lang="en-US" b="0" i="0" dirty="0">
                <a:solidFill>
                  <a:srgbClr val="303030"/>
                </a:solidFill>
                <a:effectLst/>
              </a:rPr>
              <a:t>Using Dijkstra’s Algorithm, find the shortest distance from source vertex ‘S’ to remaining vertices in the following graph-</a:t>
            </a:r>
            <a:endParaRPr lang="en-US" dirty="0"/>
          </a:p>
        </p:txBody>
      </p:sp>
      <p:sp>
        <p:nvSpPr>
          <p:cNvPr id="4" name="Slide Number Placeholder 3">
            <a:extLst>
              <a:ext uri="{FF2B5EF4-FFF2-40B4-BE49-F238E27FC236}">
                <a16:creationId xmlns:a16="http://schemas.microsoft.com/office/drawing/2014/main" id="{791BF002-825C-4EED-84CD-D5BCD149E332}"/>
              </a:ext>
            </a:extLst>
          </p:cNvPr>
          <p:cNvSpPr>
            <a:spLocks noGrp="1"/>
          </p:cNvSpPr>
          <p:nvPr>
            <p:ph type="sldNum" sz="quarter" idx="12"/>
          </p:nvPr>
        </p:nvSpPr>
        <p:spPr/>
        <p:txBody>
          <a:bodyPr/>
          <a:lstStyle/>
          <a:p>
            <a:fld id="{BDCDBBEF-AA6C-4BA6-85B2-A17D7F280E38}" type="slidenum">
              <a:rPr lang="en-US" smtClean="0"/>
              <a:pPr/>
              <a:t>21</a:t>
            </a:fld>
            <a:endParaRPr lang="en-US"/>
          </a:p>
        </p:txBody>
      </p:sp>
      <p:pic>
        <p:nvPicPr>
          <p:cNvPr id="1026" name="Picture 2">
            <a:extLst>
              <a:ext uri="{FF2B5EF4-FFF2-40B4-BE49-F238E27FC236}">
                <a16:creationId xmlns:a16="http://schemas.microsoft.com/office/drawing/2014/main" id="{33CB0752-E5E7-4FFD-8592-8BDA4080F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569" y="2859112"/>
            <a:ext cx="4774956" cy="2684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268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8184-9906-4A06-9E1B-68C1F3BDF00C}"/>
              </a:ext>
            </a:extLst>
          </p:cNvPr>
          <p:cNvSpPr>
            <a:spLocks noGrp="1"/>
          </p:cNvSpPr>
          <p:nvPr>
            <p:ph type="title"/>
          </p:nvPr>
        </p:nvSpPr>
        <p:spPr/>
        <p:txBody>
          <a:bodyPr/>
          <a:lstStyle/>
          <a:p>
            <a:r>
              <a:rPr lang="en-US" dirty="0">
                <a:solidFill>
                  <a:schemeClr val="tx1"/>
                </a:solidFill>
              </a:rPr>
              <a:t>Example</a:t>
            </a:r>
          </a:p>
        </p:txBody>
      </p:sp>
      <p:sp>
        <p:nvSpPr>
          <p:cNvPr id="3" name="Content Placeholder 2">
            <a:extLst>
              <a:ext uri="{FF2B5EF4-FFF2-40B4-BE49-F238E27FC236}">
                <a16:creationId xmlns:a16="http://schemas.microsoft.com/office/drawing/2014/main" id="{C5105DA0-3956-4A0D-ABED-094D8CC6CDA9}"/>
              </a:ext>
            </a:extLst>
          </p:cNvPr>
          <p:cNvSpPr>
            <a:spLocks noGrp="1"/>
          </p:cNvSpPr>
          <p:nvPr>
            <p:ph idx="1"/>
          </p:nvPr>
        </p:nvSpPr>
        <p:spPr>
          <a:xfrm>
            <a:off x="679451" y="1311275"/>
            <a:ext cx="10515600" cy="5045081"/>
          </a:xfrm>
        </p:spPr>
        <p:txBody>
          <a:bodyPr/>
          <a:lstStyle/>
          <a:p>
            <a:pPr marL="0" indent="0" algn="just">
              <a:lnSpc>
                <a:spcPct val="150000"/>
              </a:lnSpc>
              <a:buNone/>
            </a:pPr>
            <a:r>
              <a:rPr lang="en-US" b="0" i="0" dirty="0">
                <a:solidFill>
                  <a:srgbClr val="303030"/>
                </a:solidFill>
                <a:effectLst/>
              </a:rPr>
              <a:t>The order in which all the vertices are processed is :</a:t>
            </a:r>
          </a:p>
          <a:p>
            <a:pPr marL="0" indent="0" algn="just">
              <a:lnSpc>
                <a:spcPct val="150000"/>
              </a:lnSpc>
              <a:buNone/>
            </a:pPr>
            <a:r>
              <a:rPr lang="pt-BR" b="1" i="0" dirty="0">
                <a:solidFill>
                  <a:srgbClr val="303030"/>
                </a:solidFill>
                <a:effectLst/>
              </a:rPr>
              <a:t>S , a , d , b , c , e</a:t>
            </a:r>
            <a:endParaRPr lang="en-US" dirty="0"/>
          </a:p>
        </p:txBody>
      </p:sp>
      <p:sp>
        <p:nvSpPr>
          <p:cNvPr id="4" name="Slide Number Placeholder 3">
            <a:extLst>
              <a:ext uri="{FF2B5EF4-FFF2-40B4-BE49-F238E27FC236}">
                <a16:creationId xmlns:a16="http://schemas.microsoft.com/office/drawing/2014/main" id="{791BF002-825C-4EED-84CD-D5BCD149E332}"/>
              </a:ext>
            </a:extLst>
          </p:cNvPr>
          <p:cNvSpPr>
            <a:spLocks noGrp="1"/>
          </p:cNvSpPr>
          <p:nvPr>
            <p:ph type="sldNum" sz="quarter" idx="12"/>
          </p:nvPr>
        </p:nvSpPr>
        <p:spPr/>
        <p:txBody>
          <a:bodyPr/>
          <a:lstStyle/>
          <a:p>
            <a:fld id="{BDCDBBEF-AA6C-4BA6-85B2-A17D7F280E38}" type="slidenum">
              <a:rPr lang="en-US" smtClean="0"/>
              <a:pPr/>
              <a:t>22</a:t>
            </a:fld>
            <a:endParaRPr lang="en-US"/>
          </a:p>
        </p:txBody>
      </p:sp>
      <p:pic>
        <p:nvPicPr>
          <p:cNvPr id="2050" name="Picture 2">
            <a:extLst>
              <a:ext uri="{FF2B5EF4-FFF2-40B4-BE49-F238E27FC236}">
                <a16:creationId xmlns:a16="http://schemas.microsoft.com/office/drawing/2014/main" id="{0C37479A-12EC-48C4-974B-A4B9D6FF4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1824" y="2365459"/>
            <a:ext cx="4528625" cy="3385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982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fontAlgn="base"/>
            <a:r>
              <a:rPr lang="en-US" b="1" dirty="0"/>
              <a:t>Prefix </a:t>
            </a:r>
            <a:r>
              <a:rPr lang="en-US" dirty="0"/>
              <a:t>C</a:t>
            </a:r>
            <a:r>
              <a:rPr lang="en-US" b="1" dirty="0"/>
              <a:t>odes</a:t>
            </a: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23</a:t>
            </a:fld>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id="{50EA39C9-5CEF-47CB-B981-7B7DB6954B39}"/>
              </a:ext>
            </a:extLst>
          </p:cNvPr>
          <p:cNvSpPr>
            <a:spLocks noGrp="1"/>
          </p:cNvSpPr>
          <p:nvPr>
            <p:ph idx="1"/>
          </p:nvPr>
        </p:nvSpPr>
        <p:spPr>
          <a:xfrm>
            <a:off x="838200" y="1195754"/>
            <a:ext cx="10383078" cy="4408915"/>
          </a:xfrm>
        </p:spPr>
        <p:txBody>
          <a:bodyPr>
            <a:normAutofit/>
          </a:bodyPr>
          <a:lstStyle/>
          <a:p>
            <a:pPr>
              <a:lnSpc>
                <a:spcPct val="150000"/>
              </a:lnSpc>
            </a:pPr>
            <a:r>
              <a:rPr lang="en-US" b="0" i="0" dirty="0">
                <a:solidFill>
                  <a:srgbClr val="273239"/>
                </a:solidFill>
                <a:effectLst/>
              </a:rPr>
              <a:t>Let there be four characters a, b, c and d, and their corresponding variable length codes be 00, 01, 0 and 1. </a:t>
            </a:r>
          </a:p>
          <a:p>
            <a:pPr>
              <a:lnSpc>
                <a:spcPct val="150000"/>
              </a:lnSpc>
            </a:pPr>
            <a:r>
              <a:rPr lang="en-US" b="0" i="0" dirty="0">
                <a:solidFill>
                  <a:srgbClr val="273239"/>
                </a:solidFill>
                <a:effectLst/>
              </a:rPr>
              <a:t>This coding leads to ambiguity because code assigned to c is the prefix of codes assigned to a and b. </a:t>
            </a:r>
          </a:p>
          <a:p>
            <a:pPr>
              <a:lnSpc>
                <a:spcPct val="150000"/>
              </a:lnSpc>
            </a:pPr>
            <a:r>
              <a:rPr lang="en-US" b="0" i="0" dirty="0">
                <a:solidFill>
                  <a:srgbClr val="273239"/>
                </a:solidFill>
                <a:effectLst/>
              </a:rPr>
              <a:t>If the compressed bit stream is 0001, the de-compressed output may be “</a:t>
            </a:r>
            <a:r>
              <a:rPr lang="en-US" b="0" i="0" dirty="0" err="1">
                <a:solidFill>
                  <a:srgbClr val="273239"/>
                </a:solidFill>
                <a:effectLst/>
              </a:rPr>
              <a:t>cccd</a:t>
            </a:r>
            <a:r>
              <a:rPr lang="en-US" b="0" i="0" dirty="0">
                <a:solidFill>
                  <a:srgbClr val="273239"/>
                </a:solidFill>
                <a:effectLst/>
              </a:rPr>
              <a:t>” or “</a:t>
            </a:r>
            <a:r>
              <a:rPr lang="en-US" b="0" i="0" dirty="0" err="1">
                <a:solidFill>
                  <a:srgbClr val="273239"/>
                </a:solidFill>
                <a:effectLst/>
              </a:rPr>
              <a:t>ccb</a:t>
            </a:r>
            <a:r>
              <a:rPr lang="en-US" b="0" i="0" dirty="0">
                <a:solidFill>
                  <a:srgbClr val="273239"/>
                </a:solidFill>
                <a:effectLst/>
              </a:rPr>
              <a:t>” or “</a:t>
            </a:r>
            <a:r>
              <a:rPr lang="en-US" b="0" i="0" dirty="0" err="1">
                <a:solidFill>
                  <a:srgbClr val="273239"/>
                </a:solidFill>
                <a:effectLst/>
              </a:rPr>
              <a:t>acd</a:t>
            </a:r>
            <a:r>
              <a:rPr lang="en-US" b="0" i="0" dirty="0">
                <a:solidFill>
                  <a:srgbClr val="273239"/>
                </a:solidFill>
                <a:effectLst/>
              </a:rPr>
              <a:t>” or “ab”.</a:t>
            </a:r>
            <a:endParaRPr lang="en-US" sz="2400" dirty="0"/>
          </a:p>
        </p:txBody>
      </p:sp>
    </p:spTree>
    <p:extLst>
      <p:ext uri="{BB962C8B-B14F-4D97-AF65-F5344CB8AC3E}">
        <p14:creationId xmlns:p14="http://schemas.microsoft.com/office/powerpoint/2010/main" val="3134219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fontAlgn="base"/>
            <a:r>
              <a:rPr lang="en-US" b="1" dirty="0"/>
              <a:t>Huffman Coding</a:t>
            </a:r>
          </a:p>
        </p:txBody>
      </p:sp>
      <p:sp>
        <p:nvSpPr>
          <p:cNvPr id="3" name="Content Placeholder 2"/>
          <p:cNvSpPr>
            <a:spLocks noGrp="1"/>
          </p:cNvSpPr>
          <p:nvPr>
            <p:ph idx="1"/>
          </p:nvPr>
        </p:nvSpPr>
        <p:spPr>
          <a:xfrm>
            <a:off x="838200" y="979054"/>
            <a:ext cx="10515600" cy="5197909"/>
          </a:xfrm>
        </p:spPr>
        <p:txBody>
          <a:bodyPr>
            <a:normAutofit lnSpcReduction="10000"/>
          </a:bodyPr>
          <a:lstStyle/>
          <a:p>
            <a:pPr fontAlgn="base"/>
            <a:r>
              <a:rPr lang="en-US" sz="2400" dirty="0"/>
              <a:t>Huffman Coding is a famous Greedy Algorithm.</a:t>
            </a:r>
          </a:p>
          <a:p>
            <a:pPr fontAlgn="base"/>
            <a:r>
              <a:rPr lang="en-US" sz="2400" dirty="0"/>
              <a:t>It is used for the lossless compression of data.</a:t>
            </a:r>
          </a:p>
          <a:p>
            <a:pPr fontAlgn="base"/>
            <a:r>
              <a:rPr lang="en-US" sz="2400" dirty="0"/>
              <a:t>It uses variable length encoding.</a:t>
            </a:r>
          </a:p>
          <a:p>
            <a:pPr fontAlgn="base"/>
            <a:r>
              <a:rPr lang="en-US" sz="2400" dirty="0"/>
              <a:t>It assigns variable length code to all the characters.</a:t>
            </a:r>
          </a:p>
          <a:p>
            <a:pPr fontAlgn="base"/>
            <a:r>
              <a:rPr lang="en-US" sz="2400" dirty="0"/>
              <a:t>The code length of a character depends on how frequently it occurs in the given text.</a:t>
            </a:r>
          </a:p>
          <a:p>
            <a:pPr fontAlgn="base"/>
            <a:r>
              <a:rPr lang="en-US" sz="2400" dirty="0"/>
              <a:t>The character which occurs most frequently gets the smallest code.</a:t>
            </a:r>
          </a:p>
          <a:p>
            <a:pPr fontAlgn="base"/>
            <a:r>
              <a:rPr lang="en-US" sz="2400" dirty="0"/>
              <a:t>The character which occurs least frequently gets the largest code.</a:t>
            </a:r>
          </a:p>
          <a:p>
            <a:pPr fontAlgn="base"/>
            <a:r>
              <a:rPr lang="en-US" sz="2400" dirty="0"/>
              <a:t>Huffman Coding implements a rule known as a prefix rule.</a:t>
            </a:r>
          </a:p>
          <a:p>
            <a:pPr fontAlgn="base"/>
            <a:r>
              <a:rPr lang="en-US" sz="2400" dirty="0"/>
              <a:t>This is to prevent the ambiguities while decoding.</a:t>
            </a:r>
          </a:p>
          <a:p>
            <a:pPr algn="just" fontAlgn="base"/>
            <a:r>
              <a:rPr lang="en-US" sz="2400" dirty="0"/>
              <a:t>It ensures that the code assigned to any character is not a prefix of the code assigned to any other character.</a:t>
            </a:r>
          </a:p>
          <a:p>
            <a:pPr fontAlgn="base"/>
            <a:r>
              <a:rPr lang="en-US" sz="2400" dirty="0"/>
              <a:t>It is also known as </a:t>
            </a:r>
            <a:r>
              <a:rPr lang="en-US" sz="2400" b="1" dirty="0"/>
              <a:t>Huffman Encoding</a:t>
            </a:r>
            <a:r>
              <a:rPr lang="en-US" sz="2400" dirty="0"/>
              <a:t>.</a:t>
            </a: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24</a:t>
            </a:fld>
            <a:endParaRPr lang="en-US">
              <a:latin typeface="Times New Roman" pitchFamily="18" charset="0"/>
              <a:cs typeface="Times New Roman" pitchFamily="18" charset="0"/>
            </a:endParaRPr>
          </a:p>
        </p:txBody>
      </p:sp>
      <p:sp>
        <p:nvSpPr>
          <p:cNvPr id="5" name="Rectangle 4"/>
          <p:cNvSpPr/>
          <p:nvPr/>
        </p:nvSpPr>
        <p:spPr>
          <a:xfrm>
            <a:off x="838200" y="979055"/>
            <a:ext cx="10515600" cy="51931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404884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a:r>
              <a:rPr lang="en-US" b="1" dirty="0"/>
              <a:t>Huffman Coding</a:t>
            </a:r>
            <a:endParaRPr lang="en-US"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25</a:t>
            </a:fld>
            <a:endParaRPr lang="en-US">
              <a:latin typeface="Times New Roman" pitchFamily="18" charset="0"/>
              <a:cs typeface="Times New Roman" pitchFamily="18" charset="0"/>
            </a:endParaRPr>
          </a:p>
        </p:txBody>
      </p:sp>
      <p:sp>
        <p:nvSpPr>
          <p:cNvPr id="5" name="Rectangle 4"/>
          <p:cNvSpPr/>
          <p:nvPr/>
        </p:nvSpPr>
        <p:spPr>
          <a:xfrm>
            <a:off x="838200" y="979055"/>
            <a:ext cx="10515600" cy="51931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865D2E51-C465-42ED-91AB-5AEFDF9E3CB1}"/>
              </a:ext>
            </a:extLst>
          </p:cNvPr>
          <p:cNvSpPr>
            <a:spLocks noGrp="1"/>
          </p:cNvSpPr>
          <p:nvPr>
            <p:ph idx="1"/>
          </p:nvPr>
        </p:nvSpPr>
        <p:spPr>
          <a:xfrm>
            <a:off x="838200" y="979055"/>
            <a:ext cx="10515600" cy="5197908"/>
          </a:xfrm>
        </p:spPr>
        <p:txBody>
          <a:bodyPr>
            <a:normAutofit lnSpcReduction="10000"/>
          </a:bodyPr>
          <a:lstStyle/>
          <a:p>
            <a:pPr algn="just">
              <a:lnSpc>
                <a:spcPct val="150000"/>
              </a:lnSpc>
            </a:pPr>
            <a:r>
              <a:rPr lang="en-US" sz="2400" dirty="0"/>
              <a:t>Huffman Coding is a technique of compressing data to reduce its size without losing any of the details. It was first developed by David Huffman.</a:t>
            </a:r>
          </a:p>
          <a:p>
            <a:pPr algn="just">
              <a:lnSpc>
                <a:spcPct val="150000"/>
              </a:lnSpc>
            </a:pPr>
            <a:r>
              <a:rPr lang="en-US" sz="2400" dirty="0"/>
              <a:t>Huffman Coding is generally useful to compress the data in which there are frequently occurring characters.</a:t>
            </a:r>
          </a:p>
          <a:p>
            <a:pPr algn="just">
              <a:lnSpc>
                <a:spcPct val="150000"/>
              </a:lnSpc>
            </a:pPr>
            <a:r>
              <a:rPr lang="en-US" sz="2400" b="1" dirty="0"/>
              <a:t>Huffman coding</a:t>
            </a:r>
            <a:r>
              <a:rPr lang="en-US" sz="2400" dirty="0"/>
              <a:t> assigns codes to characters such that the length of the code depends on the relative frequency or weight of the corresponding character. Huffman codes are of variable-length, and prefix-free (no code is prefix of any other). Any prefix-free binary code can be visualized as a binary tree with the encoded characters stored at the leaves.</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4429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0A351-B804-4734-9193-DD2088B6FEBF}"/>
              </a:ext>
            </a:extLst>
          </p:cNvPr>
          <p:cNvSpPr>
            <a:spLocks noGrp="1"/>
          </p:cNvSpPr>
          <p:nvPr>
            <p:ph type="title"/>
          </p:nvPr>
        </p:nvSpPr>
        <p:spPr>
          <a:xfrm>
            <a:off x="844063" y="136519"/>
            <a:ext cx="8445712" cy="970369"/>
          </a:xfrm>
        </p:spPr>
        <p:txBody>
          <a:bodyPr/>
          <a:lstStyle/>
          <a:p>
            <a:r>
              <a:rPr lang="en-US" dirty="0"/>
              <a:t>Huffman coding tree </a:t>
            </a:r>
          </a:p>
        </p:txBody>
      </p:sp>
      <p:sp>
        <p:nvSpPr>
          <p:cNvPr id="3" name="Content Placeholder 2">
            <a:extLst>
              <a:ext uri="{FF2B5EF4-FFF2-40B4-BE49-F238E27FC236}">
                <a16:creationId xmlns:a16="http://schemas.microsoft.com/office/drawing/2014/main" id="{FDE3FF9F-3129-48CF-A1E7-47D450586B92}"/>
              </a:ext>
            </a:extLst>
          </p:cNvPr>
          <p:cNvSpPr>
            <a:spLocks noGrp="1"/>
          </p:cNvSpPr>
          <p:nvPr>
            <p:ph idx="1"/>
          </p:nvPr>
        </p:nvSpPr>
        <p:spPr>
          <a:xfrm>
            <a:off x="590843" y="1199473"/>
            <a:ext cx="10866865" cy="5423000"/>
          </a:xfrm>
          <a:ln w="9525"/>
        </p:spPr>
        <p:txBody>
          <a:bodyPr>
            <a:normAutofit fontScale="92500" lnSpcReduction="20000"/>
          </a:bodyPr>
          <a:lstStyle/>
          <a:p>
            <a:pPr algn="just">
              <a:lnSpc>
                <a:spcPct val="150000"/>
              </a:lnSpc>
            </a:pPr>
            <a:r>
              <a:rPr lang="en-US" sz="2400" b="1" dirty="0"/>
              <a:t>Huffman coding tree</a:t>
            </a:r>
            <a:r>
              <a:rPr lang="en-US" sz="2400" dirty="0"/>
              <a:t> or </a:t>
            </a:r>
            <a:r>
              <a:rPr lang="en-US" sz="2400" b="1" dirty="0"/>
              <a:t>Huffman tree</a:t>
            </a:r>
            <a:r>
              <a:rPr lang="en-US" sz="2400" dirty="0"/>
              <a:t> is a full binary tree in which each leaf of the tree corresponds to a letter in the given word.</a:t>
            </a:r>
          </a:p>
          <a:p>
            <a:pPr algn="just">
              <a:lnSpc>
                <a:spcPct val="150000"/>
              </a:lnSpc>
            </a:pPr>
            <a:r>
              <a:rPr lang="en-US" altLang="en-US" dirty="0"/>
              <a:t>One can often gain an improvement in space requirements in exchange for a penalty in running time. There are many situations where this is a desirable tradeoff. A typical example is storing files on disk. If the files are not actively used, the owner might wish to compress them to save space. Later, they can be uncompressed for use, which costs some time, but only once.</a:t>
            </a:r>
          </a:p>
          <a:p>
            <a:pPr algn="just">
              <a:lnSpc>
                <a:spcPct val="150000"/>
              </a:lnSpc>
            </a:pPr>
            <a:r>
              <a:rPr lang="en-US" altLang="en-US" dirty="0"/>
              <a:t>We often represent a set of items in a computer program by assigning a unique code to each item. For example, the standard ASCII coding scheme assigns a unique eight-bit value to each character. It takes a certain minimum number of bits to provide enough unique codes so that we have a different one for each character.</a:t>
            </a:r>
          </a:p>
        </p:txBody>
      </p:sp>
      <p:sp>
        <p:nvSpPr>
          <p:cNvPr id="4" name="Slide Number Placeholder 3">
            <a:extLst>
              <a:ext uri="{FF2B5EF4-FFF2-40B4-BE49-F238E27FC236}">
                <a16:creationId xmlns:a16="http://schemas.microsoft.com/office/drawing/2014/main" id="{190F9384-B3C2-4389-A413-52A03F8A07B3}"/>
              </a:ext>
            </a:extLst>
          </p:cNvPr>
          <p:cNvSpPr>
            <a:spLocks noGrp="1"/>
          </p:cNvSpPr>
          <p:nvPr>
            <p:ph type="sldNum" sz="quarter" idx="12"/>
          </p:nvPr>
        </p:nvSpPr>
        <p:spPr/>
        <p:txBody>
          <a:bodyPr/>
          <a:lstStyle/>
          <a:p>
            <a:fld id="{BDCDBBEF-AA6C-4BA6-85B2-A17D7F280E38}" type="slidenum">
              <a:rPr lang="en-US" smtClean="0"/>
              <a:pPr/>
              <a:t>26</a:t>
            </a:fld>
            <a:endParaRPr lang="en-US"/>
          </a:p>
        </p:txBody>
      </p:sp>
      <p:sp>
        <p:nvSpPr>
          <p:cNvPr id="5" name="Rectangle 1">
            <a:extLst>
              <a:ext uri="{FF2B5EF4-FFF2-40B4-BE49-F238E27FC236}">
                <a16:creationId xmlns:a16="http://schemas.microsoft.com/office/drawing/2014/main" id="{1C979050-23CA-4DF2-A8E6-48D44DBD28F1}"/>
              </a:ext>
            </a:extLst>
          </p:cNvPr>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Low"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9112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0A351-B804-4734-9193-DD2088B6FEBF}"/>
              </a:ext>
            </a:extLst>
          </p:cNvPr>
          <p:cNvSpPr>
            <a:spLocks noGrp="1"/>
          </p:cNvSpPr>
          <p:nvPr>
            <p:ph type="title"/>
          </p:nvPr>
        </p:nvSpPr>
        <p:spPr>
          <a:xfrm>
            <a:off x="844063" y="136519"/>
            <a:ext cx="8445712" cy="970369"/>
          </a:xfrm>
        </p:spPr>
        <p:txBody>
          <a:bodyPr/>
          <a:lstStyle/>
          <a:p>
            <a:r>
              <a:rPr lang="en-US" dirty="0"/>
              <a:t>Huffman Coding</a:t>
            </a:r>
          </a:p>
        </p:txBody>
      </p:sp>
      <p:sp>
        <p:nvSpPr>
          <p:cNvPr id="3" name="Content Placeholder 2">
            <a:extLst>
              <a:ext uri="{FF2B5EF4-FFF2-40B4-BE49-F238E27FC236}">
                <a16:creationId xmlns:a16="http://schemas.microsoft.com/office/drawing/2014/main" id="{FDE3FF9F-3129-48CF-A1E7-47D450586B92}"/>
              </a:ext>
            </a:extLst>
          </p:cNvPr>
          <p:cNvSpPr>
            <a:spLocks noGrp="1"/>
          </p:cNvSpPr>
          <p:nvPr>
            <p:ph idx="1"/>
          </p:nvPr>
        </p:nvSpPr>
        <p:spPr>
          <a:xfrm>
            <a:off x="590843" y="1199473"/>
            <a:ext cx="10930597" cy="5384207"/>
          </a:xfrm>
          <a:ln w="9525"/>
        </p:spPr>
        <p:txBody>
          <a:bodyPr>
            <a:normAutofit/>
          </a:bodyPr>
          <a:lstStyle/>
          <a:p>
            <a:pPr marL="0" indent="0" algn="just">
              <a:buNone/>
            </a:pPr>
            <a:r>
              <a:rPr lang="en-US" b="0" i="0" dirty="0">
                <a:solidFill>
                  <a:srgbClr val="610B38"/>
                </a:solidFill>
                <a:effectLst/>
              </a:rPr>
              <a:t>Huffman Codes</a:t>
            </a:r>
          </a:p>
          <a:p>
            <a:pPr algn="just">
              <a:buFont typeface="Arial" panose="020B0604020202020204" pitchFamily="34" charset="0"/>
              <a:buChar char="•"/>
            </a:pPr>
            <a:r>
              <a:rPr lang="en-US" b="0" i="0" dirty="0">
                <a:solidFill>
                  <a:srgbClr val="000000"/>
                </a:solidFill>
                <a:effectLst/>
              </a:rPr>
              <a:t>(</a:t>
            </a:r>
            <a:r>
              <a:rPr lang="en-US" b="0" i="0" dirty="0" err="1">
                <a:solidFill>
                  <a:srgbClr val="000000"/>
                </a:solidFill>
                <a:effectLst/>
              </a:rPr>
              <a:t>i</a:t>
            </a:r>
            <a:r>
              <a:rPr lang="en-US" b="0" i="0" dirty="0">
                <a:solidFill>
                  <a:srgbClr val="000000"/>
                </a:solidFill>
                <a:effectLst/>
              </a:rPr>
              <a:t>) Data can be encoded efficiently using Huffman Codes.</a:t>
            </a:r>
          </a:p>
          <a:p>
            <a:pPr algn="just">
              <a:buFont typeface="Arial" panose="020B0604020202020204" pitchFamily="34" charset="0"/>
              <a:buChar char="•"/>
            </a:pPr>
            <a:r>
              <a:rPr lang="en-US" b="0" i="0" dirty="0">
                <a:solidFill>
                  <a:srgbClr val="000000"/>
                </a:solidFill>
                <a:effectLst/>
              </a:rPr>
              <a:t>(ii) It is a widely used and beneficial technique for compressing data.</a:t>
            </a:r>
          </a:p>
          <a:p>
            <a:pPr algn="just">
              <a:buFont typeface="Arial" panose="020B0604020202020204" pitchFamily="34" charset="0"/>
              <a:buChar char="•"/>
            </a:pPr>
            <a:r>
              <a:rPr lang="en-US" b="0" i="0" dirty="0">
                <a:solidFill>
                  <a:srgbClr val="000000"/>
                </a:solidFill>
                <a:effectLst/>
              </a:rPr>
              <a:t>(iii) Huffman's greedy algorithm uses a table of the frequencies of occurrences of each character to build up an optimal way of representing each character as a binary string.</a:t>
            </a:r>
          </a:p>
          <a:p>
            <a:pPr algn="just"/>
            <a:r>
              <a:rPr lang="en-US" b="0" i="0" dirty="0">
                <a:solidFill>
                  <a:srgbClr val="333333"/>
                </a:solidFill>
                <a:effectLst/>
              </a:rPr>
              <a:t>Suppose we have 10</a:t>
            </a:r>
            <a:r>
              <a:rPr lang="en-US" b="0" i="0" baseline="30000" dirty="0">
                <a:solidFill>
                  <a:srgbClr val="333333"/>
                </a:solidFill>
                <a:effectLst/>
              </a:rPr>
              <a:t>5</a:t>
            </a:r>
            <a:r>
              <a:rPr lang="en-US" b="0" i="0" dirty="0">
                <a:solidFill>
                  <a:srgbClr val="333333"/>
                </a:solidFill>
                <a:effectLst/>
              </a:rPr>
              <a:t> characters in a data file. Normal Storage: 8 bits per character (ASCII) - 8 x 10</a:t>
            </a:r>
            <a:r>
              <a:rPr lang="en-US" b="0" i="0" baseline="30000" dirty="0">
                <a:solidFill>
                  <a:srgbClr val="333333"/>
                </a:solidFill>
                <a:effectLst/>
              </a:rPr>
              <a:t>5</a:t>
            </a:r>
            <a:r>
              <a:rPr lang="en-US" b="0" i="0" dirty="0">
                <a:solidFill>
                  <a:srgbClr val="333333"/>
                </a:solidFill>
                <a:effectLst/>
              </a:rPr>
              <a:t> bits in a file. But we want to compress the file and save it compactly. Suppose only six characters appear in the file:</a:t>
            </a:r>
          </a:p>
          <a:p>
            <a:pPr marL="0" indent="0">
              <a:buNone/>
            </a:pPr>
            <a:br>
              <a:rPr lang="en-US" dirty="0"/>
            </a:br>
            <a:endParaRPr lang="en-US" altLang="en-US" dirty="0"/>
          </a:p>
        </p:txBody>
      </p:sp>
      <p:sp>
        <p:nvSpPr>
          <p:cNvPr id="4" name="Slide Number Placeholder 3">
            <a:extLst>
              <a:ext uri="{FF2B5EF4-FFF2-40B4-BE49-F238E27FC236}">
                <a16:creationId xmlns:a16="http://schemas.microsoft.com/office/drawing/2014/main" id="{190F9384-B3C2-4389-A413-52A03F8A07B3}"/>
              </a:ext>
            </a:extLst>
          </p:cNvPr>
          <p:cNvSpPr>
            <a:spLocks noGrp="1"/>
          </p:cNvSpPr>
          <p:nvPr>
            <p:ph type="sldNum" sz="quarter" idx="12"/>
          </p:nvPr>
        </p:nvSpPr>
        <p:spPr/>
        <p:txBody>
          <a:bodyPr/>
          <a:lstStyle/>
          <a:p>
            <a:fld id="{BDCDBBEF-AA6C-4BA6-85B2-A17D7F280E38}" type="slidenum">
              <a:rPr lang="en-US" smtClean="0"/>
              <a:pPr/>
              <a:t>27</a:t>
            </a:fld>
            <a:endParaRPr lang="en-US"/>
          </a:p>
        </p:txBody>
      </p:sp>
      <p:sp>
        <p:nvSpPr>
          <p:cNvPr id="5" name="Rectangle 1">
            <a:extLst>
              <a:ext uri="{FF2B5EF4-FFF2-40B4-BE49-F238E27FC236}">
                <a16:creationId xmlns:a16="http://schemas.microsoft.com/office/drawing/2014/main" id="{1C979050-23CA-4DF2-A8E6-48D44DBD28F1}"/>
              </a:ext>
            </a:extLst>
          </p:cNvPr>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Low"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Huffman Codes">
            <a:extLst>
              <a:ext uri="{FF2B5EF4-FFF2-40B4-BE49-F238E27FC236}">
                <a16:creationId xmlns:a16="http://schemas.microsoft.com/office/drawing/2014/main" id="{54B09206-0DDF-4F7C-B61B-CD6C97110F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479" y="5106573"/>
            <a:ext cx="10615323" cy="6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841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0A351-B804-4734-9193-DD2088B6FEBF}"/>
              </a:ext>
            </a:extLst>
          </p:cNvPr>
          <p:cNvSpPr>
            <a:spLocks noGrp="1"/>
          </p:cNvSpPr>
          <p:nvPr>
            <p:ph type="title"/>
          </p:nvPr>
        </p:nvSpPr>
        <p:spPr>
          <a:xfrm>
            <a:off x="844063" y="136519"/>
            <a:ext cx="8445712" cy="970369"/>
          </a:xfrm>
        </p:spPr>
        <p:txBody>
          <a:bodyPr/>
          <a:lstStyle/>
          <a:p>
            <a:r>
              <a:rPr lang="en-US" dirty="0"/>
              <a:t>Huffman coding</a:t>
            </a:r>
          </a:p>
        </p:txBody>
      </p:sp>
      <p:sp>
        <p:nvSpPr>
          <p:cNvPr id="3" name="Content Placeholder 2">
            <a:extLst>
              <a:ext uri="{FF2B5EF4-FFF2-40B4-BE49-F238E27FC236}">
                <a16:creationId xmlns:a16="http://schemas.microsoft.com/office/drawing/2014/main" id="{FDE3FF9F-3129-48CF-A1E7-47D450586B92}"/>
              </a:ext>
            </a:extLst>
          </p:cNvPr>
          <p:cNvSpPr>
            <a:spLocks noGrp="1"/>
          </p:cNvSpPr>
          <p:nvPr>
            <p:ph idx="1"/>
          </p:nvPr>
        </p:nvSpPr>
        <p:spPr>
          <a:xfrm>
            <a:off x="590843" y="1199473"/>
            <a:ext cx="5289452" cy="5384207"/>
          </a:xfrm>
          <a:ln w="9525"/>
        </p:spPr>
        <p:txBody>
          <a:bodyPr>
            <a:normAutofit/>
          </a:bodyPr>
          <a:lstStyle/>
          <a:p>
            <a:pPr marL="0" indent="0" algn="just">
              <a:buNone/>
            </a:pPr>
            <a:r>
              <a:rPr lang="en-US" b="1" i="0" dirty="0">
                <a:solidFill>
                  <a:srgbClr val="333333"/>
                </a:solidFill>
                <a:effectLst/>
              </a:rPr>
              <a:t>(</a:t>
            </a:r>
            <a:r>
              <a:rPr lang="en-US" b="1" i="0" dirty="0" err="1">
                <a:solidFill>
                  <a:srgbClr val="333333"/>
                </a:solidFill>
                <a:effectLst/>
              </a:rPr>
              <a:t>i</a:t>
            </a:r>
            <a:r>
              <a:rPr lang="en-US" b="1" i="0" dirty="0">
                <a:solidFill>
                  <a:srgbClr val="333333"/>
                </a:solidFill>
                <a:effectLst/>
              </a:rPr>
              <a:t>) Fixed length Code:</a:t>
            </a:r>
            <a:r>
              <a:rPr lang="en-US" b="0" i="0" dirty="0">
                <a:solidFill>
                  <a:srgbClr val="333333"/>
                </a:solidFill>
                <a:effectLst/>
              </a:rPr>
              <a:t> Each letter represented by an equal number of bits. With a fixed length code, at least 3 bits per character:</a:t>
            </a:r>
          </a:p>
          <a:p>
            <a:pPr algn="just">
              <a:lnSpc>
                <a:spcPct val="110000"/>
              </a:lnSpc>
            </a:pPr>
            <a:r>
              <a:rPr lang="pt-BR" altLang="en-US" dirty="0"/>
              <a:t>a			000</a:t>
            </a:r>
          </a:p>
          <a:p>
            <a:pPr algn="just">
              <a:lnSpc>
                <a:spcPct val="110000"/>
              </a:lnSpc>
            </a:pPr>
            <a:r>
              <a:rPr lang="pt-BR" altLang="en-US" dirty="0"/>
              <a:t>b			001</a:t>
            </a:r>
          </a:p>
          <a:p>
            <a:pPr algn="just">
              <a:lnSpc>
                <a:spcPct val="110000"/>
              </a:lnSpc>
            </a:pPr>
            <a:r>
              <a:rPr lang="pt-BR" altLang="en-US" dirty="0"/>
              <a:t>c			010</a:t>
            </a:r>
          </a:p>
          <a:p>
            <a:pPr algn="just">
              <a:lnSpc>
                <a:spcPct val="110000"/>
              </a:lnSpc>
            </a:pPr>
            <a:r>
              <a:rPr lang="pt-BR" altLang="en-US" dirty="0"/>
              <a:t>d			011</a:t>
            </a:r>
          </a:p>
          <a:p>
            <a:pPr algn="just">
              <a:lnSpc>
                <a:spcPct val="110000"/>
              </a:lnSpc>
            </a:pPr>
            <a:r>
              <a:rPr lang="pt-BR" altLang="en-US" dirty="0"/>
              <a:t>e			100</a:t>
            </a:r>
          </a:p>
          <a:p>
            <a:pPr algn="just">
              <a:lnSpc>
                <a:spcPct val="110000"/>
              </a:lnSpc>
            </a:pPr>
            <a:r>
              <a:rPr lang="pt-BR" altLang="en-US" dirty="0"/>
              <a:t>f			101</a:t>
            </a:r>
          </a:p>
          <a:p>
            <a:pPr marL="0" indent="0" algn="just">
              <a:buNone/>
            </a:pPr>
            <a:r>
              <a:rPr lang="en-US" b="0" i="0" dirty="0">
                <a:solidFill>
                  <a:srgbClr val="333333"/>
                </a:solidFill>
                <a:effectLst/>
              </a:rPr>
              <a:t>For a file with 10</a:t>
            </a:r>
            <a:r>
              <a:rPr lang="en-US" b="0" i="0" baseline="30000" dirty="0">
                <a:solidFill>
                  <a:srgbClr val="333333"/>
                </a:solidFill>
                <a:effectLst/>
              </a:rPr>
              <a:t>5</a:t>
            </a:r>
            <a:r>
              <a:rPr lang="en-US" b="0" i="0" dirty="0">
                <a:solidFill>
                  <a:srgbClr val="333333"/>
                </a:solidFill>
                <a:effectLst/>
              </a:rPr>
              <a:t> characters, we need 3 x 10</a:t>
            </a:r>
            <a:r>
              <a:rPr lang="en-US" b="0" i="0" baseline="30000" dirty="0">
                <a:solidFill>
                  <a:srgbClr val="333333"/>
                </a:solidFill>
                <a:effectLst/>
              </a:rPr>
              <a:t>5</a:t>
            </a:r>
            <a:r>
              <a:rPr lang="en-US" b="0" i="0" dirty="0">
                <a:solidFill>
                  <a:srgbClr val="333333"/>
                </a:solidFill>
                <a:effectLst/>
              </a:rPr>
              <a:t> bits.</a:t>
            </a:r>
            <a:endParaRPr lang="en-US" altLang="en-US" dirty="0"/>
          </a:p>
        </p:txBody>
      </p:sp>
      <p:sp>
        <p:nvSpPr>
          <p:cNvPr id="4" name="Slide Number Placeholder 3">
            <a:extLst>
              <a:ext uri="{FF2B5EF4-FFF2-40B4-BE49-F238E27FC236}">
                <a16:creationId xmlns:a16="http://schemas.microsoft.com/office/drawing/2014/main" id="{190F9384-B3C2-4389-A413-52A03F8A07B3}"/>
              </a:ext>
            </a:extLst>
          </p:cNvPr>
          <p:cNvSpPr>
            <a:spLocks noGrp="1"/>
          </p:cNvSpPr>
          <p:nvPr>
            <p:ph type="sldNum" sz="quarter" idx="12"/>
          </p:nvPr>
        </p:nvSpPr>
        <p:spPr/>
        <p:txBody>
          <a:bodyPr/>
          <a:lstStyle/>
          <a:p>
            <a:fld id="{BDCDBBEF-AA6C-4BA6-85B2-A17D7F280E38}" type="slidenum">
              <a:rPr lang="en-US" smtClean="0"/>
              <a:pPr/>
              <a:t>28</a:t>
            </a:fld>
            <a:endParaRPr lang="en-US"/>
          </a:p>
        </p:txBody>
      </p:sp>
      <p:sp>
        <p:nvSpPr>
          <p:cNvPr id="5" name="Rectangle 1">
            <a:extLst>
              <a:ext uri="{FF2B5EF4-FFF2-40B4-BE49-F238E27FC236}">
                <a16:creationId xmlns:a16="http://schemas.microsoft.com/office/drawing/2014/main" id="{1C979050-23CA-4DF2-A8E6-48D44DBD28F1}"/>
              </a:ext>
            </a:extLst>
          </p:cNvPr>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Low"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Content Placeholder 2">
            <a:extLst>
              <a:ext uri="{FF2B5EF4-FFF2-40B4-BE49-F238E27FC236}">
                <a16:creationId xmlns:a16="http://schemas.microsoft.com/office/drawing/2014/main" id="{B84511FF-CDBB-46F0-99B0-6A46B13C3932}"/>
              </a:ext>
            </a:extLst>
          </p:cNvPr>
          <p:cNvSpPr txBox="1">
            <a:spLocks/>
          </p:cNvSpPr>
          <p:nvPr/>
        </p:nvSpPr>
        <p:spPr bwMode="auto">
          <a:xfrm>
            <a:off x="6003634" y="1214915"/>
            <a:ext cx="5461535" cy="53842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b="1" i="0" dirty="0">
                <a:solidFill>
                  <a:srgbClr val="333333"/>
                </a:solidFill>
                <a:effectLst/>
              </a:rPr>
              <a:t>(ii) A variable-length code:</a:t>
            </a:r>
            <a:r>
              <a:rPr lang="en-US" b="0" i="0" dirty="0">
                <a:solidFill>
                  <a:srgbClr val="333333"/>
                </a:solidFill>
                <a:effectLst/>
              </a:rPr>
              <a:t> It can do considerably better than a fixed-length code, by giving many characters short code words and infrequent character long codewords.</a:t>
            </a:r>
          </a:p>
          <a:p>
            <a:pPr algn="just"/>
            <a:r>
              <a:rPr lang="en-US" altLang="en-US" dirty="0"/>
              <a:t>  a                       0</a:t>
            </a:r>
          </a:p>
          <a:p>
            <a:pPr algn="just"/>
            <a:r>
              <a:rPr lang="en-US" altLang="en-US" dirty="0"/>
              <a:t>  b                      101</a:t>
            </a:r>
          </a:p>
          <a:p>
            <a:pPr algn="just"/>
            <a:r>
              <a:rPr lang="en-US" altLang="en-US" dirty="0"/>
              <a:t>  c      	     100</a:t>
            </a:r>
          </a:p>
          <a:p>
            <a:pPr algn="just"/>
            <a:r>
              <a:rPr lang="en-US" altLang="en-US" dirty="0"/>
              <a:t>  d       	     111</a:t>
            </a:r>
          </a:p>
          <a:p>
            <a:pPr algn="just"/>
            <a:r>
              <a:rPr lang="en-US" altLang="en-US" dirty="0"/>
              <a:t>  e    		     1101</a:t>
            </a:r>
          </a:p>
          <a:p>
            <a:pPr algn="just"/>
            <a:r>
              <a:rPr lang="en-US" altLang="en-US" dirty="0"/>
              <a:t>  f     		     1100</a:t>
            </a:r>
          </a:p>
          <a:p>
            <a:pPr marL="0" indent="0" algn="just">
              <a:buNone/>
            </a:pPr>
            <a:r>
              <a:rPr lang="en-US" altLang="en-US" dirty="0">
                <a:highlight>
                  <a:srgbClr val="FFFF00"/>
                </a:highlight>
              </a:rPr>
              <a:t>Number of bits = (45 x 1 + 13 x 3 + 12 x 3 + 16 x 3 + 9 x 4 + 5 x 4) x 1000</a:t>
            </a:r>
          </a:p>
          <a:p>
            <a:pPr algn="just"/>
            <a:r>
              <a:rPr lang="en-US" altLang="en-US" dirty="0"/>
              <a:t>= 2.24 x 10</a:t>
            </a:r>
            <a:r>
              <a:rPr lang="en-US" altLang="en-US" baseline="30000" dirty="0"/>
              <a:t>5</a:t>
            </a:r>
            <a:r>
              <a:rPr lang="en-US" altLang="en-US" dirty="0"/>
              <a:t>bits</a:t>
            </a:r>
          </a:p>
        </p:txBody>
      </p:sp>
    </p:spTree>
    <p:extLst>
      <p:ext uri="{BB962C8B-B14F-4D97-AF65-F5344CB8AC3E}">
        <p14:creationId xmlns:p14="http://schemas.microsoft.com/office/powerpoint/2010/main" val="2684445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p>
        </p:txBody>
      </p:sp>
      <p:sp>
        <p:nvSpPr>
          <p:cNvPr id="3" name="Content Placeholder 2">
            <a:extLst>
              <a:ext uri="{FF2B5EF4-FFF2-40B4-BE49-F238E27FC236}">
                <a16:creationId xmlns:a16="http://schemas.microsoft.com/office/drawing/2014/main" id="{11F9D11B-1335-47C4-AC76-95E7AE8487A9}"/>
              </a:ext>
            </a:extLst>
          </p:cNvPr>
          <p:cNvSpPr>
            <a:spLocks noGrp="1"/>
          </p:cNvSpPr>
          <p:nvPr>
            <p:ph idx="1"/>
          </p:nvPr>
        </p:nvSpPr>
        <p:spPr>
          <a:xfrm>
            <a:off x="838200" y="1099127"/>
            <a:ext cx="10515600" cy="5077836"/>
          </a:xfrm>
        </p:spPr>
        <p:txBody>
          <a:bodyPr>
            <a:normAutofit/>
          </a:bodyPr>
          <a:lstStyle/>
          <a:p>
            <a:r>
              <a:rPr lang="en-US" sz="2400" dirty="0"/>
              <a:t>Suppose the string below is to be sent over a network.</a:t>
            </a:r>
          </a:p>
          <a:p>
            <a:endParaRPr lang="en-US" sz="2400" b="1" dirty="0"/>
          </a:p>
          <a:p>
            <a:pPr marL="0" indent="0">
              <a:buNone/>
            </a:pPr>
            <a:endParaRPr lang="en-US" sz="2400" b="1" dirty="0"/>
          </a:p>
          <a:p>
            <a:endParaRPr lang="en-US" sz="2400" b="1" dirty="0"/>
          </a:p>
          <a:p>
            <a:endParaRPr lang="en-US" sz="2400" b="1" dirty="0"/>
          </a:p>
          <a:p>
            <a:endParaRPr lang="en-US" sz="2400" b="1" dirty="0"/>
          </a:p>
          <a:p>
            <a:endParaRPr lang="en-US" sz="2400" b="1" dirty="0"/>
          </a:p>
          <a:p>
            <a:pPr marL="0" indent="0">
              <a:buNone/>
            </a:pPr>
            <a:r>
              <a:rPr lang="en-US" sz="2400" dirty="0"/>
              <a:t>                                             </a:t>
            </a:r>
          </a:p>
          <a:p>
            <a:pPr marL="0" indent="0">
              <a:buNone/>
            </a:pPr>
            <a:r>
              <a:rPr lang="en-US" sz="2400" dirty="0"/>
              <a:t>				 </a:t>
            </a:r>
            <a:r>
              <a:rPr lang="en-US" sz="1800" dirty="0"/>
              <a:t>Fig 1: Initial string</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29</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DB0FF94D-74F4-491D-95AA-CF26084BD5BC}"/>
              </a:ext>
            </a:extLst>
          </p:cNvPr>
          <p:cNvPicPr>
            <a:picLocks noChangeAspect="1"/>
          </p:cNvPicPr>
          <p:nvPr/>
        </p:nvPicPr>
        <p:blipFill>
          <a:blip r:embed="rId2"/>
          <a:stretch>
            <a:fillRect/>
          </a:stretch>
        </p:blipFill>
        <p:spPr>
          <a:xfrm>
            <a:off x="1638300" y="2543175"/>
            <a:ext cx="8915400" cy="1771650"/>
          </a:xfrm>
          <a:prstGeom prst="rect">
            <a:avLst/>
          </a:prstGeom>
        </p:spPr>
      </p:pic>
    </p:spTree>
    <p:extLst>
      <p:ext uri="{BB962C8B-B14F-4D97-AF65-F5344CB8AC3E}">
        <p14:creationId xmlns:p14="http://schemas.microsoft.com/office/powerpoint/2010/main" val="89236749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30</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094E5A15-89FF-4D62-BEF2-3773AE0513A9}"/>
              </a:ext>
            </a:extLst>
          </p:cNvPr>
          <p:cNvSpPr txBox="1">
            <a:spLocks/>
          </p:cNvSpPr>
          <p:nvPr/>
        </p:nvSpPr>
        <p:spPr>
          <a:xfrm>
            <a:off x="692426" y="1414808"/>
            <a:ext cx="10515600" cy="4351338"/>
          </a:xfrm>
          <a:prstGeom prst="rect">
            <a:avLst/>
          </a:prstGeom>
          <a:ln w="952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3" name="Rectangle 2">
            <a:extLst>
              <a:ext uri="{FF2B5EF4-FFF2-40B4-BE49-F238E27FC236}">
                <a16:creationId xmlns:a16="http://schemas.microsoft.com/office/drawing/2014/main" id="{B9B63DDC-4C64-42AF-A02F-7D6CFADD6BDC}"/>
              </a:ext>
            </a:extLst>
          </p:cNvPr>
          <p:cNvSpPr/>
          <p:nvPr/>
        </p:nvSpPr>
        <p:spPr>
          <a:xfrm>
            <a:off x="762000" y="1414807"/>
            <a:ext cx="10446026" cy="2795958"/>
          </a:xfrm>
          <a:prstGeom prst="rect">
            <a:avLst/>
          </a:prstGeom>
        </p:spPr>
        <p:txBody>
          <a:bodyPr wrap="square">
            <a:spAutoFit/>
          </a:bodyPr>
          <a:lstStyle/>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Each character occupies 8 bits. There are a total of 15 characters in the above string. Thus, a total of 8 * 15 = 120 bits are required to send this string.</a:t>
            </a:r>
          </a:p>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Using the Huffman Coding technique, we can compress the string to a smaller size.</a:t>
            </a:r>
          </a:p>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Huffman coding first creates a tree using the frequencies of the character and then generates code for each character.</a:t>
            </a:r>
          </a:p>
        </p:txBody>
      </p:sp>
    </p:spTree>
    <p:extLst>
      <p:ext uri="{BB962C8B-B14F-4D97-AF65-F5344CB8AC3E}">
        <p14:creationId xmlns:p14="http://schemas.microsoft.com/office/powerpoint/2010/main" val="2201471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31</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77677B8-3D46-4437-AB08-E97BD5629484}"/>
              </a:ext>
            </a:extLst>
          </p:cNvPr>
          <p:cNvSpPr/>
          <p:nvPr/>
        </p:nvSpPr>
        <p:spPr>
          <a:xfrm>
            <a:off x="583097" y="1377073"/>
            <a:ext cx="9886120" cy="4431983"/>
          </a:xfrm>
          <a:prstGeom prst="rect">
            <a:avLst/>
          </a:prstGeom>
          <a:ln w="9525">
            <a:solidFill>
              <a:schemeClr val="tx1"/>
            </a:solidFill>
          </a:ln>
        </p:spPr>
        <p:txBody>
          <a:bodyPr wrap="square">
            <a:spAutoFit/>
          </a:bodyPr>
          <a:lstStyle/>
          <a:p>
            <a:r>
              <a:rPr lang="en-US" sz="2400" dirty="0">
                <a:latin typeface="Times New Roman" panose="02020603050405020304" pitchFamily="18" charset="0"/>
                <a:cs typeface="Times New Roman" panose="02020603050405020304" pitchFamily="18" charset="0"/>
              </a:rPr>
              <a:t>Huffman coding is done with the help of the following steps.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1. Calculate the frequency of each character in the string.</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Fig 2: Frequency of string</a:t>
            </a:r>
            <a:endParaRPr lang="en-US"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pic>
        <p:nvPicPr>
          <p:cNvPr id="10" name="Picture 2" descr="frequency of string">
            <a:extLst>
              <a:ext uri="{FF2B5EF4-FFF2-40B4-BE49-F238E27FC236}">
                <a16:creationId xmlns:a16="http://schemas.microsoft.com/office/drawing/2014/main" id="{4BBDDD2C-A9A2-4124-8F04-4FACDAD54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725" y="2174184"/>
            <a:ext cx="592455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5738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582025"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32</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686800"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BA97549-329A-4CD4-B885-21856A64AB8E}"/>
              </a:ext>
            </a:extLst>
          </p:cNvPr>
          <p:cNvSpPr>
            <a:spLocks noGrp="1"/>
          </p:cNvSpPr>
          <p:nvPr>
            <p:ph idx="1"/>
          </p:nvPr>
        </p:nvSpPr>
        <p:spPr>
          <a:xfrm>
            <a:off x="838200" y="1094364"/>
            <a:ext cx="10515600" cy="5082599"/>
          </a:xfrm>
        </p:spPr>
        <p:txBody>
          <a:bodyPr>
            <a:normAutofit/>
          </a:bodyPr>
          <a:lstStyle/>
          <a:p>
            <a:pPr marL="0" indent="0">
              <a:buNone/>
            </a:pPr>
            <a:r>
              <a:rPr lang="en-US" sz="2400" dirty="0"/>
              <a:t>2. Sort the characters in increasing order of the frequency. These are stored in a priority queue Q.</a:t>
            </a: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12290" name="Picture 2" descr="huffman coding">
            <a:extLst>
              <a:ext uri="{FF2B5EF4-FFF2-40B4-BE49-F238E27FC236}">
                <a16:creationId xmlns:a16="http://schemas.microsoft.com/office/drawing/2014/main" id="{D3229492-07E3-4AC6-83B8-47CCD2716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725" y="2266950"/>
            <a:ext cx="5924550" cy="23241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E0AF234-B5C9-4E81-9D61-2B50E075AA9A}"/>
              </a:ext>
            </a:extLst>
          </p:cNvPr>
          <p:cNvSpPr/>
          <p:nvPr/>
        </p:nvSpPr>
        <p:spPr>
          <a:xfrm>
            <a:off x="3743533" y="4585771"/>
            <a:ext cx="4923143"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Fig 3: Characters sorted according to the frequency</a:t>
            </a:r>
          </a:p>
        </p:txBody>
      </p:sp>
    </p:spTree>
    <p:extLst>
      <p:ext uri="{BB962C8B-B14F-4D97-AF65-F5344CB8AC3E}">
        <p14:creationId xmlns:p14="http://schemas.microsoft.com/office/powerpoint/2010/main" val="5168416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33</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6DF1B4A1-3932-4430-94E7-514BAE3C3AAB}"/>
              </a:ext>
            </a:extLst>
          </p:cNvPr>
          <p:cNvSpPr>
            <a:spLocks noGrp="1"/>
          </p:cNvSpPr>
          <p:nvPr>
            <p:ph idx="1"/>
          </p:nvPr>
        </p:nvSpPr>
        <p:spPr>
          <a:xfrm>
            <a:off x="838200" y="1348547"/>
            <a:ext cx="10515600" cy="4351338"/>
          </a:xfrm>
        </p:spPr>
        <p:txBody>
          <a:bodyPr>
            <a:normAutofit/>
          </a:bodyPr>
          <a:lstStyle/>
          <a:p>
            <a:pPr marL="0" indent="0">
              <a:buNone/>
            </a:pPr>
            <a:r>
              <a:rPr lang="en-US" sz="2400" dirty="0"/>
              <a:t>3. Make each unique character as a leaf node.</a:t>
            </a:r>
          </a:p>
          <a:p>
            <a:pPr marL="0" indent="0">
              <a:buNone/>
            </a:pPr>
            <a:r>
              <a:rPr lang="en-US" sz="2400" dirty="0"/>
              <a:t>4. Create an empty node z. Assign the minimum frequency to the left child of z and assign the second minimum frequency to the right child of z. Set the value of the z as the sum of the above two minimum frequencies.</a:t>
            </a:r>
          </a:p>
          <a:p>
            <a:endParaRPr lang="en-US" sz="2400" dirty="0"/>
          </a:p>
        </p:txBody>
      </p:sp>
    </p:spTree>
    <p:extLst>
      <p:ext uri="{BB962C8B-B14F-4D97-AF65-F5344CB8AC3E}">
        <p14:creationId xmlns:p14="http://schemas.microsoft.com/office/powerpoint/2010/main" val="12614435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34</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9A0A5AFB-D1CF-48DF-A2AD-97D3EFB0D248}"/>
              </a:ext>
            </a:extLst>
          </p:cNvPr>
          <p:cNvSpPr txBox="1"/>
          <p:nvPr/>
        </p:nvSpPr>
        <p:spPr>
          <a:xfrm>
            <a:off x="3807652" y="5471339"/>
            <a:ext cx="4267200" cy="369332"/>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4: </a:t>
            </a:r>
            <a:r>
              <a:rPr lang="en-US" dirty="0"/>
              <a:t>Getting the sum of the least numbers</a:t>
            </a:r>
            <a:endParaRPr lang="en-IN" sz="1600" dirty="0">
              <a:latin typeface="Times New Roman" panose="02020603050405020304" pitchFamily="18" charset="0"/>
              <a:cs typeface="Times New Roman" panose="02020603050405020304" pitchFamily="18" charset="0"/>
            </a:endParaRPr>
          </a:p>
        </p:txBody>
      </p:sp>
      <p:pic>
        <p:nvPicPr>
          <p:cNvPr id="14338" name="Picture 2" descr="huffman coding">
            <a:extLst>
              <a:ext uri="{FF2B5EF4-FFF2-40B4-BE49-F238E27FC236}">
                <a16:creationId xmlns:a16="http://schemas.microsoft.com/office/drawing/2014/main" id="{C0AD7FAE-7334-45F7-9A4A-6E8B0AD4A6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30298" y="1282700"/>
            <a:ext cx="3760603" cy="418863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huffman coding">
            <a:extLst>
              <a:ext uri="{FF2B5EF4-FFF2-40B4-BE49-F238E27FC236}">
                <a16:creationId xmlns:a16="http://schemas.microsoft.com/office/drawing/2014/main" id="{5ACF91BB-DCE0-E782-3EFD-9AD55CAF0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4021" y="2294209"/>
            <a:ext cx="5040456" cy="1977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9886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35</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C3F1179-5FDA-4566-8C62-E098E863FC29}"/>
              </a:ext>
            </a:extLst>
          </p:cNvPr>
          <p:cNvSpPr>
            <a:spLocks noGrp="1"/>
          </p:cNvSpPr>
          <p:nvPr>
            <p:ph idx="1"/>
          </p:nvPr>
        </p:nvSpPr>
        <p:spPr>
          <a:xfrm>
            <a:off x="838200" y="1193728"/>
            <a:ext cx="10515600" cy="5082599"/>
          </a:xfrm>
        </p:spPr>
        <p:txBody>
          <a:bodyPr>
            <a:normAutofit/>
          </a:bodyPr>
          <a:lstStyle/>
          <a:p>
            <a:pPr marL="0" indent="0">
              <a:buNone/>
            </a:pPr>
            <a:r>
              <a:rPr lang="en-US" sz="2400" dirty="0"/>
              <a:t>5. Remove these two minimum frequencies from Q and add the sum into the list of frequencies (* denote the internal nodes in the figure above).</a:t>
            </a:r>
          </a:p>
          <a:p>
            <a:pPr marL="0" indent="0">
              <a:buNone/>
            </a:pPr>
            <a:r>
              <a:rPr lang="en-US" sz="2400" dirty="0"/>
              <a:t>6. Insert node z into the tree.</a:t>
            </a:r>
          </a:p>
          <a:p>
            <a:pPr marL="0" indent="0">
              <a:buNone/>
            </a:pPr>
            <a:r>
              <a:rPr lang="en-US" sz="2400" dirty="0"/>
              <a:t>7. Repeat steps 3 to 5 for all the characters.</a:t>
            </a:r>
          </a:p>
          <a:p>
            <a:pPr marL="0" indent="0">
              <a:buNone/>
            </a:pPr>
            <a:br>
              <a:rPr lang="en-US" sz="2400" dirty="0"/>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79111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36</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3EC8E766-2C3B-4CB1-BACD-06EC4B4D5A86}"/>
              </a:ext>
            </a:extLst>
          </p:cNvPr>
          <p:cNvSpPr txBox="1"/>
          <p:nvPr/>
        </p:nvSpPr>
        <p:spPr>
          <a:xfrm>
            <a:off x="3400425" y="5688473"/>
            <a:ext cx="521017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5: Repeat steps 3 to 5 for all the characters.</a:t>
            </a:r>
            <a:endParaRPr lang="en-IN" dirty="0">
              <a:latin typeface="Times New Roman" panose="02020603050405020304" pitchFamily="18" charset="0"/>
              <a:cs typeface="Times New Roman" panose="02020603050405020304" pitchFamily="18" charset="0"/>
            </a:endParaRPr>
          </a:p>
        </p:txBody>
      </p:sp>
      <p:pic>
        <p:nvPicPr>
          <p:cNvPr id="15362" name="Picture 2" descr="huffman coding">
            <a:extLst>
              <a:ext uri="{FF2B5EF4-FFF2-40B4-BE49-F238E27FC236}">
                <a16:creationId xmlns:a16="http://schemas.microsoft.com/office/drawing/2014/main" id="{AA9B5859-C0DA-46E9-9B6E-E6D68FE35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3348" y="1208224"/>
            <a:ext cx="5196463" cy="4185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489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37</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D026FA87-04F2-4388-ACE8-3C646B080274}"/>
              </a:ext>
            </a:extLst>
          </p:cNvPr>
          <p:cNvSpPr txBox="1"/>
          <p:nvPr/>
        </p:nvSpPr>
        <p:spPr>
          <a:xfrm>
            <a:off x="3373921" y="5576770"/>
            <a:ext cx="570381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6: Repeat steps 3 to 5 for all the characters.</a:t>
            </a:r>
            <a:endParaRPr lang="en-IN" dirty="0">
              <a:latin typeface="Times New Roman" panose="02020603050405020304" pitchFamily="18" charset="0"/>
              <a:cs typeface="Times New Roman" panose="02020603050405020304" pitchFamily="18" charset="0"/>
            </a:endParaRPr>
          </a:p>
        </p:txBody>
      </p:sp>
      <p:pic>
        <p:nvPicPr>
          <p:cNvPr id="16386" name="Picture 2" descr="huffman coding">
            <a:extLst>
              <a:ext uri="{FF2B5EF4-FFF2-40B4-BE49-F238E27FC236}">
                <a16:creationId xmlns:a16="http://schemas.microsoft.com/office/drawing/2014/main" id="{0255C306-386C-4A63-BFC9-1FCA2C92E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4739" y="1174387"/>
            <a:ext cx="4078357" cy="4322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4640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38</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E3AD7B75-FD1C-4982-AF10-C491104AC4C8}"/>
              </a:ext>
            </a:extLst>
          </p:cNvPr>
          <p:cNvSpPr/>
          <p:nvPr/>
        </p:nvSpPr>
        <p:spPr>
          <a:xfrm>
            <a:off x="838199" y="1094364"/>
            <a:ext cx="10515599"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8. For each non-leaf node, assign 0 to the left edge and 1 to the right edge.</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D2C87E-E5E9-4CE7-AB75-5A720FB14443}"/>
              </a:ext>
            </a:extLst>
          </p:cNvPr>
          <p:cNvSpPr txBox="1"/>
          <p:nvPr/>
        </p:nvSpPr>
        <p:spPr>
          <a:xfrm>
            <a:off x="3419061" y="5630376"/>
            <a:ext cx="577794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7: Assign 0 to the left edge and 1 to the right edge</a:t>
            </a:r>
            <a:endParaRPr lang="en-IN" dirty="0">
              <a:latin typeface="Times New Roman" panose="02020603050405020304" pitchFamily="18" charset="0"/>
              <a:cs typeface="Times New Roman" panose="02020603050405020304" pitchFamily="18" charset="0"/>
            </a:endParaRPr>
          </a:p>
        </p:txBody>
      </p:sp>
      <p:pic>
        <p:nvPicPr>
          <p:cNvPr id="17410" name="Picture 2" descr="huffman coding">
            <a:extLst>
              <a:ext uri="{FF2B5EF4-FFF2-40B4-BE49-F238E27FC236}">
                <a16:creationId xmlns:a16="http://schemas.microsoft.com/office/drawing/2014/main" id="{56FF2150-A93E-4686-9721-12E53535A5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2339" y="1513549"/>
            <a:ext cx="4638261" cy="3913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3200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435E7-3E2C-433D-ACEC-803FE8C54611}"/>
              </a:ext>
            </a:extLst>
          </p:cNvPr>
          <p:cNvSpPr>
            <a:spLocks noGrp="1"/>
          </p:cNvSpPr>
          <p:nvPr>
            <p:ph type="title"/>
          </p:nvPr>
        </p:nvSpPr>
        <p:spPr>
          <a:xfrm>
            <a:off x="917542" y="255185"/>
            <a:ext cx="10436258" cy="85170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US" dirty="0"/>
          </a:p>
        </p:txBody>
      </p:sp>
      <p:sp>
        <p:nvSpPr>
          <p:cNvPr id="3" name="Content Placeholder 2">
            <a:extLst>
              <a:ext uri="{FF2B5EF4-FFF2-40B4-BE49-F238E27FC236}">
                <a16:creationId xmlns:a16="http://schemas.microsoft.com/office/drawing/2014/main" id="{AD9B4521-085D-4E61-94E9-00C062E27071}"/>
              </a:ext>
            </a:extLst>
          </p:cNvPr>
          <p:cNvSpPr>
            <a:spLocks noGrp="1"/>
          </p:cNvSpPr>
          <p:nvPr>
            <p:ph idx="1"/>
          </p:nvPr>
        </p:nvSpPr>
        <p:spPr>
          <a:xfrm>
            <a:off x="815926" y="1253330"/>
            <a:ext cx="10617216" cy="4795777"/>
          </a:xfrm>
        </p:spPr>
        <p:txBody>
          <a:bodyPr>
            <a:normAutofit/>
          </a:bodyPr>
          <a:lstStyle/>
          <a:p>
            <a:r>
              <a:rPr lang="en-US" sz="2400" dirty="0"/>
              <a:t>For sending the above string over a network, we have to send the tree as well as the above compressed-code. The total size is given by the table below.</a:t>
            </a:r>
          </a:p>
          <a:p>
            <a:endParaRPr lang="en-US" sz="2400" dirty="0"/>
          </a:p>
        </p:txBody>
      </p:sp>
      <p:sp>
        <p:nvSpPr>
          <p:cNvPr id="4" name="Slide Number Placeholder 3">
            <a:extLst>
              <a:ext uri="{FF2B5EF4-FFF2-40B4-BE49-F238E27FC236}">
                <a16:creationId xmlns:a16="http://schemas.microsoft.com/office/drawing/2014/main" id="{C11C4291-786B-4011-9BB0-68A083AD6B0E}"/>
              </a:ext>
            </a:extLst>
          </p:cNvPr>
          <p:cNvSpPr>
            <a:spLocks noGrp="1"/>
          </p:cNvSpPr>
          <p:nvPr>
            <p:ph type="sldNum" sz="quarter" idx="12"/>
          </p:nvPr>
        </p:nvSpPr>
        <p:spPr/>
        <p:txBody>
          <a:bodyPr/>
          <a:lstStyle/>
          <a:p>
            <a:fld id="{BDCDBBEF-AA6C-4BA6-85B2-A17D7F280E38}" type="slidenum">
              <a:rPr lang="en-US" smtClean="0"/>
              <a:pPr/>
              <a:t>39</a:t>
            </a:fld>
            <a:endParaRPr lang="en-US"/>
          </a:p>
        </p:txBody>
      </p:sp>
      <p:graphicFrame>
        <p:nvGraphicFramePr>
          <p:cNvPr id="5" name="Table 4">
            <a:extLst>
              <a:ext uri="{FF2B5EF4-FFF2-40B4-BE49-F238E27FC236}">
                <a16:creationId xmlns:a16="http://schemas.microsoft.com/office/drawing/2014/main" id="{90517841-2599-472B-961A-E7D3440513DE}"/>
              </a:ext>
            </a:extLst>
          </p:cNvPr>
          <p:cNvGraphicFramePr>
            <a:graphicFrameLocks noGrp="1"/>
          </p:cNvGraphicFramePr>
          <p:nvPr>
            <p:extLst>
              <p:ext uri="{D42A27DB-BD31-4B8C-83A1-F6EECF244321}">
                <p14:modId xmlns:p14="http://schemas.microsoft.com/office/powerpoint/2010/main" val="1076018217"/>
              </p:ext>
            </p:extLst>
          </p:nvPr>
        </p:nvGraphicFramePr>
        <p:xfrm>
          <a:off x="1167618" y="2006585"/>
          <a:ext cx="7963132" cy="3992918"/>
        </p:xfrm>
        <a:graphic>
          <a:graphicData uri="http://schemas.openxmlformats.org/drawingml/2006/table">
            <a:tbl>
              <a:tblPr/>
              <a:tblGrid>
                <a:gridCol w="1990783">
                  <a:extLst>
                    <a:ext uri="{9D8B030D-6E8A-4147-A177-3AD203B41FA5}">
                      <a16:colId xmlns:a16="http://schemas.microsoft.com/office/drawing/2014/main" val="655794546"/>
                    </a:ext>
                  </a:extLst>
                </a:gridCol>
                <a:gridCol w="1990783">
                  <a:extLst>
                    <a:ext uri="{9D8B030D-6E8A-4147-A177-3AD203B41FA5}">
                      <a16:colId xmlns:a16="http://schemas.microsoft.com/office/drawing/2014/main" val="3131808004"/>
                    </a:ext>
                  </a:extLst>
                </a:gridCol>
                <a:gridCol w="1990783">
                  <a:extLst>
                    <a:ext uri="{9D8B030D-6E8A-4147-A177-3AD203B41FA5}">
                      <a16:colId xmlns:a16="http://schemas.microsoft.com/office/drawing/2014/main" val="981213679"/>
                    </a:ext>
                  </a:extLst>
                </a:gridCol>
                <a:gridCol w="1990783">
                  <a:extLst>
                    <a:ext uri="{9D8B030D-6E8A-4147-A177-3AD203B41FA5}">
                      <a16:colId xmlns:a16="http://schemas.microsoft.com/office/drawing/2014/main" val="4032659489"/>
                    </a:ext>
                  </a:extLst>
                </a:gridCol>
              </a:tblGrid>
              <a:tr h="575386">
                <a:tc>
                  <a:txBody>
                    <a:bodyPr/>
                    <a:lstStyle/>
                    <a:p>
                      <a:pPr algn="l"/>
                      <a:r>
                        <a:rPr lang="en-US" sz="2400" b="0">
                          <a:effectLst/>
                        </a:rPr>
                        <a:t>Character</a:t>
                      </a:r>
                    </a:p>
                  </a:txBody>
                  <a:tcPr marL="228600" marR="228600" marT="114300" marB="114300" anchor="ctr">
                    <a:lnL>
                      <a:noFill/>
                    </a:lnL>
                    <a:lnR>
                      <a:noFill/>
                    </a:lnR>
                    <a:lnT>
                      <a:noFill/>
                    </a:lnT>
                    <a:lnB>
                      <a:noFill/>
                    </a:lnB>
                    <a:solidFill>
                      <a:srgbClr val="F8FAFF"/>
                    </a:solidFill>
                  </a:tcPr>
                </a:tc>
                <a:tc>
                  <a:txBody>
                    <a:bodyPr/>
                    <a:lstStyle/>
                    <a:p>
                      <a:pPr algn="l"/>
                      <a:r>
                        <a:rPr lang="en-US" sz="2400" b="0">
                          <a:effectLst/>
                        </a:rPr>
                        <a:t>Frequency</a:t>
                      </a:r>
                    </a:p>
                  </a:txBody>
                  <a:tcPr marL="228600" marR="228600" marT="114300" marB="114300" anchor="ctr">
                    <a:lnL>
                      <a:noFill/>
                    </a:lnL>
                    <a:lnR>
                      <a:noFill/>
                    </a:lnR>
                    <a:lnT>
                      <a:noFill/>
                    </a:lnT>
                    <a:lnB>
                      <a:noFill/>
                    </a:lnB>
                    <a:solidFill>
                      <a:srgbClr val="F8FAFF"/>
                    </a:solidFill>
                  </a:tcPr>
                </a:tc>
                <a:tc>
                  <a:txBody>
                    <a:bodyPr/>
                    <a:lstStyle/>
                    <a:p>
                      <a:pPr algn="l"/>
                      <a:r>
                        <a:rPr lang="en-US" sz="2400" b="0">
                          <a:effectLst/>
                        </a:rPr>
                        <a:t>Code</a:t>
                      </a:r>
                    </a:p>
                  </a:txBody>
                  <a:tcPr marL="228600" marR="228600" marT="114300" marB="114300" anchor="ctr">
                    <a:lnL>
                      <a:noFill/>
                    </a:lnL>
                    <a:lnR>
                      <a:noFill/>
                    </a:lnR>
                    <a:lnT>
                      <a:noFill/>
                    </a:lnT>
                    <a:lnB>
                      <a:noFill/>
                    </a:lnB>
                    <a:solidFill>
                      <a:srgbClr val="F8FAFF"/>
                    </a:solidFill>
                  </a:tcPr>
                </a:tc>
                <a:tc>
                  <a:txBody>
                    <a:bodyPr/>
                    <a:lstStyle/>
                    <a:p>
                      <a:pPr algn="l"/>
                      <a:r>
                        <a:rPr lang="en-US" sz="2400" b="0">
                          <a:effectLst/>
                        </a:rPr>
                        <a:t>Size</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2660560527"/>
                  </a:ext>
                </a:extLst>
              </a:tr>
              <a:tr h="575386">
                <a:tc>
                  <a:txBody>
                    <a:bodyPr/>
                    <a:lstStyle/>
                    <a:p>
                      <a:r>
                        <a:rPr lang="en-US" sz="2400">
                          <a:effectLst/>
                        </a:rPr>
                        <a:t>A</a:t>
                      </a:r>
                    </a:p>
                  </a:txBody>
                  <a:tcPr marL="228600" marR="228600" marT="114300" marB="114300" anchor="ctr">
                    <a:lnL>
                      <a:noFill/>
                    </a:lnL>
                    <a:lnR>
                      <a:noFill/>
                    </a:lnR>
                    <a:lnT>
                      <a:noFill/>
                    </a:lnT>
                    <a:lnB>
                      <a:noFill/>
                    </a:lnB>
                    <a:solidFill>
                      <a:srgbClr val="F8FAFF"/>
                    </a:solidFill>
                  </a:tcPr>
                </a:tc>
                <a:tc>
                  <a:txBody>
                    <a:bodyPr/>
                    <a:lstStyle/>
                    <a:p>
                      <a:r>
                        <a:rPr lang="en-US" sz="2400">
                          <a:effectLst/>
                        </a:rPr>
                        <a:t>5</a:t>
                      </a:r>
                    </a:p>
                  </a:txBody>
                  <a:tcPr marL="228600" marR="228600" marT="114300" marB="114300" anchor="ctr">
                    <a:lnL>
                      <a:noFill/>
                    </a:lnL>
                    <a:lnR>
                      <a:noFill/>
                    </a:lnR>
                    <a:lnT>
                      <a:noFill/>
                    </a:lnT>
                    <a:lnB>
                      <a:noFill/>
                    </a:lnB>
                    <a:solidFill>
                      <a:srgbClr val="F8FAFF"/>
                    </a:solidFill>
                  </a:tcPr>
                </a:tc>
                <a:tc>
                  <a:txBody>
                    <a:bodyPr/>
                    <a:lstStyle/>
                    <a:p>
                      <a:r>
                        <a:rPr lang="en-US" sz="2400">
                          <a:effectLst/>
                        </a:rPr>
                        <a:t>11</a:t>
                      </a:r>
                    </a:p>
                  </a:txBody>
                  <a:tcPr marL="228600" marR="228600" marT="114300" marB="114300" anchor="ctr">
                    <a:lnL>
                      <a:noFill/>
                    </a:lnL>
                    <a:lnR>
                      <a:noFill/>
                    </a:lnR>
                    <a:lnT>
                      <a:noFill/>
                    </a:lnT>
                    <a:lnB>
                      <a:noFill/>
                    </a:lnB>
                    <a:solidFill>
                      <a:srgbClr val="F8FAFF"/>
                    </a:solidFill>
                  </a:tcPr>
                </a:tc>
                <a:tc>
                  <a:txBody>
                    <a:bodyPr/>
                    <a:lstStyle/>
                    <a:p>
                      <a:r>
                        <a:rPr lang="en-US" sz="2400" dirty="0">
                          <a:effectLst/>
                        </a:rPr>
                        <a:t>5*2 = 10</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4079931111"/>
                  </a:ext>
                </a:extLst>
              </a:tr>
              <a:tr h="655358">
                <a:tc>
                  <a:txBody>
                    <a:bodyPr/>
                    <a:lstStyle/>
                    <a:p>
                      <a:r>
                        <a:rPr lang="en-US" sz="2400">
                          <a:effectLst/>
                        </a:rPr>
                        <a:t>B</a:t>
                      </a:r>
                    </a:p>
                  </a:txBody>
                  <a:tcPr marL="228600" marR="228600" marT="114300" marB="114300" anchor="ctr">
                    <a:lnL>
                      <a:noFill/>
                    </a:lnL>
                    <a:lnR>
                      <a:noFill/>
                    </a:lnR>
                    <a:lnT>
                      <a:noFill/>
                    </a:lnT>
                    <a:lnB>
                      <a:noFill/>
                    </a:lnB>
                    <a:solidFill>
                      <a:srgbClr val="F8FAFF"/>
                    </a:solidFill>
                  </a:tcPr>
                </a:tc>
                <a:tc>
                  <a:txBody>
                    <a:bodyPr/>
                    <a:lstStyle/>
                    <a:p>
                      <a:r>
                        <a:rPr lang="en-US" sz="2400">
                          <a:effectLst/>
                        </a:rPr>
                        <a:t>1</a:t>
                      </a:r>
                    </a:p>
                  </a:txBody>
                  <a:tcPr marL="228600" marR="228600" marT="114300" marB="114300" anchor="ctr">
                    <a:lnL>
                      <a:noFill/>
                    </a:lnL>
                    <a:lnR>
                      <a:noFill/>
                    </a:lnR>
                    <a:lnT>
                      <a:noFill/>
                    </a:lnT>
                    <a:lnB>
                      <a:noFill/>
                    </a:lnB>
                    <a:solidFill>
                      <a:srgbClr val="F8FAFF"/>
                    </a:solidFill>
                  </a:tcPr>
                </a:tc>
                <a:tc>
                  <a:txBody>
                    <a:bodyPr/>
                    <a:lstStyle/>
                    <a:p>
                      <a:r>
                        <a:rPr lang="en-US" sz="2400">
                          <a:effectLst/>
                        </a:rPr>
                        <a:t>100</a:t>
                      </a:r>
                    </a:p>
                  </a:txBody>
                  <a:tcPr marL="228600" marR="228600" marT="114300" marB="114300" anchor="ctr">
                    <a:lnL>
                      <a:noFill/>
                    </a:lnL>
                    <a:lnR>
                      <a:noFill/>
                    </a:lnR>
                    <a:lnT>
                      <a:noFill/>
                    </a:lnT>
                    <a:lnB>
                      <a:noFill/>
                    </a:lnB>
                    <a:solidFill>
                      <a:srgbClr val="F8FAFF"/>
                    </a:solidFill>
                  </a:tcPr>
                </a:tc>
                <a:tc>
                  <a:txBody>
                    <a:bodyPr/>
                    <a:lstStyle/>
                    <a:p>
                      <a:r>
                        <a:rPr lang="en-US" sz="2400">
                          <a:effectLst/>
                        </a:rPr>
                        <a:t>1*3 = 3</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2509835060"/>
                  </a:ext>
                </a:extLst>
              </a:tr>
              <a:tr h="575386">
                <a:tc>
                  <a:txBody>
                    <a:bodyPr/>
                    <a:lstStyle/>
                    <a:p>
                      <a:r>
                        <a:rPr lang="en-US" sz="2400">
                          <a:effectLst/>
                        </a:rPr>
                        <a:t>C</a:t>
                      </a:r>
                    </a:p>
                  </a:txBody>
                  <a:tcPr marL="228600" marR="228600" marT="114300" marB="114300" anchor="ctr">
                    <a:lnL>
                      <a:noFill/>
                    </a:lnL>
                    <a:lnR>
                      <a:noFill/>
                    </a:lnR>
                    <a:lnT>
                      <a:noFill/>
                    </a:lnT>
                    <a:lnB>
                      <a:noFill/>
                    </a:lnB>
                    <a:solidFill>
                      <a:srgbClr val="F8FAFF"/>
                    </a:solidFill>
                  </a:tcPr>
                </a:tc>
                <a:tc>
                  <a:txBody>
                    <a:bodyPr/>
                    <a:lstStyle/>
                    <a:p>
                      <a:r>
                        <a:rPr lang="en-US" sz="2400">
                          <a:effectLst/>
                        </a:rPr>
                        <a:t>6</a:t>
                      </a:r>
                    </a:p>
                  </a:txBody>
                  <a:tcPr marL="228600" marR="228600" marT="114300" marB="114300" anchor="ctr">
                    <a:lnL>
                      <a:noFill/>
                    </a:lnL>
                    <a:lnR>
                      <a:noFill/>
                    </a:lnR>
                    <a:lnT>
                      <a:noFill/>
                    </a:lnT>
                    <a:lnB>
                      <a:noFill/>
                    </a:lnB>
                    <a:solidFill>
                      <a:srgbClr val="F8FAFF"/>
                    </a:solidFill>
                  </a:tcPr>
                </a:tc>
                <a:tc>
                  <a:txBody>
                    <a:bodyPr/>
                    <a:lstStyle/>
                    <a:p>
                      <a:r>
                        <a:rPr lang="en-US" sz="2400">
                          <a:effectLst/>
                        </a:rPr>
                        <a:t>0</a:t>
                      </a:r>
                    </a:p>
                  </a:txBody>
                  <a:tcPr marL="228600" marR="228600" marT="114300" marB="114300" anchor="ctr">
                    <a:lnL>
                      <a:noFill/>
                    </a:lnL>
                    <a:lnR>
                      <a:noFill/>
                    </a:lnR>
                    <a:lnT>
                      <a:noFill/>
                    </a:lnT>
                    <a:lnB>
                      <a:noFill/>
                    </a:lnB>
                    <a:solidFill>
                      <a:srgbClr val="F8FAFF"/>
                    </a:solidFill>
                  </a:tcPr>
                </a:tc>
                <a:tc>
                  <a:txBody>
                    <a:bodyPr/>
                    <a:lstStyle/>
                    <a:p>
                      <a:r>
                        <a:rPr lang="en-US" sz="2400">
                          <a:effectLst/>
                        </a:rPr>
                        <a:t>6*1 = 6</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133700262"/>
                  </a:ext>
                </a:extLst>
              </a:tr>
              <a:tr h="575386">
                <a:tc>
                  <a:txBody>
                    <a:bodyPr/>
                    <a:lstStyle/>
                    <a:p>
                      <a:r>
                        <a:rPr lang="en-US" sz="2400">
                          <a:effectLst/>
                        </a:rPr>
                        <a:t>D</a:t>
                      </a:r>
                    </a:p>
                  </a:txBody>
                  <a:tcPr marL="228600" marR="228600" marT="114300" marB="114300" anchor="ctr">
                    <a:lnL>
                      <a:noFill/>
                    </a:lnL>
                    <a:lnR>
                      <a:noFill/>
                    </a:lnR>
                    <a:lnT>
                      <a:noFill/>
                    </a:lnT>
                    <a:lnB>
                      <a:noFill/>
                    </a:lnB>
                    <a:solidFill>
                      <a:srgbClr val="F8FAFF"/>
                    </a:solidFill>
                  </a:tcPr>
                </a:tc>
                <a:tc>
                  <a:txBody>
                    <a:bodyPr/>
                    <a:lstStyle/>
                    <a:p>
                      <a:r>
                        <a:rPr lang="en-US" sz="2400">
                          <a:effectLst/>
                        </a:rPr>
                        <a:t>3</a:t>
                      </a:r>
                    </a:p>
                  </a:txBody>
                  <a:tcPr marL="228600" marR="228600" marT="114300" marB="114300" anchor="ctr">
                    <a:lnL>
                      <a:noFill/>
                    </a:lnL>
                    <a:lnR>
                      <a:noFill/>
                    </a:lnR>
                    <a:lnT>
                      <a:noFill/>
                    </a:lnT>
                    <a:lnB>
                      <a:noFill/>
                    </a:lnB>
                    <a:solidFill>
                      <a:srgbClr val="F8FAFF"/>
                    </a:solidFill>
                  </a:tcPr>
                </a:tc>
                <a:tc>
                  <a:txBody>
                    <a:bodyPr/>
                    <a:lstStyle/>
                    <a:p>
                      <a:r>
                        <a:rPr lang="en-US" sz="2400">
                          <a:effectLst/>
                        </a:rPr>
                        <a:t>101</a:t>
                      </a:r>
                    </a:p>
                  </a:txBody>
                  <a:tcPr marL="228600" marR="228600" marT="114300" marB="114300" anchor="ctr">
                    <a:lnL>
                      <a:noFill/>
                    </a:lnL>
                    <a:lnR>
                      <a:noFill/>
                    </a:lnR>
                    <a:lnT>
                      <a:noFill/>
                    </a:lnT>
                    <a:lnB>
                      <a:noFill/>
                    </a:lnB>
                    <a:solidFill>
                      <a:srgbClr val="F8FAFF"/>
                    </a:solidFill>
                  </a:tcPr>
                </a:tc>
                <a:tc>
                  <a:txBody>
                    <a:bodyPr/>
                    <a:lstStyle/>
                    <a:p>
                      <a:r>
                        <a:rPr lang="en-US" sz="2400" dirty="0">
                          <a:effectLst/>
                        </a:rPr>
                        <a:t>3*3 = 9</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3732649161"/>
                  </a:ext>
                </a:extLst>
              </a:tr>
              <a:tr h="575386">
                <a:tc>
                  <a:txBody>
                    <a:bodyPr/>
                    <a:lstStyle/>
                    <a:p>
                      <a:r>
                        <a:rPr lang="en-US" sz="2400" dirty="0">
                          <a:effectLst/>
                        </a:rPr>
                        <a:t>4 * 8 = 32 bits</a:t>
                      </a:r>
                    </a:p>
                  </a:txBody>
                  <a:tcPr marL="228600" marR="228600" marT="114300" marB="114300" anchor="ctr">
                    <a:lnL>
                      <a:noFill/>
                    </a:lnL>
                    <a:lnR>
                      <a:noFill/>
                    </a:lnR>
                    <a:lnT>
                      <a:noFill/>
                    </a:lnT>
                    <a:lnB>
                      <a:noFill/>
                    </a:lnB>
                    <a:solidFill>
                      <a:srgbClr val="F8FAFF"/>
                    </a:solidFill>
                  </a:tcPr>
                </a:tc>
                <a:tc>
                  <a:txBody>
                    <a:bodyPr/>
                    <a:lstStyle/>
                    <a:p>
                      <a:endParaRPr lang="en-US" sz="2400" dirty="0">
                        <a:effectLst/>
                      </a:endParaRPr>
                    </a:p>
                  </a:txBody>
                  <a:tcPr marL="228600" marR="228600" marT="114300" marB="114300" anchor="ctr">
                    <a:lnL>
                      <a:noFill/>
                    </a:lnL>
                    <a:lnR>
                      <a:noFill/>
                    </a:lnR>
                    <a:lnT>
                      <a:noFill/>
                    </a:lnT>
                    <a:lnB>
                      <a:noFill/>
                    </a:lnB>
                    <a:solidFill>
                      <a:srgbClr val="F8FAFF"/>
                    </a:solidFill>
                  </a:tcPr>
                </a:tc>
                <a:tc>
                  <a:txBody>
                    <a:bodyPr/>
                    <a:lstStyle/>
                    <a:p>
                      <a:r>
                        <a:rPr lang="en-US" sz="2400" dirty="0">
                          <a:effectLst/>
                        </a:rPr>
                        <a:t> 9 Bits</a:t>
                      </a:r>
                    </a:p>
                  </a:txBody>
                  <a:tcPr marL="228600" marR="228600" marT="114300" marB="114300" anchor="ctr">
                    <a:lnL>
                      <a:noFill/>
                    </a:lnL>
                    <a:lnR>
                      <a:noFill/>
                    </a:lnR>
                    <a:lnT>
                      <a:noFill/>
                    </a:lnT>
                    <a:lnB>
                      <a:noFill/>
                    </a:lnB>
                    <a:solidFill>
                      <a:srgbClr val="F8FAFF"/>
                    </a:solidFill>
                  </a:tcPr>
                </a:tc>
                <a:tc>
                  <a:txBody>
                    <a:bodyPr/>
                    <a:lstStyle/>
                    <a:p>
                      <a:r>
                        <a:rPr lang="en-US" sz="2400" dirty="0">
                          <a:effectLst/>
                        </a:rPr>
                        <a:t>28 bits</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3074741474"/>
                  </a:ext>
                </a:extLst>
              </a:tr>
            </a:tbl>
          </a:graphicData>
        </a:graphic>
      </p:graphicFrame>
      <p:pic>
        <p:nvPicPr>
          <p:cNvPr id="6" name="Picture 2" descr="huffman coding">
            <a:extLst>
              <a:ext uri="{FF2B5EF4-FFF2-40B4-BE49-F238E27FC236}">
                <a16:creationId xmlns:a16="http://schemas.microsoft.com/office/drawing/2014/main" id="{786DA00D-2B8F-6685-1201-8EE7693DB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401" y="2398643"/>
            <a:ext cx="3156379" cy="2663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796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6AFA0-5FD2-4BD3-8899-4190B196464F}"/>
              </a:ext>
            </a:extLst>
          </p:cNvPr>
          <p:cNvSpPr>
            <a:spLocks noGrp="1"/>
          </p:cNvSpPr>
          <p:nvPr>
            <p:ph type="title"/>
          </p:nvPr>
        </p:nvSpPr>
        <p:spPr>
          <a:xfrm>
            <a:off x="872197" y="184596"/>
            <a:ext cx="8470586" cy="85170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US" dirty="0"/>
          </a:p>
        </p:txBody>
      </p:sp>
      <p:sp>
        <p:nvSpPr>
          <p:cNvPr id="4" name="Slide Number Placeholder 3">
            <a:extLst>
              <a:ext uri="{FF2B5EF4-FFF2-40B4-BE49-F238E27FC236}">
                <a16:creationId xmlns:a16="http://schemas.microsoft.com/office/drawing/2014/main" id="{112FA7F1-7DFA-4F9D-A105-C77AD59CF2B5}"/>
              </a:ext>
            </a:extLst>
          </p:cNvPr>
          <p:cNvSpPr>
            <a:spLocks noGrp="1"/>
          </p:cNvSpPr>
          <p:nvPr>
            <p:ph type="sldNum" sz="quarter" idx="12"/>
          </p:nvPr>
        </p:nvSpPr>
        <p:spPr/>
        <p:txBody>
          <a:bodyPr/>
          <a:lstStyle/>
          <a:p>
            <a:fld id="{BDCDBBEF-AA6C-4BA6-85B2-A17D7F280E38}" type="slidenum">
              <a:rPr lang="en-US" smtClean="0"/>
              <a:pPr/>
              <a:t>40</a:t>
            </a:fld>
            <a:endParaRPr lang="en-US"/>
          </a:p>
        </p:txBody>
      </p:sp>
      <p:sp>
        <p:nvSpPr>
          <p:cNvPr id="5" name="Content Placeholder 2">
            <a:extLst>
              <a:ext uri="{FF2B5EF4-FFF2-40B4-BE49-F238E27FC236}">
                <a16:creationId xmlns:a16="http://schemas.microsoft.com/office/drawing/2014/main" id="{7F921A8D-70EA-4C70-8EF2-01E8AD1DC514}"/>
              </a:ext>
            </a:extLst>
          </p:cNvPr>
          <p:cNvSpPr txBox="1">
            <a:spLocks/>
          </p:cNvSpPr>
          <p:nvPr/>
        </p:nvSpPr>
        <p:spPr>
          <a:xfrm>
            <a:off x="872197" y="1253330"/>
            <a:ext cx="10560945" cy="5103025"/>
          </a:xfrm>
          <a:prstGeom prst="rect">
            <a:avLst/>
          </a:prstGeom>
          <a:ln w="952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p:txBody>
      </p:sp>
      <p:sp>
        <p:nvSpPr>
          <p:cNvPr id="3" name="Rectangle 2">
            <a:extLst>
              <a:ext uri="{FF2B5EF4-FFF2-40B4-BE49-F238E27FC236}">
                <a16:creationId xmlns:a16="http://schemas.microsoft.com/office/drawing/2014/main" id="{E1FBF881-D30D-44B6-9C59-54E9ADCB1528}"/>
              </a:ext>
            </a:extLst>
          </p:cNvPr>
          <p:cNvSpPr/>
          <p:nvPr/>
        </p:nvSpPr>
        <p:spPr>
          <a:xfrm>
            <a:off x="1012198" y="1385142"/>
            <a:ext cx="10420943" cy="830997"/>
          </a:xfrm>
          <a:prstGeom prst="rect">
            <a:avLst/>
          </a:prstGeom>
        </p:spPr>
        <p:txBody>
          <a:bodyPr wrap="square">
            <a:spAutoFit/>
          </a:bodyPr>
          <a:lstStyle/>
          <a:p>
            <a:pPr lvl="0" eaLnBrk="0" fontAlgn="base" hangingPunct="0">
              <a:spcBef>
                <a:spcPct val="0"/>
              </a:spcBef>
              <a:spcAft>
                <a:spcPct val="0"/>
              </a:spcAft>
            </a:pPr>
            <a:r>
              <a:rPr lang="en-US" altLang="en-US" sz="2400" dirty="0">
                <a:latin typeface="Times New Roman" panose="02020603050405020304" pitchFamily="18" charset="0"/>
                <a:cs typeface="Times New Roman" panose="02020603050405020304" pitchFamily="18" charset="0"/>
              </a:rPr>
              <a:t>Without encoding, the total size of the string was 120 bits. After encoding the size is reduced to 32 + 9 + 28 = 69 bits</a:t>
            </a:r>
          </a:p>
        </p:txBody>
      </p:sp>
    </p:spTree>
    <p:extLst>
      <p:ext uri="{BB962C8B-B14F-4D97-AF65-F5344CB8AC3E}">
        <p14:creationId xmlns:p14="http://schemas.microsoft.com/office/powerpoint/2010/main" val="770247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667AA-2150-4710-BD67-8DEB4166F6FC}"/>
              </a:ext>
            </a:extLst>
          </p:cNvPr>
          <p:cNvSpPr>
            <a:spLocks noGrp="1"/>
          </p:cNvSpPr>
          <p:nvPr>
            <p:ph type="title"/>
          </p:nvPr>
        </p:nvSpPr>
        <p:spPr>
          <a:xfrm>
            <a:off x="844062" y="187939"/>
            <a:ext cx="8418021" cy="851703"/>
          </a:xfrm>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Decoding the code</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B9101CD-8E18-4C2D-82FF-4A95909BB053}"/>
              </a:ext>
            </a:extLst>
          </p:cNvPr>
          <p:cNvSpPr>
            <a:spLocks noGrp="1"/>
          </p:cNvSpPr>
          <p:nvPr>
            <p:ph type="sldNum" sz="quarter" idx="12"/>
          </p:nvPr>
        </p:nvSpPr>
        <p:spPr/>
        <p:txBody>
          <a:bodyPr/>
          <a:lstStyle/>
          <a:p>
            <a:fld id="{BDCDBBEF-AA6C-4BA6-85B2-A17D7F280E38}" type="slidenum">
              <a:rPr lang="en-US" smtClean="0"/>
              <a:pPr/>
              <a:t>41</a:t>
            </a:fld>
            <a:endParaRPr lang="en-US"/>
          </a:p>
        </p:txBody>
      </p:sp>
      <p:sp>
        <p:nvSpPr>
          <p:cNvPr id="7" name="Rectangle 5">
            <a:extLst>
              <a:ext uri="{FF2B5EF4-FFF2-40B4-BE49-F238E27FC236}">
                <a16:creationId xmlns:a16="http://schemas.microsoft.com/office/drawing/2014/main" id="{871AFC0A-B6FD-492C-B775-EDE91CFA2C9B}"/>
              </a:ext>
            </a:extLst>
          </p:cNvPr>
          <p:cNvSpPr>
            <a:spLocks noChangeArrowheads="1"/>
          </p:cNvSpPr>
          <p:nvPr/>
        </p:nvSpPr>
        <p:spPr bwMode="auto">
          <a:xfrm>
            <a:off x="660210" y="1250053"/>
            <a:ext cx="10871579" cy="489364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400" dirty="0">
                <a:latin typeface="Times New Roman" panose="02020603050405020304" pitchFamily="18" charset="0"/>
                <a:cs typeface="Times New Roman" panose="02020603050405020304" pitchFamily="18" charset="0"/>
              </a:rPr>
              <a:t>For decoding the code, we can take the code and traverse through the tree to find the character.</a:t>
            </a:r>
          </a:p>
          <a:p>
            <a:pPr lvl="0"/>
            <a:r>
              <a:rPr lang="en-US" altLang="en-US" sz="2400" dirty="0">
                <a:latin typeface="Times New Roman" panose="02020603050405020304" pitchFamily="18" charset="0"/>
                <a:cs typeface="Times New Roman" panose="02020603050405020304" pitchFamily="18" charset="0"/>
              </a:rPr>
              <a:t>Let 101 is to be decoded, we can traverse from the root as in the figure below.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0"/>
            <a:endParaRPr lang="en-US" altLang="en-US" sz="2400" dirty="0">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lang="en-US" altLang="en-US" sz="2400" dirty="0">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lang="en-US" altLang="en-US" sz="2400" dirty="0">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lang="en-US" altLang="en-US" sz="2400" dirty="0">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0486" name="Picture 6" descr="huffman coding">
            <a:extLst>
              <a:ext uri="{FF2B5EF4-FFF2-40B4-BE49-F238E27FC236}">
                <a16:creationId xmlns:a16="http://schemas.microsoft.com/office/drawing/2014/main" id="{C4643BA1-6F95-4A6B-B0C0-4DD9CA755B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0071" y="2508724"/>
            <a:ext cx="4107671" cy="3604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992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72332-6927-49CC-B5C1-AC67B5996BB8}"/>
              </a:ext>
            </a:extLst>
          </p:cNvPr>
          <p:cNvSpPr>
            <a:spLocks noGrp="1"/>
          </p:cNvSpPr>
          <p:nvPr>
            <p:ph type="title"/>
          </p:nvPr>
        </p:nvSpPr>
        <p:spPr>
          <a:xfrm>
            <a:off x="838201" y="154572"/>
            <a:ext cx="8544950" cy="851703"/>
          </a:xfrm>
        </p:spPr>
        <p:txBody>
          <a:bodyPr/>
          <a:lstStyle/>
          <a:p>
            <a:r>
              <a:rPr lang="en-US" dirty="0"/>
              <a:t>2. Example </a:t>
            </a:r>
          </a:p>
        </p:txBody>
      </p:sp>
      <p:graphicFrame>
        <p:nvGraphicFramePr>
          <p:cNvPr id="8" name="Content Placeholder 7">
            <a:extLst>
              <a:ext uri="{FF2B5EF4-FFF2-40B4-BE49-F238E27FC236}">
                <a16:creationId xmlns:a16="http://schemas.microsoft.com/office/drawing/2014/main" id="{EA36903D-14DB-4D32-9B55-E4DF55321E41}"/>
              </a:ext>
            </a:extLst>
          </p:cNvPr>
          <p:cNvGraphicFramePr>
            <a:graphicFrameLocks noGrp="1"/>
          </p:cNvGraphicFramePr>
          <p:nvPr>
            <p:ph idx="1"/>
            <p:extLst>
              <p:ext uri="{D42A27DB-BD31-4B8C-83A1-F6EECF244321}">
                <p14:modId xmlns:p14="http://schemas.microsoft.com/office/powerpoint/2010/main" val="4209721322"/>
              </p:ext>
            </p:extLst>
          </p:nvPr>
        </p:nvGraphicFramePr>
        <p:xfrm>
          <a:off x="548640" y="2223208"/>
          <a:ext cx="10805157" cy="851704"/>
        </p:xfrm>
        <a:graphic>
          <a:graphicData uri="http://schemas.openxmlformats.org/drawingml/2006/table">
            <a:tbl>
              <a:tblPr/>
              <a:tblGrid>
                <a:gridCol w="1200573">
                  <a:extLst>
                    <a:ext uri="{9D8B030D-6E8A-4147-A177-3AD203B41FA5}">
                      <a16:colId xmlns:a16="http://schemas.microsoft.com/office/drawing/2014/main" val="1197274035"/>
                    </a:ext>
                  </a:extLst>
                </a:gridCol>
                <a:gridCol w="1200573">
                  <a:extLst>
                    <a:ext uri="{9D8B030D-6E8A-4147-A177-3AD203B41FA5}">
                      <a16:colId xmlns:a16="http://schemas.microsoft.com/office/drawing/2014/main" val="3613319452"/>
                    </a:ext>
                  </a:extLst>
                </a:gridCol>
                <a:gridCol w="1200573">
                  <a:extLst>
                    <a:ext uri="{9D8B030D-6E8A-4147-A177-3AD203B41FA5}">
                      <a16:colId xmlns:a16="http://schemas.microsoft.com/office/drawing/2014/main" val="4060102282"/>
                    </a:ext>
                  </a:extLst>
                </a:gridCol>
                <a:gridCol w="1200573">
                  <a:extLst>
                    <a:ext uri="{9D8B030D-6E8A-4147-A177-3AD203B41FA5}">
                      <a16:colId xmlns:a16="http://schemas.microsoft.com/office/drawing/2014/main" val="503977895"/>
                    </a:ext>
                  </a:extLst>
                </a:gridCol>
                <a:gridCol w="1200573">
                  <a:extLst>
                    <a:ext uri="{9D8B030D-6E8A-4147-A177-3AD203B41FA5}">
                      <a16:colId xmlns:a16="http://schemas.microsoft.com/office/drawing/2014/main" val="614701076"/>
                    </a:ext>
                  </a:extLst>
                </a:gridCol>
                <a:gridCol w="1200573">
                  <a:extLst>
                    <a:ext uri="{9D8B030D-6E8A-4147-A177-3AD203B41FA5}">
                      <a16:colId xmlns:a16="http://schemas.microsoft.com/office/drawing/2014/main" val="4285439587"/>
                    </a:ext>
                  </a:extLst>
                </a:gridCol>
                <a:gridCol w="1200573">
                  <a:extLst>
                    <a:ext uri="{9D8B030D-6E8A-4147-A177-3AD203B41FA5}">
                      <a16:colId xmlns:a16="http://schemas.microsoft.com/office/drawing/2014/main" val="431580376"/>
                    </a:ext>
                  </a:extLst>
                </a:gridCol>
                <a:gridCol w="1200573">
                  <a:extLst>
                    <a:ext uri="{9D8B030D-6E8A-4147-A177-3AD203B41FA5}">
                      <a16:colId xmlns:a16="http://schemas.microsoft.com/office/drawing/2014/main" val="382157540"/>
                    </a:ext>
                  </a:extLst>
                </a:gridCol>
                <a:gridCol w="1200573">
                  <a:extLst>
                    <a:ext uri="{9D8B030D-6E8A-4147-A177-3AD203B41FA5}">
                      <a16:colId xmlns:a16="http://schemas.microsoft.com/office/drawing/2014/main" val="2057118543"/>
                    </a:ext>
                  </a:extLst>
                </a:gridCol>
              </a:tblGrid>
              <a:tr h="425852">
                <a:tc>
                  <a:txBody>
                    <a:bodyPr/>
                    <a:lstStyle/>
                    <a:p>
                      <a:r>
                        <a:rPr lang="en-US">
                          <a:effectLst/>
                        </a:rPr>
                        <a:t>Letter</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Z</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K</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M</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C</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U</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D</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L</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E</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17204195"/>
                  </a:ext>
                </a:extLst>
              </a:tr>
              <a:tr h="425852">
                <a:tc>
                  <a:txBody>
                    <a:bodyPr/>
                    <a:lstStyle/>
                    <a:p>
                      <a:r>
                        <a:rPr lang="en-US">
                          <a:effectLst/>
                        </a:rPr>
                        <a:t>Frequency</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7</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24</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37</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120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3294036463"/>
                  </a:ext>
                </a:extLst>
              </a:tr>
            </a:tbl>
          </a:graphicData>
        </a:graphic>
      </p:graphicFrame>
      <p:sp>
        <p:nvSpPr>
          <p:cNvPr id="4" name="Slide Number Placeholder 3">
            <a:extLst>
              <a:ext uri="{FF2B5EF4-FFF2-40B4-BE49-F238E27FC236}">
                <a16:creationId xmlns:a16="http://schemas.microsoft.com/office/drawing/2014/main" id="{8CCB8BB2-42AB-4737-A140-4FFE512EB5FE}"/>
              </a:ext>
            </a:extLst>
          </p:cNvPr>
          <p:cNvSpPr>
            <a:spLocks noGrp="1"/>
          </p:cNvSpPr>
          <p:nvPr>
            <p:ph type="sldNum" sz="quarter" idx="12"/>
          </p:nvPr>
        </p:nvSpPr>
        <p:spPr/>
        <p:txBody>
          <a:bodyPr/>
          <a:lstStyle/>
          <a:p>
            <a:fld id="{BDCDBBEF-AA6C-4BA6-85B2-A17D7F280E38}" type="slidenum">
              <a:rPr lang="en-US" smtClean="0"/>
              <a:pPr/>
              <a:t>42</a:t>
            </a:fld>
            <a:endParaRPr lang="en-US"/>
          </a:p>
        </p:txBody>
      </p:sp>
      <p:sp>
        <p:nvSpPr>
          <p:cNvPr id="9" name="Rectangle 2">
            <a:extLst>
              <a:ext uri="{FF2B5EF4-FFF2-40B4-BE49-F238E27FC236}">
                <a16:creationId xmlns:a16="http://schemas.microsoft.com/office/drawing/2014/main" id="{8E15057E-E6F7-4E9F-A236-19FE8032ACF5}"/>
              </a:ext>
            </a:extLst>
          </p:cNvPr>
          <p:cNvSpPr>
            <a:spLocks noChangeArrowheads="1"/>
          </p:cNvSpPr>
          <p:nvPr/>
        </p:nvSpPr>
        <p:spPr bwMode="auto">
          <a:xfrm>
            <a:off x="0" y="-9380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Arial" panose="020B0604020202020204" pitchFamily="34" charset="0"/>
                <a:cs typeface="Arial" panose="020B0604020202020204" pitchFamily="34" charset="0"/>
              </a:rPr>
              <a:t>Letter freqency table</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8F32ACE2-C0B6-419E-A115-EDFE6836C575}"/>
              </a:ext>
            </a:extLst>
          </p:cNvPr>
          <p:cNvSpPr/>
          <p:nvPr/>
        </p:nvSpPr>
        <p:spPr>
          <a:xfrm>
            <a:off x="3997941" y="1417881"/>
            <a:ext cx="3350597" cy="523220"/>
          </a:xfrm>
          <a:prstGeom prst="rect">
            <a:avLst/>
          </a:prstGeom>
        </p:spPr>
        <p:txBody>
          <a:bodyPr wrap="none">
            <a:spAutoFit/>
          </a:bodyPr>
          <a:lstStyle/>
          <a:p>
            <a:r>
              <a:rPr lang="en-US" sz="2800" dirty="0">
                <a:solidFill>
                  <a:srgbClr val="000000"/>
                </a:solidFill>
                <a:latin typeface="Times New Roman" panose="02020603050405020304" pitchFamily="18" charset="0"/>
                <a:cs typeface="Times New Roman" panose="02020603050405020304" pitchFamily="18" charset="0"/>
              </a:rPr>
              <a:t>Letter frequency table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1546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FDC95-5D69-4308-B2DF-EF866C6B3D38}"/>
              </a:ext>
            </a:extLst>
          </p:cNvPr>
          <p:cNvSpPr>
            <a:spLocks noGrp="1"/>
          </p:cNvSpPr>
          <p:nvPr>
            <p:ph type="title"/>
          </p:nvPr>
        </p:nvSpPr>
        <p:spPr>
          <a:xfrm>
            <a:off x="1010478" y="285741"/>
            <a:ext cx="8173278" cy="851703"/>
          </a:xfrm>
        </p:spPr>
        <p:txBody>
          <a:bodyPr/>
          <a:lstStyle/>
          <a:p>
            <a:r>
              <a:rPr lang="en-US" dirty="0"/>
              <a:t>The Huffman tree</a:t>
            </a:r>
          </a:p>
        </p:txBody>
      </p:sp>
      <p:pic>
        <p:nvPicPr>
          <p:cNvPr id="7" name="Content Placeholder 6">
            <a:extLst>
              <a:ext uri="{FF2B5EF4-FFF2-40B4-BE49-F238E27FC236}">
                <a16:creationId xmlns:a16="http://schemas.microsoft.com/office/drawing/2014/main" id="{CBD541DA-CA03-4DF0-B139-5CB38A6B3BCD}"/>
              </a:ext>
            </a:extLst>
          </p:cNvPr>
          <p:cNvPicPr>
            <a:picLocks noGrp="1" noChangeAspect="1"/>
          </p:cNvPicPr>
          <p:nvPr>
            <p:ph idx="1"/>
          </p:nvPr>
        </p:nvPicPr>
        <p:blipFill>
          <a:blip r:embed="rId2"/>
          <a:stretch>
            <a:fillRect/>
          </a:stretch>
        </p:blipFill>
        <p:spPr>
          <a:xfrm>
            <a:off x="2796209" y="1818205"/>
            <a:ext cx="6056243" cy="3734456"/>
          </a:xfrm>
          <a:prstGeom prst="rect">
            <a:avLst/>
          </a:prstGeom>
        </p:spPr>
      </p:pic>
      <p:sp>
        <p:nvSpPr>
          <p:cNvPr id="4" name="Slide Number Placeholder 3">
            <a:extLst>
              <a:ext uri="{FF2B5EF4-FFF2-40B4-BE49-F238E27FC236}">
                <a16:creationId xmlns:a16="http://schemas.microsoft.com/office/drawing/2014/main" id="{0164901E-AFA5-4AF3-892F-166F95493748}"/>
              </a:ext>
            </a:extLst>
          </p:cNvPr>
          <p:cNvSpPr>
            <a:spLocks noGrp="1"/>
          </p:cNvSpPr>
          <p:nvPr>
            <p:ph type="sldNum" sz="quarter" idx="12"/>
          </p:nvPr>
        </p:nvSpPr>
        <p:spPr/>
        <p:txBody>
          <a:bodyPr/>
          <a:lstStyle/>
          <a:p>
            <a:fld id="{BDCDBBEF-AA6C-4BA6-85B2-A17D7F280E38}" type="slidenum">
              <a:rPr lang="en-US" smtClean="0"/>
              <a:pPr/>
              <a:t>43</a:t>
            </a:fld>
            <a:endParaRPr lang="en-US"/>
          </a:p>
        </p:txBody>
      </p:sp>
    </p:spTree>
    <p:extLst>
      <p:ext uri="{BB962C8B-B14F-4D97-AF65-F5344CB8AC3E}">
        <p14:creationId xmlns:p14="http://schemas.microsoft.com/office/powerpoint/2010/main" val="3988694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0420-1017-481C-8043-6892757D544A}"/>
              </a:ext>
            </a:extLst>
          </p:cNvPr>
          <p:cNvSpPr>
            <a:spLocks noGrp="1"/>
          </p:cNvSpPr>
          <p:nvPr>
            <p:ph type="title"/>
          </p:nvPr>
        </p:nvSpPr>
        <p:spPr>
          <a:xfrm>
            <a:off x="997226" y="225019"/>
            <a:ext cx="8252791" cy="851703"/>
          </a:xfrm>
        </p:spPr>
        <p:txBody>
          <a:bodyPr/>
          <a:lstStyle/>
          <a:p>
            <a:r>
              <a:rPr lang="en-US" dirty="0"/>
              <a:t>Contd..</a:t>
            </a:r>
          </a:p>
        </p:txBody>
      </p:sp>
      <p:graphicFrame>
        <p:nvGraphicFramePr>
          <p:cNvPr id="7" name="Content Placeholder 6">
            <a:extLst>
              <a:ext uri="{FF2B5EF4-FFF2-40B4-BE49-F238E27FC236}">
                <a16:creationId xmlns:a16="http://schemas.microsoft.com/office/drawing/2014/main" id="{F1CA82D0-CC48-4631-9A57-0E3D0FA36FAE}"/>
              </a:ext>
            </a:extLst>
          </p:cNvPr>
          <p:cNvGraphicFramePr>
            <a:graphicFrameLocks noGrp="1"/>
          </p:cNvGraphicFramePr>
          <p:nvPr>
            <p:ph idx="1"/>
          </p:nvPr>
        </p:nvGraphicFramePr>
        <p:xfrm>
          <a:off x="838200" y="2049939"/>
          <a:ext cx="10515600" cy="3657600"/>
        </p:xfrm>
        <a:graphic>
          <a:graphicData uri="http://schemas.openxmlformats.org/drawingml/2006/table">
            <a:tbl>
              <a:tblPr/>
              <a:tblGrid>
                <a:gridCol w="2628900">
                  <a:extLst>
                    <a:ext uri="{9D8B030D-6E8A-4147-A177-3AD203B41FA5}">
                      <a16:colId xmlns:a16="http://schemas.microsoft.com/office/drawing/2014/main" val="855684187"/>
                    </a:ext>
                  </a:extLst>
                </a:gridCol>
                <a:gridCol w="2628900">
                  <a:extLst>
                    <a:ext uri="{9D8B030D-6E8A-4147-A177-3AD203B41FA5}">
                      <a16:colId xmlns:a16="http://schemas.microsoft.com/office/drawing/2014/main" val="2843243685"/>
                    </a:ext>
                  </a:extLst>
                </a:gridCol>
                <a:gridCol w="2628900">
                  <a:extLst>
                    <a:ext uri="{9D8B030D-6E8A-4147-A177-3AD203B41FA5}">
                      <a16:colId xmlns:a16="http://schemas.microsoft.com/office/drawing/2014/main" val="2831713988"/>
                    </a:ext>
                  </a:extLst>
                </a:gridCol>
                <a:gridCol w="2628900">
                  <a:extLst>
                    <a:ext uri="{9D8B030D-6E8A-4147-A177-3AD203B41FA5}">
                      <a16:colId xmlns:a16="http://schemas.microsoft.com/office/drawing/2014/main" val="4253580790"/>
                    </a:ext>
                  </a:extLst>
                </a:gridCol>
              </a:tblGrid>
              <a:tr h="0">
                <a:tc>
                  <a:txBody>
                    <a:bodyPr/>
                    <a:lstStyle/>
                    <a:p>
                      <a:r>
                        <a:rPr lang="en-US">
                          <a:effectLst/>
                        </a:rPr>
                        <a:t>Letter</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Freq</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Code</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Bits</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2175551234"/>
                  </a:ext>
                </a:extLst>
              </a:tr>
              <a:tr h="0">
                <a:tc>
                  <a:txBody>
                    <a:bodyPr/>
                    <a:lstStyle/>
                    <a:p>
                      <a:endParaRPr lang="en-US"/>
                    </a:p>
                  </a:txBody>
                  <a:tcP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tcPr>
                </a:tc>
                <a:tc>
                  <a:txBody>
                    <a:bodyPr/>
                    <a:lstStyle/>
                    <a:p>
                      <a:endParaRPr lang="en-US"/>
                    </a:p>
                  </a:txBody>
                  <a:tcP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tcPr>
                </a:tc>
                <a:tc>
                  <a:txBody>
                    <a:bodyPr/>
                    <a:lstStyle/>
                    <a:p>
                      <a:endParaRPr lang="en-US"/>
                    </a:p>
                  </a:txBody>
                  <a:tcP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tcPr>
                </a:tc>
                <a:tc>
                  <a:txBody>
                    <a:bodyPr/>
                    <a:lstStyle/>
                    <a:p>
                      <a:endParaRPr lang="en-US"/>
                    </a:p>
                  </a:txBody>
                  <a:tcP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tcPr>
                </a:tc>
                <a:extLst>
                  <a:ext uri="{0D108BD9-81ED-4DB2-BD59-A6C34878D82A}">
                    <a16:rowId xmlns:a16="http://schemas.microsoft.com/office/drawing/2014/main" val="2126100202"/>
                  </a:ext>
                </a:extLst>
              </a:tr>
              <a:tr h="0">
                <a:tc>
                  <a:txBody>
                    <a:bodyPr/>
                    <a:lstStyle/>
                    <a:p>
                      <a:r>
                        <a:rPr lang="en-US">
                          <a:effectLst/>
                        </a:rPr>
                        <a:t>E</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120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1447483300"/>
                  </a:ext>
                </a:extLst>
              </a:tr>
              <a:tr h="0">
                <a:tc>
                  <a:txBody>
                    <a:bodyPr/>
                    <a:lstStyle/>
                    <a:p>
                      <a:r>
                        <a:rPr lang="en-US">
                          <a:effectLst/>
                        </a:rPr>
                        <a:t>D</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101</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3608373605"/>
                  </a:ext>
                </a:extLst>
              </a:tr>
              <a:tr h="0">
                <a:tc>
                  <a:txBody>
                    <a:bodyPr/>
                    <a:lstStyle/>
                    <a:p>
                      <a:r>
                        <a:rPr lang="en-US">
                          <a:effectLst/>
                        </a:rPr>
                        <a:t>L</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3144114334"/>
                  </a:ext>
                </a:extLst>
              </a:tr>
              <a:tr h="0">
                <a:tc>
                  <a:txBody>
                    <a:bodyPr/>
                    <a:lstStyle/>
                    <a:p>
                      <a:r>
                        <a:rPr lang="en-US">
                          <a:effectLst/>
                        </a:rPr>
                        <a:t>U</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37</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100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4187943437"/>
                  </a:ext>
                </a:extLst>
              </a:tr>
              <a:tr h="0">
                <a:tc>
                  <a:txBody>
                    <a:bodyPr/>
                    <a:lstStyle/>
                    <a:p>
                      <a:r>
                        <a:rPr lang="en-US">
                          <a:effectLst/>
                        </a:rPr>
                        <a:t>C</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1110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876731754"/>
                  </a:ext>
                </a:extLst>
              </a:tr>
              <a:tr h="0">
                <a:tc>
                  <a:txBody>
                    <a:bodyPr/>
                    <a:lstStyle/>
                    <a:p>
                      <a:r>
                        <a:rPr lang="en-US">
                          <a:effectLst/>
                        </a:rPr>
                        <a:t>M</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24</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11111</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5</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2682716908"/>
                  </a:ext>
                </a:extLst>
              </a:tr>
              <a:tr h="0">
                <a:tc>
                  <a:txBody>
                    <a:bodyPr/>
                    <a:lstStyle/>
                    <a:p>
                      <a:r>
                        <a:rPr lang="en-US">
                          <a:effectLst/>
                        </a:rPr>
                        <a:t>K</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7</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111101</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6</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2147058541"/>
                  </a:ext>
                </a:extLst>
              </a:tr>
              <a:tr h="0">
                <a:tc>
                  <a:txBody>
                    <a:bodyPr/>
                    <a:lstStyle/>
                    <a:p>
                      <a:r>
                        <a:rPr lang="en-US">
                          <a:effectLst/>
                        </a:rPr>
                        <a:t>Z</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111100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6</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484032058"/>
                  </a:ext>
                </a:extLst>
              </a:tr>
            </a:tbl>
          </a:graphicData>
        </a:graphic>
      </p:graphicFrame>
      <p:sp>
        <p:nvSpPr>
          <p:cNvPr id="4" name="Slide Number Placeholder 3">
            <a:extLst>
              <a:ext uri="{FF2B5EF4-FFF2-40B4-BE49-F238E27FC236}">
                <a16:creationId xmlns:a16="http://schemas.microsoft.com/office/drawing/2014/main" id="{8964E306-A14E-4A1F-99B2-1861A6589CB9}"/>
              </a:ext>
            </a:extLst>
          </p:cNvPr>
          <p:cNvSpPr>
            <a:spLocks noGrp="1"/>
          </p:cNvSpPr>
          <p:nvPr>
            <p:ph type="sldNum" sz="quarter" idx="12"/>
          </p:nvPr>
        </p:nvSpPr>
        <p:spPr/>
        <p:txBody>
          <a:bodyPr/>
          <a:lstStyle/>
          <a:p>
            <a:fld id="{BDCDBBEF-AA6C-4BA6-85B2-A17D7F280E38}" type="slidenum">
              <a:rPr lang="en-US" smtClean="0"/>
              <a:pPr/>
              <a:t>44</a:t>
            </a:fld>
            <a:endParaRPr lang="en-US"/>
          </a:p>
        </p:txBody>
      </p:sp>
      <p:sp>
        <p:nvSpPr>
          <p:cNvPr id="8" name="Rectangle 7">
            <a:extLst>
              <a:ext uri="{FF2B5EF4-FFF2-40B4-BE49-F238E27FC236}">
                <a16:creationId xmlns:a16="http://schemas.microsoft.com/office/drawing/2014/main" id="{C4CC54AE-5674-4CC4-8A90-835266982D02}"/>
              </a:ext>
            </a:extLst>
          </p:cNvPr>
          <p:cNvSpPr/>
          <p:nvPr/>
        </p:nvSpPr>
        <p:spPr>
          <a:xfrm>
            <a:off x="4975372" y="1401128"/>
            <a:ext cx="2241255" cy="523220"/>
          </a:xfrm>
          <a:prstGeom prst="rect">
            <a:avLst/>
          </a:prstGeom>
        </p:spPr>
        <p:txBody>
          <a:bodyPr wrap="none">
            <a:spAutoFit/>
          </a:bodyPr>
          <a:lstStyle/>
          <a:p>
            <a:r>
              <a:rPr lang="en-US" sz="2800" dirty="0">
                <a:solidFill>
                  <a:srgbClr val="000000"/>
                </a:solidFill>
                <a:latin typeface="Times New Roman" panose="02020603050405020304" pitchFamily="18" charset="0"/>
                <a:cs typeface="Times New Roman" panose="02020603050405020304" pitchFamily="18" charset="0"/>
              </a:rPr>
              <a:t>Huffman code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4313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F058F-EBA2-40DA-8DBB-57E73BB1609D}"/>
              </a:ext>
            </a:extLst>
          </p:cNvPr>
          <p:cNvSpPr>
            <a:spLocks noGrp="1"/>
          </p:cNvSpPr>
          <p:nvPr>
            <p:ph type="title"/>
          </p:nvPr>
        </p:nvSpPr>
        <p:spPr>
          <a:xfrm>
            <a:off x="1116496" y="136525"/>
            <a:ext cx="8186530" cy="851703"/>
          </a:xfrm>
        </p:spPr>
        <p:txBody>
          <a:bodyPr/>
          <a:lstStyle/>
          <a:p>
            <a:r>
              <a:rPr lang="en-US" dirty="0"/>
              <a:t>Contd..</a:t>
            </a:r>
          </a:p>
        </p:txBody>
      </p:sp>
      <p:sp>
        <p:nvSpPr>
          <p:cNvPr id="3" name="Content Placeholder 2">
            <a:extLst>
              <a:ext uri="{FF2B5EF4-FFF2-40B4-BE49-F238E27FC236}">
                <a16:creationId xmlns:a16="http://schemas.microsoft.com/office/drawing/2014/main" id="{0DD0981D-2402-4E33-B97C-75F6E429364E}"/>
              </a:ext>
            </a:extLst>
          </p:cNvPr>
          <p:cNvSpPr>
            <a:spLocks noGrp="1"/>
          </p:cNvSpPr>
          <p:nvPr>
            <p:ph idx="1"/>
          </p:nvPr>
        </p:nvSpPr>
        <p:spPr>
          <a:xfrm>
            <a:off x="652669" y="1029459"/>
            <a:ext cx="10280374" cy="5692016"/>
          </a:xfrm>
        </p:spPr>
        <p:txBody>
          <a:bodyPr>
            <a:noAutofit/>
          </a:bodyPr>
          <a:lstStyle/>
          <a:p>
            <a:r>
              <a:rPr lang="en-US" sz="2400" dirty="0"/>
              <a:t>Three problems:</a:t>
            </a:r>
          </a:p>
          <a:p>
            <a:r>
              <a:rPr lang="en-US" sz="2400" dirty="0"/>
              <a:t>Problem 1: Huffman tree building</a:t>
            </a:r>
          </a:p>
          <a:p>
            <a:r>
              <a:rPr lang="en-US" sz="2400" dirty="0"/>
              <a:t>Problem 2: Encoding</a:t>
            </a:r>
          </a:p>
          <a:p>
            <a:r>
              <a:rPr lang="en-US" sz="2400" dirty="0"/>
              <a:t>Problem 3: Decoding</a:t>
            </a:r>
          </a:p>
          <a:p>
            <a:r>
              <a:rPr lang="en-US" sz="2400" b="1" dirty="0"/>
              <a:t>Problem 2: Encoding</a:t>
            </a:r>
          </a:p>
          <a:p>
            <a:r>
              <a:rPr lang="en-US" sz="2400" dirty="0"/>
              <a:t>Encoding a string can be done by replacing each letter in the string with its binary code (the Huffman code).</a:t>
            </a:r>
          </a:p>
          <a:p>
            <a:r>
              <a:rPr lang="en-US" sz="2400" dirty="0"/>
              <a:t>Examples:</a:t>
            </a:r>
            <a:br>
              <a:rPr lang="en-US" sz="2400" dirty="0"/>
            </a:br>
            <a:r>
              <a:rPr lang="en-US" sz="2400" dirty="0"/>
              <a:t>DEED 10100101 (8 bits)</a:t>
            </a:r>
            <a:br>
              <a:rPr lang="en-US" sz="2400" dirty="0"/>
            </a:br>
            <a:r>
              <a:rPr lang="en-US" sz="2400" dirty="0"/>
              <a:t>MUCK 111111001110111101 (18 bits)</a:t>
            </a:r>
            <a:br>
              <a:rPr lang="en-US" sz="2400" dirty="0"/>
            </a:br>
            <a:r>
              <a:rPr lang="en-US" sz="2400" b="1" dirty="0"/>
              <a:t>Problem 3: Decoding</a:t>
            </a:r>
          </a:p>
          <a:p>
            <a:r>
              <a:rPr lang="en-US" sz="2400" dirty="0"/>
              <a:t>Decoding an encoded string can be done by looking at the bits in the coded string from left to right until a letter decoded.</a:t>
            </a:r>
            <a:br>
              <a:rPr lang="en-US" sz="2400" dirty="0"/>
            </a:br>
            <a:r>
              <a:rPr lang="en-US" sz="2400" dirty="0"/>
              <a:t>10100101 -&gt; DEED</a:t>
            </a:r>
          </a:p>
          <a:p>
            <a:endParaRPr lang="en-US" sz="2400" dirty="0"/>
          </a:p>
        </p:txBody>
      </p:sp>
      <p:sp>
        <p:nvSpPr>
          <p:cNvPr id="4" name="Slide Number Placeholder 3">
            <a:extLst>
              <a:ext uri="{FF2B5EF4-FFF2-40B4-BE49-F238E27FC236}">
                <a16:creationId xmlns:a16="http://schemas.microsoft.com/office/drawing/2014/main" id="{4B5C11F7-F1D2-49BB-B2CA-6060750CF9C7}"/>
              </a:ext>
            </a:extLst>
          </p:cNvPr>
          <p:cNvSpPr>
            <a:spLocks noGrp="1"/>
          </p:cNvSpPr>
          <p:nvPr>
            <p:ph type="sldNum" sz="quarter" idx="12"/>
          </p:nvPr>
        </p:nvSpPr>
        <p:spPr/>
        <p:txBody>
          <a:bodyPr/>
          <a:lstStyle/>
          <a:p>
            <a:fld id="{BDCDBBEF-AA6C-4BA6-85B2-A17D7F280E38}" type="slidenum">
              <a:rPr lang="en-US" smtClean="0"/>
              <a:pPr/>
              <a:t>45</a:t>
            </a:fld>
            <a:endParaRPr lang="en-US"/>
          </a:p>
        </p:txBody>
      </p:sp>
    </p:spTree>
    <p:extLst>
      <p:ext uri="{BB962C8B-B14F-4D97-AF65-F5344CB8AC3E}">
        <p14:creationId xmlns:p14="http://schemas.microsoft.com/office/powerpoint/2010/main" val="8858409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560D2-D1E5-446F-9B68-7566BFBDD69B}"/>
              </a:ext>
            </a:extLst>
          </p:cNvPr>
          <p:cNvSpPr>
            <a:spLocks noGrp="1"/>
          </p:cNvSpPr>
          <p:nvPr>
            <p:ph type="title"/>
          </p:nvPr>
        </p:nvSpPr>
        <p:spPr/>
        <p:txBody>
          <a:bodyPr/>
          <a:lstStyle/>
          <a:p>
            <a:r>
              <a:rPr lang="en-US" dirty="0">
                <a:solidFill>
                  <a:schemeClr val="tx1"/>
                </a:solidFill>
              </a:rPr>
              <a:t>References</a:t>
            </a:r>
          </a:p>
        </p:txBody>
      </p:sp>
      <p:sp>
        <p:nvSpPr>
          <p:cNvPr id="3" name="Content Placeholder 2">
            <a:extLst>
              <a:ext uri="{FF2B5EF4-FFF2-40B4-BE49-F238E27FC236}">
                <a16:creationId xmlns:a16="http://schemas.microsoft.com/office/drawing/2014/main" id="{78C9AFD7-6267-410E-AACC-D689E0BA6C5F}"/>
              </a:ext>
            </a:extLst>
          </p:cNvPr>
          <p:cNvSpPr>
            <a:spLocks noGrp="1"/>
          </p:cNvSpPr>
          <p:nvPr>
            <p:ph idx="1"/>
          </p:nvPr>
        </p:nvSpPr>
        <p:spPr/>
        <p:txBody>
          <a:bodyPr/>
          <a:lstStyle/>
          <a:p>
            <a:r>
              <a:rPr lang="en-US" dirty="0">
                <a:hlinkClick r:id="rId2"/>
              </a:rPr>
              <a:t>https://www.codingame.com/playgrounds/1608/shortest-paths-with-dijkstras-algorithm/dijkstras-algorithm</a:t>
            </a:r>
            <a:endParaRPr lang="en-US" dirty="0"/>
          </a:p>
          <a:p>
            <a:pPr marL="0" indent="0" algn="just">
              <a:buNone/>
            </a:pPr>
            <a:r>
              <a:rPr lang="en-US" dirty="0"/>
              <a:t>Books:</a:t>
            </a:r>
          </a:p>
          <a:p>
            <a:pPr marL="457200" indent="-457200" algn="just">
              <a:buAutoNum type="arabicPeriod"/>
            </a:pPr>
            <a:r>
              <a:rPr lang="en-US" dirty="0"/>
              <a:t>Introduction to Algorithms by </a:t>
            </a:r>
            <a:r>
              <a:rPr lang="en-US" dirty="0" err="1"/>
              <a:t>Coreman</a:t>
            </a:r>
            <a:r>
              <a:rPr lang="en-US" dirty="0"/>
              <a:t>, </a:t>
            </a:r>
            <a:r>
              <a:rPr lang="en-US" dirty="0" err="1"/>
              <a:t>Leiserson</a:t>
            </a:r>
            <a:r>
              <a:rPr lang="en-US" dirty="0"/>
              <a:t>, </a:t>
            </a:r>
            <a:r>
              <a:rPr lang="en-US" dirty="0" err="1"/>
              <a:t>Rivest</a:t>
            </a:r>
            <a:r>
              <a:rPr lang="en-US" dirty="0"/>
              <a:t>, Stein.</a:t>
            </a:r>
          </a:p>
          <a:p>
            <a:pPr marL="457200" indent="-457200" algn="just">
              <a:buAutoNum type="arabicPeriod"/>
            </a:pPr>
            <a:r>
              <a:rPr lang="en-US" dirty="0"/>
              <a:t>Fundamentals of Algorithms by Ellis Horwitz, Sartaj </a:t>
            </a:r>
            <a:r>
              <a:rPr lang="en-US" dirty="0" err="1"/>
              <a:t>Sahni</a:t>
            </a:r>
            <a:r>
              <a:rPr lang="en-US" dirty="0"/>
              <a:t>, </a:t>
            </a:r>
            <a:r>
              <a:rPr lang="en-US" dirty="0" err="1"/>
              <a:t>Sanguthevar</a:t>
            </a:r>
            <a:r>
              <a:rPr lang="en-US" dirty="0"/>
              <a:t> </a:t>
            </a:r>
            <a:r>
              <a:rPr lang="en-US" dirty="0" err="1"/>
              <a:t>Rajasekaran</a:t>
            </a:r>
            <a:endParaRPr lang="en-US" dirty="0"/>
          </a:p>
          <a:p>
            <a:endParaRPr lang="en-US" dirty="0"/>
          </a:p>
        </p:txBody>
      </p:sp>
      <p:sp>
        <p:nvSpPr>
          <p:cNvPr id="4" name="Slide Number Placeholder 3">
            <a:extLst>
              <a:ext uri="{FF2B5EF4-FFF2-40B4-BE49-F238E27FC236}">
                <a16:creationId xmlns:a16="http://schemas.microsoft.com/office/drawing/2014/main" id="{05130240-53A8-4E70-955A-5D6972984F73}"/>
              </a:ext>
            </a:extLst>
          </p:cNvPr>
          <p:cNvSpPr>
            <a:spLocks noGrp="1"/>
          </p:cNvSpPr>
          <p:nvPr>
            <p:ph type="sldNum" sz="quarter" idx="12"/>
          </p:nvPr>
        </p:nvSpPr>
        <p:spPr/>
        <p:txBody>
          <a:bodyPr/>
          <a:lstStyle/>
          <a:p>
            <a:fld id="{BDCDBBEF-AA6C-4BA6-85B2-A17D7F280E38}" type="slidenum">
              <a:rPr lang="en-US" smtClean="0"/>
              <a:pPr/>
              <a:t>46</a:t>
            </a:fld>
            <a:endParaRPr lang="en-US"/>
          </a:p>
        </p:txBody>
      </p:sp>
    </p:spTree>
    <p:extLst>
      <p:ext uri="{BB962C8B-B14F-4D97-AF65-F5344CB8AC3E}">
        <p14:creationId xmlns:p14="http://schemas.microsoft.com/office/powerpoint/2010/main" val="304900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Slide Number Placeholder 1">
            <a:extLst>
              <a:ext uri="{FF2B5EF4-FFF2-40B4-BE49-F238E27FC236}">
                <a16:creationId xmlns:a16="http://schemas.microsoft.com/office/drawing/2014/main" id="{3C0F87A3-0245-412E-932D-47D7324B44AB}"/>
              </a:ext>
            </a:extLst>
          </p:cNvPr>
          <p:cNvSpPr>
            <a:spLocks noGrp="1"/>
          </p:cNvSpPr>
          <p:nvPr>
            <p:ph type="sldNum" sz="quarter" idx="12"/>
          </p:nvPr>
        </p:nvSpPr>
        <p:spPr/>
        <p:txBody>
          <a:bodyPr/>
          <a:lstStyle/>
          <a:p>
            <a:fld id="{FC9A48AB-23F1-45F1-98E5-D2CDC7A5261D}" type="slidenum">
              <a:rPr lang="en-US" smtClean="0">
                <a:solidFill>
                  <a:prstClr val="black">
                    <a:tint val="75000"/>
                  </a:prstClr>
                </a:solidFill>
              </a:rPr>
              <a:pPr/>
              <a:t>47</a:t>
            </a:fld>
            <a:endParaRPr lang="en-US">
              <a:solidFill>
                <a:prstClr val="black">
                  <a:tint val="75000"/>
                </a:prstClr>
              </a:solidFill>
            </a:endParaRPr>
          </a:p>
        </p:txBody>
      </p:sp>
      <p:pic>
        <p:nvPicPr>
          <p:cNvPr id="9374" name="Picture 158">
            <a:extLst>
              <a:ext uri="{FF2B5EF4-FFF2-40B4-BE49-F238E27FC236}">
                <a16:creationId xmlns:a16="http://schemas.microsoft.com/office/drawing/2014/main" id="{7F1859D9-1F38-438C-BECE-4C0DEE6A52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 y="571500"/>
            <a:ext cx="3429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01856165-BF7C-4DAC-9D4D-E024F2FD8E88}"/>
              </a:ext>
            </a:extLst>
          </p:cNvPr>
          <p:cNvSpPr txBox="1"/>
          <p:nvPr/>
        </p:nvSpPr>
        <p:spPr>
          <a:xfrm>
            <a:off x="3810000" y="5474880"/>
            <a:ext cx="2914650" cy="646331"/>
          </a:xfrm>
          <a:prstGeom prst="rect">
            <a:avLst/>
          </a:prstGeom>
          <a:noFill/>
        </p:spPr>
        <p:txBody>
          <a:bodyPr wrap="square" rtlCol="0">
            <a:spAutoFit/>
          </a:bodyPr>
          <a:lstStyle/>
          <a:p>
            <a:r>
              <a:rPr lang="en-IN" dirty="0"/>
              <a:t>For query: gurpreetkaur.uic@cumail.in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5272</TotalTime>
  <Words>2712</Words>
  <Application>Microsoft Office PowerPoint</Application>
  <PresentationFormat>Widescreen</PresentationFormat>
  <Paragraphs>349</Paragraphs>
  <Slides>47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Calibri Light</vt:lpstr>
      <vt:lpstr>Casper</vt:lpstr>
      <vt:lpstr>Raleway ExtraBold</vt:lpstr>
      <vt:lpstr>Times New Roman</vt:lpstr>
      <vt:lpstr>1_Office Theme</vt:lpstr>
      <vt:lpstr>PowerPoint Presentation</vt:lpstr>
      <vt:lpstr>Topics to be covered</vt:lpstr>
      <vt:lpstr>Introduction</vt:lpstr>
      <vt:lpstr>Shortest Path Problem</vt:lpstr>
      <vt:lpstr>Shortest Path Problem</vt:lpstr>
      <vt:lpstr>Shortest Path Problem</vt:lpstr>
      <vt:lpstr>Dijkstra's Algorithm</vt:lpstr>
      <vt:lpstr>Dijkstra's Algorithm</vt:lpstr>
      <vt:lpstr>Steps</vt:lpstr>
      <vt:lpstr>Next Step</vt:lpstr>
      <vt:lpstr>Next Step</vt:lpstr>
      <vt:lpstr>Next Step</vt:lpstr>
      <vt:lpstr>Next Step</vt:lpstr>
      <vt:lpstr>Next Step</vt:lpstr>
      <vt:lpstr>Next Step</vt:lpstr>
      <vt:lpstr>Next Step</vt:lpstr>
      <vt:lpstr>Next Step</vt:lpstr>
      <vt:lpstr>Next Step</vt:lpstr>
      <vt:lpstr>Next Step</vt:lpstr>
      <vt:lpstr>Next Step</vt:lpstr>
      <vt:lpstr>Example</vt:lpstr>
      <vt:lpstr>Example</vt:lpstr>
      <vt:lpstr>Prefix Codes</vt:lpstr>
      <vt:lpstr>Huffman Coding</vt:lpstr>
      <vt:lpstr>Huffman Coding</vt:lpstr>
      <vt:lpstr>Huffman coding tree </vt:lpstr>
      <vt:lpstr>Huffman Coding</vt:lpstr>
      <vt:lpstr>Huffman coding</vt:lpstr>
      <vt:lpstr>How Huffman Coding works?</vt:lpstr>
      <vt:lpstr>How Huffman Coding works?</vt:lpstr>
      <vt:lpstr>How Huffman Coding works?</vt:lpstr>
      <vt:lpstr>How Huffman Coding works?</vt:lpstr>
      <vt:lpstr>How Huffman Coding works?</vt:lpstr>
      <vt:lpstr>How Huffman Coding works?</vt:lpstr>
      <vt:lpstr>Contd…</vt:lpstr>
      <vt:lpstr>Contd…</vt:lpstr>
      <vt:lpstr>Contd…</vt:lpstr>
      <vt:lpstr>Contd…</vt:lpstr>
      <vt:lpstr>Contd…</vt:lpstr>
      <vt:lpstr>Contd…</vt:lpstr>
      <vt:lpstr> Decoding the code </vt:lpstr>
      <vt:lpstr>2. Example </vt:lpstr>
      <vt:lpstr>The Huffman tree</vt:lpstr>
      <vt:lpstr>Contd..</vt:lpstr>
      <vt:lpstr>Contd..</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hello</dc:creator>
  <cp:lastModifiedBy>Ramesh Tiwary</cp:lastModifiedBy>
  <cp:revision>97</cp:revision>
  <dcterms:created xsi:type="dcterms:W3CDTF">2020-07-29T09:25:23Z</dcterms:created>
  <dcterms:modified xsi:type="dcterms:W3CDTF">2025-09-16T12:38:36Z</dcterms:modified>
</cp:coreProperties>
</file>