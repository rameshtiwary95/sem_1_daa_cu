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702" r:id="rId2"/>
    <p:sldMasterId id="2147483686" r:id="rId3"/>
  </p:sldMasterIdLst>
  <p:notesMasterIdLst>
    <p:notesMasterId r:id="rId31"/>
  </p:notesMasterIdLst>
  <p:handoutMasterIdLst>
    <p:handoutMasterId r:id="rId32"/>
  </p:handoutMasterIdLst>
  <p:sldIdLst>
    <p:sldId id="277" r:id="rId4"/>
    <p:sldId id="282" r:id="rId5"/>
    <p:sldId id="326" r:id="rId6"/>
    <p:sldId id="327" r:id="rId7"/>
    <p:sldId id="317" r:id="rId8"/>
    <p:sldId id="328" r:id="rId9"/>
    <p:sldId id="337" r:id="rId10"/>
    <p:sldId id="340" r:id="rId11"/>
    <p:sldId id="341" r:id="rId12"/>
    <p:sldId id="342" r:id="rId13"/>
    <p:sldId id="343" r:id="rId14"/>
    <p:sldId id="344" r:id="rId15"/>
    <p:sldId id="345" r:id="rId16"/>
    <p:sldId id="346" r:id="rId17"/>
    <p:sldId id="330" r:id="rId18"/>
    <p:sldId id="338" r:id="rId19"/>
    <p:sldId id="331" r:id="rId20"/>
    <p:sldId id="332" r:id="rId21"/>
    <p:sldId id="339" r:id="rId22"/>
    <p:sldId id="333" r:id="rId23"/>
    <p:sldId id="334" r:id="rId24"/>
    <p:sldId id="335" r:id="rId25"/>
    <p:sldId id="336" r:id="rId26"/>
    <p:sldId id="347" r:id="rId27"/>
    <p:sldId id="348" r:id="rId28"/>
    <p:sldId id="284" r:id="rId29"/>
    <p:sldId id="27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29" autoAdjust="0"/>
    <p:restoredTop sz="94660"/>
  </p:normalViewPr>
  <p:slideViewPr>
    <p:cSldViewPr snapToGrid="0">
      <p:cViewPr varScale="1">
        <p:scale>
          <a:sx n="69" d="100"/>
          <a:sy n="69" d="100"/>
        </p:scale>
        <p:origin x="792"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heme" Target="theme/theme1.xml"/><Relationship Id="rId8"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9/11/2024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9/11/2024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801278"/>
            <a:ext cx="10436258" cy="851703"/>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
        <p:nvSpPr>
          <p:cNvPr id="7" name="Rectangle 6">
            <a:extLst>
              <a:ext uri="{FF2B5EF4-FFF2-40B4-BE49-F238E27FC236}">
                <a16:creationId xmlns:a16="http://schemas.microsoft.com/office/drawing/2014/main" id="{064292DA-84F5-40F0-8633-38207E284811}"/>
              </a:ext>
            </a:extLst>
          </p:cNvPr>
          <p:cNvSpPr/>
          <p:nvPr userDrawn="1"/>
        </p:nvSpPr>
        <p:spPr>
          <a:xfrm>
            <a:off x="11076495" y="6356350"/>
            <a:ext cx="277305" cy="3651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
        <p:nvSpPr>
          <p:cNvPr id="2" name="Rectangle 1">
            <a:extLst>
              <a:ext uri="{FF2B5EF4-FFF2-40B4-BE49-F238E27FC236}">
                <a16:creationId xmlns:a16="http://schemas.microsoft.com/office/drawing/2014/main" id="{25DF2ED9-7E0B-45C9-B191-4DC987F105E7}"/>
              </a:ext>
            </a:extLst>
          </p:cNvPr>
          <p:cNvSpPr/>
          <p:nvPr userDrawn="1"/>
        </p:nvSpPr>
        <p:spPr>
          <a:xfrm>
            <a:off x="11019934" y="6356350"/>
            <a:ext cx="333866" cy="3651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150E1-CAC4-4587-B0FA-80B22C02EE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DF13C07-D151-4BD2-876E-0618416993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C040DE2-C111-4F56-9B1E-09CD95C7391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528DF74-C27C-44FA-821A-9E9625AC4B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543D33-5D3B-4444-A417-6DE267AC8DD3}"/>
              </a:ext>
            </a:extLst>
          </p:cNvPr>
          <p:cNvSpPr>
            <a:spLocks noGrp="1"/>
          </p:cNvSpPr>
          <p:nvPr>
            <p:ph type="sldNum" sz="quarter" idx="12"/>
          </p:nvPr>
        </p:nvSpPr>
        <p:spPr/>
        <p:txBody>
          <a:bodyPr/>
          <a:lstStyle/>
          <a:p>
            <a:fld id="{AF8482A8-ECF5-44DB-AB4A-4BE39BCA8470}" type="slidenum">
              <a:rPr lang="en-IN" smtClean="0"/>
              <a:t>‹#›</a:t>
            </a:fld>
            <a:endParaRPr lang="en-IN"/>
          </a:p>
        </p:txBody>
      </p:sp>
    </p:spTree>
    <p:extLst>
      <p:ext uri="{BB962C8B-B14F-4D97-AF65-F5344CB8AC3E}">
        <p14:creationId xmlns:p14="http://schemas.microsoft.com/office/powerpoint/2010/main" val="4842074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CDEAC-3BD0-4B63-A014-261803BF7B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785D103-8100-458A-870F-1E4A4FD166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3210DB-BDBE-4E34-8566-831A6637756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ED381773-71CE-4D21-9040-8306D4EC7D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7D0435-5CBD-4EC3-83BA-F25AF4997074}"/>
              </a:ext>
            </a:extLst>
          </p:cNvPr>
          <p:cNvSpPr>
            <a:spLocks noGrp="1"/>
          </p:cNvSpPr>
          <p:nvPr>
            <p:ph type="sldNum" sz="quarter" idx="12"/>
          </p:nvPr>
        </p:nvSpPr>
        <p:spPr/>
        <p:txBody>
          <a:bodyPr/>
          <a:lstStyle/>
          <a:p>
            <a:fld id="{AF8482A8-ECF5-44DB-AB4A-4BE39BCA8470}" type="slidenum">
              <a:rPr lang="en-IN" smtClean="0"/>
              <a:t>‹#›</a:t>
            </a:fld>
            <a:endParaRPr lang="en-IN"/>
          </a:p>
        </p:txBody>
      </p:sp>
    </p:spTree>
    <p:extLst>
      <p:ext uri="{BB962C8B-B14F-4D97-AF65-F5344CB8AC3E}">
        <p14:creationId xmlns:p14="http://schemas.microsoft.com/office/powerpoint/2010/main" val="14071674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A7A6C-265F-4CF1-B20A-75E22AB949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E0D7A89-5E1C-4FB9-B966-35D81024B6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5BB811-C3CE-447C-8402-AE6E78BEFDBA}"/>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98BDB362-3C91-47BB-B504-471C8B75E7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FCAD09-B0D7-4CEF-A56A-E37F9888BBF3}"/>
              </a:ext>
            </a:extLst>
          </p:cNvPr>
          <p:cNvSpPr>
            <a:spLocks noGrp="1"/>
          </p:cNvSpPr>
          <p:nvPr>
            <p:ph type="sldNum" sz="quarter" idx="12"/>
          </p:nvPr>
        </p:nvSpPr>
        <p:spPr/>
        <p:txBody>
          <a:bodyPr/>
          <a:lstStyle/>
          <a:p>
            <a:fld id="{AF8482A8-ECF5-44DB-AB4A-4BE39BCA8470}" type="slidenum">
              <a:rPr lang="en-IN" smtClean="0"/>
              <a:t>‹#›</a:t>
            </a:fld>
            <a:endParaRPr lang="en-IN"/>
          </a:p>
        </p:txBody>
      </p:sp>
    </p:spTree>
    <p:extLst>
      <p:ext uri="{BB962C8B-B14F-4D97-AF65-F5344CB8AC3E}">
        <p14:creationId xmlns:p14="http://schemas.microsoft.com/office/powerpoint/2010/main" val="2047987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691C3-31E9-4945-9A4D-1C51E11A39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0E070DA-9371-41C2-9674-CB18284E0D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741C1A7-16F1-4EF8-BA7C-6D402EAE96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CAD106-1251-42ED-8448-2E0C0E7A14DE}"/>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156B783E-D834-4E1E-879A-F5A81118DD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CE163A-594A-4266-94F0-0684E771A243}"/>
              </a:ext>
            </a:extLst>
          </p:cNvPr>
          <p:cNvSpPr>
            <a:spLocks noGrp="1"/>
          </p:cNvSpPr>
          <p:nvPr>
            <p:ph type="sldNum" sz="quarter" idx="12"/>
          </p:nvPr>
        </p:nvSpPr>
        <p:spPr/>
        <p:txBody>
          <a:bodyPr/>
          <a:lstStyle/>
          <a:p>
            <a:fld id="{AF8482A8-ECF5-44DB-AB4A-4BE39BCA8470}" type="slidenum">
              <a:rPr lang="en-IN" smtClean="0"/>
              <a:t>‹#›</a:t>
            </a:fld>
            <a:endParaRPr lang="en-IN"/>
          </a:p>
        </p:txBody>
      </p:sp>
    </p:spTree>
    <p:extLst>
      <p:ext uri="{BB962C8B-B14F-4D97-AF65-F5344CB8AC3E}">
        <p14:creationId xmlns:p14="http://schemas.microsoft.com/office/powerpoint/2010/main" val="7462029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43150-1FE9-4255-8410-BE6D24ADD22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F15E33-5BE0-4C08-9B65-CCD1808F3C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DEB324-8520-48EE-92D9-ACA52AFE82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9E82D2F-1304-4B07-AACC-F159DFB800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78C166-4F4A-4336-8B32-22EE4E62DC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0476DEF-E17B-41D6-B791-F55027FA651B}"/>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88D1C6C6-4764-42E6-8853-E7CFB9715CC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7656B87-A899-467C-845E-1D51B7133785}"/>
              </a:ext>
            </a:extLst>
          </p:cNvPr>
          <p:cNvSpPr>
            <a:spLocks noGrp="1"/>
          </p:cNvSpPr>
          <p:nvPr>
            <p:ph type="sldNum" sz="quarter" idx="12"/>
          </p:nvPr>
        </p:nvSpPr>
        <p:spPr/>
        <p:txBody>
          <a:bodyPr/>
          <a:lstStyle/>
          <a:p>
            <a:fld id="{AF8482A8-ECF5-44DB-AB4A-4BE39BCA8470}" type="slidenum">
              <a:rPr lang="en-IN" smtClean="0"/>
              <a:t>‹#›</a:t>
            </a:fld>
            <a:endParaRPr lang="en-IN"/>
          </a:p>
        </p:txBody>
      </p:sp>
    </p:spTree>
    <p:extLst>
      <p:ext uri="{BB962C8B-B14F-4D97-AF65-F5344CB8AC3E}">
        <p14:creationId xmlns:p14="http://schemas.microsoft.com/office/powerpoint/2010/main" val="40172664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4FED6-9A5C-4EB9-B536-BC603853845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F2ED2EE-DF9A-4EC6-BFB3-1C4F34883675}"/>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368C325C-37CE-4FF5-B18C-E927556D985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779C756-AC1F-401D-A1DF-0D519332F55A}"/>
              </a:ext>
            </a:extLst>
          </p:cNvPr>
          <p:cNvSpPr>
            <a:spLocks noGrp="1"/>
          </p:cNvSpPr>
          <p:nvPr>
            <p:ph type="sldNum" sz="quarter" idx="12"/>
          </p:nvPr>
        </p:nvSpPr>
        <p:spPr/>
        <p:txBody>
          <a:bodyPr/>
          <a:lstStyle/>
          <a:p>
            <a:fld id="{AF8482A8-ECF5-44DB-AB4A-4BE39BCA8470}" type="slidenum">
              <a:rPr lang="en-IN" smtClean="0"/>
              <a:t>‹#›</a:t>
            </a:fld>
            <a:endParaRPr lang="en-IN"/>
          </a:p>
        </p:txBody>
      </p:sp>
    </p:spTree>
    <p:extLst>
      <p:ext uri="{BB962C8B-B14F-4D97-AF65-F5344CB8AC3E}">
        <p14:creationId xmlns:p14="http://schemas.microsoft.com/office/powerpoint/2010/main" val="32806142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27808B-5B1E-46BD-9331-C3FC31DB67FD}"/>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63075BD8-D06D-47BC-BF4F-48DE36E7E15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F62BC2E-B940-4A98-A963-0D4F168F5B46}"/>
              </a:ext>
            </a:extLst>
          </p:cNvPr>
          <p:cNvSpPr>
            <a:spLocks noGrp="1"/>
          </p:cNvSpPr>
          <p:nvPr>
            <p:ph type="sldNum" sz="quarter" idx="12"/>
          </p:nvPr>
        </p:nvSpPr>
        <p:spPr/>
        <p:txBody>
          <a:bodyPr/>
          <a:lstStyle/>
          <a:p>
            <a:fld id="{AF8482A8-ECF5-44DB-AB4A-4BE39BCA8470}" type="slidenum">
              <a:rPr lang="en-IN" smtClean="0"/>
              <a:t>‹#›</a:t>
            </a:fld>
            <a:endParaRPr lang="en-IN"/>
          </a:p>
        </p:txBody>
      </p:sp>
    </p:spTree>
    <p:extLst>
      <p:ext uri="{BB962C8B-B14F-4D97-AF65-F5344CB8AC3E}">
        <p14:creationId xmlns:p14="http://schemas.microsoft.com/office/powerpoint/2010/main" val="24190149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4A769-42D1-46A6-87FE-7CE2A5B102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D440DB5-B759-4D4E-8FD3-7B6348F4C1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E41C36F-3C17-4999-B190-1B3EFD9F0A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3BE0A9-4E7B-48CD-A572-9638458FE82F}"/>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5C765E9E-9960-416C-9551-FA41FE9A94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33F2F4-E408-4A42-A841-47E0BBC59BC2}"/>
              </a:ext>
            </a:extLst>
          </p:cNvPr>
          <p:cNvSpPr>
            <a:spLocks noGrp="1"/>
          </p:cNvSpPr>
          <p:nvPr>
            <p:ph type="sldNum" sz="quarter" idx="12"/>
          </p:nvPr>
        </p:nvSpPr>
        <p:spPr/>
        <p:txBody>
          <a:bodyPr/>
          <a:lstStyle/>
          <a:p>
            <a:fld id="{AF8482A8-ECF5-44DB-AB4A-4BE39BCA8470}" type="slidenum">
              <a:rPr lang="en-IN" smtClean="0"/>
              <a:t>‹#›</a:t>
            </a:fld>
            <a:endParaRPr lang="en-IN"/>
          </a:p>
        </p:txBody>
      </p:sp>
    </p:spTree>
    <p:extLst>
      <p:ext uri="{BB962C8B-B14F-4D97-AF65-F5344CB8AC3E}">
        <p14:creationId xmlns:p14="http://schemas.microsoft.com/office/powerpoint/2010/main" val="22744821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B9012-11BE-4956-92E1-FC9839AC14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CF76FE0-1A54-45C4-882E-74E2BA7590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7463396-F2D3-492A-BBBC-61348AF83B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060F7B-3B8F-45ED-9001-B4909CA9B2F9}"/>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707A8A34-8A54-4193-B6EF-4CC906A2FE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017E0F-7B08-4E4F-95F0-3BDA76627202}"/>
              </a:ext>
            </a:extLst>
          </p:cNvPr>
          <p:cNvSpPr>
            <a:spLocks noGrp="1"/>
          </p:cNvSpPr>
          <p:nvPr>
            <p:ph type="sldNum" sz="quarter" idx="12"/>
          </p:nvPr>
        </p:nvSpPr>
        <p:spPr/>
        <p:txBody>
          <a:bodyPr/>
          <a:lstStyle/>
          <a:p>
            <a:fld id="{AF8482A8-ECF5-44DB-AB4A-4BE39BCA8470}" type="slidenum">
              <a:rPr lang="en-IN" smtClean="0"/>
              <a:t>‹#›</a:t>
            </a:fld>
            <a:endParaRPr lang="en-IN"/>
          </a:p>
        </p:txBody>
      </p:sp>
    </p:spTree>
    <p:extLst>
      <p:ext uri="{BB962C8B-B14F-4D97-AF65-F5344CB8AC3E}">
        <p14:creationId xmlns:p14="http://schemas.microsoft.com/office/powerpoint/2010/main" val="30005461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738CB-B5CC-4987-ACE9-54F302BB76E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FB33E06-BB07-4422-A71B-77BC8CF9AF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3B22AA-2296-453D-BB63-B0ADB14CD6D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50E5A7F8-F9D5-4EE9-9B8F-98BD7DC3C0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7C8F30-D7E4-4A38-B549-AAEC40497E8D}"/>
              </a:ext>
            </a:extLst>
          </p:cNvPr>
          <p:cNvSpPr>
            <a:spLocks noGrp="1"/>
          </p:cNvSpPr>
          <p:nvPr>
            <p:ph type="sldNum" sz="quarter" idx="12"/>
          </p:nvPr>
        </p:nvSpPr>
        <p:spPr/>
        <p:txBody>
          <a:bodyPr/>
          <a:lstStyle/>
          <a:p>
            <a:fld id="{AF8482A8-ECF5-44DB-AB4A-4BE39BCA8470}" type="slidenum">
              <a:rPr lang="en-IN" smtClean="0"/>
              <a:t>‹#›</a:t>
            </a:fld>
            <a:endParaRPr lang="en-IN"/>
          </a:p>
        </p:txBody>
      </p:sp>
    </p:spTree>
    <p:extLst>
      <p:ext uri="{BB962C8B-B14F-4D97-AF65-F5344CB8AC3E}">
        <p14:creationId xmlns:p14="http://schemas.microsoft.com/office/powerpoint/2010/main" val="27072702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DE0613-2B0F-4E70-ABF6-5C4898F4705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75131F2-0E37-4C14-8B2A-D9EB4B21AD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C27753-0287-4C45-A18E-3EDF54D832B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C5F8CCE-92F9-4FF8-BE94-3E12931FFF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052FF0-E20F-4D22-8D7A-6FCCAF42DC63}"/>
              </a:ext>
            </a:extLst>
          </p:cNvPr>
          <p:cNvSpPr>
            <a:spLocks noGrp="1"/>
          </p:cNvSpPr>
          <p:nvPr>
            <p:ph type="sldNum" sz="quarter" idx="12"/>
          </p:nvPr>
        </p:nvSpPr>
        <p:spPr/>
        <p:txBody>
          <a:bodyPr/>
          <a:lstStyle/>
          <a:p>
            <a:fld id="{AF8482A8-ECF5-44DB-AB4A-4BE39BCA8470}" type="slidenum">
              <a:rPr lang="en-IN" smtClean="0"/>
              <a:t>‹#›</a:t>
            </a:fld>
            <a:endParaRPr lang="en-IN"/>
          </a:p>
        </p:txBody>
      </p:sp>
    </p:spTree>
    <p:extLst>
      <p:ext uri="{BB962C8B-B14F-4D97-AF65-F5344CB8AC3E}">
        <p14:creationId xmlns:p14="http://schemas.microsoft.com/office/powerpoint/2010/main" val="26148591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image" Target="../media/image1.pn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theme" Target="../theme/theme3.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
        <p:nvSpPr>
          <p:cNvPr id="7" name="Rectangle 6">
            <a:extLst>
              <a:ext uri="{FF2B5EF4-FFF2-40B4-BE49-F238E27FC236}">
                <a16:creationId xmlns:a16="http://schemas.microsoft.com/office/drawing/2014/main" id="{DDCE4787-F6B5-4BCD-B1D6-A3C002D23DB6}"/>
              </a:ext>
            </a:extLst>
          </p:cNvPr>
          <p:cNvSpPr/>
          <p:nvPr userDrawn="1"/>
        </p:nvSpPr>
        <p:spPr>
          <a:xfrm>
            <a:off x="11057641" y="6356350"/>
            <a:ext cx="296159" cy="3651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0813D2-3A21-4519-9586-D5545DB2DC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5D4CEE-B5ED-42B0-BAD9-4E96D2852F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CD8588-2915-4089-9A19-E0460B2D92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7B50B710-7518-43D6-8D58-3085CAD269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82C5175-47E3-4C40-AE0B-EA9058554C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8482A8-ECF5-44DB-AB4A-4BE39BCA8470}" type="slidenum">
              <a:rPr lang="en-IN" smtClean="0"/>
              <a:t>‹#›</a:t>
            </a:fld>
            <a:endParaRPr lang="en-IN"/>
          </a:p>
        </p:txBody>
      </p:sp>
    </p:spTree>
    <p:extLst>
      <p:ext uri="{BB962C8B-B14F-4D97-AF65-F5344CB8AC3E}">
        <p14:creationId xmlns:p14="http://schemas.microsoft.com/office/powerpoint/2010/main" val="2424493606"/>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FA8E89-D32B-4957-9C17-D6C762E02FC6}"/>
              </a:ext>
            </a:extLst>
          </p:cNvPr>
          <p:cNvSpPr/>
          <p:nvPr userDrawn="1"/>
        </p:nvSpPr>
        <p:spPr>
          <a:xfrm>
            <a:off x="11057641" y="6410227"/>
            <a:ext cx="320512" cy="30165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s://www.geeksforgeeks.org/wp-content/uploads/MST1.jpg" TargetMode="Externa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hyperlink" Target="https://www.geeksforgeeks.org/wp-content/uploads/MST1.jpg" TargetMode="Externa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hyperlink" Target="https://www.geeksforgeeks.org/wp-content/uploads/MST2.jpg" TargetMode="Externa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tutorialspoint.com/data_structures_algorithms/images/spanning_trees.jpg" TargetMode="External"/><Relationship Id="rId2" Type="http://schemas.openxmlformats.org/officeDocument/2006/relationships/hyperlink" Target="https://swordrock.files.wordpress.com/2010/09/daie-algorithms.png" TargetMode="External"/><Relationship Id="rId1" Type="http://schemas.openxmlformats.org/officeDocument/2006/relationships/slideLayout" Target="../slideLayouts/slideLayout2.xml"/><Relationship Id="rId5" Type="http://schemas.openxmlformats.org/officeDocument/2006/relationships/hyperlink" Target="https://www.geeksforgeeks.org/wp-content/uploads/MST1.jpg" TargetMode="External"/><Relationship Id="rId4" Type="http://schemas.openxmlformats.org/officeDocument/2006/relationships/hyperlink" Target="https://www.geeksforgeeks.org/wp-content/uploads/Fig-11.jpg"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2080434838"/>
              </p:ext>
            </p:extLst>
          </p:nvPr>
        </p:nvGraphicFramePr>
        <p:xfrm>
          <a:off x="0" y="2791821"/>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57"/>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0" y="2791821"/>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9702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459213" y="6014156"/>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UNIT-2</a:t>
            </a:r>
          </a:p>
          <a:p>
            <a:pPr eaLnBrk="1" hangingPunct="1"/>
            <a:endParaRPr lang="en-US" sz="1600" dirty="0">
              <a:latin typeface="Raleway ExtraBold" pitchFamily="34" charset="-52"/>
            </a:endParaRPr>
          </a:p>
        </p:txBody>
      </p:sp>
      <p:sp>
        <p:nvSpPr>
          <p:cNvPr id="26" name="TextBox 25"/>
          <p:cNvSpPr txBox="1">
            <a:spLocks noChangeArrowheads="1"/>
          </p:cNvSpPr>
          <p:nvPr/>
        </p:nvSpPr>
        <p:spPr bwMode="auto">
          <a:xfrm>
            <a:off x="1282700" y="1676400"/>
            <a:ext cx="9715499" cy="4416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Times New Roman" pitchFamily="18" charset="0"/>
                <a:ea typeface="Karla" pitchFamily="2" charset="0"/>
                <a:cs typeface="Times New Roman" pitchFamily="18" charset="0"/>
              </a:rPr>
              <a:t>UNIVERSITY INSTITUTE OF COMPUTING</a:t>
            </a:r>
          </a:p>
          <a:p>
            <a:pPr lvl="0" algn="ctr" defTabSz="622300">
              <a:lnSpc>
                <a:spcPct val="90000"/>
              </a:lnSpc>
              <a:spcBef>
                <a:spcPct val="0"/>
              </a:spcBef>
              <a:spcAft>
                <a:spcPct val="35000"/>
              </a:spcAft>
            </a:pPr>
            <a:r>
              <a:rPr lang="en-US" sz="2800" b="1" dirty="0">
                <a:latin typeface="Times New Roman" pitchFamily="18" charset="0"/>
                <a:ea typeface="Calibri" panose="020F0502020204030204" pitchFamily="34" charset="0"/>
                <a:cs typeface="Times New Roman" pitchFamily="18" charset="0"/>
              </a:rPr>
              <a:t>MASTER OF COMPUTER APPLICATIONS</a:t>
            </a:r>
          </a:p>
          <a:p>
            <a:pPr lvl="0" algn="ctr" defTabSz="622300">
              <a:lnSpc>
                <a:spcPct val="90000"/>
              </a:lnSpc>
              <a:spcBef>
                <a:spcPct val="0"/>
              </a:spcBef>
              <a:spcAft>
                <a:spcPct val="35000"/>
              </a:spcAft>
            </a:pPr>
            <a:r>
              <a:rPr lang="en-US" sz="2400" b="1" dirty="0">
                <a:latin typeface="Times New Roman" pitchFamily="18" charset="0"/>
                <a:ea typeface="Calibri" panose="020F0502020204030204" pitchFamily="34" charset="0"/>
                <a:cs typeface="Times New Roman" pitchFamily="18" charset="0"/>
              </a:rPr>
              <a:t>DESIGN AND ANALYSIS OF ALGORITHMS </a:t>
            </a:r>
          </a:p>
          <a:p>
            <a:pPr lvl="0" algn="ctr" defTabSz="622300">
              <a:lnSpc>
                <a:spcPct val="90000"/>
              </a:lnSpc>
              <a:spcBef>
                <a:spcPct val="0"/>
              </a:spcBef>
              <a:spcAft>
                <a:spcPct val="35000"/>
              </a:spcAft>
            </a:pPr>
            <a:r>
              <a:rPr lang="en-US" sz="2400" b="1" dirty="0">
                <a:latin typeface="Times New Roman" pitchFamily="18" charset="0"/>
                <a:ea typeface="Calibri" panose="020F0502020204030204" pitchFamily="34" charset="0"/>
                <a:cs typeface="Times New Roman" pitchFamily="18" charset="0"/>
              </a:rPr>
              <a:t> </a:t>
            </a: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itchFamily="18" charset="0"/>
              <a:cs typeface="Times New Roman"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itchFamily="18" charset="0"/>
              <a:cs typeface="Times New Roman"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itchFamily="18" charset="0"/>
                <a:cs typeface="Times New Roman" pitchFamily="18" charset="0"/>
              </a:rPr>
              <a:t> </a:t>
            </a:r>
          </a:p>
          <a:p>
            <a:pPr eaLnBrk="1" hangingPunct="1"/>
            <a:endParaRPr lang="en-US" sz="1600" dirty="0">
              <a:latin typeface="Times New Roman" pitchFamily="18" charset="0"/>
              <a:cs typeface="Times New Roman" pitchFamily="18" charset="0"/>
            </a:endParaRPr>
          </a:p>
        </p:txBody>
      </p:sp>
      <p:sp>
        <p:nvSpPr>
          <p:cNvPr id="2" name="Slide Number Placeholder 1">
            <a:extLst>
              <a:ext uri="{FF2B5EF4-FFF2-40B4-BE49-F238E27FC236}">
                <a16:creationId xmlns:a16="http://schemas.microsoft.com/office/drawing/2014/main" id="{A2F46567-025C-4A55-B246-4A5B5D697920}"/>
              </a:ext>
            </a:extLst>
          </p:cNvPr>
          <p:cNvSpPr>
            <a:spLocks noGrp="1"/>
          </p:cNvSpPr>
          <p:nvPr>
            <p:ph type="sldNum" sz="quarter" idx="12"/>
          </p:nvPr>
        </p:nvSpPr>
        <p:spPr/>
        <p:txBody>
          <a:bodyPr/>
          <a:lstStyle/>
          <a:p>
            <a:fld id="{BDCDBBEF-AA6C-4BA6-85B2-A17D7F280E38}" type="slidenum">
              <a:rPr lang="en-US" smtClean="0"/>
              <a:pPr/>
              <a:t>1</a:t>
            </a:fld>
            <a:endParaRPr lang="en-US"/>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578"/>
            <a:ext cx="8758382" cy="802910"/>
          </a:xfrm>
        </p:spPr>
        <p:txBody>
          <a:bodyPr/>
          <a:lstStyle/>
          <a:p>
            <a:pPr algn="ctr"/>
            <a:r>
              <a:rPr lang="en-US" b="1" dirty="0">
                <a:latin typeface="Times New Roman" pitchFamily="18" charset="0"/>
                <a:cs typeface="Times New Roman" pitchFamily="18" charset="0"/>
              </a:rPr>
              <a:t>Spanning Tree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979054"/>
            <a:ext cx="10515600" cy="5197909"/>
          </a:xfrm>
        </p:spPr>
        <p:txBody>
          <a:bodyPr>
            <a:normAutofit lnSpcReduction="10000"/>
          </a:bodyPr>
          <a:lstStyle/>
          <a:p>
            <a:pPr algn="just">
              <a:lnSpc>
                <a:spcPct val="150000"/>
              </a:lnSpc>
            </a:pPr>
            <a:r>
              <a:rPr lang="en-US" sz="2400" dirty="0">
                <a:latin typeface="Times New Roman" panose="02020603050405020304" pitchFamily="18" charset="0"/>
                <a:cs typeface="Times New Roman" panose="02020603050405020304" pitchFamily="18" charset="0"/>
              </a:rPr>
              <a:t>A spanning tree is a subset of Graph G, which has all the vertices covered with minimum possible number of edges. Hence, a spanning tree does not have cycles and it cannot be disconnected..</a:t>
            </a:r>
          </a:p>
          <a:p>
            <a:pPr algn="just">
              <a:lnSpc>
                <a:spcPct val="150000"/>
              </a:lnSpc>
            </a:pPr>
            <a:r>
              <a:rPr lang="en-US" sz="2400" dirty="0">
                <a:latin typeface="Times New Roman" panose="02020603050405020304" pitchFamily="18" charset="0"/>
                <a:cs typeface="Times New Roman" panose="02020603050405020304" pitchFamily="18" charset="0"/>
              </a:rPr>
              <a:t>By this definition, we can draw a conclusion that every connected and undirected Graph G has at least one spanning tree. A disconnected graph does not have any spanning tree, as it cannot be spanned to all its vertices.</a:t>
            </a:r>
          </a:p>
          <a:p>
            <a:pPr algn="just">
              <a:lnSpc>
                <a:spcPct val="150000"/>
              </a:lnSpc>
            </a:pPr>
            <a:r>
              <a:rPr lang="en-US" sz="2400" dirty="0">
                <a:latin typeface="Times New Roman" panose="02020603050405020304" pitchFamily="18" charset="0"/>
                <a:cs typeface="Times New Roman" panose="02020603050405020304" pitchFamily="18" charset="0"/>
              </a:rPr>
              <a:t>A complete undirected graph can have maximum </a:t>
            </a:r>
            <a:r>
              <a:rPr lang="en-US" sz="2400" b="1" dirty="0">
                <a:latin typeface="Times New Roman" panose="02020603050405020304" pitchFamily="18" charset="0"/>
                <a:cs typeface="Times New Roman" panose="02020603050405020304" pitchFamily="18" charset="0"/>
              </a:rPr>
              <a:t>n</a:t>
            </a:r>
            <a:r>
              <a:rPr lang="en-US" sz="2400" b="1" baseline="30000" dirty="0">
                <a:latin typeface="Times New Roman" panose="02020603050405020304" pitchFamily="18" charset="0"/>
                <a:cs typeface="Times New Roman" panose="02020603050405020304" pitchFamily="18" charset="0"/>
              </a:rPr>
              <a:t>n-2</a:t>
            </a:r>
            <a:r>
              <a:rPr lang="en-US" sz="2400" dirty="0">
                <a:latin typeface="Times New Roman" panose="02020603050405020304" pitchFamily="18" charset="0"/>
                <a:cs typeface="Times New Roman" panose="02020603050405020304" pitchFamily="18" charset="0"/>
              </a:rPr>
              <a:t> number of spanning trees, where </a:t>
            </a:r>
            <a:r>
              <a:rPr lang="en-US" sz="2400" b="1" dirty="0">
                <a:latin typeface="Times New Roman" panose="02020603050405020304" pitchFamily="18" charset="0"/>
                <a:cs typeface="Times New Roman" panose="02020603050405020304" pitchFamily="18" charset="0"/>
              </a:rPr>
              <a:t>n</a:t>
            </a:r>
            <a:r>
              <a:rPr lang="en-US" sz="2400" dirty="0">
                <a:latin typeface="Times New Roman" panose="02020603050405020304" pitchFamily="18" charset="0"/>
                <a:cs typeface="Times New Roman" panose="02020603050405020304" pitchFamily="18" charset="0"/>
              </a:rPr>
              <a:t> is the number of nodes. If in an example, </a:t>
            </a:r>
            <a:r>
              <a:rPr lang="en-US" sz="2400" b="1" dirty="0">
                <a:latin typeface="Times New Roman" panose="02020603050405020304" pitchFamily="18" charset="0"/>
                <a:cs typeface="Times New Roman" panose="02020603050405020304" pitchFamily="18" charset="0"/>
              </a:rPr>
              <a:t>n is 3(Vertices=3),</a:t>
            </a:r>
            <a:r>
              <a:rPr lang="en-US" sz="2400" dirty="0">
                <a:latin typeface="Times New Roman" panose="02020603050405020304" pitchFamily="18" charset="0"/>
                <a:cs typeface="Times New Roman" panose="02020603050405020304" pitchFamily="18" charset="0"/>
              </a:rPr>
              <a:t> hence </a:t>
            </a:r>
            <a:r>
              <a:rPr lang="en-US" sz="2400" b="1" dirty="0">
                <a:latin typeface="Times New Roman" panose="02020603050405020304" pitchFamily="18" charset="0"/>
                <a:cs typeface="Times New Roman" panose="02020603050405020304" pitchFamily="18" charset="0"/>
              </a:rPr>
              <a:t>3</a:t>
            </a:r>
            <a:r>
              <a:rPr lang="en-US" sz="2400" b="1" baseline="30000" dirty="0">
                <a:latin typeface="Times New Roman" panose="02020603050405020304" pitchFamily="18" charset="0"/>
                <a:cs typeface="Times New Roman" panose="02020603050405020304" pitchFamily="18" charset="0"/>
              </a:rPr>
              <a:t>3−2</a:t>
            </a:r>
            <a:r>
              <a:rPr lang="en-US" sz="2400" b="1" dirty="0">
                <a:latin typeface="Times New Roman" panose="02020603050405020304" pitchFamily="18" charset="0"/>
                <a:cs typeface="Times New Roman" panose="02020603050405020304" pitchFamily="18" charset="0"/>
              </a:rPr>
              <a:t> = 3</a:t>
            </a:r>
            <a:r>
              <a:rPr lang="en-US" sz="2400" dirty="0">
                <a:latin typeface="Times New Roman" panose="02020603050405020304" pitchFamily="18" charset="0"/>
                <a:cs typeface="Times New Roman" panose="02020603050405020304" pitchFamily="18" charset="0"/>
              </a:rPr>
              <a:t> spanning trees are possible.</a:t>
            </a:r>
          </a:p>
        </p:txBody>
      </p:sp>
      <p:sp>
        <p:nvSpPr>
          <p:cNvPr id="4" name="Slide Number Placeholder 3"/>
          <p:cNvSpPr>
            <a:spLocks noGrp="1"/>
          </p:cNvSpPr>
          <p:nvPr>
            <p:ph type="sldNum" sz="quarter" idx="12"/>
          </p:nvPr>
        </p:nvSpPr>
        <p:spPr/>
        <p:txBody>
          <a:bodyPr/>
          <a:lstStyle/>
          <a:p>
            <a:fld id="{BDCDBBEF-AA6C-4BA6-85B2-A17D7F280E38}" type="slidenum">
              <a:rPr lang="en-US" smtClean="0">
                <a:latin typeface="Times New Roman" pitchFamily="18" charset="0"/>
                <a:cs typeface="Times New Roman" pitchFamily="18" charset="0"/>
              </a:rPr>
              <a:pPr/>
              <a:t>2</a:t>
            </a:fld>
            <a:endParaRPr lang="en-US">
              <a:latin typeface="Times New Roman" pitchFamily="18" charset="0"/>
              <a:cs typeface="Times New Roman" pitchFamily="18" charset="0"/>
            </a:endParaRPr>
          </a:p>
        </p:txBody>
      </p:sp>
      <p:sp>
        <p:nvSpPr>
          <p:cNvPr id="5" name="Rectangle 4"/>
          <p:cNvSpPr/>
          <p:nvPr/>
        </p:nvSpPr>
        <p:spPr>
          <a:xfrm>
            <a:off x="838200" y="979055"/>
            <a:ext cx="10515600" cy="51931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6" name="Rectangle 5"/>
          <p:cNvSpPr/>
          <p:nvPr/>
        </p:nvSpPr>
        <p:spPr>
          <a:xfrm>
            <a:off x="838200" y="82625"/>
            <a:ext cx="8758382" cy="80486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404884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578"/>
            <a:ext cx="8758382" cy="802910"/>
          </a:xfrm>
        </p:spPr>
        <p:txBody>
          <a:bodyPr/>
          <a:lstStyle/>
          <a:p>
            <a:pPr algn="ctr"/>
            <a:r>
              <a:rPr lang="en-US" b="1" dirty="0">
                <a:latin typeface="Times New Roman" pitchFamily="18" charset="0"/>
                <a:cs typeface="Times New Roman" pitchFamily="18" charset="0"/>
              </a:rPr>
              <a:t>Spanning Tree</a:t>
            </a:r>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latin typeface="Times New Roman" pitchFamily="18" charset="0"/>
                <a:cs typeface="Times New Roman" pitchFamily="18" charset="0"/>
              </a:rPr>
              <a:pPr/>
              <a:t>3</a:t>
            </a:fld>
            <a:endParaRPr lang="en-US">
              <a:latin typeface="Times New Roman" pitchFamily="18" charset="0"/>
              <a:cs typeface="Times New Roman" pitchFamily="18" charset="0"/>
            </a:endParaRPr>
          </a:p>
        </p:txBody>
      </p:sp>
      <p:sp>
        <p:nvSpPr>
          <p:cNvPr id="5" name="Rectangle 4"/>
          <p:cNvSpPr/>
          <p:nvPr/>
        </p:nvSpPr>
        <p:spPr>
          <a:xfrm>
            <a:off x="838200" y="832427"/>
            <a:ext cx="10515600" cy="51931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6" name="Rectangle 5"/>
          <p:cNvSpPr/>
          <p:nvPr/>
        </p:nvSpPr>
        <p:spPr>
          <a:xfrm>
            <a:off x="838200" y="82625"/>
            <a:ext cx="8758382" cy="80486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pic>
        <p:nvPicPr>
          <p:cNvPr id="10242" name="Picture 2" descr="Spanning Trees">
            <a:extLst>
              <a:ext uri="{FF2B5EF4-FFF2-40B4-BE49-F238E27FC236}">
                <a16:creationId xmlns:a16="http://schemas.microsoft.com/office/drawing/2014/main" id="{09C689FE-2E18-473C-AEC4-074E967134C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81300" y="1271194"/>
            <a:ext cx="5695950" cy="396438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A511B5D-26A4-41C5-BA00-5ED638630B77}"/>
              </a:ext>
            </a:extLst>
          </p:cNvPr>
          <p:cNvSpPr txBox="1"/>
          <p:nvPr/>
        </p:nvSpPr>
        <p:spPr>
          <a:xfrm>
            <a:off x="4476750" y="5675290"/>
            <a:ext cx="2114550" cy="369332"/>
          </a:xfrm>
          <a:prstGeom prst="rect">
            <a:avLst/>
          </a:prstGeom>
          <a:noFill/>
        </p:spPr>
        <p:txBody>
          <a:bodyPr wrap="square" rtlCol="0">
            <a:spAutoFit/>
          </a:bodyPr>
          <a:lstStyle/>
          <a:p>
            <a:r>
              <a:rPr lang="en-US" dirty="0"/>
              <a:t>Fig 1: </a:t>
            </a:r>
            <a:r>
              <a:rPr lang="en-US" sz="1600" dirty="0">
                <a:latin typeface="Times New Roman" panose="02020603050405020304" pitchFamily="18" charset="0"/>
                <a:cs typeface="Times New Roman" panose="02020603050405020304" pitchFamily="18" charset="0"/>
              </a:rPr>
              <a:t>Spanning Trees</a:t>
            </a:r>
            <a:endParaRPr lang="en-IN" dirty="0"/>
          </a:p>
        </p:txBody>
      </p:sp>
    </p:spTree>
    <p:extLst>
      <p:ext uri="{BB962C8B-B14F-4D97-AF65-F5344CB8AC3E}">
        <p14:creationId xmlns:p14="http://schemas.microsoft.com/office/powerpoint/2010/main" val="3134219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578"/>
            <a:ext cx="8758382" cy="802910"/>
          </a:xfrm>
        </p:spPr>
        <p:txBody>
          <a:bodyPr/>
          <a:lstStyle/>
          <a:p>
            <a:pPr algn="ctr"/>
            <a:r>
              <a:rPr lang="en-US" b="1" dirty="0">
                <a:latin typeface="Times New Roman" panose="02020603050405020304" pitchFamily="18" charset="0"/>
                <a:cs typeface="Times New Roman" panose="02020603050405020304" pitchFamily="18" charset="0"/>
              </a:rPr>
              <a:t>Properties of Spanning Tree</a:t>
            </a:r>
          </a:p>
        </p:txBody>
      </p:sp>
      <p:sp>
        <p:nvSpPr>
          <p:cNvPr id="4" name="Slide Number Placeholder 3"/>
          <p:cNvSpPr>
            <a:spLocks noGrp="1"/>
          </p:cNvSpPr>
          <p:nvPr>
            <p:ph type="sldNum" sz="quarter" idx="12"/>
          </p:nvPr>
        </p:nvSpPr>
        <p:spPr/>
        <p:txBody>
          <a:bodyPr/>
          <a:lstStyle/>
          <a:p>
            <a:fld id="{BDCDBBEF-AA6C-4BA6-85B2-A17D7F280E38}" type="slidenum">
              <a:rPr lang="en-US" smtClean="0">
                <a:latin typeface="Times New Roman" pitchFamily="18" charset="0"/>
                <a:cs typeface="Times New Roman" pitchFamily="18" charset="0"/>
              </a:rPr>
              <a:pPr/>
              <a:t>4</a:t>
            </a:fld>
            <a:endParaRPr lang="en-US">
              <a:latin typeface="Times New Roman" pitchFamily="18" charset="0"/>
              <a:cs typeface="Times New Roman" pitchFamily="18" charset="0"/>
            </a:endParaRPr>
          </a:p>
        </p:txBody>
      </p:sp>
      <p:sp>
        <p:nvSpPr>
          <p:cNvPr id="5" name="Rectangle 4"/>
          <p:cNvSpPr/>
          <p:nvPr/>
        </p:nvSpPr>
        <p:spPr>
          <a:xfrm>
            <a:off x="838200" y="979055"/>
            <a:ext cx="10515600" cy="51931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6" name="Rectangle 5"/>
          <p:cNvSpPr/>
          <p:nvPr/>
        </p:nvSpPr>
        <p:spPr>
          <a:xfrm>
            <a:off x="838200" y="82625"/>
            <a:ext cx="8758382" cy="80486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865D2E51-C465-42ED-91AB-5AEFDF9E3CB1}"/>
              </a:ext>
            </a:extLst>
          </p:cNvPr>
          <p:cNvSpPr>
            <a:spLocks noGrp="1"/>
          </p:cNvSpPr>
          <p:nvPr>
            <p:ph idx="1"/>
          </p:nvPr>
        </p:nvSpPr>
        <p:spPr>
          <a:xfrm>
            <a:off x="838200" y="979055"/>
            <a:ext cx="10515600" cy="5197908"/>
          </a:xfrm>
        </p:spPr>
        <p:txBody>
          <a:bodyPr>
            <a:normAutofit/>
          </a:bodyPr>
          <a:lstStyle/>
          <a:p>
            <a:pPr algn="just">
              <a:lnSpc>
                <a:spcPct val="150000"/>
              </a:lnSpc>
            </a:pPr>
            <a:r>
              <a:rPr lang="en-US" sz="2400" dirty="0">
                <a:latin typeface="Times New Roman" panose="02020603050405020304" pitchFamily="18" charset="0"/>
                <a:cs typeface="Times New Roman" panose="02020603050405020304" pitchFamily="18" charset="0"/>
              </a:rPr>
              <a:t>We now understand that one graph can have more than one spanning tree. Following are a few properties of the spanning tree connected to graph G −</a:t>
            </a:r>
          </a:p>
          <a:p>
            <a:pPr algn="just">
              <a:lnSpc>
                <a:spcPct val="100000"/>
              </a:lnSpc>
            </a:pPr>
            <a:r>
              <a:rPr lang="en-US" sz="2400" dirty="0">
                <a:latin typeface="Times New Roman" panose="02020603050405020304" pitchFamily="18" charset="0"/>
                <a:cs typeface="Times New Roman" panose="02020603050405020304" pitchFamily="18" charset="0"/>
              </a:rPr>
              <a:t>A connected graph G can have more than one spanning tree.</a:t>
            </a:r>
          </a:p>
          <a:p>
            <a:pPr algn="just">
              <a:lnSpc>
                <a:spcPct val="100000"/>
              </a:lnSpc>
            </a:pPr>
            <a:r>
              <a:rPr lang="en-US" sz="2400" dirty="0">
                <a:latin typeface="Times New Roman" panose="02020603050405020304" pitchFamily="18" charset="0"/>
                <a:cs typeface="Times New Roman" panose="02020603050405020304" pitchFamily="18" charset="0"/>
              </a:rPr>
              <a:t>All possible spanning trees of graph G, have the same number of edges and vertices.</a:t>
            </a:r>
          </a:p>
          <a:p>
            <a:pPr algn="just">
              <a:lnSpc>
                <a:spcPct val="100000"/>
              </a:lnSpc>
            </a:pPr>
            <a:r>
              <a:rPr lang="en-US" sz="2400" dirty="0">
                <a:latin typeface="Times New Roman" panose="02020603050405020304" pitchFamily="18" charset="0"/>
                <a:cs typeface="Times New Roman" panose="02020603050405020304" pitchFamily="18" charset="0"/>
              </a:rPr>
              <a:t>The spanning tree does not have any cycle (loops).</a:t>
            </a:r>
          </a:p>
          <a:p>
            <a:pPr algn="just">
              <a:lnSpc>
                <a:spcPct val="100000"/>
              </a:lnSpc>
            </a:pPr>
            <a:r>
              <a:rPr lang="en-US" sz="2400" dirty="0">
                <a:latin typeface="Times New Roman" panose="02020603050405020304" pitchFamily="18" charset="0"/>
                <a:cs typeface="Times New Roman" panose="02020603050405020304" pitchFamily="18" charset="0"/>
              </a:rPr>
              <a:t>Removing one edge from the spanning tree will make the graph disconnected, i.e. the spanning tree is </a:t>
            </a:r>
            <a:r>
              <a:rPr lang="en-US" sz="2400" b="1" dirty="0">
                <a:latin typeface="Times New Roman" panose="02020603050405020304" pitchFamily="18" charset="0"/>
                <a:cs typeface="Times New Roman" panose="02020603050405020304" pitchFamily="18" charset="0"/>
              </a:rPr>
              <a:t>minimally connected</a:t>
            </a:r>
            <a:r>
              <a:rPr lang="en-US" sz="2400" dirty="0">
                <a:latin typeface="Times New Roman" panose="02020603050405020304" pitchFamily="18" charset="0"/>
                <a:cs typeface="Times New Roman" panose="02020603050405020304" pitchFamily="18" charset="0"/>
              </a:rPr>
              <a:t>.</a:t>
            </a:r>
          </a:p>
          <a:p>
            <a:pPr algn="just">
              <a:lnSpc>
                <a:spcPct val="100000"/>
              </a:lnSpc>
            </a:pPr>
            <a:r>
              <a:rPr lang="en-US" sz="2400" dirty="0">
                <a:latin typeface="Times New Roman" panose="02020603050405020304" pitchFamily="18" charset="0"/>
                <a:cs typeface="Times New Roman" panose="02020603050405020304" pitchFamily="18" charset="0"/>
              </a:rPr>
              <a:t>Adding one edge to the spanning tree will create a circuit or loop, i.e. the spanning tree is </a:t>
            </a:r>
            <a:r>
              <a:rPr lang="en-US" sz="2400" b="1" dirty="0">
                <a:latin typeface="Times New Roman" panose="02020603050405020304" pitchFamily="18" charset="0"/>
                <a:cs typeface="Times New Roman" panose="02020603050405020304" pitchFamily="18" charset="0"/>
              </a:rPr>
              <a:t>maximally acyclic</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74429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a:latin typeface="Times New Roman" pitchFamily="18" charset="0"/>
                <a:cs typeface="Times New Roman" pitchFamily="18" charset="0"/>
              </a:rPr>
              <a:t>Minimum Spanning Tree</a:t>
            </a:r>
          </a:p>
        </p:txBody>
      </p:sp>
      <p:sp>
        <p:nvSpPr>
          <p:cNvPr id="3" name="Content Placeholder 2">
            <a:extLst>
              <a:ext uri="{FF2B5EF4-FFF2-40B4-BE49-F238E27FC236}">
                <a16:creationId xmlns:a16="http://schemas.microsoft.com/office/drawing/2014/main" id="{11F9D11B-1335-47C4-AC76-95E7AE8487A9}"/>
              </a:ext>
            </a:extLst>
          </p:cNvPr>
          <p:cNvSpPr>
            <a:spLocks noGrp="1"/>
          </p:cNvSpPr>
          <p:nvPr>
            <p:ph idx="1"/>
          </p:nvPr>
        </p:nvSpPr>
        <p:spPr>
          <a:xfrm>
            <a:off x="838200" y="1099127"/>
            <a:ext cx="10515600" cy="5077836"/>
          </a:xfrm>
        </p:spPr>
        <p:txBody>
          <a:bodyPr>
            <a:normAutofit/>
          </a:bodyPr>
          <a:lstStyle/>
          <a:p>
            <a:pPr marL="0" indent="0" algn="just">
              <a:lnSpc>
                <a:spcPct val="150000"/>
              </a:lnSpc>
              <a:buSzPct val="70000"/>
              <a:buNone/>
              <a:defRPr/>
            </a:pPr>
            <a:r>
              <a:rPr lang="en-US" sz="2400" dirty="0">
                <a:latin typeface="Times New Roman" panose="02020603050405020304" pitchFamily="18" charset="0"/>
                <a:cs typeface="Times New Roman" panose="02020603050405020304" pitchFamily="18" charset="0"/>
              </a:rPr>
              <a:t>In a weighted graph, a minimum spanning tree is a spanning tree that has minimum weight than all other spanning trees of the same graph. In real-world situations, this weight can be measured as distance, congestion, traffic load or any arbitrary value denoted to the edges.</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5</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89236749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a:latin typeface="Times New Roman" pitchFamily="18" charset="0"/>
                <a:cs typeface="Times New Roman" pitchFamily="18" charset="0"/>
              </a:rPr>
              <a:t>Minimum Spanning Tree</a:t>
            </a:r>
          </a:p>
        </p:txBody>
      </p:sp>
      <p:sp>
        <p:nvSpPr>
          <p:cNvPr id="3" name="Content Placeholder 2">
            <a:extLst>
              <a:ext uri="{FF2B5EF4-FFF2-40B4-BE49-F238E27FC236}">
                <a16:creationId xmlns:a16="http://schemas.microsoft.com/office/drawing/2014/main" id="{11F9D11B-1335-47C4-AC76-95E7AE8487A9}"/>
              </a:ext>
            </a:extLst>
          </p:cNvPr>
          <p:cNvSpPr>
            <a:spLocks noGrp="1"/>
          </p:cNvSpPr>
          <p:nvPr>
            <p:ph idx="1"/>
          </p:nvPr>
        </p:nvSpPr>
        <p:spPr>
          <a:xfrm>
            <a:off x="838200" y="1099127"/>
            <a:ext cx="10515600" cy="5077836"/>
          </a:xfrm>
        </p:spPr>
        <p:txBody>
          <a:bodyPr>
            <a:normAutofit/>
          </a:bodyPr>
          <a:lstStyle/>
          <a:p>
            <a:pPr marL="0" indent="0" algn="just">
              <a:lnSpc>
                <a:spcPct val="150000"/>
              </a:lnSpc>
              <a:buSzPct val="70000"/>
              <a:buNone/>
              <a:defRPr/>
            </a:pPr>
            <a:r>
              <a:rPr lang="en-US" sz="2400" dirty="0">
                <a:latin typeface="Times New Roman" panose="02020603050405020304" pitchFamily="18" charset="0"/>
                <a:cs typeface="Times New Roman" panose="02020603050405020304" pitchFamily="18" charset="0"/>
              </a:rPr>
              <a:t>The cost of the spanning tree is the sum of the weights of all the edges in the tree. There can be many spanning trees. Minimum spanning tree is the spanning tree where the cost is minimum among all the spanning trees. There also can be many minimum spanning trees.</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6</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pic>
        <p:nvPicPr>
          <p:cNvPr id="7" name="Picture 2" descr="enter image description here">
            <a:extLst>
              <a:ext uri="{FF2B5EF4-FFF2-40B4-BE49-F238E27FC236}">
                <a16:creationId xmlns:a16="http://schemas.microsoft.com/office/drawing/2014/main" id="{697BC882-13D9-4DC1-967B-86CFA0640AB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59" t="12082" r="4023" b="5110"/>
          <a:stretch/>
        </p:blipFill>
        <p:spPr bwMode="auto">
          <a:xfrm>
            <a:off x="2278968" y="3386797"/>
            <a:ext cx="6977576" cy="2752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14715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a:latin typeface="Times New Roman" pitchFamily="18" charset="0"/>
                <a:cs typeface="Times New Roman" pitchFamily="18" charset="0"/>
              </a:rPr>
              <a:t>Minimum Spanning Tree</a:t>
            </a:r>
          </a:p>
        </p:txBody>
      </p:sp>
      <p:sp>
        <p:nvSpPr>
          <p:cNvPr id="3" name="Content Placeholder 2">
            <a:extLst>
              <a:ext uri="{FF2B5EF4-FFF2-40B4-BE49-F238E27FC236}">
                <a16:creationId xmlns:a16="http://schemas.microsoft.com/office/drawing/2014/main" id="{11F9D11B-1335-47C4-AC76-95E7AE8487A9}"/>
              </a:ext>
            </a:extLst>
          </p:cNvPr>
          <p:cNvSpPr>
            <a:spLocks noGrp="1"/>
          </p:cNvSpPr>
          <p:nvPr>
            <p:ph idx="1"/>
          </p:nvPr>
        </p:nvSpPr>
        <p:spPr>
          <a:xfrm>
            <a:off x="838200" y="1099127"/>
            <a:ext cx="10515600" cy="5077836"/>
          </a:xfrm>
        </p:spPr>
        <p:txBody>
          <a:bodyPr>
            <a:normAutofit/>
          </a:bodyPr>
          <a:lstStyle/>
          <a:p>
            <a:pPr marL="0" indent="0">
              <a:lnSpc>
                <a:spcPct val="150000"/>
              </a:lnSpc>
              <a:buSzPct val="70000"/>
              <a:buNone/>
              <a:defRPr/>
            </a:pPr>
            <a:r>
              <a:rPr lang="en-US" sz="2400" dirty="0">
                <a:latin typeface="Times New Roman" panose="02020603050405020304" pitchFamily="18" charset="0"/>
                <a:cs typeface="Times New Roman" panose="02020603050405020304" pitchFamily="18" charset="0"/>
              </a:rPr>
              <a:t>Different ways to create Minimum spanning tree:</a:t>
            </a:r>
          </a:p>
          <a:p>
            <a:pPr marL="0" indent="0">
              <a:lnSpc>
                <a:spcPct val="150000"/>
              </a:lnSpc>
              <a:buSzPct val="70000"/>
              <a:buNone/>
              <a:defRPr/>
            </a:pPr>
            <a:r>
              <a:rPr lang="en-IN" sz="2400" dirty="0">
                <a:latin typeface="Times New Roman" panose="02020603050405020304" pitchFamily="18" charset="0"/>
                <a:cs typeface="Times New Roman" panose="02020603050405020304" pitchFamily="18" charset="0"/>
              </a:rPr>
              <a:t>Prim’s algorithm</a:t>
            </a:r>
          </a:p>
          <a:p>
            <a:pPr marL="0" indent="0">
              <a:lnSpc>
                <a:spcPct val="150000"/>
              </a:lnSpc>
              <a:buSzPct val="70000"/>
              <a:buNone/>
              <a:defRPr/>
            </a:pPr>
            <a:r>
              <a:rPr lang="en-IN" sz="2400">
                <a:latin typeface="Times New Roman" panose="02020603050405020304" pitchFamily="18" charset="0"/>
                <a:cs typeface="Times New Roman" panose="02020603050405020304" pitchFamily="18" charset="0"/>
              </a:rPr>
              <a:t>Kruskal’s </a:t>
            </a:r>
            <a:r>
              <a:rPr lang="en-IN" sz="2400" dirty="0">
                <a:latin typeface="Times New Roman" panose="02020603050405020304" pitchFamily="18" charset="0"/>
                <a:cs typeface="Times New Roman" panose="02020603050405020304" pitchFamily="18" charset="0"/>
              </a:rPr>
              <a:t>Algorithm</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7</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22065274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US" b="1" dirty="0">
                <a:latin typeface="Times New Roman" pitchFamily="18" charset="0"/>
                <a:cs typeface="Times New Roman" pitchFamily="18" charset="0"/>
              </a:rPr>
              <a:t>K</a:t>
            </a:r>
            <a:r>
              <a:rPr lang="en-IN" b="1" dirty="0" err="1">
                <a:latin typeface="Times New Roman" pitchFamily="18" charset="0"/>
                <a:cs typeface="Times New Roman" pitchFamily="18" charset="0"/>
              </a:rPr>
              <a:t>ruskal’s</a:t>
            </a:r>
            <a:r>
              <a:rPr lang="en-IN" b="1" dirty="0">
                <a:latin typeface="Times New Roman" pitchFamily="18" charset="0"/>
                <a:cs typeface="Times New Roman" pitchFamily="18" charset="0"/>
              </a:rPr>
              <a:t> Algorithm</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8</a:t>
            </a:fld>
            <a:endParaRPr lang="en-US" dirty="0"/>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itchFamily="18" charset="0"/>
              <a:cs typeface="Times New Roman" pitchFamily="18" charset="0"/>
            </a:endParaRPr>
          </a:p>
        </p:txBody>
      </p:sp>
      <p:sp>
        <p:nvSpPr>
          <p:cNvPr id="9" name="Content Placeholder 8">
            <a:extLst>
              <a:ext uri="{FF2B5EF4-FFF2-40B4-BE49-F238E27FC236}">
                <a16:creationId xmlns:a16="http://schemas.microsoft.com/office/drawing/2014/main" id="{FF0FFFCA-3C01-4C77-B5E8-26FE9CDA614D}"/>
              </a:ext>
            </a:extLst>
          </p:cNvPr>
          <p:cNvSpPr>
            <a:spLocks noGrp="1"/>
          </p:cNvSpPr>
          <p:nvPr>
            <p:ph idx="1"/>
          </p:nvPr>
        </p:nvSpPr>
        <p:spPr>
          <a:xfrm>
            <a:off x="838200" y="1094364"/>
            <a:ext cx="10515600" cy="5082599"/>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Kruskal's algorithm to find the minimum cost spanning tree uses the greedy approach. This algorithm treats the graph as a forest and every node it has as an individual tree. A tree connects to another only and only if, it has the least cost among all available options and does not violate MST properties.</a:t>
            </a:r>
            <a:endParaRPr lang="en-IN" sz="2400"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43D81798-1AAA-4A66-8D5A-F03CCF72C658}"/>
              </a:ext>
            </a:extLst>
          </p:cNvPr>
          <p:cNvSpPr/>
          <p:nvPr/>
        </p:nvSpPr>
        <p:spPr>
          <a:xfrm>
            <a:off x="1066800" y="2551837"/>
            <a:ext cx="10153650" cy="2795958"/>
          </a:xfrm>
          <a:prstGeom prst="rect">
            <a:avLst/>
          </a:prstGeom>
        </p:spPr>
        <p:txBody>
          <a:bodyPr wrap="square">
            <a:spAutoFit/>
          </a:bodyPr>
          <a:lstStyle/>
          <a:p>
            <a:pPr>
              <a:lnSpc>
                <a:spcPct val="150000"/>
              </a:lnSpc>
            </a:pPr>
            <a:r>
              <a:rPr lang="en-US" sz="2400" dirty="0">
                <a:latin typeface="Times New Roman" panose="02020603050405020304" pitchFamily="18" charset="0"/>
                <a:cs typeface="Times New Roman" panose="02020603050405020304" pitchFamily="18" charset="0"/>
              </a:rPr>
              <a:t>The steps for implementing Kruskal's algorithm are as follows:</a:t>
            </a:r>
          </a:p>
          <a:p>
            <a:pPr>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Sort all the edges from low weight to high.</a:t>
            </a:r>
          </a:p>
          <a:p>
            <a:pPr>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Take the edge with the lowest weight and add it to the spanning tree. If adding the edge created a cycle, then reject this edge.</a:t>
            </a:r>
          </a:p>
          <a:p>
            <a:pPr>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Keep adding edges until we reach all vertices.</a:t>
            </a:r>
            <a:endParaRPr lang="en-US" sz="24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207453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a:latin typeface="Times New Roman" pitchFamily="18" charset="0"/>
                <a:cs typeface="Times New Roman" pitchFamily="18" charset="0"/>
              </a:rPr>
              <a:t>Contd..</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9</a:t>
            </a:fld>
            <a:endParaRPr lang="en-US" dirty="0"/>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itchFamily="18" charset="0"/>
              <a:cs typeface="Times New Roman" pitchFamily="18" charset="0"/>
            </a:endParaRPr>
          </a:p>
        </p:txBody>
      </p:sp>
      <p:pic>
        <p:nvPicPr>
          <p:cNvPr id="11266" name="Picture 2" descr="MST Graph">
            <a:extLst>
              <a:ext uri="{FF2B5EF4-FFF2-40B4-BE49-F238E27FC236}">
                <a16:creationId xmlns:a16="http://schemas.microsoft.com/office/drawing/2014/main" id="{95AE4D4E-F902-4F5D-AFC8-18C8FE3F5F5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05100" y="1231361"/>
            <a:ext cx="5905500" cy="343589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92BB16E-A264-45D4-B7B2-1DA0B4E4CB69}"/>
              </a:ext>
            </a:extLst>
          </p:cNvPr>
          <p:cNvSpPr txBox="1"/>
          <p:nvPr/>
        </p:nvSpPr>
        <p:spPr>
          <a:xfrm>
            <a:off x="3943350" y="5362575"/>
            <a:ext cx="2886075"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 2: Given Graph</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158763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10</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596B2E5F-F8FB-4396-9844-700818958CC8}"/>
              </a:ext>
            </a:extLst>
          </p:cNvPr>
          <p:cNvSpPr>
            <a:spLocks noGrp="1"/>
          </p:cNvSpPr>
          <p:nvPr>
            <p:ph idx="1"/>
          </p:nvPr>
        </p:nvSpPr>
        <p:spPr>
          <a:xfrm>
            <a:off x="838200" y="1094364"/>
            <a:ext cx="10515600" cy="5082599"/>
          </a:xfrm>
        </p:spPr>
        <p:txBody>
          <a:bodyPr/>
          <a:lstStyle/>
          <a:p>
            <a:r>
              <a:rPr lang="en-US" dirty="0"/>
              <a:t>Step 1 - Remove all loops and Parallel Edges</a:t>
            </a:r>
          </a:p>
          <a:p>
            <a:endParaRPr lang="en-IN" dirty="0"/>
          </a:p>
        </p:txBody>
      </p:sp>
      <p:pic>
        <p:nvPicPr>
          <p:cNvPr id="12290" name="Picture 2" descr="MST Graph without loops">
            <a:extLst>
              <a:ext uri="{FF2B5EF4-FFF2-40B4-BE49-F238E27FC236}">
                <a16:creationId xmlns:a16="http://schemas.microsoft.com/office/drawing/2014/main" id="{C374F885-9120-4FDA-9167-D356ADBB3A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4225" y="2047875"/>
            <a:ext cx="4438650" cy="215741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0FA3F93-A1B4-46AC-9182-D48D9E97D296}"/>
              </a:ext>
            </a:extLst>
          </p:cNvPr>
          <p:cNvSpPr txBox="1"/>
          <p:nvPr/>
        </p:nvSpPr>
        <p:spPr>
          <a:xfrm>
            <a:off x="4810124" y="5173735"/>
            <a:ext cx="3609975"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 3: Removed loop and parallel edges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104180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11</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AC3F1179-5FDA-4566-8C62-E098E863FC29}"/>
              </a:ext>
            </a:extLst>
          </p:cNvPr>
          <p:cNvSpPr>
            <a:spLocks noGrp="1"/>
          </p:cNvSpPr>
          <p:nvPr>
            <p:ph idx="1"/>
          </p:nvPr>
        </p:nvSpPr>
        <p:spPr>
          <a:xfrm>
            <a:off x="838200" y="1193728"/>
            <a:ext cx="10515600" cy="5082599"/>
          </a:xfrm>
        </p:spPr>
        <p:txBody>
          <a:bodyPr>
            <a:normAutofit/>
          </a:bodyPr>
          <a:lstStyle/>
          <a:p>
            <a:r>
              <a:rPr lang="en-US" sz="2400" dirty="0">
                <a:latin typeface="Times New Roman" panose="02020603050405020304" pitchFamily="18" charset="0"/>
                <a:cs typeface="Times New Roman" panose="02020603050405020304" pitchFamily="18" charset="0"/>
              </a:rPr>
              <a:t>Step 2 - Arrange all edges in their increasing order of weight</a:t>
            </a:r>
          </a:p>
          <a:p>
            <a:pPr marL="0" indent="0">
              <a:buNone/>
            </a:pPr>
            <a:br>
              <a:rPr lang="en-US" sz="2400" u="sng" dirty="0">
                <a:latin typeface="Times New Roman" panose="02020603050405020304" pitchFamily="18" charset="0"/>
                <a:cs typeface="Times New Roman" panose="02020603050405020304" pitchFamily="18" charset="0"/>
                <a:hlinkClick r:id="rId2"/>
              </a:rPr>
            </a:br>
            <a:endParaRPr lang="en-IN"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E19BF00-986B-4D9D-A75A-D589270674C1}"/>
              </a:ext>
            </a:extLst>
          </p:cNvPr>
          <p:cNvSpPr txBox="1"/>
          <p:nvPr/>
        </p:nvSpPr>
        <p:spPr>
          <a:xfrm>
            <a:off x="4810125" y="5173735"/>
            <a:ext cx="19431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 4: Step 2</a:t>
            </a:r>
            <a:endParaRPr lang="en-IN" sz="1600" dirty="0">
              <a:latin typeface="Times New Roman" panose="02020603050405020304" pitchFamily="18" charset="0"/>
              <a:cs typeface="Times New Roman" panose="02020603050405020304" pitchFamily="18" charset="0"/>
            </a:endParaRPr>
          </a:p>
        </p:txBody>
      </p:sp>
      <p:pic>
        <p:nvPicPr>
          <p:cNvPr id="13314" name="Picture 2" descr="MST ascending weightage">
            <a:extLst>
              <a:ext uri="{FF2B5EF4-FFF2-40B4-BE49-F238E27FC236}">
                <a16:creationId xmlns:a16="http://schemas.microsoft.com/office/drawing/2014/main" id="{AE60F62F-7C74-4D5C-82BE-1F735167D1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1589" y="4461992"/>
            <a:ext cx="7010400" cy="116681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MST Graph without loops">
            <a:extLst>
              <a:ext uri="{FF2B5EF4-FFF2-40B4-BE49-F238E27FC236}">
                <a16:creationId xmlns:a16="http://schemas.microsoft.com/office/drawing/2014/main" id="{543BC4FC-CCFB-4DF2-BE89-D739FC1AB0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7464" y="1799870"/>
            <a:ext cx="4438650" cy="2157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60100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US" b="1" dirty="0">
                <a:latin typeface="Times New Roman" pitchFamily="18" charset="0"/>
                <a:cs typeface="Times New Roman" pitchFamily="18" charset="0"/>
              </a:rPr>
              <a:t>K</a:t>
            </a:r>
            <a:r>
              <a:rPr lang="en-IN" b="1" dirty="0" err="1">
                <a:latin typeface="Times New Roman" pitchFamily="18" charset="0"/>
                <a:cs typeface="Times New Roman" pitchFamily="18" charset="0"/>
              </a:rPr>
              <a:t>ruskal’s</a:t>
            </a:r>
            <a:r>
              <a:rPr lang="en-IN" b="1" dirty="0">
                <a:latin typeface="Times New Roman" pitchFamily="18" charset="0"/>
                <a:cs typeface="Times New Roman" pitchFamily="18" charset="0"/>
              </a:rPr>
              <a:t> Method</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12</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3EC8E766-2C3B-4CB1-BACD-06EC4B4D5A86}"/>
              </a:ext>
            </a:extLst>
          </p:cNvPr>
          <p:cNvSpPr txBox="1"/>
          <p:nvPr/>
        </p:nvSpPr>
        <p:spPr>
          <a:xfrm>
            <a:off x="3400425" y="5774643"/>
            <a:ext cx="38862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 5: Nest step of Kruskal’s method</a:t>
            </a:r>
            <a:endParaRPr lang="en-IN" sz="16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BFFF7819-4F4C-4304-B985-F5E9CDB0E42E}"/>
              </a:ext>
            </a:extLst>
          </p:cNvPr>
          <p:cNvSpPr/>
          <p:nvPr/>
        </p:nvSpPr>
        <p:spPr>
          <a:xfrm>
            <a:off x="838200" y="1076022"/>
            <a:ext cx="7607161" cy="461665"/>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Step 3: Add the edge which has the least weightage</a:t>
            </a:r>
            <a:endParaRPr lang="en-US" sz="2400" b="0" i="0" dirty="0">
              <a:effectLst/>
              <a:latin typeface="Times New Roman" panose="02020603050405020304" pitchFamily="18" charset="0"/>
              <a:cs typeface="Times New Roman" panose="02020603050405020304" pitchFamily="18" charset="0"/>
            </a:endParaRPr>
          </a:p>
        </p:txBody>
      </p:sp>
      <p:pic>
        <p:nvPicPr>
          <p:cNvPr id="14338" name="Picture 2" descr="MST Graph step two">
            <a:extLst>
              <a:ext uri="{FF2B5EF4-FFF2-40B4-BE49-F238E27FC236}">
                <a16:creationId xmlns:a16="http://schemas.microsoft.com/office/drawing/2014/main" id="{05EAC5C6-456E-4B9B-9104-0F088DF7D2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0416" y="2933960"/>
            <a:ext cx="4983946" cy="2294536"/>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7F9DF488-D9D3-49F2-BD0B-C85BB49B6F31}"/>
              </a:ext>
            </a:extLst>
          </p:cNvPr>
          <p:cNvSpPr/>
          <p:nvPr/>
        </p:nvSpPr>
        <p:spPr>
          <a:xfrm>
            <a:off x="838199" y="1629504"/>
            <a:ext cx="10515599" cy="1200329"/>
          </a:xfrm>
          <a:prstGeom prst="rect">
            <a:avLst/>
          </a:prstGeom>
        </p:spPr>
        <p:txBody>
          <a:bodyPr wrap="square">
            <a:spAutoFit/>
          </a:bodyPr>
          <a:lstStyle/>
          <a:p>
            <a:pPr algn="just"/>
            <a:r>
              <a:rPr lang="en-US" sz="2400" dirty="0">
                <a:solidFill>
                  <a:srgbClr val="000000"/>
                </a:solidFill>
                <a:latin typeface="Times New Roman" panose="02020603050405020304" pitchFamily="18" charset="0"/>
                <a:cs typeface="Times New Roman" panose="02020603050405020304" pitchFamily="18" charset="0"/>
              </a:rPr>
              <a:t>The least cost is 2 and edges involved are B,D and D,T. We add them. Adding them does not violate spanning tree properties, so we continue to our next edge selection.</a:t>
            </a:r>
          </a:p>
          <a:p>
            <a:pPr algn="just"/>
            <a:r>
              <a:rPr lang="en-US" sz="2400" dirty="0">
                <a:solidFill>
                  <a:srgbClr val="000000"/>
                </a:solidFill>
                <a:latin typeface="Times New Roman" panose="02020603050405020304" pitchFamily="18" charset="0"/>
                <a:cs typeface="Times New Roman" panose="02020603050405020304" pitchFamily="18" charset="0"/>
              </a:rPr>
              <a:t>Next cost is 3, and associated edges are A,C and C,D. We add them again −</a:t>
            </a: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pic>
        <p:nvPicPr>
          <p:cNvPr id="10" name="Picture 2" descr="MST ascending weightage">
            <a:extLst>
              <a:ext uri="{FF2B5EF4-FFF2-40B4-BE49-F238E27FC236}">
                <a16:creationId xmlns:a16="http://schemas.microsoft.com/office/drawing/2014/main" id="{D79683C7-2F47-4316-996F-3A8C1E5780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8931" y="3498910"/>
            <a:ext cx="5240754" cy="872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043196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US" b="1" dirty="0">
                <a:latin typeface="Times New Roman" pitchFamily="18" charset="0"/>
                <a:cs typeface="Times New Roman" pitchFamily="18" charset="0"/>
              </a:rPr>
              <a:t>K</a:t>
            </a:r>
            <a:r>
              <a:rPr lang="en-IN" b="1" dirty="0" err="1">
                <a:latin typeface="Times New Roman" pitchFamily="18" charset="0"/>
                <a:cs typeface="Times New Roman" pitchFamily="18" charset="0"/>
              </a:rPr>
              <a:t>ruskal’s</a:t>
            </a:r>
            <a:r>
              <a:rPr lang="en-IN" b="1" dirty="0">
                <a:latin typeface="Times New Roman" pitchFamily="18" charset="0"/>
                <a:cs typeface="Times New Roman" pitchFamily="18" charset="0"/>
              </a:rPr>
              <a:t> Method</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13</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D026FA87-04F2-4388-ACE8-3C646B080274}"/>
              </a:ext>
            </a:extLst>
          </p:cNvPr>
          <p:cNvSpPr txBox="1"/>
          <p:nvPr/>
        </p:nvSpPr>
        <p:spPr>
          <a:xfrm>
            <a:off x="4014787" y="5864453"/>
            <a:ext cx="3705225"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 6: Next step of Kruskal’s method</a:t>
            </a:r>
            <a:endParaRPr lang="en-IN" sz="1600" dirty="0">
              <a:latin typeface="Times New Roman" panose="02020603050405020304" pitchFamily="18" charset="0"/>
              <a:cs typeface="Times New Roman" panose="02020603050405020304" pitchFamily="18" charset="0"/>
            </a:endParaRPr>
          </a:p>
        </p:txBody>
      </p:sp>
      <p:pic>
        <p:nvPicPr>
          <p:cNvPr id="15362" name="Picture 2" descr="MST Graph step three">
            <a:extLst>
              <a:ext uri="{FF2B5EF4-FFF2-40B4-BE49-F238E27FC236}">
                <a16:creationId xmlns:a16="http://schemas.microsoft.com/office/drawing/2014/main" id="{145892B5-1934-4539-889B-89DAE06BE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389" y="3494685"/>
            <a:ext cx="3333750" cy="2352675"/>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MST Graph step four">
            <a:extLst>
              <a:ext uri="{FF2B5EF4-FFF2-40B4-BE49-F238E27FC236}">
                <a16:creationId xmlns:a16="http://schemas.microsoft.com/office/drawing/2014/main" id="{FA0FD1FE-CD84-47CB-B375-F008CC75A6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3725" y="3489088"/>
            <a:ext cx="3333750" cy="24479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BC9E125-ACD0-4A38-BB71-5C948BA70E3A}"/>
              </a:ext>
            </a:extLst>
          </p:cNvPr>
          <p:cNvSpPr/>
          <p:nvPr/>
        </p:nvSpPr>
        <p:spPr>
          <a:xfrm>
            <a:off x="838199" y="1094365"/>
            <a:ext cx="10515599" cy="830997"/>
          </a:xfrm>
          <a:prstGeom prst="rect">
            <a:avLst/>
          </a:prstGeom>
        </p:spPr>
        <p:txBody>
          <a:bodyPr wrap="square">
            <a:spAutoFit/>
          </a:bodyPr>
          <a:lstStyle/>
          <a:p>
            <a:r>
              <a:rPr lang="en-US" sz="2400" dirty="0">
                <a:solidFill>
                  <a:srgbClr val="000000"/>
                </a:solidFill>
                <a:latin typeface="Times New Roman" panose="02020603050405020304" pitchFamily="18" charset="0"/>
                <a:cs typeface="Times New Roman" panose="02020603050405020304" pitchFamily="18" charset="0"/>
              </a:rPr>
              <a:t>Step 4: Next cost in the table is 4, and we observe that adding it will create a circuit in the graph. −</a:t>
            </a:r>
            <a:endParaRPr lang="en-IN" sz="2400"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39720EEC-FC97-4DAD-B2E6-71CDF4EC3A16}"/>
              </a:ext>
            </a:extLst>
          </p:cNvPr>
          <p:cNvSpPr/>
          <p:nvPr/>
        </p:nvSpPr>
        <p:spPr>
          <a:xfrm>
            <a:off x="914399" y="1863865"/>
            <a:ext cx="10439399" cy="461665"/>
          </a:xfrm>
          <a:prstGeom prst="rect">
            <a:avLst/>
          </a:prstGeom>
        </p:spPr>
        <p:txBody>
          <a:bodyPr wrap="square">
            <a:spAutoFit/>
          </a:bodyPr>
          <a:lstStyle/>
          <a:p>
            <a:r>
              <a:rPr lang="en-US" sz="2400" dirty="0">
                <a:solidFill>
                  <a:srgbClr val="000000"/>
                </a:solidFill>
                <a:latin typeface="Times New Roman" panose="02020603050405020304" pitchFamily="18" charset="0"/>
                <a:cs typeface="Times New Roman" panose="02020603050405020304" pitchFamily="18" charset="0"/>
              </a:rPr>
              <a:t>We ignore it. In the process we shall ignore/avoid all edges that create a circuit.</a:t>
            </a:r>
            <a:endParaRPr lang="en-IN" sz="2400" dirty="0">
              <a:latin typeface="Times New Roman" panose="02020603050405020304" pitchFamily="18" charset="0"/>
              <a:cs typeface="Times New Roman" panose="02020603050405020304" pitchFamily="18" charset="0"/>
            </a:endParaRPr>
          </a:p>
        </p:txBody>
      </p:sp>
      <p:pic>
        <p:nvPicPr>
          <p:cNvPr id="11" name="Picture 2" descr="MST ascending weightage">
            <a:extLst>
              <a:ext uri="{FF2B5EF4-FFF2-40B4-BE49-F238E27FC236}">
                <a16:creationId xmlns:a16="http://schemas.microsoft.com/office/drawing/2014/main" id="{183F9D2D-7C17-4798-9220-26641E8C25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7022" y="2532607"/>
            <a:ext cx="5240754" cy="872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086297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588ABF83-5B30-4755-ACF1-A0397DF4FDAA}"/>
              </a:ext>
            </a:extLst>
          </p:cNvPr>
          <p:cNvPicPr>
            <a:picLocks noChangeAspect="1"/>
          </p:cNvPicPr>
          <p:nvPr/>
        </p:nvPicPr>
        <p:blipFill>
          <a:blip r:embed="rId2"/>
          <a:stretch>
            <a:fillRect/>
          </a:stretch>
        </p:blipFill>
        <p:spPr>
          <a:xfrm>
            <a:off x="3671668" y="3826504"/>
            <a:ext cx="4206240" cy="2366010"/>
          </a:xfrm>
          <a:prstGeom prst="rect">
            <a:avLst/>
          </a:prstGeom>
        </p:spPr>
      </p:pic>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14</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E3AD7B75-FD1C-4982-AF10-C491104AC4C8}"/>
              </a:ext>
            </a:extLst>
          </p:cNvPr>
          <p:cNvSpPr/>
          <p:nvPr/>
        </p:nvSpPr>
        <p:spPr>
          <a:xfrm>
            <a:off x="838199" y="1094364"/>
            <a:ext cx="10515599" cy="830997"/>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We observe that edges with cost 5 and 6 also create circuits. We ignore them and move on.</a:t>
            </a:r>
            <a:endParaRPr lang="en-IN"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BD2C87E-E5E9-4CE7-AB75-5A720FB14443}"/>
              </a:ext>
            </a:extLst>
          </p:cNvPr>
          <p:cNvSpPr txBox="1"/>
          <p:nvPr/>
        </p:nvSpPr>
        <p:spPr>
          <a:xfrm>
            <a:off x="4543422" y="5925721"/>
            <a:ext cx="310515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 7: Minimum Spanning Tree</a:t>
            </a:r>
            <a:endParaRPr lang="en-IN" sz="1600"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6D87FEA1-9892-405B-A30A-15968658A351}"/>
              </a:ext>
            </a:extLst>
          </p:cNvPr>
          <p:cNvSpPr/>
          <p:nvPr/>
        </p:nvSpPr>
        <p:spPr>
          <a:xfrm>
            <a:off x="838197" y="1925361"/>
            <a:ext cx="10515600" cy="830997"/>
          </a:xfrm>
          <a:prstGeom prst="rect">
            <a:avLst/>
          </a:prstGeom>
        </p:spPr>
        <p:txBody>
          <a:bodyPr wrap="square">
            <a:spAutoFit/>
          </a:bodyPr>
          <a:lstStyle/>
          <a:p>
            <a:r>
              <a:rPr lang="en-US" sz="2400" dirty="0">
                <a:solidFill>
                  <a:srgbClr val="000000"/>
                </a:solidFill>
                <a:latin typeface="Times New Roman" panose="02020603050405020304" pitchFamily="18" charset="0"/>
                <a:cs typeface="Times New Roman" panose="02020603050405020304" pitchFamily="18" charset="0"/>
              </a:rPr>
              <a:t>Now we are left with only one node to be added. Between the two least cost edges available 7 and 8, we shall add the edge with cost 7.</a:t>
            </a:r>
            <a:endParaRPr lang="en-IN" sz="2400" dirty="0">
              <a:latin typeface="Times New Roman" panose="02020603050405020304" pitchFamily="18" charset="0"/>
              <a:cs typeface="Times New Roman" panose="02020603050405020304" pitchFamily="18" charset="0"/>
            </a:endParaRPr>
          </a:p>
        </p:txBody>
      </p:sp>
      <p:pic>
        <p:nvPicPr>
          <p:cNvPr id="11" name="Picture 2" descr="MST ascending weightage">
            <a:extLst>
              <a:ext uri="{FF2B5EF4-FFF2-40B4-BE49-F238E27FC236}">
                <a16:creationId xmlns:a16="http://schemas.microsoft.com/office/drawing/2014/main" id="{006ECA81-9628-45AF-9498-8387454C5B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6345" y="2954618"/>
            <a:ext cx="5240754" cy="872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425688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582025" cy="858475"/>
          </a:xfrm>
        </p:spPr>
        <p:txBody>
          <a:bodyPr/>
          <a:lstStyle/>
          <a:p>
            <a:pPr algn="ctr"/>
            <a:r>
              <a:rPr lang="en-IN" b="1" dirty="0">
                <a:latin typeface="Times New Roman" pitchFamily="18" charset="0"/>
                <a:cs typeface="Times New Roman" pitchFamily="18" charset="0"/>
              </a:rPr>
              <a:t>Prim’s Minimum Spanning Tree</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15</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686800"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0BA97549-329A-4CD4-B885-21856A64AB8E}"/>
              </a:ext>
            </a:extLst>
          </p:cNvPr>
          <p:cNvSpPr>
            <a:spLocks noGrp="1"/>
          </p:cNvSpPr>
          <p:nvPr>
            <p:ph idx="1"/>
          </p:nvPr>
        </p:nvSpPr>
        <p:spPr>
          <a:xfrm>
            <a:off x="838200" y="1094364"/>
            <a:ext cx="10515600" cy="5082599"/>
          </a:xfrm>
        </p:spPr>
        <p:txBody>
          <a:bodyPr>
            <a:normAutofit/>
          </a:bodyPr>
          <a:lstStyle/>
          <a:p>
            <a:pPr algn="just">
              <a:lnSpc>
                <a:spcPct val="150000"/>
              </a:lnSpc>
            </a:pPr>
            <a:r>
              <a:rPr lang="en-US" sz="2400" b="1" i="1" dirty="0">
                <a:latin typeface="Times New Roman" panose="02020603050405020304" pitchFamily="18" charset="0"/>
                <a:cs typeface="Times New Roman" panose="02020603050405020304" pitchFamily="18" charset="0"/>
              </a:rPr>
              <a:t>How does Prim’s Algorithm Work?</a:t>
            </a:r>
            <a:r>
              <a:rPr lang="en-US" sz="2400" dirty="0">
                <a:latin typeface="Times New Roman" panose="02020603050405020304" pitchFamily="18" charset="0"/>
                <a:cs typeface="Times New Roman" panose="02020603050405020304" pitchFamily="18" charset="0"/>
              </a:rPr>
              <a:t> The idea behind Prim’s algorithm is simple, a spanning tree means all vertices must be connected. So the two disjoint subsets (discussed above) of vertices must be connected to make a </a:t>
            </a:r>
            <a:r>
              <a:rPr lang="en-US" sz="2400" i="1" dirty="0">
                <a:latin typeface="Times New Roman" panose="02020603050405020304" pitchFamily="18" charset="0"/>
                <a:cs typeface="Times New Roman" panose="02020603050405020304" pitchFamily="18" charset="0"/>
              </a:rPr>
              <a:t>Spanning </a:t>
            </a:r>
            <a:r>
              <a:rPr lang="en-US" sz="2400" dirty="0">
                <a:latin typeface="Times New Roman" panose="02020603050405020304" pitchFamily="18" charset="0"/>
                <a:cs typeface="Times New Roman" panose="02020603050405020304" pitchFamily="18" charset="0"/>
              </a:rPr>
              <a:t>Tree. And they must be connected with the minimum weight edge to make it a </a:t>
            </a:r>
            <a:r>
              <a:rPr lang="en-US" sz="2400" i="1" dirty="0">
                <a:latin typeface="Times New Roman" panose="02020603050405020304" pitchFamily="18" charset="0"/>
                <a:cs typeface="Times New Roman" panose="02020603050405020304" pitchFamily="18" charset="0"/>
              </a:rPr>
              <a:t>Minimum </a:t>
            </a:r>
            <a:r>
              <a:rPr lang="en-US" sz="2400" dirty="0">
                <a:latin typeface="Times New Roman" panose="02020603050405020304" pitchFamily="18" charset="0"/>
                <a:cs typeface="Times New Roman" panose="02020603050405020304" pitchFamily="18" charset="0"/>
              </a:rPr>
              <a:t>Spanning Tree.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684162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582025" cy="858475"/>
          </a:xfrm>
        </p:spPr>
        <p:txBody>
          <a:bodyPr/>
          <a:lstStyle/>
          <a:p>
            <a:pPr algn="ctr"/>
            <a:r>
              <a:rPr lang="en-IN" b="1" dirty="0">
                <a:latin typeface="Times New Roman" pitchFamily="18" charset="0"/>
                <a:cs typeface="Times New Roman" pitchFamily="18" charset="0"/>
              </a:rPr>
              <a:t>Prim’s Minimum Spanning Tree</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16</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686800"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0BA97549-329A-4CD4-B885-21856A64AB8E}"/>
              </a:ext>
            </a:extLst>
          </p:cNvPr>
          <p:cNvSpPr>
            <a:spLocks noGrp="1"/>
          </p:cNvSpPr>
          <p:nvPr>
            <p:ph idx="1"/>
          </p:nvPr>
        </p:nvSpPr>
        <p:spPr>
          <a:xfrm>
            <a:off x="838200" y="1094364"/>
            <a:ext cx="10515600" cy="5082599"/>
          </a:xfrm>
        </p:spPr>
        <p:txBody>
          <a:bodyPr>
            <a:noAutofit/>
          </a:bodyPr>
          <a:lstStyle/>
          <a:p>
            <a:pPr algn="l" fontAlgn="base">
              <a:buFont typeface="Arial" panose="020B0604020202020204" pitchFamily="34" charset="0"/>
              <a:buChar char="•"/>
            </a:pPr>
            <a:r>
              <a:rPr lang="en-US" sz="2000" b="0" i="0" dirty="0">
                <a:solidFill>
                  <a:srgbClr val="303030"/>
                </a:solidFill>
                <a:effectLst/>
                <a:latin typeface="Times New Roman" panose="02020603050405020304" pitchFamily="18" charset="0"/>
                <a:cs typeface="Times New Roman" panose="02020603050405020304" pitchFamily="18" charset="0"/>
              </a:rPr>
              <a:t>Prim’s Algorithm is a famous greedy algorithm.</a:t>
            </a:r>
          </a:p>
          <a:p>
            <a:pPr algn="l" fontAlgn="base">
              <a:buFont typeface="Arial" panose="020B0604020202020204" pitchFamily="34" charset="0"/>
              <a:buChar char="•"/>
            </a:pPr>
            <a:r>
              <a:rPr lang="en-US" sz="2000" b="0" i="0" dirty="0">
                <a:solidFill>
                  <a:srgbClr val="303030"/>
                </a:solidFill>
                <a:effectLst/>
                <a:latin typeface="Times New Roman" panose="02020603050405020304" pitchFamily="18" charset="0"/>
                <a:cs typeface="Times New Roman" panose="02020603050405020304" pitchFamily="18" charset="0"/>
              </a:rPr>
              <a:t>It is used for finding the Minimum Spanning Tree (MST) of a given graph.</a:t>
            </a:r>
          </a:p>
          <a:p>
            <a:pPr algn="l" fontAlgn="base">
              <a:buFont typeface="Arial" panose="020B0604020202020204" pitchFamily="34" charset="0"/>
              <a:buChar char="•"/>
            </a:pPr>
            <a:r>
              <a:rPr lang="en-US" sz="2000" b="0" i="0" dirty="0">
                <a:solidFill>
                  <a:srgbClr val="303030"/>
                </a:solidFill>
                <a:effectLst/>
                <a:latin typeface="Times New Roman" panose="02020603050405020304" pitchFamily="18" charset="0"/>
                <a:cs typeface="Times New Roman" panose="02020603050405020304" pitchFamily="18" charset="0"/>
              </a:rPr>
              <a:t>To apply Prim’s algorithm, the given graph must be weighted, connected and undirected.</a:t>
            </a:r>
          </a:p>
          <a:p>
            <a:pPr marL="0" indent="0" algn="l" fontAlgn="base">
              <a:buNone/>
            </a:pPr>
            <a:r>
              <a:rPr lang="en-US" sz="2000" b="1" i="0" u="sng" dirty="0">
                <a:solidFill>
                  <a:srgbClr val="303030"/>
                </a:solidFill>
                <a:effectLst/>
                <a:latin typeface="Times New Roman" panose="02020603050405020304" pitchFamily="18" charset="0"/>
                <a:cs typeface="Times New Roman" panose="02020603050405020304" pitchFamily="18" charset="0"/>
              </a:rPr>
              <a:t>Step-01:</a:t>
            </a:r>
            <a:r>
              <a:rPr lang="en-US" sz="2000" b="0" i="0" dirty="0">
                <a:solidFill>
                  <a:srgbClr val="303030"/>
                </a:solidFill>
                <a:effectLst/>
                <a:latin typeface="Times New Roman" panose="02020603050405020304" pitchFamily="18" charset="0"/>
                <a:cs typeface="Times New Roman" panose="02020603050405020304" pitchFamily="18" charset="0"/>
              </a:rPr>
              <a:t> </a:t>
            </a:r>
          </a:p>
          <a:p>
            <a:pPr algn="l" fontAlgn="base">
              <a:buFont typeface="Arial" panose="020B0604020202020204" pitchFamily="34" charset="0"/>
              <a:buChar char="•"/>
            </a:pPr>
            <a:r>
              <a:rPr lang="en-US" sz="2000" b="0" i="0" dirty="0">
                <a:solidFill>
                  <a:srgbClr val="303030"/>
                </a:solidFill>
                <a:effectLst/>
                <a:latin typeface="Times New Roman" panose="02020603050405020304" pitchFamily="18" charset="0"/>
                <a:cs typeface="Times New Roman" panose="02020603050405020304" pitchFamily="18" charset="0"/>
              </a:rPr>
              <a:t>Randomly choose any vertex.</a:t>
            </a:r>
          </a:p>
          <a:p>
            <a:pPr algn="l" fontAlgn="base">
              <a:buFont typeface="Arial" panose="020B0604020202020204" pitchFamily="34" charset="0"/>
              <a:buChar char="•"/>
            </a:pPr>
            <a:r>
              <a:rPr lang="en-US" sz="2000" b="0" i="0" dirty="0">
                <a:solidFill>
                  <a:srgbClr val="303030"/>
                </a:solidFill>
                <a:effectLst/>
                <a:latin typeface="Times New Roman" panose="02020603050405020304" pitchFamily="18" charset="0"/>
                <a:cs typeface="Times New Roman" panose="02020603050405020304" pitchFamily="18" charset="0"/>
              </a:rPr>
              <a:t>The vertex connecting to the edge having least weight is usually selected.</a:t>
            </a:r>
          </a:p>
          <a:p>
            <a:pPr marL="0" indent="0" algn="l" fontAlgn="base">
              <a:buNone/>
            </a:pPr>
            <a:r>
              <a:rPr lang="en-US" sz="2000" b="1" i="0" u="sng" dirty="0">
                <a:solidFill>
                  <a:srgbClr val="303030"/>
                </a:solidFill>
                <a:effectLst/>
                <a:latin typeface="Times New Roman" panose="02020603050405020304" pitchFamily="18" charset="0"/>
                <a:cs typeface="Times New Roman" panose="02020603050405020304" pitchFamily="18" charset="0"/>
              </a:rPr>
              <a:t>Step-02:</a:t>
            </a:r>
            <a:endParaRPr lang="en-US" sz="2000" b="0" i="0" dirty="0">
              <a:solidFill>
                <a:srgbClr val="303030"/>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000" b="0" i="0" dirty="0">
                <a:solidFill>
                  <a:srgbClr val="303030"/>
                </a:solidFill>
                <a:effectLst/>
                <a:latin typeface="Times New Roman" panose="02020603050405020304" pitchFamily="18" charset="0"/>
                <a:cs typeface="Times New Roman" panose="02020603050405020304" pitchFamily="18" charset="0"/>
              </a:rPr>
              <a:t>Find all the edges that connect the tree to new vertices.</a:t>
            </a:r>
          </a:p>
          <a:p>
            <a:pPr algn="l" fontAlgn="base">
              <a:buFont typeface="Arial" panose="020B0604020202020204" pitchFamily="34" charset="0"/>
              <a:buChar char="•"/>
            </a:pPr>
            <a:r>
              <a:rPr lang="en-US" sz="2000" b="0" i="0" dirty="0">
                <a:solidFill>
                  <a:srgbClr val="303030"/>
                </a:solidFill>
                <a:effectLst/>
                <a:latin typeface="Times New Roman" panose="02020603050405020304" pitchFamily="18" charset="0"/>
                <a:cs typeface="Times New Roman" panose="02020603050405020304" pitchFamily="18" charset="0"/>
              </a:rPr>
              <a:t>Find the least weight edge among those edges and include it in the existing tree.</a:t>
            </a:r>
          </a:p>
          <a:p>
            <a:pPr algn="l" fontAlgn="base">
              <a:buFont typeface="Arial" panose="020B0604020202020204" pitchFamily="34" charset="0"/>
              <a:buChar char="•"/>
            </a:pPr>
            <a:r>
              <a:rPr lang="en-US" sz="2000" b="0" i="0" dirty="0">
                <a:solidFill>
                  <a:srgbClr val="303030"/>
                </a:solidFill>
                <a:effectLst/>
                <a:latin typeface="Times New Roman" panose="02020603050405020304" pitchFamily="18" charset="0"/>
                <a:cs typeface="Times New Roman" panose="02020603050405020304" pitchFamily="18" charset="0"/>
              </a:rPr>
              <a:t>If including that edge creates a cycle, then reject that edge and look for the next least weight edge. </a:t>
            </a:r>
          </a:p>
          <a:p>
            <a:pPr marL="0" indent="0" algn="l" fontAlgn="base">
              <a:buNone/>
            </a:pPr>
            <a:r>
              <a:rPr lang="en-US" sz="2000" b="1" i="0" u="sng" dirty="0">
                <a:solidFill>
                  <a:srgbClr val="303030"/>
                </a:solidFill>
                <a:effectLst/>
                <a:latin typeface="Times New Roman" panose="02020603050405020304" pitchFamily="18" charset="0"/>
                <a:cs typeface="Times New Roman" panose="02020603050405020304" pitchFamily="18" charset="0"/>
              </a:rPr>
              <a:t>Step-03:</a:t>
            </a:r>
            <a:r>
              <a:rPr lang="en-US" sz="2000" b="0" i="0" dirty="0">
                <a:solidFill>
                  <a:srgbClr val="303030"/>
                </a:solidFill>
                <a:effectLst/>
                <a:latin typeface="Times New Roman" panose="02020603050405020304" pitchFamily="18" charset="0"/>
                <a:cs typeface="Times New Roman" panose="02020603050405020304" pitchFamily="18" charset="0"/>
              </a:rPr>
              <a:t> </a:t>
            </a:r>
          </a:p>
          <a:p>
            <a:pPr algn="l" fontAlgn="base">
              <a:buFont typeface="Arial" panose="020B0604020202020204" pitchFamily="34" charset="0"/>
              <a:buChar char="•"/>
            </a:pPr>
            <a:r>
              <a:rPr lang="en-US" sz="2000" b="0" i="0" dirty="0">
                <a:solidFill>
                  <a:srgbClr val="303030"/>
                </a:solidFill>
                <a:effectLst/>
                <a:latin typeface="Times New Roman" panose="02020603050405020304" pitchFamily="18" charset="0"/>
                <a:cs typeface="Times New Roman" panose="02020603050405020304" pitchFamily="18" charset="0"/>
              </a:rPr>
              <a:t>Keep repeating step-02 until all the vertices are included and Minimum Spanning Tree (MST) is obtained.</a:t>
            </a:r>
          </a:p>
        </p:txBody>
      </p:sp>
    </p:spTree>
    <p:extLst>
      <p:ext uri="{BB962C8B-B14F-4D97-AF65-F5344CB8AC3E}">
        <p14:creationId xmlns:p14="http://schemas.microsoft.com/office/powerpoint/2010/main" val="139492879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a:latin typeface="Times New Roman" pitchFamily="18" charset="0"/>
                <a:cs typeface="Times New Roman" pitchFamily="18" charset="0"/>
              </a:rPr>
              <a:t>Prim’s Algorithm</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17</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0BA97549-329A-4CD4-B885-21856A64AB8E}"/>
              </a:ext>
            </a:extLst>
          </p:cNvPr>
          <p:cNvSpPr>
            <a:spLocks noGrp="1"/>
          </p:cNvSpPr>
          <p:nvPr>
            <p:ph idx="1"/>
          </p:nvPr>
        </p:nvSpPr>
        <p:spPr>
          <a:xfrm>
            <a:off x="838200" y="1094364"/>
            <a:ext cx="10515600" cy="5082599"/>
          </a:xfrm>
        </p:spPr>
        <p:txBody>
          <a:bodyPr>
            <a:normAutofit/>
          </a:bodyPr>
          <a:lstStyle/>
          <a:p>
            <a:pPr marL="0" indent="0">
              <a:lnSpc>
                <a:spcPct val="150000"/>
              </a:lnSpc>
              <a:buNone/>
            </a:pPr>
            <a:r>
              <a:rPr lang="en-US" sz="2400" b="1"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Create a set </a:t>
            </a:r>
            <a:r>
              <a:rPr lang="en-US" sz="2400" i="1" dirty="0" err="1">
                <a:latin typeface="Times New Roman" panose="02020603050405020304" pitchFamily="18" charset="0"/>
                <a:cs typeface="Times New Roman" panose="02020603050405020304" pitchFamily="18" charset="0"/>
              </a:rPr>
              <a:t>mstSet</a:t>
            </a:r>
            <a:r>
              <a:rPr lang="en-US" sz="2400" dirty="0">
                <a:latin typeface="Times New Roman" panose="02020603050405020304" pitchFamily="18" charset="0"/>
                <a:cs typeface="Times New Roman" panose="02020603050405020304" pitchFamily="18" charset="0"/>
              </a:rPr>
              <a:t> that keeps track of vertices already included in MST.</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Assign a key value to all vertices in the input graph. Initialize all key values as INFINITE. Assign key value as 0 for the first vertex so that it is picked first.</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 While </a:t>
            </a:r>
            <a:r>
              <a:rPr lang="en-US" sz="2400" dirty="0" err="1">
                <a:latin typeface="Times New Roman" panose="02020603050405020304" pitchFamily="18" charset="0"/>
                <a:cs typeface="Times New Roman" panose="02020603050405020304" pitchFamily="18" charset="0"/>
              </a:rPr>
              <a:t>mstSet</a:t>
            </a:r>
            <a:r>
              <a:rPr lang="en-US" sz="2400" dirty="0">
                <a:latin typeface="Times New Roman" panose="02020603050405020304" pitchFamily="18" charset="0"/>
                <a:cs typeface="Times New Roman" panose="02020603050405020304" pitchFamily="18" charset="0"/>
              </a:rPr>
              <a:t> doesn’t include all vertices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Pick a vertex </a:t>
            </a:r>
            <a:r>
              <a:rPr lang="en-US" sz="2400" i="1" dirty="0">
                <a:latin typeface="Times New Roman" panose="02020603050405020304" pitchFamily="18" charset="0"/>
                <a:cs typeface="Times New Roman" panose="02020603050405020304" pitchFamily="18" charset="0"/>
              </a:rPr>
              <a:t>u</a:t>
            </a:r>
            <a:r>
              <a:rPr lang="en-US" sz="2400" dirty="0">
                <a:latin typeface="Times New Roman" panose="02020603050405020304" pitchFamily="18" charset="0"/>
                <a:cs typeface="Times New Roman" panose="02020603050405020304" pitchFamily="18" charset="0"/>
              </a:rPr>
              <a:t> which is not there in </a:t>
            </a:r>
            <a:r>
              <a:rPr lang="en-US" sz="2400" i="1" dirty="0" err="1">
                <a:latin typeface="Times New Roman" panose="02020603050405020304" pitchFamily="18" charset="0"/>
                <a:cs typeface="Times New Roman" panose="02020603050405020304" pitchFamily="18" charset="0"/>
              </a:rPr>
              <a:t>mstSet</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 has minimum key value.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b)</a:t>
            </a:r>
            <a:r>
              <a:rPr lang="en-US" sz="2400" dirty="0">
                <a:latin typeface="Times New Roman" panose="02020603050405020304" pitchFamily="18" charset="0"/>
                <a:cs typeface="Times New Roman" panose="02020603050405020304" pitchFamily="18" charset="0"/>
              </a:rPr>
              <a:t> Include </a:t>
            </a:r>
            <a:r>
              <a:rPr lang="en-US" sz="2400" i="1" dirty="0">
                <a:latin typeface="Times New Roman" panose="02020603050405020304" pitchFamily="18" charset="0"/>
                <a:cs typeface="Times New Roman" panose="02020603050405020304" pitchFamily="18" charset="0"/>
              </a:rPr>
              <a:t>u </a:t>
            </a:r>
            <a:r>
              <a:rPr lang="en-US" sz="2400" dirty="0">
                <a:latin typeface="Times New Roman" panose="02020603050405020304" pitchFamily="18" charset="0"/>
                <a:cs typeface="Times New Roman" panose="02020603050405020304" pitchFamily="18" charset="0"/>
              </a:rPr>
              <a:t>to </a:t>
            </a:r>
            <a:r>
              <a:rPr lang="en-US" sz="2400" dirty="0" err="1">
                <a:latin typeface="Times New Roman" panose="02020603050405020304" pitchFamily="18" charset="0"/>
                <a:cs typeface="Times New Roman" panose="02020603050405020304" pitchFamily="18" charset="0"/>
              </a:rPr>
              <a:t>mstSet</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c)</a:t>
            </a:r>
            <a:r>
              <a:rPr lang="en-US" sz="2400" dirty="0">
                <a:latin typeface="Times New Roman" panose="02020603050405020304" pitchFamily="18" charset="0"/>
                <a:cs typeface="Times New Roman" panose="02020603050405020304" pitchFamily="18" charset="0"/>
              </a:rPr>
              <a:t> Update key value of all adjacent vertices of </a:t>
            </a:r>
            <a:r>
              <a:rPr lang="en-US" sz="2400" i="1" dirty="0">
                <a:latin typeface="Times New Roman" panose="02020603050405020304" pitchFamily="18" charset="0"/>
                <a:cs typeface="Times New Roman" panose="02020603050405020304" pitchFamily="18" charset="0"/>
              </a:rPr>
              <a:t>u</a:t>
            </a:r>
            <a:r>
              <a:rPr lang="en-US" sz="2400" dirty="0">
                <a:latin typeface="Times New Roman" panose="02020603050405020304" pitchFamily="18" charset="0"/>
                <a:cs typeface="Times New Roman" panose="02020603050405020304" pitchFamily="18" charset="0"/>
              </a:rPr>
              <a:t>. To update the key values, iterate through all adjacent vertices. For every adjacent vertex </a:t>
            </a:r>
            <a:r>
              <a:rPr lang="en-US" sz="2400" i="1" dirty="0">
                <a:latin typeface="Times New Roman" panose="02020603050405020304" pitchFamily="18" charset="0"/>
                <a:cs typeface="Times New Roman" panose="02020603050405020304" pitchFamily="18" charset="0"/>
              </a:rPr>
              <a:t>v</a:t>
            </a:r>
            <a:r>
              <a:rPr lang="en-US" sz="2400" dirty="0">
                <a:latin typeface="Times New Roman" panose="02020603050405020304" pitchFamily="18" charset="0"/>
                <a:cs typeface="Times New Roman" panose="02020603050405020304" pitchFamily="18" charset="0"/>
              </a:rPr>
              <a:t>, if weight of edge </a:t>
            </a:r>
            <a:r>
              <a:rPr lang="en-US" sz="2400" i="1" dirty="0">
                <a:latin typeface="Times New Roman" panose="02020603050405020304" pitchFamily="18" charset="0"/>
                <a:cs typeface="Times New Roman" panose="02020603050405020304" pitchFamily="18" charset="0"/>
              </a:rPr>
              <a:t>u-v</a:t>
            </a:r>
            <a:r>
              <a:rPr lang="en-US" sz="2400" dirty="0">
                <a:latin typeface="Times New Roman" panose="02020603050405020304" pitchFamily="18" charset="0"/>
                <a:cs typeface="Times New Roman" panose="02020603050405020304" pitchFamily="18" charset="0"/>
              </a:rPr>
              <a:t> is less than the previous key value of </a:t>
            </a:r>
            <a:r>
              <a:rPr lang="en-US" sz="2400" i="1" dirty="0">
                <a:latin typeface="Times New Roman" panose="02020603050405020304" pitchFamily="18" charset="0"/>
                <a:cs typeface="Times New Roman" panose="02020603050405020304" pitchFamily="18" charset="0"/>
              </a:rPr>
              <a:t>v</a:t>
            </a:r>
            <a:r>
              <a:rPr lang="en-US" sz="2400" dirty="0">
                <a:latin typeface="Times New Roman" panose="02020603050405020304" pitchFamily="18" charset="0"/>
                <a:cs typeface="Times New Roman" panose="02020603050405020304" pitchFamily="18" charset="0"/>
              </a:rPr>
              <a:t>, update the key value as weight of </a:t>
            </a:r>
            <a:r>
              <a:rPr lang="en-US" sz="2400" i="1" dirty="0">
                <a:latin typeface="Times New Roman" panose="02020603050405020304" pitchFamily="18" charset="0"/>
                <a:cs typeface="Times New Roman" panose="02020603050405020304" pitchFamily="18" charset="0"/>
              </a:rPr>
              <a:t>u-v</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144353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a:latin typeface="Times New Roman" pitchFamily="18" charset="0"/>
                <a:cs typeface="Times New Roman" pitchFamily="18" charset="0"/>
              </a:rPr>
              <a:t>Prim’s Method</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18</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641247" y="1094363"/>
            <a:ext cx="10894255" cy="562711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pic>
        <p:nvPicPr>
          <p:cNvPr id="10242" name="Picture 2">
            <a:extLst>
              <a:ext uri="{FF2B5EF4-FFF2-40B4-BE49-F238E27FC236}">
                <a16:creationId xmlns:a16="http://schemas.microsoft.com/office/drawing/2014/main" id="{81579049-514E-40FA-8121-8285443049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185" y="1094365"/>
            <a:ext cx="3544462" cy="1978918"/>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a:extLst>
              <a:ext uri="{FF2B5EF4-FFF2-40B4-BE49-F238E27FC236}">
                <a16:creationId xmlns:a16="http://schemas.microsoft.com/office/drawing/2014/main" id="{8A042C14-B789-4AD5-A9FA-59600AD1FA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9014" y="1337844"/>
            <a:ext cx="1352550" cy="1162050"/>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a:extLst>
              <a:ext uri="{FF2B5EF4-FFF2-40B4-BE49-F238E27FC236}">
                <a16:creationId xmlns:a16="http://schemas.microsoft.com/office/drawing/2014/main" id="{07979B28-89D7-4B57-8EE8-DCA118689B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5524" y="1211284"/>
            <a:ext cx="1352550" cy="1924050"/>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a:extLst>
              <a:ext uri="{FF2B5EF4-FFF2-40B4-BE49-F238E27FC236}">
                <a16:creationId xmlns:a16="http://schemas.microsoft.com/office/drawing/2014/main" id="{525146D3-7997-4E26-807F-AF621185F2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12034" y="1177404"/>
            <a:ext cx="2876550" cy="2038350"/>
          </a:xfrm>
          <a:prstGeom prst="rect">
            <a:avLst/>
          </a:prstGeom>
          <a:noFill/>
          <a:extLst>
            <a:ext uri="{909E8E84-426E-40DD-AFC4-6F175D3DCCD1}">
              <a14:hiddenFill xmlns:a14="http://schemas.microsoft.com/office/drawing/2010/main">
                <a:solidFill>
                  <a:srgbClr val="FFFFFF"/>
                </a:solidFill>
              </a14:hiddenFill>
            </a:ext>
          </a:extLst>
        </p:spPr>
      </p:pic>
      <p:pic>
        <p:nvPicPr>
          <p:cNvPr id="10250" name="Picture 10">
            <a:extLst>
              <a:ext uri="{FF2B5EF4-FFF2-40B4-BE49-F238E27FC236}">
                <a16:creationId xmlns:a16="http://schemas.microsoft.com/office/drawing/2014/main" id="{7D93C528-60A9-42A9-BD81-250E25824B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4710" y="3436934"/>
            <a:ext cx="3217852" cy="1712986"/>
          </a:xfrm>
          <a:prstGeom prst="rect">
            <a:avLst/>
          </a:prstGeom>
          <a:noFill/>
          <a:extLst>
            <a:ext uri="{909E8E84-426E-40DD-AFC4-6F175D3DCCD1}">
              <a14:hiddenFill xmlns:a14="http://schemas.microsoft.com/office/drawing/2010/main">
                <a:solidFill>
                  <a:srgbClr val="FFFFFF"/>
                </a:solidFill>
              </a14:hiddenFill>
            </a:ext>
          </a:extLst>
        </p:spPr>
      </p:pic>
      <p:pic>
        <p:nvPicPr>
          <p:cNvPr id="10252" name="Picture 12">
            <a:extLst>
              <a:ext uri="{FF2B5EF4-FFF2-40B4-BE49-F238E27FC236}">
                <a16:creationId xmlns:a16="http://schemas.microsoft.com/office/drawing/2014/main" id="{DB7C93FB-2CE0-427B-8380-D075743BADE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38844" y="3214986"/>
            <a:ext cx="3614337" cy="1924050"/>
          </a:xfrm>
          <a:prstGeom prst="rect">
            <a:avLst/>
          </a:prstGeom>
          <a:noFill/>
          <a:extLst>
            <a:ext uri="{909E8E84-426E-40DD-AFC4-6F175D3DCCD1}">
              <a14:hiddenFill xmlns:a14="http://schemas.microsoft.com/office/drawing/2010/main">
                <a:solidFill>
                  <a:srgbClr val="FFFFFF"/>
                </a:solidFill>
              </a14:hiddenFill>
            </a:ext>
          </a:extLst>
        </p:spPr>
      </p:pic>
      <p:pic>
        <p:nvPicPr>
          <p:cNvPr id="10254" name="Picture 14">
            <a:extLst>
              <a:ext uri="{FF2B5EF4-FFF2-40B4-BE49-F238E27FC236}">
                <a16:creationId xmlns:a16="http://schemas.microsoft.com/office/drawing/2014/main" id="{41888426-3ED9-41FB-A5BA-757BA9E1416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39463" y="3429000"/>
            <a:ext cx="3829050" cy="203835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DE3EF07E-5BA7-4D58-B039-F6FCA78C1F69}"/>
              </a:ext>
            </a:extLst>
          </p:cNvPr>
          <p:cNvSpPr txBox="1"/>
          <p:nvPr/>
        </p:nvSpPr>
        <p:spPr>
          <a:xfrm>
            <a:off x="716185" y="5322763"/>
            <a:ext cx="10987074" cy="1477328"/>
          </a:xfrm>
          <a:prstGeom prst="rect">
            <a:avLst/>
          </a:prstGeom>
          <a:noFill/>
        </p:spPr>
        <p:txBody>
          <a:bodyPr wrap="square">
            <a:spAutoFit/>
          </a:bodyPr>
          <a:lstStyle/>
          <a:p>
            <a:pPr algn="l" fontAlgn="base"/>
            <a:r>
              <a:rPr lang="en-US" b="0" i="0" dirty="0">
                <a:solidFill>
                  <a:srgbClr val="303030"/>
                </a:solidFill>
                <a:effectLst/>
                <a:latin typeface="Times New Roman" panose="02020603050405020304" pitchFamily="18" charset="0"/>
                <a:cs typeface="Times New Roman" panose="02020603050405020304" pitchFamily="18" charset="0"/>
              </a:rPr>
              <a:t>Since all the vertices have been included in the MST, so we stop.</a:t>
            </a:r>
          </a:p>
          <a:p>
            <a:pPr algn="l" fontAlgn="base"/>
            <a:r>
              <a:rPr lang="en-US" b="0" i="0" dirty="0">
                <a:solidFill>
                  <a:srgbClr val="303030"/>
                </a:solidFill>
                <a:effectLst/>
                <a:latin typeface="Times New Roman" panose="02020603050405020304" pitchFamily="18" charset="0"/>
                <a:cs typeface="Times New Roman" panose="02020603050405020304" pitchFamily="18" charset="0"/>
              </a:rPr>
              <a:t> Now, Cost of Minimum Spanning Tree</a:t>
            </a:r>
          </a:p>
          <a:p>
            <a:pPr algn="l" fontAlgn="base"/>
            <a:r>
              <a:rPr lang="en-US" b="0" i="0" dirty="0">
                <a:solidFill>
                  <a:srgbClr val="303030"/>
                </a:solidFill>
                <a:effectLst/>
                <a:latin typeface="Times New Roman" panose="02020603050405020304" pitchFamily="18" charset="0"/>
                <a:cs typeface="Times New Roman" panose="02020603050405020304" pitchFamily="18" charset="0"/>
              </a:rPr>
              <a:t>= Sum of all edge weights</a:t>
            </a:r>
          </a:p>
          <a:p>
            <a:pPr algn="l" fontAlgn="base"/>
            <a:r>
              <a:rPr lang="en-US" b="0" i="0" dirty="0">
                <a:solidFill>
                  <a:srgbClr val="303030"/>
                </a:solidFill>
                <a:effectLst/>
                <a:latin typeface="Times New Roman" panose="02020603050405020304" pitchFamily="18" charset="0"/>
                <a:cs typeface="Times New Roman" panose="02020603050405020304" pitchFamily="18" charset="0"/>
              </a:rPr>
              <a:t>= 10 + 25 + 22 + 12 + 16 + 14</a:t>
            </a:r>
          </a:p>
          <a:p>
            <a:pPr algn="l" fontAlgn="base"/>
            <a:r>
              <a:rPr lang="en-US" b="0" i="0" dirty="0">
                <a:solidFill>
                  <a:srgbClr val="303030"/>
                </a:solidFill>
                <a:effectLst/>
                <a:latin typeface="Times New Roman" panose="02020603050405020304" pitchFamily="18" charset="0"/>
                <a:cs typeface="Times New Roman" panose="02020603050405020304" pitchFamily="18" charset="0"/>
              </a:rPr>
              <a:t>= 99 units</a:t>
            </a:r>
          </a:p>
        </p:txBody>
      </p:sp>
    </p:spTree>
    <p:extLst>
      <p:ext uri="{BB962C8B-B14F-4D97-AF65-F5344CB8AC3E}">
        <p14:creationId xmlns:p14="http://schemas.microsoft.com/office/powerpoint/2010/main" val="136298863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a:latin typeface="Times New Roman" pitchFamily="18" charset="0"/>
                <a:cs typeface="Times New Roman" pitchFamily="18" charset="0"/>
              </a:rPr>
              <a:t>Prim’s Method</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19</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pic>
        <p:nvPicPr>
          <p:cNvPr id="13314" name="Picture 2">
            <a:extLst>
              <a:ext uri="{FF2B5EF4-FFF2-40B4-BE49-F238E27FC236}">
                <a16:creationId xmlns:a16="http://schemas.microsoft.com/office/drawing/2014/main" id="{63BA35AA-3BFB-47F5-9C7D-850E1933F59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90675" y="1174387"/>
            <a:ext cx="8315325" cy="387815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A0A5AFB-D1CF-48DF-A2AD-97D3EFB0D248}"/>
              </a:ext>
            </a:extLst>
          </p:cNvPr>
          <p:cNvSpPr txBox="1"/>
          <p:nvPr/>
        </p:nvSpPr>
        <p:spPr>
          <a:xfrm>
            <a:off x="4343400" y="5686425"/>
            <a:ext cx="2276475"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 3: Graph</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441997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20</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AC3F1179-5FDA-4566-8C62-E098E863FC29}"/>
              </a:ext>
            </a:extLst>
          </p:cNvPr>
          <p:cNvSpPr>
            <a:spLocks noGrp="1"/>
          </p:cNvSpPr>
          <p:nvPr>
            <p:ph idx="1"/>
          </p:nvPr>
        </p:nvSpPr>
        <p:spPr>
          <a:xfrm>
            <a:off x="838200" y="1193728"/>
            <a:ext cx="10515600" cy="5082599"/>
          </a:xfrm>
        </p:spPr>
        <p:txBody>
          <a:bodyPr>
            <a:normAutofit/>
          </a:bodyPr>
          <a:lstStyle/>
          <a:p>
            <a:pPr fontAlgn="base"/>
            <a:r>
              <a:rPr lang="en-US" sz="2400" dirty="0">
                <a:latin typeface="Times New Roman" panose="02020603050405020304" pitchFamily="18" charset="0"/>
                <a:cs typeface="Times New Roman" panose="02020603050405020304" pitchFamily="18" charset="0"/>
              </a:rPr>
              <a:t>The vertices included in MST are shown in green color.</a:t>
            </a:r>
          </a:p>
          <a:p>
            <a:pPr marL="0" indent="0">
              <a:buNone/>
            </a:pPr>
            <a:br>
              <a:rPr lang="en-US" sz="2400" u="sng" dirty="0">
                <a:latin typeface="Times New Roman" panose="02020603050405020304" pitchFamily="18" charset="0"/>
                <a:cs typeface="Times New Roman" panose="02020603050405020304" pitchFamily="18" charset="0"/>
                <a:hlinkClick r:id="rId2"/>
              </a:rPr>
            </a:br>
            <a:endParaRPr lang="en-IN" sz="2400" dirty="0">
              <a:latin typeface="Times New Roman" panose="02020603050405020304" pitchFamily="18" charset="0"/>
              <a:cs typeface="Times New Roman" panose="02020603050405020304" pitchFamily="18" charset="0"/>
            </a:endParaRPr>
          </a:p>
        </p:txBody>
      </p:sp>
      <p:pic>
        <p:nvPicPr>
          <p:cNvPr id="16388" name="Picture 4">
            <a:extLst>
              <a:ext uri="{FF2B5EF4-FFF2-40B4-BE49-F238E27FC236}">
                <a16:creationId xmlns:a16="http://schemas.microsoft.com/office/drawing/2014/main" id="{78D7D55D-5A1D-4772-8434-45E8AD1382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3052" y="2077316"/>
            <a:ext cx="3257550" cy="248162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E19BF00-986B-4D9D-A75A-D589270674C1}"/>
              </a:ext>
            </a:extLst>
          </p:cNvPr>
          <p:cNvSpPr txBox="1"/>
          <p:nvPr/>
        </p:nvSpPr>
        <p:spPr>
          <a:xfrm>
            <a:off x="3400425" y="5324475"/>
            <a:ext cx="194310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 4: Step 1</a:t>
            </a:r>
            <a:endParaRPr lang="en-IN" sz="1600" dirty="0">
              <a:latin typeface="Times New Roman" panose="02020603050405020304" pitchFamily="18" charset="0"/>
              <a:cs typeface="Times New Roman" panose="02020603050405020304" pitchFamily="18" charset="0"/>
            </a:endParaRPr>
          </a:p>
        </p:txBody>
      </p:sp>
      <p:pic>
        <p:nvPicPr>
          <p:cNvPr id="7" name="Picture 2">
            <a:extLst>
              <a:ext uri="{FF2B5EF4-FFF2-40B4-BE49-F238E27FC236}">
                <a16:creationId xmlns:a16="http://schemas.microsoft.com/office/drawing/2014/main" id="{056F3EC6-9272-3D2E-9545-7BC8B0D235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5985" y="1947458"/>
            <a:ext cx="5320972" cy="2481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791112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err="1">
                <a:latin typeface="Times New Roman" pitchFamily="18" charset="0"/>
                <a:cs typeface="Times New Roman" pitchFamily="18" charset="0"/>
              </a:rPr>
              <a:t>Contd</a:t>
            </a:r>
            <a:r>
              <a:rPr lang="en-IN" b="1">
                <a:latin typeface="Times New Roman" pitchFamily="18" charset="0"/>
                <a:cs typeface="Times New Roman" pitchFamily="18" charset="0"/>
              </a:rPr>
              <a:t>…</a:t>
            </a:r>
            <a:endParaRPr lang="en-IN" b="1"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21</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7" name="Rectangle 6">
            <a:extLst>
              <a:ext uri="{FF2B5EF4-FFF2-40B4-BE49-F238E27FC236}">
                <a16:creationId xmlns:a16="http://schemas.microsoft.com/office/drawing/2014/main" id="{EDC866AC-6934-4258-84A4-FB35BAA7B9F1}"/>
              </a:ext>
            </a:extLst>
          </p:cNvPr>
          <p:cNvSpPr/>
          <p:nvPr/>
        </p:nvSpPr>
        <p:spPr>
          <a:xfrm>
            <a:off x="838199" y="1094363"/>
            <a:ext cx="10515599" cy="2308324"/>
          </a:xfrm>
          <a:prstGeom prst="rect">
            <a:avLst/>
          </a:prstGeom>
        </p:spPr>
        <p:txBody>
          <a:bodyPr wrap="square">
            <a:spAutoFit/>
          </a:bodyPr>
          <a:lstStyle/>
          <a:p>
            <a:pPr fontAlgn="base"/>
            <a:r>
              <a:rPr lang="en-US" sz="2400" dirty="0">
                <a:latin typeface="Times New Roman" panose="02020603050405020304" pitchFamily="18" charset="0"/>
                <a:cs typeface="Times New Roman" panose="02020603050405020304" pitchFamily="18" charset="0"/>
              </a:rPr>
              <a:t>Pick the vertex with minimum key value and not already included in MST (not in </a:t>
            </a:r>
            <a:r>
              <a:rPr lang="en-US" sz="2400" dirty="0" err="1">
                <a:latin typeface="Times New Roman" panose="02020603050405020304" pitchFamily="18" charset="0"/>
                <a:cs typeface="Times New Roman" panose="02020603050405020304" pitchFamily="18" charset="0"/>
              </a:rPr>
              <a:t>mstSET</a:t>
            </a:r>
            <a:r>
              <a:rPr lang="en-US" sz="2400" dirty="0">
                <a:latin typeface="Times New Roman" panose="02020603050405020304" pitchFamily="18" charset="0"/>
                <a:cs typeface="Times New Roman" panose="02020603050405020304" pitchFamily="18" charset="0"/>
              </a:rPr>
              <a:t>). The vertex 1 is picked and added to </a:t>
            </a:r>
            <a:r>
              <a:rPr lang="en-US" sz="2400" dirty="0" err="1">
                <a:latin typeface="Times New Roman" panose="02020603050405020304" pitchFamily="18" charset="0"/>
                <a:cs typeface="Times New Roman" panose="02020603050405020304" pitchFamily="18" charset="0"/>
              </a:rPr>
              <a:t>mstSet</a:t>
            </a:r>
            <a:r>
              <a:rPr lang="en-US" sz="2400" dirty="0">
                <a:latin typeface="Times New Roman" panose="02020603050405020304" pitchFamily="18" charset="0"/>
                <a:cs typeface="Times New Roman" panose="02020603050405020304" pitchFamily="18" charset="0"/>
              </a:rPr>
              <a:t>. So </a:t>
            </a:r>
            <a:r>
              <a:rPr lang="en-US" sz="2400" dirty="0" err="1">
                <a:latin typeface="Times New Roman" panose="02020603050405020304" pitchFamily="18" charset="0"/>
                <a:cs typeface="Times New Roman" panose="02020603050405020304" pitchFamily="18" charset="0"/>
              </a:rPr>
              <a:t>mstSet</a:t>
            </a:r>
            <a:r>
              <a:rPr lang="en-US" sz="2400" dirty="0">
                <a:latin typeface="Times New Roman" panose="02020603050405020304" pitchFamily="18" charset="0"/>
                <a:cs typeface="Times New Roman" panose="02020603050405020304" pitchFamily="18" charset="0"/>
              </a:rPr>
              <a:t> now becomes {0, 1}. Update the key values of adjacent vertices of 1. The key value of vertex 2 becomes 8.</a:t>
            </a:r>
          </a:p>
          <a:p>
            <a:br>
              <a:rPr lang="en-US" sz="2400" u="sng" dirty="0">
                <a:solidFill>
                  <a:srgbClr val="EC4E20"/>
                </a:solidFill>
                <a:latin typeface="Times New Roman" panose="02020603050405020304" pitchFamily="18" charset="0"/>
                <a:cs typeface="Times New Roman" panose="02020603050405020304" pitchFamily="18" charset="0"/>
                <a:hlinkClick r:id="rId2"/>
              </a:rPr>
            </a:br>
            <a:endParaRPr lang="en-IN" sz="2400" dirty="0">
              <a:latin typeface="Times New Roman" panose="02020603050405020304" pitchFamily="18" charset="0"/>
              <a:cs typeface="Times New Roman" panose="02020603050405020304" pitchFamily="18" charset="0"/>
            </a:endParaRPr>
          </a:p>
        </p:txBody>
      </p:sp>
      <p:pic>
        <p:nvPicPr>
          <p:cNvPr id="17412" name="Picture 4">
            <a:extLst>
              <a:ext uri="{FF2B5EF4-FFF2-40B4-BE49-F238E27FC236}">
                <a16:creationId xmlns:a16="http://schemas.microsoft.com/office/drawing/2014/main" id="{1D280B2A-F0F3-472A-A170-1102E68972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2201" y="2976804"/>
            <a:ext cx="2514600" cy="233019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EC8E766-2C3B-4CB1-BACD-06EC4B4D5A86}"/>
              </a:ext>
            </a:extLst>
          </p:cNvPr>
          <p:cNvSpPr txBox="1"/>
          <p:nvPr/>
        </p:nvSpPr>
        <p:spPr>
          <a:xfrm>
            <a:off x="3400425" y="5324475"/>
            <a:ext cx="310515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 5: Step 2 of Prim’s method</a:t>
            </a:r>
            <a:endParaRPr lang="en-IN" sz="1600" dirty="0">
              <a:latin typeface="Times New Roman" panose="02020603050405020304" pitchFamily="18" charset="0"/>
              <a:cs typeface="Times New Roman" panose="02020603050405020304" pitchFamily="18" charset="0"/>
            </a:endParaRPr>
          </a:p>
        </p:txBody>
      </p:sp>
      <p:pic>
        <p:nvPicPr>
          <p:cNvPr id="6" name="Picture 2">
            <a:extLst>
              <a:ext uri="{FF2B5EF4-FFF2-40B4-BE49-F238E27FC236}">
                <a16:creationId xmlns:a16="http://schemas.microsoft.com/office/drawing/2014/main" id="{54C6F1B4-40ED-C458-911F-A8B5A377F1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4233" y="2836496"/>
            <a:ext cx="5320972" cy="2481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64893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a:latin typeface="Times New Roman" pitchFamily="18" charset="0"/>
                <a:cs typeface="Times New Roman" pitchFamily="18" charset="0"/>
              </a:rPr>
              <a:t>Minimum Spanning Tree</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22</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pic>
        <p:nvPicPr>
          <p:cNvPr id="18434" name="Picture 2">
            <a:extLst>
              <a:ext uri="{FF2B5EF4-FFF2-40B4-BE49-F238E27FC236}">
                <a16:creationId xmlns:a16="http://schemas.microsoft.com/office/drawing/2014/main" id="{14384323-8E24-4AB0-B34D-2D4A76A8B2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5207" y="3429000"/>
            <a:ext cx="2867024" cy="2656776"/>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a:extLst>
              <a:ext uri="{FF2B5EF4-FFF2-40B4-BE49-F238E27FC236}">
                <a16:creationId xmlns:a16="http://schemas.microsoft.com/office/drawing/2014/main" id="{480C4CFF-F1B1-4442-B80A-32E1C1001F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9740" y="3493307"/>
            <a:ext cx="3819525" cy="252816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026FA87-04F2-4388-ACE8-3C646B080274}"/>
              </a:ext>
            </a:extLst>
          </p:cNvPr>
          <p:cNvSpPr txBox="1"/>
          <p:nvPr/>
        </p:nvSpPr>
        <p:spPr>
          <a:xfrm>
            <a:off x="4543425" y="5833646"/>
            <a:ext cx="310515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 6: Step 3 of Prim’s method</a:t>
            </a:r>
            <a:endParaRPr lang="en-IN" sz="1600" dirty="0">
              <a:latin typeface="Times New Roman" panose="02020603050405020304" pitchFamily="18" charset="0"/>
              <a:cs typeface="Times New Roman" panose="02020603050405020304" pitchFamily="18" charset="0"/>
            </a:endParaRPr>
          </a:p>
        </p:txBody>
      </p:sp>
      <p:pic>
        <p:nvPicPr>
          <p:cNvPr id="6" name="Picture 2">
            <a:extLst>
              <a:ext uri="{FF2B5EF4-FFF2-40B4-BE49-F238E27FC236}">
                <a16:creationId xmlns:a16="http://schemas.microsoft.com/office/drawing/2014/main" id="{EF78C306-FC5E-50A2-64A3-E957F191FB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8835" y="1261662"/>
            <a:ext cx="4509202" cy="2103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746400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a:latin typeface="Times New Roman" pitchFamily="18" charset="0"/>
                <a:cs typeface="Times New Roman" pitchFamily="18" charset="0"/>
              </a:rPr>
              <a:t>Minimum Spanning Tree</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23</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pic>
        <p:nvPicPr>
          <p:cNvPr id="19460" name="Picture 4">
            <a:extLst>
              <a:ext uri="{FF2B5EF4-FFF2-40B4-BE49-F238E27FC236}">
                <a16:creationId xmlns:a16="http://schemas.microsoft.com/office/drawing/2014/main" id="{A366646F-00FD-4B55-929C-298DF51914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2492" y="2279103"/>
            <a:ext cx="5964701" cy="264400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E3AD7B75-FD1C-4982-AF10-C491104AC4C8}"/>
              </a:ext>
            </a:extLst>
          </p:cNvPr>
          <p:cNvSpPr/>
          <p:nvPr/>
        </p:nvSpPr>
        <p:spPr>
          <a:xfrm>
            <a:off x="838199" y="1094364"/>
            <a:ext cx="10515599" cy="830997"/>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We repeat the above steps until </a:t>
            </a:r>
            <a:r>
              <a:rPr lang="en-US" sz="2400" i="1" dirty="0" err="1">
                <a:latin typeface="Times New Roman" panose="02020603050405020304" pitchFamily="18" charset="0"/>
                <a:cs typeface="Times New Roman" panose="02020603050405020304" pitchFamily="18" charset="0"/>
              </a:rPr>
              <a:t>mstSet</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includes all vertices of given graph. Finally, we get the following graph.</a:t>
            </a:r>
            <a:endParaRPr lang="en-IN"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BD2C87E-E5E9-4CE7-AB75-5A720FB14443}"/>
              </a:ext>
            </a:extLst>
          </p:cNvPr>
          <p:cNvSpPr txBox="1"/>
          <p:nvPr/>
        </p:nvSpPr>
        <p:spPr>
          <a:xfrm>
            <a:off x="3352800" y="5276850"/>
            <a:ext cx="310515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 7: Minimum Spanning Tree</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832009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a:latin typeface="Times New Roman" pitchFamily="18" charset="0"/>
                <a:cs typeface="Times New Roman" pitchFamily="18" charset="0"/>
              </a:rPr>
              <a:t>Minimum Spanning Tree</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24</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E3AD7B75-FD1C-4982-AF10-C491104AC4C8}"/>
              </a:ext>
            </a:extLst>
          </p:cNvPr>
          <p:cNvSpPr/>
          <p:nvPr/>
        </p:nvSpPr>
        <p:spPr>
          <a:xfrm>
            <a:off x="838199" y="1094364"/>
            <a:ext cx="10515599" cy="461665"/>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Create minimum spanning tree using Prim’s Method.</a:t>
            </a:r>
            <a:endParaRPr lang="en-IN"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BD2C87E-E5E9-4CE7-AB75-5A720FB14443}"/>
              </a:ext>
            </a:extLst>
          </p:cNvPr>
          <p:cNvSpPr txBox="1"/>
          <p:nvPr/>
        </p:nvSpPr>
        <p:spPr>
          <a:xfrm>
            <a:off x="3352800" y="5276850"/>
            <a:ext cx="310515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 8: Minimum Spanning Tree</a:t>
            </a:r>
            <a:endParaRPr lang="en-IN" sz="1600" dirty="0">
              <a:latin typeface="Times New Roman" panose="02020603050405020304" pitchFamily="18" charset="0"/>
              <a:cs typeface="Times New Roman" panose="02020603050405020304" pitchFamily="18" charset="0"/>
            </a:endParaRPr>
          </a:p>
        </p:txBody>
      </p:sp>
      <p:pic>
        <p:nvPicPr>
          <p:cNvPr id="10242" name="Picture 2" descr="Prim's Algorithm">
            <a:extLst>
              <a:ext uri="{FF2B5EF4-FFF2-40B4-BE49-F238E27FC236}">
                <a16:creationId xmlns:a16="http://schemas.microsoft.com/office/drawing/2014/main" id="{4ADEB585-BA7E-4959-B65B-26096CF27C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1787" y="1930549"/>
            <a:ext cx="6010180" cy="2996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800123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a:latin typeface="Times New Roman" pitchFamily="18" charset="0"/>
                <a:cs typeface="Times New Roman" pitchFamily="18" charset="0"/>
              </a:rPr>
              <a:t>Minimum Spanning Tree</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25</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759659" y="1094364"/>
            <a:ext cx="10762957" cy="526198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pic>
        <p:nvPicPr>
          <p:cNvPr id="11266" name="Picture 2" descr="Prim's Algorithm">
            <a:extLst>
              <a:ext uri="{FF2B5EF4-FFF2-40B4-BE49-F238E27FC236}">
                <a16:creationId xmlns:a16="http://schemas.microsoft.com/office/drawing/2014/main" id="{E5DE0A32-799B-426B-852D-4F0EA6F053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3701" y="1158188"/>
            <a:ext cx="6555545" cy="504426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Prim's Algorithm">
            <a:extLst>
              <a:ext uri="{FF2B5EF4-FFF2-40B4-BE49-F238E27FC236}">
                <a16:creationId xmlns:a16="http://schemas.microsoft.com/office/drawing/2014/main" id="{A2887FCF-020B-4A5E-8FA6-97F200C46C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162" y="2568991"/>
            <a:ext cx="3634160" cy="1812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053929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404"/>
            <a:ext cx="8749145" cy="942975"/>
          </a:xfrm>
        </p:spPr>
        <p:txBody>
          <a:bodyPr/>
          <a:lstStyle/>
          <a:p>
            <a:pPr algn="ctr"/>
            <a:r>
              <a:rPr lang="en-US" b="1" dirty="0">
                <a:latin typeface="Times New Roman" panose="02020603050405020304" pitchFamily="18" charset="0"/>
                <a:cs typeface="Times New Roman" panose="02020603050405020304" pitchFamily="18" charset="0"/>
              </a:rPr>
              <a:t>References</a:t>
            </a:r>
            <a:endParaRPr lang="en-US" b="1" dirty="0"/>
          </a:p>
        </p:txBody>
      </p:sp>
      <p:sp>
        <p:nvSpPr>
          <p:cNvPr id="3" name="Content Placeholder 2"/>
          <p:cNvSpPr>
            <a:spLocks noGrp="1"/>
          </p:cNvSpPr>
          <p:nvPr>
            <p:ph idx="1"/>
          </p:nvPr>
        </p:nvSpPr>
        <p:spPr>
          <a:xfrm>
            <a:off x="838200" y="1204766"/>
            <a:ext cx="10515600" cy="4972197"/>
          </a:xfrm>
        </p:spPr>
        <p:txBody>
          <a:bodyPr>
            <a:normAutofit/>
          </a:bodyPr>
          <a:lstStyle/>
          <a:p>
            <a:pPr marL="0" indent="0" algn="just">
              <a:buNone/>
            </a:pPr>
            <a:r>
              <a:rPr lang="en-US" sz="1800" dirty="0">
                <a:latin typeface="Times New Roman" pitchFamily="18" charset="0"/>
                <a:cs typeface="Times New Roman" pitchFamily="18" charset="0"/>
                <a:hlinkClick r:id="rId2">
                  <a:extLst>
                    <a:ext uri="{A12FA001-AC4F-418D-AE19-62706E023703}">
                      <ahyp:hlinkClr xmlns:ahyp="http://schemas.microsoft.com/office/drawing/2018/hyperlinkcolor" val="tx"/>
                    </a:ext>
                  </a:extLst>
                </a:hlinkClick>
              </a:rPr>
              <a:t>[1] </a:t>
            </a:r>
            <a:r>
              <a:rPr lang="en-US" sz="1800" dirty="0">
                <a:latin typeface="Times New Roman" pitchFamily="18" charset="0"/>
                <a:cs typeface="Times New Roman" pitchFamily="18" charset="0"/>
                <a:hlinkClick r:id="rId3"/>
              </a:rPr>
              <a:t>https://www.tutorialspoint.com/data_structures_algorithms/images/spanning_trees.jpg</a:t>
            </a:r>
            <a:endParaRPr lang="en-US" sz="1800" dirty="0">
              <a:latin typeface="Times New Roman" pitchFamily="18" charset="0"/>
              <a:cs typeface="Times New Roman" pitchFamily="18" charset="0"/>
            </a:endParaRPr>
          </a:p>
          <a:p>
            <a:pPr marL="0" indent="0" algn="just">
              <a:buNone/>
            </a:pPr>
            <a:r>
              <a:rPr lang="en-US" sz="1800" dirty="0">
                <a:latin typeface="Times New Roman" pitchFamily="18" charset="0"/>
                <a:cs typeface="Times New Roman" pitchFamily="18" charset="0"/>
              </a:rPr>
              <a:t>[2] </a:t>
            </a:r>
            <a:r>
              <a:rPr lang="en-US" sz="1800" dirty="0">
                <a:latin typeface="Times New Roman" pitchFamily="18" charset="0"/>
                <a:cs typeface="Times New Roman" pitchFamily="18" charset="0"/>
                <a:hlinkClick r:id="rId3"/>
              </a:rPr>
              <a:t>https://www.tutorialspoint.com/data_structures_algorithms/images/spanning_trees.jpg</a:t>
            </a:r>
            <a:endParaRPr lang="en-US" sz="1800" dirty="0">
              <a:latin typeface="Times New Roman" pitchFamily="18" charset="0"/>
              <a:cs typeface="Times New Roman" pitchFamily="18" charset="0"/>
            </a:endParaRPr>
          </a:p>
          <a:p>
            <a:pPr marL="0" indent="0" algn="just">
              <a:buNone/>
            </a:pPr>
            <a:r>
              <a:rPr lang="en-US" sz="1800" dirty="0">
                <a:latin typeface="Times New Roman" pitchFamily="18" charset="0"/>
                <a:cs typeface="Times New Roman" pitchFamily="18" charset="0"/>
              </a:rPr>
              <a:t>[3] </a:t>
            </a:r>
            <a:r>
              <a:rPr lang="en-US" sz="1800" dirty="0">
                <a:latin typeface="Times New Roman" pitchFamily="18" charset="0"/>
                <a:cs typeface="Times New Roman" pitchFamily="18" charset="0"/>
                <a:hlinkClick r:id="rId4"/>
              </a:rPr>
              <a:t>https://www.geeksforgeeks.org/wp-content/uploads/Fig-11.jpg</a:t>
            </a:r>
            <a:endParaRPr lang="en-US" sz="1800" dirty="0">
              <a:latin typeface="Times New Roman" pitchFamily="18" charset="0"/>
              <a:cs typeface="Times New Roman" pitchFamily="18" charset="0"/>
            </a:endParaRPr>
          </a:p>
          <a:p>
            <a:pPr marL="0" indent="0" algn="just">
              <a:buNone/>
            </a:pPr>
            <a:r>
              <a:rPr lang="en-US" sz="1800" dirty="0">
                <a:latin typeface="Times New Roman" pitchFamily="18" charset="0"/>
                <a:cs typeface="Times New Roman" pitchFamily="18" charset="0"/>
              </a:rPr>
              <a:t>[4] </a:t>
            </a:r>
            <a:r>
              <a:rPr lang="en-US" sz="1800" dirty="0">
                <a:latin typeface="Times New Roman" pitchFamily="18" charset="0"/>
                <a:cs typeface="Times New Roman" pitchFamily="18" charset="0"/>
                <a:hlinkClick r:id="rId5"/>
              </a:rPr>
              <a:t>https://www.geeksforgeeks.org/wp-content/uploads/MST1.jpg</a:t>
            </a:r>
            <a:endParaRPr lang="en-US" sz="1800" dirty="0">
              <a:latin typeface="Times New Roman" pitchFamily="18" charset="0"/>
              <a:cs typeface="Times New Roman" pitchFamily="18" charset="0"/>
            </a:endParaRPr>
          </a:p>
          <a:p>
            <a:pPr marL="0" indent="0" algn="just">
              <a:buNone/>
            </a:pPr>
            <a:r>
              <a:rPr lang="en-US" sz="1800" dirty="0">
                <a:latin typeface="Times New Roman" pitchFamily="18" charset="0"/>
                <a:cs typeface="Times New Roman" pitchFamily="18" charset="0"/>
              </a:rPr>
              <a:t>[5] </a:t>
            </a:r>
            <a:r>
              <a:rPr lang="en-US" sz="1800" dirty="0">
                <a:latin typeface="Times New Roman" pitchFamily="18" charset="0"/>
                <a:cs typeface="Times New Roman" pitchFamily="18" charset="0"/>
                <a:hlinkClick r:id="rId5"/>
              </a:rPr>
              <a:t>https://www.geeksforgeeks.org/wp-content/uploads/MST1.jpg</a:t>
            </a:r>
            <a:endParaRPr lang="en-US" sz="1800" dirty="0">
              <a:latin typeface="Times New Roman" pitchFamily="18" charset="0"/>
              <a:cs typeface="Times New Roman" pitchFamily="18" charset="0"/>
            </a:endParaRPr>
          </a:p>
          <a:p>
            <a:pPr marL="0" indent="0" algn="just">
              <a:buNone/>
            </a:pPr>
            <a:r>
              <a:rPr lang="en-US" sz="1800" dirty="0">
                <a:latin typeface="Times New Roman" pitchFamily="18" charset="0"/>
                <a:cs typeface="Times New Roman" pitchFamily="18" charset="0"/>
              </a:rPr>
              <a:t>[6] </a:t>
            </a:r>
            <a:r>
              <a:rPr lang="en-US" sz="1800" dirty="0">
                <a:latin typeface="Times New Roman" pitchFamily="18" charset="0"/>
                <a:cs typeface="Times New Roman" pitchFamily="18" charset="0"/>
                <a:hlinkClick r:id="rId5"/>
              </a:rPr>
              <a:t>https://www.geeksforgeeks.org/wp-content/uploads/MST1.jpg</a:t>
            </a:r>
            <a:endParaRPr lang="en-US" sz="1800" dirty="0">
              <a:latin typeface="Times New Roman" pitchFamily="18" charset="0"/>
              <a:cs typeface="Times New Roman" pitchFamily="18" charset="0"/>
            </a:endParaRPr>
          </a:p>
          <a:p>
            <a:pPr marL="0" indent="0" algn="just">
              <a:buNone/>
            </a:pPr>
            <a:r>
              <a:rPr lang="en-US" sz="1800" dirty="0">
                <a:latin typeface="Times New Roman" pitchFamily="18" charset="0"/>
                <a:cs typeface="Times New Roman" pitchFamily="18" charset="0"/>
              </a:rPr>
              <a:t>[7] </a:t>
            </a:r>
            <a:r>
              <a:rPr lang="en-US" sz="1800" dirty="0">
                <a:latin typeface="Times New Roman" pitchFamily="18" charset="0"/>
                <a:cs typeface="Times New Roman" pitchFamily="18" charset="0"/>
                <a:hlinkClick r:id="rId5"/>
              </a:rPr>
              <a:t>https://www.geeksforgeeks.org/wp-content/uploads/MST1.jpg</a:t>
            </a:r>
            <a:endParaRPr lang="en-US" sz="1800" dirty="0">
              <a:latin typeface="Times New Roman" pitchFamily="18" charset="0"/>
              <a:cs typeface="Times New Roman" pitchFamily="18" charset="0"/>
            </a:endParaRPr>
          </a:p>
          <a:p>
            <a:pPr marL="0" indent="0" algn="just">
              <a:buNone/>
            </a:pPr>
            <a:endParaRPr lang="en-US" sz="1800" dirty="0">
              <a:latin typeface="Times New Roman" pitchFamily="18" charset="0"/>
              <a:cs typeface="Times New Roman" pitchFamily="18" charset="0"/>
            </a:endParaRPr>
          </a:p>
          <a:p>
            <a:pPr marL="0" indent="0" algn="just">
              <a:buNone/>
            </a:pPr>
            <a:r>
              <a:rPr lang="en-US" sz="1800" dirty="0">
                <a:latin typeface="Times New Roman" pitchFamily="18" charset="0"/>
                <a:cs typeface="Times New Roman" pitchFamily="18" charset="0"/>
              </a:rPr>
              <a:t>Books:</a:t>
            </a:r>
          </a:p>
          <a:p>
            <a:pPr marL="457200" indent="-457200" algn="just">
              <a:buAutoNum type="arabicPeriod"/>
            </a:pPr>
            <a:r>
              <a:rPr lang="en-US" sz="1800" dirty="0">
                <a:latin typeface="Times New Roman" pitchFamily="18" charset="0"/>
                <a:cs typeface="Times New Roman" pitchFamily="18" charset="0"/>
              </a:rPr>
              <a:t>Introduction to Algorithms by </a:t>
            </a:r>
            <a:r>
              <a:rPr lang="en-US" sz="1800" dirty="0" err="1">
                <a:latin typeface="Times New Roman" pitchFamily="18" charset="0"/>
                <a:cs typeface="Times New Roman" pitchFamily="18" charset="0"/>
              </a:rPr>
              <a:t>Coreman</a:t>
            </a:r>
            <a:r>
              <a:rPr lang="en-US" sz="1800" dirty="0">
                <a:latin typeface="Times New Roman" pitchFamily="18" charset="0"/>
                <a:cs typeface="Times New Roman" pitchFamily="18" charset="0"/>
              </a:rPr>
              <a:t>, Leiserson, Rivest, Stein.</a:t>
            </a:r>
          </a:p>
          <a:p>
            <a:pPr marL="457200" indent="-457200" algn="just">
              <a:buAutoNum type="arabicPeriod"/>
            </a:pPr>
            <a:r>
              <a:rPr lang="en-US" sz="1800" dirty="0">
                <a:latin typeface="Times New Roman" pitchFamily="18" charset="0"/>
                <a:cs typeface="Times New Roman" pitchFamily="18" charset="0"/>
              </a:rPr>
              <a:t>Fundamentals of Algorithms by Ellis </a:t>
            </a:r>
            <a:r>
              <a:rPr lang="en-US" sz="1800" dirty="0" err="1">
                <a:latin typeface="Times New Roman" pitchFamily="18" charset="0"/>
                <a:cs typeface="Times New Roman" pitchFamily="18" charset="0"/>
              </a:rPr>
              <a:t>Horwitz</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Sartaj</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Sahni</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Sanguthevar</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Rajasekaran</a:t>
            </a:r>
            <a:endParaRPr lang="en-US" sz="1800" dirty="0">
              <a:latin typeface="Times New Roman" pitchFamily="18" charset="0"/>
              <a:cs typeface="Times New Roman" pitchFamily="18" charset="0"/>
            </a:endParaRPr>
          </a:p>
          <a:p>
            <a:pPr marL="0" indent="0">
              <a:buNone/>
            </a:pPr>
            <a:endParaRPr lang="en-US" sz="18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26</a:t>
            </a:fld>
            <a:endParaRPr lang="en-US"/>
          </a:p>
        </p:txBody>
      </p:sp>
      <p:sp>
        <p:nvSpPr>
          <p:cNvPr id="5" name="Rectangle 4"/>
          <p:cNvSpPr/>
          <p:nvPr/>
        </p:nvSpPr>
        <p:spPr>
          <a:xfrm>
            <a:off x="838200" y="1204766"/>
            <a:ext cx="10515600" cy="496743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82404"/>
            <a:ext cx="8749145" cy="94297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3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Slide Number Placeholder 1">
            <a:extLst>
              <a:ext uri="{FF2B5EF4-FFF2-40B4-BE49-F238E27FC236}">
                <a16:creationId xmlns:a16="http://schemas.microsoft.com/office/drawing/2014/main" id="{3C0F87A3-0245-412E-932D-47D7324B44AB}"/>
              </a:ext>
            </a:extLst>
          </p:cNvPr>
          <p:cNvSpPr>
            <a:spLocks noGrp="1"/>
          </p:cNvSpPr>
          <p:nvPr>
            <p:ph type="sldNum" sz="quarter" idx="12"/>
          </p:nvPr>
        </p:nvSpPr>
        <p:spPr/>
        <p:txBody>
          <a:bodyPr/>
          <a:lstStyle/>
          <a:p>
            <a:fld id="{FC9A48AB-23F1-45F1-98E5-D2CDC7A5261D}" type="slidenum">
              <a:rPr lang="en-US" smtClean="0">
                <a:solidFill>
                  <a:prstClr val="black">
                    <a:tint val="75000"/>
                  </a:prstClr>
                </a:solidFill>
              </a:rPr>
              <a:pPr/>
              <a:t>27</a:t>
            </a:fld>
            <a:endParaRPr lang="en-US">
              <a:solidFill>
                <a:prstClr val="black">
                  <a:tint val="75000"/>
                </a:prstClr>
              </a:solidFill>
            </a:endParaRPr>
          </a:p>
        </p:txBody>
      </p:sp>
      <p:sp>
        <p:nvSpPr>
          <p:cNvPr id="16" name="TextBox 2">
            <a:extLst>
              <a:ext uri="{FF2B5EF4-FFF2-40B4-BE49-F238E27FC236}">
                <a16:creationId xmlns:a16="http://schemas.microsoft.com/office/drawing/2014/main" id="{1A8D59B5-19ED-4595-9908-961F54181850}"/>
              </a:ext>
            </a:extLst>
          </p:cNvPr>
          <p:cNvSpPr txBox="1"/>
          <p:nvPr/>
        </p:nvSpPr>
        <p:spPr>
          <a:xfrm>
            <a:off x="3398982" y="5290801"/>
            <a:ext cx="3972489" cy="584775"/>
          </a:xfrm>
          <a:prstGeom prst="rect">
            <a:avLst/>
          </a:prstGeom>
          <a:noFill/>
          <a:ln>
            <a:solidFill>
              <a:schemeClr val="tx1"/>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b="1" dirty="0">
                <a:latin typeface="Times New Roman" panose="02020603050405020304" pitchFamily="18" charset="0"/>
                <a:cs typeface="Times New Roman" panose="02020603050405020304" pitchFamily="18" charset="0"/>
              </a:rPr>
              <a:t>For any Queries-</a:t>
            </a:r>
          </a:p>
          <a:p>
            <a:r>
              <a:rPr lang="en-IN" sz="1600" b="1" dirty="0">
                <a:latin typeface="Times New Roman" panose="02020603050405020304" pitchFamily="18" charset="0"/>
                <a:cs typeface="Times New Roman" panose="02020603050405020304" pitchFamily="18" charset="0"/>
              </a:rPr>
              <a:t>E-Mail: </a:t>
            </a:r>
            <a:r>
              <a:rPr lang="en-IN" sz="1600" dirty="0">
                <a:latin typeface="Times New Roman" panose="02020603050405020304" pitchFamily="18" charset="0"/>
                <a:cs typeface="Times New Roman" panose="02020603050405020304" pitchFamily="18" charset="0"/>
              </a:rPr>
              <a:t>gurpreetkaur.uic@cumail.in</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6206</TotalTime>
  <Words>1526</Words>
  <Application>Microsoft Office PowerPoint</Application>
  <PresentationFormat>Widescreen</PresentationFormat>
  <Paragraphs>143</Paragraphs>
  <Slides>27</Slides>
  <Notes>0</Notes>
  <HiddenSlides>0</HiddenSlides>
  <MMClips>0</MMClips>
  <ScaleCrop>false</ScaleCrop>
  <HeadingPairs>
    <vt:vector size="8" baseType="variant">
      <vt:variant>
        <vt:lpstr>Fonts Used</vt:lpstr>
      </vt:variant>
      <vt:variant>
        <vt:i4>6</vt:i4>
      </vt:variant>
      <vt:variant>
        <vt:lpstr>Theme</vt:lpstr>
      </vt:variant>
      <vt:variant>
        <vt:i4>3</vt:i4>
      </vt:variant>
      <vt:variant>
        <vt:lpstr>Embedded OLE Servers</vt:lpstr>
      </vt:variant>
      <vt:variant>
        <vt:i4>1</vt:i4>
      </vt:variant>
      <vt:variant>
        <vt:lpstr>Slide Titles</vt:lpstr>
      </vt:variant>
      <vt:variant>
        <vt:i4>27</vt:i4>
      </vt:variant>
    </vt:vector>
  </HeadingPairs>
  <TitlesOfParts>
    <vt:vector size="37" baseType="lpstr">
      <vt:lpstr>Arial</vt:lpstr>
      <vt:lpstr>Calibri</vt:lpstr>
      <vt:lpstr>Calibri Light</vt:lpstr>
      <vt:lpstr>Casper</vt:lpstr>
      <vt:lpstr>Raleway ExtraBold</vt:lpstr>
      <vt:lpstr>Times New Roman</vt:lpstr>
      <vt:lpstr>1_Office Theme</vt:lpstr>
      <vt:lpstr>Custom Design</vt:lpstr>
      <vt:lpstr>Contents Slide Master</vt:lpstr>
      <vt:lpstr>CorelDRAW</vt:lpstr>
      <vt:lpstr>PowerPoint Presentation</vt:lpstr>
      <vt:lpstr>Spanning Tree</vt:lpstr>
      <vt:lpstr>Spanning Tree</vt:lpstr>
      <vt:lpstr>Properties of Spanning Tree</vt:lpstr>
      <vt:lpstr>Minimum Spanning Tree</vt:lpstr>
      <vt:lpstr>Minimum Spanning Tree</vt:lpstr>
      <vt:lpstr>Minimum Spanning Tree</vt:lpstr>
      <vt:lpstr>Kruskal’s Algorithm</vt:lpstr>
      <vt:lpstr>Contd..</vt:lpstr>
      <vt:lpstr>Contd…</vt:lpstr>
      <vt:lpstr>Contd…</vt:lpstr>
      <vt:lpstr>Kruskal’s Method</vt:lpstr>
      <vt:lpstr>Kruskal’s Method</vt:lpstr>
      <vt:lpstr>Contd…</vt:lpstr>
      <vt:lpstr>Prim’s Minimum Spanning Tree</vt:lpstr>
      <vt:lpstr>Prim’s Minimum Spanning Tree</vt:lpstr>
      <vt:lpstr>Prim’s Algorithm</vt:lpstr>
      <vt:lpstr>Prim’s Method</vt:lpstr>
      <vt:lpstr>Prim’s Method</vt:lpstr>
      <vt:lpstr>Contd…</vt:lpstr>
      <vt:lpstr>Contd…</vt:lpstr>
      <vt:lpstr>Minimum Spanning Tree</vt:lpstr>
      <vt:lpstr>Minimum Spanning Tree</vt:lpstr>
      <vt:lpstr>Minimum Spanning Tree</vt:lpstr>
      <vt:lpstr>Minimum Spanning Tree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Paramjeet Singh</cp:lastModifiedBy>
  <cp:revision>204</cp:revision>
  <dcterms:created xsi:type="dcterms:W3CDTF">2019-01-09T10:33:58Z</dcterms:created>
  <dcterms:modified xsi:type="dcterms:W3CDTF">2024-09-11T05:33:52Z</dcterms:modified>
</cp:coreProperties>
</file>