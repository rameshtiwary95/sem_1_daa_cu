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2"/>
  </p:notesMasterIdLst>
  <p:sldIdLst>
    <p:sldId id="414" r:id="rId3"/>
    <p:sldId id="345" r:id="rId4"/>
    <p:sldId id="344" r:id="rId5"/>
    <p:sldId id="380" r:id="rId6"/>
    <p:sldId id="415" r:id="rId7"/>
    <p:sldId id="412" r:id="rId8"/>
    <p:sldId id="416" r:id="rId9"/>
    <p:sldId id="427" r:id="rId10"/>
    <p:sldId id="417" r:id="rId11"/>
    <p:sldId id="418" r:id="rId12"/>
    <p:sldId id="422" r:id="rId13"/>
    <p:sldId id="423" r:id="rId14"/>
    <p:sldId id="424" r:id="rId15"/>
    <p:sldId id="425" r:id="rId16"/>
    <p:sldId id="420" r:id="rId17"/>
    <p:sldId id="421" r:id="rId18"/>
    <p:sldId id="426" r:id="rId19"/>
    <p:sldId id="268"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17" autoAdjust="0"/>
    <p:restoredTop sz="94660"/>
  </p:normalViewPr>
  <p:slideViewPr>
    <p:cSldViewPr snapToGrid="0">
      <p:cViewPr varScale="1">
        <p:scale>
          <a:sx n="65" d="100"/>
          <a:sy n="65" d="100"/>
        </p:scale>
        <p:origin x="60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62FA2-C996-4D9D-A358-FD4E9DC4D022}" type="datetimeFigureOut">
              <a:rPr lang="en-IN" smtClean="0"/>
              <a:t>08-09-2025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D9F31-B2BE-4940-84CF-33910A1DD6E8}" type="slidenum">
              <a:rPr lang="en-IN" smtClean="0"/>
              <a:t>‹#›</a:t>
            </a:fld>
            <a:endParaRPr lang="en-IN"/>
          </a:p>
        </p:txBody>
      </p:sp>
    </p:spTree>
    <p:extLst>
      <p:ext uri="{BB962C8B-B14F-4D97-AF65-F5344CB8AC3E}">
        <p14:creationId xmlns:p14="http://schemas.microsoft.com/office/powerpoint/2010/main" val="2519429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D59FF-52CD-4547-B926-5A06C17C9C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CBBB92-A735-46F2-A0C6-84A57AE2EB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1F1E74-8121-4010-8E54-2B6288485EA8}"/>
              </a:ext>
            </a:extLst>
          </p:cNvPr>
          <p:cNvSpPr>
            <a:spLocks noGrp="1"/>
          </p:cNvSpPr>
          <p:nvPr>
            <p:ph type="dt" sz="half" idx="10"/>
          </p:nvPr>
        </p:nvSpPr>
        <p:spPr/>
        <p:txBody>
          <a:bodyPr/>
          <a:lstStyle/>
          <a:p>
            <a:fld id="{C3ED2120-49A2-400F-B8C8-26FFF09FA081}" type="datetime1">
              <a:rPr lang="en-IN" smtClean="0"/>
              <a:t>08-09-2025</a:t>
            </a:fld>
            <a:endParaRPr lang="en-IN"/>
          </a:p>
        </p:txBody>
      </p:sp>
      <p:sp>
        <p:nvSpPr>
          <p:cNvPr id="5" name="Footer Placeholder 4">
            <a:extLst>
              <a:ext uri="{FF2B5EF4-FFF2-40B4-BE49-F238E27FC236}">
                <a16:creationId xmlns:a16="http://schemas.microsoft.com/office/drawing/2014/main" id="{20390C88-281E-4537-BEA3-D2AE5AF572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273825-D25D-4F04-B482-172C60CACDAD}"/>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2155644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7EDF8-BE30-4357-BB94-7C0C88467C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228ADD-99FB-4B32-8EFD-2F5B477195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339196-1970-4933-B82B-E1CA6B9AF863}"/>
              </a:ext>
            </a:extLst>
          </p:cNvPr>
          <p:cNvSpPr>
            <a:spLocks noGrp="1"/>
          </p:cNvSpPr>
          <p:nvPr>
            <p:ph type="dt" sz="half" idx="10"/>
          </p:nvPr>
        </p:nvSpPr>
        <p:spPr/>
        <p:txBody>
          <a:bodyPr/>
          <a:lstStyle/>
          <a:p>
            <a:fld id="{BDDD3DC3-77B8-45CA-BA61-8C8A4192F575}" type="datetime1">
              <a:rPr lang="en-IN" smtClean="0"/>
              <a:t>08-09-2025</a:t>
            </a:fld>
            <a:endParaRPr lang="en-IN"/>
          </a:p>
        </p:txBody>
      </p:sp>
      <p:sp>
        <p:nvSpPr>
          <p:cNvPr id="5" name="Footer Placeholder 4">
            <a:extLst>
              <a:ext uri="{FF2B5EF4-FFF2-40B4-BE49-F238E27FC236}">
                <a16:creationId xmlns:a16="http://schemas.microsoft.com/office/drawing/2014/main" id="{8AB49120-F536-42AE-A3B9-9FAC9B880E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0015BB-E37E-45FD-B80F-E1B4855A2323}"/>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839736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65262-9D2A-4FFC-9B04-24B3B6B0A1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402565-0E7B-466B-9735-E6B1C69950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40B7D5-FCDC-4090-ACC3-2500B777A538}"/>
              </a:ext>
            </a:extLst>
          </p:cNvPr>
          <p:cNvSpPr>
            <a:spLocks noGrp="1"/>
          </p:cNvSpPr>
          <p:nvPr>
            <p:ph type="dt" sz="half" idx="10"/>
          </p:nvPr>
        </p:nvSpPr>
        <p:spPr/>
        <p:txBody>
          <a:bodyPr/>
          <a:lstStyle/>
          <a:p>
            <a:fld id="{85BB8C2C-9C8A-4684-810B-E57DD48CB502}" type="datetime1">
              <a:rPr lang="en-IN" smtClean="0"/>
              <a:t>08-09-2025</a:t>
            </a:fld>
            <a:endParaRPr lang="en-IN"/>
          </a:p>
        </p:txBody>
      </p:sp>
      <p:sp>
        <p:nvSpPr>
          <p:cNvPr id="5" name="Footer Placeholder 4">
            <a:extLst>
              <a:ext uri="{FF2B5EF4-FFF2-40B4-BE49-F238E27FC236}">
                <a16:creationId xmlns:a16="http://schemas.microsoft.com/office/drawing/2014/main" id="{121F72F2-24B3-4DC7-9950-8E6152328A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32264F-E39E-40D8-B06E-FDF960117066}"/>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3176097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7807C-B2EE-404B-A769-B0A577CBE6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BFA969-9179-4B92-98D9-FAD1E34B33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DB3142B-C6F2-4170-98A6-E99958BA0C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60492E5-1937-4D7A-A39C-4EC9552598C3}"/>
              </a:ext>
            </a:extLst>
          </p:cNvPr>
          <p:cNvSpPr>
            <a:spLocks noGrp="1"/>
          </p:cNvSpPr>
          <p:nvPr>
            <p:ph type="dt" sz="half" idx="10"/>
          </p:nvPr>
        </p:nvSpPr>
        <p:spPr/>
        <p:txBody>
          <a:bodyPr/>
          <a:lstStyle/>
          <a:p>
            <a:fld id="{81F87085-630F-4EB1-BDDC-9BBF2734D804}" type="datetime1">
              <a:rPr lang="en-IN" smtClean="0"/>
              <a:t>08-09-2025</a:t>
            </a:fld>
            <a:endParaRPr lang="en-IN"/>
          </a:p>
        </p:txBody>
      </p:sp>
      <p:sp>
        <p:nvSpPr>
          <p:cNvPr id="6" name="Footer Placeholder 5">
            <a:extLst>
              <a:ext uri="{FF2B5EF4-FFF2-40B4-BE49-F238E27FC236}">
                <a16:creationId xmlns:a16="http://schemas.microsoft.com/office/drawing/2014/main" id="{E623D6B0-F9B0-4209-A706-DBA332019E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D6A2A1-E497-43B5-A94B-00541A2C5647}"/>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3591358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3968-0271-4A09-BE43-844EA3A6EF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78D556-71C8-460A-9A4E-9F61F6952C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7563A1-B6A3-4F96-A07A-4452B3AF5F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F77E52-626F-47CC-BD78-33C2F7E962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4E4058-41C6-4BAE-A034-DA798FD58F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9102EC-EAFB-4ECE-9E8B-69EA0DD14ECA}"/>
              </a:ext>
            </a:extLst>
          </p:cNvPr>
          <p:cNvSpPr>
            <a:spLocks noGrp="1"/>
          </p:cNvSpPr>
          <p:nvPr>
            <p:ph type="dt" sz="half" idx="10"/>
          </p:nvPr>
        </p:nvSpPr>
        <p:spPr/>
        <p:txBody>
          <a:bodyPr/>
          <a:lstStyle/>
          <a:p>
            <a:fld id="{DCA2FE1D-21E2-4DA2-B859-5B19B62EFE4B}" type="datetime1">
              <a:rPr lang="en-IN" smtClean="0"/>
              <a:t>08-09-2025</a:t>
            </a:fld>
            <a:endParaRPr lang="en-IN"/>
          </a:p>
        </p:txBody>
      </p:sp>
      <p:sp>
        <p:nvSpPr>
          <p:cNvPr id="8" name="Footer Placeholder 7">
            <a:extLst>
              <a:ext uri="{FF2B5EF4-FFF2-40B4-BE49-F238E27FC236}">
                <a16:creationId xmlns:a16="http://schemas.microsoft.com/office/drawing/2014/main" id="{1C3214BD-4893-4771-B455-A0926574E6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D3EBA8-2743-4C01-98F4-5A6FA5569A3D}"/>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375820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7400-72AE-4258-B989-8D77493B89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4D8A79-C0DF-4153-863D-3146C02AAC09}"/>
              </a:ext>
            </a:extLst>
          </p:cNvPr>
          <p:cNvSpPr>
            <a:spLocks noGrp="1"/>
          </p:cNvSpPr>
          <p:nvPr>
            <p:ph type="dt" sz="half" idx="10"/>
          </p:nvPr>
        </p:nvSpPr>
        <p:spPr/>
        <p:txBody>
          <a:bodyPr/>
          <a:lstStyle/>
          <a:p>
            <a:fld id="{097FC029-134F-4411-AEC2-CC1D77A78955}" type="datetime1">
              <a:rPr lang="en-IN" smtClean="0"/>
              <a:t>08-09-2025</a:t>
            </a:fld>
            <a:endParaRPr lang="en-IN"/>
          </a:p>
        </p:txBody>
      </p:sp>
      <p:sp>
        <p:nvSpPr>
          <p:cNvPr id="4" name="Footer Placeholder 3">
            <a:extLst>
              <a:ext uri="{FF2B5EF4-FFF2-40B4-BE49-F238E27FC236}">
                <a16:creationId xmlns:a16="http://schemas.microsoft.com/office/drawing/2014/main" id="{6F5CF422-4266-4B9A-8006-524372FEC8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933A62-05C2-44E7-BC95-E3CD81ADF969}"/>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631309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6088E0-4692-4986-BE04-F1EEE1DD89EB}"/>
              </a:ext>
            </a:extLst>
          </p:cNvPr>
          <p:cNvSpPr>
            <a:spLocks noGrp="1"/>
          </p:cNvSpPr>
          <p:nvPr>
            <p:ph type="dt" sz="half" idx="10"/>
          </p:nvPr>
        </p:nvSpPr>
        <p:spPr/>
        <p:txBody>
          <a:bodyPr/>
          <a:lstStyle/>
          <a:p>
            <a:fld id="{0F2AB72E-0CDE-4155-BD23-DE259C1689C5}" type="datetime1">
              <a:rPr lang="en-IN" smtClean="0"/>
              <a:t>08-09-2025</a:t>
            </a:fld>
            <a:endParaRPr lang="en-IN"/>
          </a:p>
        </p:txBody>
      </p:sp>
      <p:sp>
        <p:nvSpPr>
          <p:cNvPr id="3" name="Footer Placeholder 2">
            <a:extLst>
              <a:ext uri="{FF2B5EF4-FFF2-40B4-BE49-F238E27FC236}">
                <a16:creationId xmlns:a16="http://schemas.microsoft.com/office/drawing/2014/main" id="{6FD4CB74-26A6-47F4-883E-321CF6A7BC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ED8B1F-E5A4-4C61-9942-FEC1637EA1B6}"/>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219287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2E5F2-27E2-483C-B7E2-96BFB4FD4F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A2EE3E-904B-4D51-889C-1D8BA5A847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54E018-474B-40B5-AA93-981AEEB35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CE36F9-1345-4499-9326-73202B13267D}"/>
              </a:ext>
            </a:extLst>
          </p:cNvPr>
          <p:cNvSpPr>
            <a:spLocks noGrp="1"/>
          </p:cNvSpPr>
          <p:nvPr>
            <p:ph type="dt" sz="half" idx="10"/>
          </p:nvPr>
        </p:nvSpPr>
        <p:spPr/>
        <p:txBody>
          <a:bodyPr/>
          <a:lstStyle/>
          <a:p>
            <a:fld id="{85AF5BCB-F407-4D31-BA30-2FDD84777677}" type="datetime1">
              <a:rPr lang="en-IN" smtClean="0"/>
              <a:t>08-09-2025</a:t>
            </a:fld>
            <a:endParaRPr lang="en-IN"/>
          </a:p>
        </p:txBody>
      </p:sp>
      <p:sp>
        <p:nvSpPr>
          <p:cNvPr id="6" name="Footer Placeholder 5">
            <a:extLst>
              <a:ext uri="{FF2B5EF4-FFF2-40B4-BE49-F238E27FC236}">
                <a16:creationId xmlns:a16="http://schemas.microsoft.com/office/drawing/2014/main" id="{F39D3C60-044A-4F96-A513-186D062ED7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6BC095-ADCA-4383-83BB-5A07BD0D70AD}"/>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3607910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EDF00-A846-4E0B-B14F-B6733866AD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0D770B-EE78-4CB2-9C96-C39D4B5A47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325F049-12FD-4E58-8D16-EA26085D00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9115AE-572E-4E7D-84D7-02A9E0C46BFA}"/>
              </a:ext>
            </a:extLst>
          </p:cNvPr>
          <p:cNvSpPr>
            <a:spLocks noGrp="1"/>
          </p:cNvSpPr>
          <p:nvPr>
            <p:ph type="dt" sz="half" idx="10"/>
          </p:nvPr>
        </p:nvSpPr>
        <p:spPr/>
        <p:txBody>
          <a:bodyPr/>
          <a:lstStyle/>
          <a:p>
            <a:fld id="{70750075-DB03-4FC1-BA6F-B0898AC7E720}" type="datetime1">
              <a:rPr lang="en-IN" smtClean="0"/>
              <a:t>08-09-2025</a:t>
            </a:fld>
            <a:endParaRPr lang="en-IN"/>
          </a:p>
        </p:txBody>
      </p:sp>
      <p:sp>
        <p:nvSpPr>
          <p:cNvPr id="6" name="Footer Placeholder 5">
            <a:extLst>
              <a:ext uri="{FF2B5EF4-FFF2-40B4-BE49-F238E27FC236}">
                <a16:creationId xmlns:a16="http://schemas.microsoft.com/office/drawing/2014/main" id="{42609F1A-F1AA-4720-97D6-2896A8E765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CB0BE8-0B85-4E6E-A448-425624F310A7}"/>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27398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9C99B-DA25-4E96-B5F4-DE72EC07A9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134AC2-39D4-4A76-A6CD-3764F4E1D1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7CF5FB-2E37-49B3-9E9E-B4DCAD2B7B53}"/>
              </a:ext>
            </a:extLst>
          </p:cNvPr>
          <p:cNvSpPr>
            <a:spLocks noGrp="1"/>
          </p:cNvSpPr>
          <p:nvPr>
            <p:ph type="dt" sz="half" idx="10"/>
          </p:nvPr>
        </p:nvSpPr>
        <p:spPr/>
        <p:txBody>
          <a:bodyPr/>
          <a:lstStyle/>
          <a:p>
            <a:fld id="{4AC479AC-924C-4D57-9C64-D60E839C7E19}" type="datetime1">
              <a:rPr lang="en-IN" smtClean="0"/>
              <a:t>08-09-2025</a:t>
            </a:fld>
            <a:endParaRPr lang="en-IN"/>
          </a:p>
        </p:txBody>
      </p:sp>
      <p:sp>
        <p:nvSpPr>
          <p:cNvPr id="5" name="Footer Placeholder 4">
            <a:extLst>
              <a:ext uri="{FF2B5EF4-FFF2-40B4-BE49-F238E27FC236}">
                <a16:creationId xmlns:a16="http://schemas.microsoft.com/office/drawing/2014/main" id="{B5CB1CAE-A05D-4EA3-AC05-6C5EA80A88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7996AB-BEAD-4E89-8077-82EF973A26D4}"/>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1342800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2659A3-7C8D-45A2-8250-49FE44DAC7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717036-1B1F-42EB-A415-FE5564A656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F0E806-80D4-4E21-A13E-539ADA8D1D68}"/>
              </a:ext>
            </a:extLst>
          </p:cNvPr>
          <p:cNvSpPr>
            <a:spLocks noGrp="1"/>
          </p:cNvSpPr>
          <p:nvPr>
            <p:ph type="dt" sz="half" idx="10"/>
          </p:nvPr>
        </p:nvSpPr>
        <p:spPr/>
        <p:txBody>
          <a:bodyPr/>
          <a:lstStyle/>
          <a:p>
            <a:fld id="{8A1EF2A4-9873-473A-B0D2-255A1809B208}" type="datetime1">
              <a:rPr lang="en-IN" smtClean="0"/>
              <a:t>08-09-2025</a:t>
            </a:fld>
            <a:endParaRPr lang="en-IN"/>
          </a:p>
        </p:txBody>
      </p:sp>
      <p:sp>
        <p:nvSpPr>
          <p:cNvPr id="5" name="Footer Placeholder 4">
            <a:extLst>
              <a:ext uri="{FF2B5EF4-FFF2-40B4-BE49-F238E27FC236}">
                <a16:creationId xmlns:a16="http://schemas.microsoft.com/office/drawing/2014/main" id="{8049FCD6-1AEB-4962-9571-4263B61B4F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4A4BAA-2025-4952-833C-E34A10DC4301}"/>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4131908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AFA1D54-BB41-49C1-92E7-B3BFFC19DBC1}"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08-09-2025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7493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1DE6C7-9F78-4D01-A165-A27F83493D87}" type="datetime1">
              <a:rPr lang="en-IN" smtClean="0">
                <a:solidFill>
                  <a:prstClr val="black">
                    <a:tint val="75000"/>
                  </a:prstClr>
                </a:solidFill>
              </a:rPr>
              <a:t>08-09-2025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8883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FCCCA92-FD60-4EE4-A613-BD692BB445EA}" type="datetime1">
              <a:rPr lang="en-IN" smtClean="0"/>
              <a:t>08-09-2025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2503328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BCCF61-4844-40CD-B14C-46E1ADFBF427}" type="datetime1">
              <a:rPr lang="en-IN" smtClean="0"/>
              <a:t>08-09-2025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133519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FAA0B-0E94-4505-91B2-2EA39BC64FBA}" type="datetime1">
              <a:rPr lang="en-IN" smtClean="0"/>
              <a:t>08-09-2025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96028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BE2B3B-D391-4522-B615-B96DD6ED6AB2}" type="datetime1">
              <a:rPr lang="en-IN" smtClean="0"/>
              <a:t>08-09-2025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319193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6FF987-B3D0-4D22-9D84-BD63FFF843AA}" type="datetime1">
              <a:rPr lang="en-IN" smtClean="0"/>
              <a:t>08-09-2025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114912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80F2EB-C3ED-4EA1-B540-D5BA9FD5767F}" type="datetime1">
              <a:rPr lang="en-IN" smtClean="0"/>
              <a:t>08-09-2025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7653290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604E8E-540B-47B6-8CCB-528EED7ED2B9}" type="datetime1">
              <a:rPr lang="en-IN" smtClean="0"/>
              <a:t>08-09-2025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6937274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BCBD77-7E25-4696-BA34-7A7D5D7C2164}" type="datetime1">
              <a:rPr lang="en-IN" smtClean="0"/>
              <a:t>08-09-2025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2755914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518EFA-9003-4777-A85A-B31FFE54E871}" type="datetime1">
              <a:rPr lang="en-IN" smtClean="0"/>
              <a:t>08-09-2025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1841540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BFDF51-648B-48B1-B8E5-9146DB38CC53}" type="datetime1">
              <a:rPr lang="en-IN" smtClean="0"/>
              <a:t>08-09-2025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19362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38EAF-824F-4917-A7C4-BF0BAA77286A}" type="datetime1">
              <a:rPr lang="en-IN" smtClean="0"/>
              <a:t>08-09-2025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4544203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1852522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2645832-1DB9-4726-860E-23D8A6329669}" type="datetime1">
              <a:rPr lang="en-IN" smtClean="0">
                <a:solidFill>
                  <a:prstClr val="black">
                    <a:tint val="75000"/>
                  </a:prstClr>
                </a:solidFill>
              </a:rPr>
              <a:t>08-09-2025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44652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FAAAC2D-4EAC-4510-9F6F-1F65A171AFA9}"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08-09-2025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9254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139D7F-7503-4B8F-952D-4D8A75575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5C9321-1A36-4A3F-802F-D89364988D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B07198-6CE5-471D-9A73-88C5E1083C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E94C2-2163-46C2-B187-1EAD54B77E39}" type="datetime1">
              <a:rPr lang="en-IN" smtClean="0"/>
              <a:t>08-09-2025</a:t>
            </a:fld>
            <a:endParaRPr lang="en-IN"/>
          </a:p>
        </p:txBody>
      </p:sp>
      <p:sp>
        <p:nvSpPr>
          <p:cNvPr id="5" name="Footer Placeholder 4">
            <a:extLst>
              <a:ext uri="{FF2B5EF4-FFF2-40B4-BE49-F238E27FC236}">
                <a16:creationId xmlns:a16="http://schemas.microsoft.com/office/drawing/2014/main" id="{E7392F7F-5977-43AB-BE88-6787B4B1BF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1C9906-EE43-4370-BB39-9786193DF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0DEA4B-34B4-4AC2-B43A-8ADFF4CF648D}" type="slidenum">
              <a:rPr lang="en-IN" smtClean="0"/>
              <a:t>‹#›</a:t>
            </a:fld>
            <a:endParaRPr lang="en-IN"/>
          </a:p>
        </p:txBody>
      </p:sp>
      <p:sp>
        <p:nvSpPr>
          <p:cNvPr id="7" name="Rectangle 6">
            <a:extLst>
              <a:ext uri="{FF2B5EF4-FFF2-40B4-BE49-F238E27FC236}">
                <a16:creationId xmlns:a16="http://schemas.microsoft.com/office/drawing/2014/main" id="{51B53512-3F36-43FD-9A8C-5EF865D26EA2}"/>
              </a:ext>
            </a:extLst>
          </p:cNvPr>
          <p:cNvSpPr/>
          <p:nvPr userDrawn="1"/>
        </p:nvSpPr>
        <p:spPr>
          <a:xfrm>
            <a:off x="11029361" y="6356350"/>
            <a:ext cx="324439"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81848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F1F4AA-F870-4686-BD45-8368FDA01582}" type="datetime1">
              <a:rPr lang="en-IN" smtClean="0"/>
              <a:t>08-09-2025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
        <p:nvSpPr>
          <p:cNvPr id="7" name="Rectangle 6">
            <a:extLst>
              <a:ext uri="{FF2B5EF4-FFF2-40B4-BE49-F238E27FC236}">
                <a16:creationId xmlns:a16="http://schemas.microsoft.com/office/drawing/2014/main" id="{CC55639E-0636-478E-80D3-6029AB54361F}"/>
              </a:ext>
            </a:extLst>
          </p:cNvPr>
          <p:cNvSpPr/>
          <p:nvPr userDrawn="1"/>
        </p:nvSpPr>
        <p:spPr>
          <a:xfrm>
            <a:off x="11076495" y="6356350"/>
            <a:ext cx="277305"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27551468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hyperlink" Target="https://www.codesdope.com/course/algorithms-greedy-algorithm/" TargetMode="Externa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702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UNIT-2.1</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282700" y="1676400"/>
            <a:ext cx="9715499" cy="441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Times New Roman" pitchFamily="18" charset="0"/>
                <a:ea typeface="Karla" pitchFamily="2" charset="0"/>
                <a:cs typeface="Times New Roman" pitchFamily="18" charset="0"/>
              </a:rPr>
              <a:t>UNIVERSITY INSTITUTE OF COMPUTING</a:t>
            </a:r>
          </a:p>
          <a:p>
            <a:pPr lvl="0" algn="ctr" defTabSz="622300">
              <a:lnSpc>
                <a:spcPct val="90000"/>
              </a:lnSpc>
              <a:spcBef>
                <a:spcPct val="0"/>
              </a:spcBef>
              <a:spcAft>
                <a:spcPct val="35000"/>
              </a:spcAft>
            </a:pPr>
            <a:r>
              <a:rPr lang="en-US" sz="2800" b="1" dirty="0">
                <a:latin typeface="Times New Roman" pitchFamily="18" charset="0"/>
                <a:ea typeface="Calibri" panose="020F0502020204030204" pitchFamily="34" charset="0"/>
                <a:cs typeface="Times New Roman" pitchFamily="18" charset="0"/>
              </a:rPr>
              <a:t>MASTER OF COMPUTER APPLICATIONS</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DESIGN AND ANALYSIS OF ALGORITHMS </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 </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itchFamily="18" charset="0"/>
                <a:cs typeface="Times New Roman" pitchFamily="18" charset="0"/>
              </a:rPr>
              <a:t> </a:t>
            </a:r>
          </a:p>
          <a:p>
            <a:pPr eaLnBrk="1" hangingPunct="1"/>
            <a:endParaRPr lang="en-US" sz="1600"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BBDF66F8-7F06-4338-9EB9-6BF3A1C53742}"/>
              </a:ext>
            </a:extLst>
          </p:cNvPr>
          <p:cNvSpPr>
            <a:spLocks noGrp="1"/>
          </p:cNvSpPr>
          <p:nvPr>
            <p:ph type="sldNum" sz="quarter" idx="12"/>
          </p:nvPr>
        </p:nvSpPr>
        <p:spPr/>
        <p:txBody>
          <a:bodyPr/>
          <a:lstStyle/>
          <a:p>
            <a:fld id="{C60DEA4B-34B4-4AC2-B43A-8ADFF4CF648D}" type="slidenum">
              <a:rPr lang="en-IN" smtClean="0"/>
              <a:t>1</a:t>
            </a:fld>
            <a:endParaRPr lang="en-IN"/>
          </a:p>
        </p:txBody>
      </p:sp>
      <p:pic>
        <p:nvPicPr>
          <p:cNvPr id="14" name="Picture 13">
            <a:extLst>
              <a:ext uri="{FF2B5EF4-FFF2-40B4-BE49-F238E27FC236}">
                <a16:creationId xmlns:a16="http://schemas.microsoft.com/office/drawing/2014/main" id="{F62FB572-6647-4277-9265-D97573E5DE08}"/>
              </a:ext>
            </a:extLst>
          </p:cNvPr>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22893" y="-4121"/>
            <a:ext cx="3859753" cy="1538254"/>
          </a:xfrm>
          <a:prstGeom prst="rect">
            <a:avLst/>
          </a:prstGeom>
        </p:spPr>
      </p:pic>
      <p:pic>
        <p:nvPicPr>
          <p:cNvPr id="1141" name="Picture 117">
            <a:extLst>
              <a:ext uri="{FF2B5EF4-FFF2-40B4-BE49-F238E27FC236}">
                <a16:creationId xmlns:a16="http://schemas.microsoft.com/office/drawing/2014/main" id="{5BC33AE6-46D7-4133-A045-39390224D899}"/>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0" y="2765085"/>
            <a:ext cx="33020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9272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916"/>
            <a:ext cx="8767618" cy="821571"/>
          </a:xfrm>
        </p:spPr>
        <p:txBody>
          <a:bodyPr/>
          <a:lstStyle/>
          <a:p>
            <a:pPr algn="ctr"/>
            <a:r>
              <a:rPr lang="en-US" b="1" dirty="0">
                <a:latin typeface="Times New Roman" panose="02020603050405020304" pitchFamily="18" charset="0"/>
                <a:cs typeface="Times New Roman" panose="02020603050405020304" pitchFamily="18" charset="0"/>
              </a:rPr>
              <a:t>Topics to be covered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79055"/>
            <a:ext cx="10515600" cy="5197908"/>
          </a:xfrm>
        </p:spPr>
        <p:txBody>
          <a:bodyPr>
            <a:normAutofit/>
          </a:bodyPr>
          <a:lstStyle/>
          <a:p>
            <a:pPr algn="just"/>
            <a:r>
              <a:rPr lang="en-IN" sz="2400" b="1" dirty="0">
                <a:effectLst/>
                <a:latin typeface="Times New Roman" panose="02020603050405020304" pitchFamily="18" charset="0"/>
                <a:ea typeface="Adobe Garamond Pro"/>
                <a:cs typeface="Times New Roman" panose="02020603050405020304" pitchFamily="18" charset="0"/>
              </a:rPr>
              <a:t>Greedy Method: </a:t>
            </a:r>
            <a:r>
              <a:rPr lang="en-IN" sz="2400" dirty="0">
                <a:effectLst/>
                <a:latin typeface="Times New Roman" panose="02020603050405020304" pitchFamily="18" charset="0"/>
                <a:ea typeface="Adobe Garamond Pro"/>
                <a:cs typeface="Times New Roman" panose="02020603050405020304" pitchFamily="18" charset="0"/>
              </a:rPr>
              <a:t>General method</a:t>
            </a:r>
          </a:p>
          <a:p>
            <a:pPr algn="just"/>
            <a:r>
              <a:rPr lang="en-IN" sz="2400" dirty="0">
                <a:effectLst/>
                <a:latin typeface="Times New Roman" panose="02020603050405020304" pitchFamily="18" charset="0"/>
                <a:ea typeface="Adobe Garamond Pro"/>
                <a:cs typeface="Times New Roman" panose="02020603050405020304" pitchFamily="18" charset="0"/>
              </a:rPr>
              <a:t>Coin Change Problem</a:t>
            </a:r>
          </a:p>
          <a:p>
            <a:pPr algn="just"/>
            <a:r>
              <a:rPr lang="en-US" sz="2400" dirty="0">
                <a:effectLst/>
                <a:latin typeface="Times New Roman" panose="02020603050405020304" pitchFamily="18" charset="0"/>
                <a:ea typeface="Adobe Garamond Pro"/>
                <a:cs typeface="Times New Roman" panose="02020603050405020304" pitchFamily="18" charset="0"/>
              </a:rPr>
              <a:t>Knapsack Problem</a:t>
            </a:r>
          </a:p>
          <a:p>
            <a:pPr algn="just"/>
            <a:r>
              <a:rPr lang="en-US" sz="2400" dirty="0">
                <a:effectLst/>
                <a:latin typeface="Times New Roman" panose="02020603050405020304" pitchFamily="18" charset="0"/>
                <a:ea typeface="Adobe Garamond Pro"/>
                <a:cs typeface="Times New Roman" panose="02020603050405020304" pitchFamily="18" charset="0"/>
              </a:rPr>
              <a:t>Job sequencing with deadlines</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5" name="Rectangle 4"/>
          <p:cNvSpPr/>
          <p:nvPr/>
        </p:nvSpPr>
        <p:spPr>
          <a:xfrm>
            <a:off x="838200" y="974292"/>
            <a:ext cx="10515600" cy="519790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6" name="Rectangle 5"/>
          <p:cNvSpPr/>
          <p:nvPr/>
        </p:nvSpPr>
        <p:spPr>
          <a:xfrm>
            <a:off x="838200" y="82625"/>
            <a:ext cx="8767618"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he Serif Hand Light" panose="020B0604020202020204" pitchFamily="66" charset="0"/>
              <a:ea typeface="+mn-ea"/>
              <a:cs typeface="Times New Roman" pitchFamily="18" charset="0"/>
            </a:endParaRPr>
          </a:p>
        </p:txBody>
      </p:sp>
    </p:spTree>
    <p:extLst>
      <p:ext uri="{BB962C8B-B14F-4D97-AF65-F5344CB8AC3E}">
        <p14:creationId xmlns:p14="http://schemas.microsoft.com/office/powerpoint/2010/main" val="1504518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10515600" cy="5069385"/>
          </a:xfrm>
        </p:spPr>
        <p:txBody>
          <a:bodyPr>
            <a:norm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In Greedy method approach, the decision is taken based on current available information without worrying about the effect on the decision in future.</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Greedy algorithms build a solution part by part, choosing the next part in such a way, that it gives an immediate benefit. This approach never reconsiders the choices taken previously. </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This approach is mainly used to solve optimization problems. Greedy method is easy to implement and quite efficient in most of the cases. Hence, we can say that Greedy algorithm is an algorithmic paradigm based on heuristic that follows local optimal choice at each step with the hope of finding global optimal solution.</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In many problems, it does not produce an optimal solution though it gives an approximate (near optimal) solution in a reasonable time.</a:t>
            </a:r>
          </a:p>
        </p:txBody>
      </p:sp>
      <p:sp>
        <p:nvSpPr>
          <p:cNvPr id="4" name="Slide Number Placeholder 3"/>
          <p:cNvSpPr>
            <a:spLocks noGrp="1"/>
          </p:cNvSpPr>
          <p:nvPr>
            <p:ph type="sldNum" sz="quarter" idx="12"/>
          </p:nvPr>
        </p:nvSpPr>
        <p:spPr/>
        <p:txBody>
          <a:bodyPr/>
          <a:lstStyle/>
          <a:p>
            <a:fld id="{68E95BDB-EE7F-43F5-BD69-3B4091AE3092}" type="slidenum">
              <a:rPr lang="en-IN" smtClean="0"/>
              <a:pPr/>
              <a:t>3</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IN" sz="4400" b="1" dirty="0">
                <a:effectLst/>
                <a:latin typeface="Times New Roman" panose="02020603050405020304" pitchFamily="18" charset="0"/>
                <a:ea typeface="Adobe Garamond Pro"/>
                <a:cs typeface="Times New Roman" panose="02020603050405020304" pitchFamily="18" charset="0"/>
              </a:rPr>
              <a:t>Greedy Method</a:t>
            </a:r>
            <a:endParaRPr lang="en-IN" sz="4400" dirty="0">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068B10FD-0768-4475-934C-1E863B8458A5}"/>
              </a:ext>
            </a:extLst>
          </p:cNvPr>
          <p:cNvSpPr>
            <a:spLocks noChangeArrowheads="1"/>
          </p:cNvSpPr>
          <p:nvPr/>
        </p:nvSpPr>
        <p:spPr bwMode="auto">
          <a:xfrm>
            <a:off x="0" y="-184666"/>
            <a:ext cx="26481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647627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997C-CCA3-4B18-AA08-734446DF014F}"/>
              </a:ext>
            </a:extLst>
          </p:cNvPr>
          <p:cNvSpPr>
            <a:spLocks noGrp="1"/>
          </p:cNvSpPr>
          <p:nvPr>
            <p:ph type="title"/>
          </p:nvPr>
        </p:nvSpPr>
        <p:spPr>
          <a:xfrm>
            <a:off x="838200" y="136526"/>
            <a:ext cx="8749145" cy="897948"/>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Components of Greedy Method</a:t>
            </a:r>
          </a:p>
        </p:txBody>
      </p:sp>
      <p:sp>
        <p:nvSpPr>
          <p:cNvPr id="3" name="Content Placeholder 2">
            <a:extLst>
              <a:ext uri="{FF2B5EF4-FFF2-40B4-BE49-F238E27FC236}">
                <a16:creationId xmlns:a16="http://schemas.microsoft.com/office/drawing/2014/main" id="{F04465C7-F825-47AD-81B9-7258A6A9F476}"/>
              </a:ext>
            </a:extLst>
          </p:cNvPr>
          <p:cNvSpPr>
            <a:spLocks noGrp="1"/>
          </p:cNvSpPr>
          <p:nvPr>
            <p:ph idx="1"/>
          </p:nvPr>
        </p:nvSpPr>
        <p:spPr>
          <a:xfrm>
            <a:off x="838200" y="1163782"/>
            <a:ext cx="10515600" cy="5013181"/>
          </a:xfrm>
          <a:ln>
            <a:solidFill>
              <a:schemeClr val="tx1"/>
            </a:solidFill>
          </a:ln>
        </p:spPr>
        <p:txBody>
          <a:bodyPr/>
          <a:lstStyle/>
          <a:p>
            <a:pPr marL="0" indent="0" algn="just">
              <a:buNone/>
            </a:pPr>
            <a:r>
              <a:rPr lang="en-US" sz="2400" b="0" i="0" dirty="0">
                <a:solidFill>
                  <a:srgbClr val="000000"/>
                </a:solidFill>
                <a:effectLst/>
                <a:latin typeface="Times New Roman" panose="02020603050405020304" pitchFamily="18" charset="0"/>
                <a:cs typeface="Times New Roman" panose="02020603050405020304" pitchFamily="18" charset="0"/>
              </a:rPr>
              <a:t>Greedy algorithms have the following five components −</a:t>
            </a:r>
          </a:p>
          <a:p>
            <a:pPr algn="just">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A candidate set</a:t>
            </a:r>
            <a:r>
              <a:rPr lang="en-US" sz="2400" b="0" i="0" dirty="0">
                <a:solidFill>
                  <a:srgbClr val="000000"/>
                </a:solidFill>
                <a:effectLst/>
                <a:latin typeface="Times New Roman" panose="02020603050405020304" pitchFamily="18" charset="0"/>
                <a:cs typeface="Times New Roman" panose="02020603050405020304" pitchFamily="18" charset="0"/>
              </a:rPr>
              <a:t> − A solution is created from this set.</a:t>
            </a:r>
          </a:p>
          <a:p>
            <a:pPr algn="just">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A selection function</a:t>
            </a:r>
            <a:r>
              <a:rPr lang="en-US" sz="2400" b="0" i="0" dirty="0">
                <a:solidFill>
                  <a:srgbClr val="000000"/>
                </a:solidFill>
                <a:effectLst/>
                <a:latin typeface="Times New Roman" panose="02020603050405020304" pitchFamily="18" charset="0"/>
                <a:cs typeface="Times New Roman" panose="02020603050405020304" pitchFamily="18" charset="0"/>
              </a:rPr>
              <a:t> − Used to choose the best candidate to be added to the solution.</a:t>
            </a:r>
          </a:p>
          <a:p>
            <a:pPr algn="just">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A feasibility function</a:t>
            </a:r>
            <a:r>
              <a:rPr lang="en-US" sz="2400" b="0" i="0" dirty="0">
                <a:solidFill>
                  <a:srgbClr val="000000"/>
                </a:solidFill>
                <a:effectLst/>
                <a:latin typeface="Times New Roman" panose="02020603050405020304" pitchFamily="18" charset="0"/>
                <a:cs typeface="Times New Roman" panose="02020603050405020304" pitchFamily="18" charset="0"/>
              </a:rPr>
              <a:t> − Used to determine whether a candidate can be used to contribute to the solution.</a:t>
            </a:r>
          </a:p>
          <a:p>
            <a:pPr algn="just">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An objective function</a:t>
            </a:r>
            <a:r>
              <a:rPr lang="en-US" sz="2400" b="0" i="0" dirty="0">
                <a:solidFill>
                  <a:srgbClr val="000000"/>
                </a:solidFill>
                <a:effectLst/>
                <a:latin typeface="Times New Roman" panose="02020603050405020304" pitchFamily="18" charset="0"/>
                <a:cs typeface="Times New Roman" panose="02020603050405020304" pitchFamily="18" charset="0"/>
              </a:rPr>
              <a:t> − Used to assign a value to a solution or a partial solution.</a:t>
            </a:r>
          </a:p>
          <a:p>
            <a:pPr algn="just">
              <a:buFont typeface="Arial" panose="020B0604020202020204" pitchFamily="34" charset="0"/>
              <a:buChar char="•"/>
            </a:pPr>
            <a:r>
              <a:rPr lang="en-US" sz="2400" b="1" i="0" dirty="0">
                <a:solidFill>
                  <a:srgbClr val="000000"/>
                </a:solidFill>
                <a:effectLst/>
                <a:latin typeface="Times New Roman" panose="02020603050405020304" pitchFamily="18" charset="0"/>
                <a:cs typeface="Times New Roman" panose="02020603050405020304" pitchFamily="18" charset="0"/>
              </a:rPr>
              <a:t>A solution function</a:t>
            </a:r>
            <a:r>
              <a:rPr lang="en-US" sz="2400" b="0" i="0" dirty="0">
                <a:solidFill>
                  <a:srgbClr val="000000"/>
                </a:solidFill>
                <a:effectLst/>
                <a:latin typeface="Times New Roman" panose="02020603050405020304" pitchFamily="18" charset="0"/>
                <a:cs typeface="Times New Roman" panose="02020603050405020304" pitchFamily="18" charset="0"/>
              </a:rPr>
              <a:t> − Used to indicate whether a complete solution has been reached.</a:t>
            </a:r>
          </a:p>
          <a:p>
            <a:pPr marL="457200" indent="-457200"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AC89-446D-4C53-AEA9-E7CA810295BC}"/>
              </a:ext>
            </a:extLst>
          </p:cNvPr>
          <p:cNvSpPr>
            <a:spLocks noGrp="1"/>
          </p:cNvSpPr>
          <p:nvPr>
            <p:ph type="sldNum" sz="quarter" idx="12"/>
          </p:nvPr>
        </p:nvSpPr>
        <p:spPr/>
        <p:txBody>
          <a:bodyPr/>
          <a:lstStyle/>
          <a:p>
            <a:fld id="{BDCDBBEF-AA6C-4BA6-85B2-A17D7F280E38}" type="slidenum">
              <a:rPr lang="en-US" smtClean="0"/>
              <a:pPr/>
              <a:t>4</a:t>
            </a:fld>
            <a:endParaRPr lang="en-US"/>
          </a:p>
        </p:txBody>
      </p:sp>
      <p:sp>
        <p:nvSpPr>
          <p:cNvPr id="20" name="Text Box 25">
            <a:extLst>
              <a:ext uri="{FF2B5EF4-FFF2-40B4-BE49-F238E27FC236}">
                <a16:creationId xmlns:a16="http://schemas.microsoft.com/office/drawing/2014/main" id="{EE741B95-8E47-4956-920C-460D5C57B7B1}"/>
              </a:ext>
            </a:extLst>
          </p:cNvPr>
          <p:cNvSpPr txBox="1">
            <a:spLocks noChangeArrowheads="1"/>
          </p:cNvSpPr>
          <p:nvPr/>
        </p:nvSpPr>
        <p:spPr bwMode="auto">
          <a:xfrm>
            <a:off x="6728980" y="3429000"/>
            <a:ext cx="18415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p>
        </p:txBody>
      </p:sp>
    </p:spTree>
    <p:extLst>
      <p:ext uri="{BB962C8B-B14F-4D97-AF65-F5344CB8AC3E}">
        <p14:creationId xmlns:p14="http://schemas.microsoft.com/office/powerpoint/2010/main" val="4271045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997C-CCA3-4B18-AA08-734446DF014F}"/>
              </a:ext>
            </a:extLst>
          </p:cNvPr>
          <p:cNvSpPr>
            <a:spLocks noGrp="1"/>
          </p:cNvSpPr>
          <p:nvPr>
            <p:ph type="title"/>
          </p:nvPr>
        </p:nvSpPr>
        <p:spPr>
          <a:xfrm>
            <a:off x="838200" y="136526"/>
            <a:ext cx="8749145" cy="897948"/>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Greedy Method</a:t>
            </a:r>
          </a:p>
        </p:txBody>
      </p:sp>
      <p:sp>
        <p:nvSpPr>
          <p:cNvPr id="3" name="Content Placeholder 2">
            <a:extLst>
              <a:ext uri="{FF2B5EF4-FFF2-40B4-BE49-F238E27FC236}">
                <a16:creationId xmlns:a16="http://schemas.microsoft.com/office/drawing/2014/main" id="{F04465C7-F825-47AD-81B9-7258A6A9F476}"/>
              </a:ext>
            </a:extLst>
          </p:cNvPr>
          <p:cNvSpPr>
            <a:spLocks noGrp="1"/>
          </p:cNvSpPr>
          <p:nvPr>
            <p:ph idx="1"/>
          </p:nvPr>
        </p:nvSpPr>
        <p:spPr>
          <a:xfrm>
            <a:off x="838200" y="1163782"/>
            <a:ext cx="10515600" cy="5013181"/>
          </a:xfrm>
          <a:ln>
            <a:solidFill>
              <a:schemeClr val="tx1"/>
            </a:solidFill>
          </a:ln>
        </p:spPr>
        <p:txBody>
          <a:bodyPr/>
          <a:lstStyle/>
          <a:p>
            <a:pPr marL="0" indent="0" algn="just">
              <a:buNone/>
            </a:pPr>
            <a:r>
              <a:rPr lang="en-US" sz="2400" b="0" i="0" dirty="0">
                <a:solidFill>
                  <a:srgbClr val="000000"/>
                </a:solidFill>
                <a:effectLst/>
                <a:latin typeface="Times New Roman" panose="02020603050405020304" pitchFamily="18" charset="0"/>
                <a:cs typeface="Times New Roman" panose="02020603050405020304" pitchFamily="18" charset="0"/>
              </a:rPr>
              <a:t>Greedy approach can be applied on many algorithms−</a:t>
            </a:r>
          </a:p>
          <a:p>
            <a:pPr marL="0" indent="0" algn="just">
              <a:buNone/>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dirty="0">
                <a:solidFill>
                  <a:srgbClr val="000000"/>
                </a:solidFill>
                <a:latin typeface="Times New Roman" panose="02020603050405020304" pitchFamily="18" charset="0"/>
                <a:cs typeface="Times New Roman" panose="02020603050405020304" pitchFamily="18" charset="0"/>
              </a:rPr>
              <a:t>M</a:t>
            </a:r>
            <a:r>
              <a:rPr lang="en-US" sz="2400" b="0" i="0" dirty="0">
                <a:solidFill>
                  <a:srgbClr val="000000"/>
                </a:solidFill>
                <a:effectLst/>
                <a:latin typeface="Times New Roman" panose="02020603050405020304" pitchFamily="18" charset="0"/>
                <a:cs typeface="Times New Roman" panose="02020603050405020304" pitchFamily="18" charset="0"/>
              </a:rPr>
              <a:t>achine scheduling</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Fractional Knapsack Problem</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Minimum Spanning Tree</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Huffman Code</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Job Sequencing</a:t>
            </a:r>
          </a:p>
          <a:p>
            <a:pPr algn="just"/>
            <a:r>
              <a:rPr lang="en-US" sz="2400" dirty="0">
                <a:solidFill>
                  <a:srgbClr val="000000"/>
                </a:solidFill>
                <a:latin typeface="Times New Roman" panose="02020603050405020304" pitchFamily="18" charset="0"/>
                <a:cs typeface="Times New Roman" panose="02020603050405020304" pitchFamily="18" charset="0"/>
              </a:rPr>
              <a:t>Coin Change Problem</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Activity Selection Problem</a:t>
            </a:r>
          </a:p>
          <a:p>
            <a:pPr marL="457200" indent="-457200"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AC89-446D-4C53-AEA9-E7CA810295BC}"/>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20" name="Text Box 25">
            <a:extLst>
              <a:ext uri="{FF2B5EF4-FFF2-40B4-BE49-F238E27FC236}">
                <a16:creationId xmlns:a16="http://schemas.microsoft.com/office/drawing/2014/main" id="{EE741B95-8E47-4956-920C-460D5C57B7B1}"/>
              </a:ext>
            </a:extLst>
          </p:cNvPr>
          <p:cNvSpPr txBox="1">
            <a:spLocks noChangeArrowheads="1"/>
          </p:cNvSpPr>
          <p:nvPr/>
        </p:nvSpPr>
        <p:spPr bwMode="auto">
          <a:xfrm>
            <a:off x="6728980" y="3429000"/>
            <a:ext cx="18415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p>
        </p:txBody>
      </p:sp>
    </p:spTree>
    <p:extLst>
      <p:ext uri="{BB962C8B-B14F-4D97-AF65-F5344CB8AC3E}">
        <p14:creationId xmlns:p14="http://schemas.microsoft.com/office/powerpoint/2010/main" val="1664896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997C-CCA3-4B18-AA08-734446DF014F}"/>
              </a:ext>
            </a:extLst>
          </p:cNvPr>
          <p:cNvSpPr>
            <a:spLocks noGrp="1"/>
          </p:cNvSpPr>
          <p:nvPr>
            <p:ph type="title"/>
          </p:nvPr>
        </p:nvSpPr>
        <p:spPr>
          <a:xfrm>
            <a:off x="838200" y="136526"/>
            <a:ext cx="8749145" cy="897948"/>
          </a:xfrm>
          <a:ln>
            <a:solidFill>
              <a:schemeClr val="tx1"/>
            </a:solidFill>
          </a:ln>
        </p:spPr>
        <p:txBody>
          <a:bodyPr/>
          <a:lstStyle/>
          <a:p>
            <a:pPr algn="ctr"/>
            <a:r>
              <a:rPr lang="en-IN" sz="4400" b="1" dirty="0">
                <a:effectLst/>
                <a:latin typeface="Times New Roman" panose="02020603050405020304" pitchFamily="18" charset="0"/>
                <a:ea typeface="Adobe Garamond Pro"/>
                <a:cs typeface="Times New Roman" panose="02020603050405020304" pitchFamily="18" charset="0"/>
              </a:rPr>
              <a:t>Application of Greedy Method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4465C7-F825-47AD-81B9-7258A6A9F476}"/>
              </a:ext>
            </a:extLst>
          </p:cNvPr>
          <p:cNvSpPr>
            <a:spLocks noGrp="1"/>
          </p:cNvSpPr>
          <p:nvPr>
            <p:ph idx="1"/>
          </p:nvPr>
        </p:nvSpPr>
        <p:spPr>
          <a:xfrm>
            <a:off x="838200" y="1163782"/>
            <a:ext cx="10515600" cy="5013181"/>
          </a:xfrm>
          <a:ln>
            <a:solidFill>
              <a:schemeClr val="tx1"/>
            </a:solidFill>
          </a:ln>
        </p:spPr>
        <p:txBody>
          <a:bodyPr>
            <a:normAutofit lnSpcReduction="10000"/>
          </a:bodyPr>
          <a:lstStyle/>
          <a:p>
            <a:pPr marL="0" indent="0" algn="just">
              <a:lnSpc>
                <a:spcPct val="150000"/>
              </a:lnSpc>
              <a:buNone/>
            </a:pPr>
            <a:r>
              <a:rPr lang="en-US" sz="2400" b="0" i="0" dirty="0">
                <a:solidFill>
                  <a:srgbClr val="000000"/>
                </a:solidFill>
                <a:effectLst/>
                <a:latin typeface="Times New Roman" panose="02020603050405020304" pitchFamily="18" charset="0"/>
                <a:cs typeface="Times New Roman" panose="02020603050405020304" pitchFamily="18" charset="0"/>
              </a:rPr>
              <a:t>Greedy approach is used to solve many problems, such as</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Finding the shortest path between two vertices using Dijkstra’s algorithm.</a:t>
            </a:r>
          </a:p>
          <a:p>
            <a:pPr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Finding the minimal spanning tree in a graph using Prim’s /Kruskal’s algorithm, etc.</a:t>
            </a:r>
          </a:p>
          <a:p>
            <a:pPr marL="0" indent="0" algn="l">
              <a:buNone/>
            </a:pPr>
            <a:endParaRPr lang="en-US" sz="2400" b="1" i="0" dirty="0">
              <a:effectLst/>
              <a:latin typeface="Times New Roman" panose="02020603050405020304" pitchFamily="18" charset="0"/>
              <a:cs typeface="Times New Roman" panose="02020603050405020304" pitchFamily="18" charset="0"/>
            </a:endParaRPr>
          </a:p>
          <a:p>
            <a:pPr marL="0" indent="0" algn="l">
              <a:buNone/>
            </a:pPr>
            <a:r>
              <a:rPr lang="en-US" sz="2400" b="1" i="0" dirty="0">
                <a:effectLst/>
                <a:latin typeface="Times New Roman" panose="02020603050405020304" pitchFamily="18" charset="0"/>
                <a:cs typeface="Times New Roman" panose="02020603050405020304" pitchFamily="18" charset="0"/>
              </a:rPr>
              <a:t>Where Greedy Approach Fails</a:t>
            </a:r>
          </a:p>
          <a:p>
            <a:pPr algn="just">
              <a:lnSpc>
                <a:spcPct val="150000"/>
              </a:lnSpc>
            </a:pPr>
            <a:r>
              <a:rPr lang="en-US" sz="2400" b="0" i="0" dirty="0">
                <a:solidFill>
                  <a:srgbClr val="000000"/>
                </a:solidFill>
                <a:effectLst/>
                <a:latin typeface="Times New Roman" panose="02020603050405020304" pitchFamily="18" charset="0"/>
                <a:cs typeface="Times New Roman" panose="02020603050405020304" pitchFamily="18" charset="0"/>
              </a:rPr>
              <a:t>In many problems, Greedy algorithm fails to find an optimal solution, moreover it may produce a worst solution. Problems like Travelling Salesman and Knapsack cannot be solved using this approach.</a:t>
            </a:r>
          </a:p>
          <a:p>
            <a:pPr marL="457200" indent="-457200"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AC89-446D-4C53-AEA9-E7CA810295BC}"/>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20" name="Text Box 25">
            <a:extLst>
              <a:ext uri="{FF2B5EF4-FFF2-40B4-BE49-F238E27FC236}">
                <a16:creationId xmlns:a16="http://schemas.microsoft.com/office/drawing/2014/main" id="{EE741B95-8E47-4956-920C-460D5C57B7B1}"/>
              </a:ext>
            </a:extLst>
          </p:cNvPr>
          <p:cNvSpPr txBox="1">
            <a:spLocks noChangeArrowheads="1"/>
          </p:cNvSpPr>
          <p:nvPr/>
        </p:nvSpPr>
        <p:spPr bwMode="auto">
          <a:xfrm>
            <a:off x="6728980" y="3429000"/>
            <a:ext cx="18415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p>
        </p:txBody>
      </p:sp>
    </p:spTree>
    <p:extLst>
      <p:ext uri="{BB962C8B-B14F-4D97-AF65-F5344CB8AC3E}">
        <p14:creationId xmlns:p14="http://schemas.microsoft.com/office/powerpoint/2010/main" val="447189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10515600" cy="5069385"/>
          </a:xfrm>
        </p:spPr>
        <p:txBody>
          <a:bodyPr>
            <a:normAutofit/>
          </a:bodyPr>
          <a:lstStyle/>
          <a:p>
            <a:pPr marL="0" indent="0" algn="just">
              <a:lnSpc>
                <a:spcPct val="150000"/>
              </a:lnSpc>
              <a:buNone/>
            </a:pPr>
            <a:r>
              <a:rPr lang="en-US" sz="24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Given a set of items, each with a weight and a value, determine a subset of items to include in a collection so that the total weight is less than or equal to a given limit and the total value is as large as possible.</a:t>
            </a:r>
          </a:p>
          <a:p>
            <a:pPr marL="0" indent="0" algn="just">
              <a:lnSpc>
                <a:spcPct val="150000"/>
              </a:lnSpc>
              <a:buNone/>
            </a:pPr>
            <a:r>
              <a:rPr lang="en-US" sz="240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The </a:t>
            </a:r>
            <a:r>
              <a:rPr lang="en-US" sz="2400" b="1"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Knapsack Problem </a:t>
            </a:r>
            <a:r>
              <a:rPr lang="en-US" sz="240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is an combinatorial optimization problem. It appears as a subproblem in many, more complex mathematical models of real-world problems. One general approach to difficult problems is to identify the most restrictive constraint, ignore the others, solve a knapsack problem, and somehow adjust the solution to satisfy the ignored constraints.</a:t>
            </a:r>
          </a:p>
        </p:txBody>
      </p:sp>
      <p:sp>
        <p:nvSpPr>
          <p:cNvPr id="4" name="Slide Number Placeholder 3"/>
          <p:cNvSpPr>
            <a:spLocks noGrp="1"/>
          </p:cNvSpPr>
          <p:nvPr>
            <p:ph type="sldNum" sz="quarter" idx="12"/>
          </p:nvPr>
        </p:nvSpPr>
        <p:spPr/>
        <p:txBody>
          <a:bodyPr/>
          <a:lstStyle/>
          <a:p>
            <a:fld id="{68E95BDB-EE7F-43F5-BD69-3B4091AE3092}" type="slidenum">
              <a:rPr lang="en-IN" smtClean="0"/>
              <a:pPr/>
              <a:t>7</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IN" sz="4400" b="1" dirty="0">
                <a:effectLst/>
                <a:latin typeface="Times New Roman" panose="02020603050405020304" pitchFamily="18" charset="0"/>
                <a:ea typeface="Adobe Garamond Pro"/>
                <a:cs typeface="Times New Roman" panose="02020603050405020304" pitchFamily="18" charset="0"/>
              </a:rPr>
              <a:t>Knapsack Problem</a:t>
            </a:r>
            <a:endParaRPr lang="en-IN" sz="4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20932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6668085" cy="5069385"/>
          </a:xfrm>
        </p:spPr>
        <p:txBody>
          <a:bodyPr>
            <a:normAutofit lnSpcReduction="10000"/>
          </a:bodyPr>
          <a:lstStyle/>
          <a:p>
            <a:pPr marL="0" indent="0" algn="just">
              <a:lnSpc>
                <a:spcPct val="150000"/>
              </a:lnSpc>
              <a:buNone/>
            </a:pPr>
            <a:r>
              <a:rPr lang="en-US" sz="2400" b="1" i="0" dirty="0">
                <a:solidFill>
                  <a:srgbClr val="303030"/>
                </a:solidFill>
                <a:effectLst/>
                <a:latin typeface="Times New Roman" panose="02020603050405020304" pitchFamily="18" charset="0"/>
                <a:cs typeface="Times New Roman" panose="02020603050405020304" pitchFamily="18" charset="0"/>
              </a:rPr>
              <a:t>You are given the following-</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A knapsack (kind of shoulder bag) with limited weight capacity.</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Few items each having some weight and value.</a:t>
            </a:r>
          </a:p>
          <a:p>
            <a:pPr marL="0" indent="0" algn="l" fontAlgn="base">
              <a:buNone/>
            </a:pPr>
            <a:endParaRPr lang="en-US" sz="2400" b="0" i="0"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r>
              <a:rPr lang="en-US" sz="2400" b="1" i="0" dirty="0">
                <a:solidFill>
                  <a:srgbClr val="303030"/>
                </a:solidFill>
                <a:effectLst/>
                <a:latin typeface="Times New Roman" panose="02020603050405020304" pitchFamily="18" charset="0"/>
                <a:cs typeface="Times New Roman" panose="02020603050405020304" pitchFamily="18" charset="0"/>
              </a:rPr>
              <a:t>The problem states-</a:t>
            </a:r>
            <a:endParaRPr lang="en-US" sz="2400" dirty="0">
              <a:solidFill>
                <a:srgbClr val="303030"/>
              </a:solidFill>
              <a:latin typeface="Times New Roman" panose="02020603050405020304" pitchFamily="18" charset="0"/>
              <a:cs typeface="Times New Roman" panose="02020603050405020304" pitchFamily="18" charset="0"/>
            </a:endParaRPr>
          </a:p>
          <a:p>
            <a:pPr algn="l" fontAlgn="base"/>
            <a:r>
              <a:rPr lang="en-US" sz="2400" b="0" i="0" dirty="0">
                <a:solidFill>
                  <a:srgbClr val="303030"/>
                </a:solidFill>
                <a:effectLst/>
                <a:latin typeface="Times New Roman" panose="02020603050405020304" pitchFamily="18" charset="0"/>
                <a:cs typeface="Times New Roman" panose="02020603050405020304" pitchFamily="18" charset="0"/>
              </a:rPr>
              <a:t>Which items should be placed into the knapsack such that-</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The value or profit obtained by putting the items into the knapsack is maximum.</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And the weight limit of the knapsack does not exceed.</a:t>
            </a:r>
          </a:p>
          <a:p>
            <a:pPr marL="0" indent="0" algn="l" fontAlgn="base">
              <a:buNone/>
            </a:pP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just">
              <a:lnSpc>
                <a:spcPct val="150000"/>
              </a:lnSpc>
            </a:pPr>
            <a:endParaRPr lang="en-US" sz="360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8E95BDB-EE7F-43F5-BD69-3B4091AE3092}" type="slidenum">
              <a:rPr lang="en-IN" smtClean="0"/>
              <a:pPr/>
              <a:t>8</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IN" sz="4400" b="1" dirty="0">
                <a:effectLst/>
                <a:latin typeface="Times New Roman" panose="02020603050405020304" pitchFamily="18" charset="0"/>
                <a:ea typeface="Adobe Garamond Pro"/>
                <a:cs typeface="Times New Roman" panose="02020603050405020304" pitchFamily="18" charset="0"/>
              </a:rPr>
              <a:t>Knapsack Problem</a:t>
            </a:r>
            <a:endParaRPr lang="en-IN" sz="4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49528355-5F48-49F7-B465-E89C3993202F}"/>
              </a:ext>
            </a:extLst>
          </p:cNvPr>
          <p:cNvPicPr>
            <a:picLocks noChangeAspect="1"/>
          </p:cNvPicPr>
          <p:nvPr/>
        </p:nvPicPr>
        <p:blipFill>
          <a:blip r:embed="rId2"/>
          <a:stretch>
            <a:fillRect/>
          </a:stretch>
        </p:blipFill>
        <p:spPr>
          <a:xfrm>
            <a:off x="7506285" y="1652587"/>
            <a:ext cx="3533775" cy="3552825"/>
          </a:xfrm>
          <a:prstGeom prst="rect">
            <a:avLst/>
          </a:prstGeom>
        </p:spPr>
      </p:pic>
    </p:spTree>
    <p:extLst>
      <p:ext uri="{BB962C8B-B14F-4D97-AF65-F5344CB8AC3E}">
        <p14:creationId xmlns:p14="http://schemas.microsoft.com/office/powerpoint/2010/main" val="2021484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10515600" cy="5069385"/>
          </a:xfrm>
        </p:spPr>
        <p:txBody>
          <a:bodyPr>
            <a:noAutofit/>
          </a:bodyPr>
          <a:lstStyle/>
          <a:p>
            <a:pPr marL="0" indent="0" algn="l" fontAlgn="base">
              <a:lnSpc>
                <a:spcPct val="100000"/>
              </a:lnSpc>
              <a:buNone/>
            </a:pPr>
            <a:r>
              <a:rPr lang="en-IN" sz="2200" b="0" i="0" dirty="0">
                <a:solidFill>
                  <a:srgbClr val="303030"/>
                </a:solidFill>
                <a:effectLst/>
                <a:latin typeface="Times New Roman" panose="02020603050405020304" pitchFamily="18" charset="0"/>
                <a:cs typeface="Times New Roman" panose="02020603050405020304" pitchFamily="18" charset="0"/>
              </a:rPr>
              <a:t>Knapsack problem has the following two variants-</a:t>
            </a:r>
          </a:p>
          <a:p>
            <a:pPr algn="l" fontAlgn="base">
              <a:lnSpc>
                <a:spcPct val="100000"/>
              </a:lnSpc>
              <a:buFont typeface="+mj-lt"/>
              <a:buAutoNum type="arabicPeriod"/>
            </a:pPr>
            <a:r>
              <a:rPr lang="en-IN" sz="2200" b="0" i="0" dirty="0">
                <a:solidFill>
                  <a:srgbClr val="303030"/>
                </a:solidFill>
                <a:effectLst/>
                <a:latin typeface="Times New Roman" panose="02020603050405020304" pitchFamily="18" charset="0"/>
                <a:cs typeface="Times New Roman" panose="02020603050405020304" pitchFamily="18" charset="0"/>
              </a:rPr>
              <a:t>Fractional Knapsack Problem</a:t>
            </a:r>
          </a:p>
          <a:p>
            <a:pPr algn="l" fontAlgn="base">
              <a:lnSpc>
                <a:spcPct val="100000"/>
              </a:lnSpc>
              <a:buFont typeface="+mj-lt"/>
              <a:buAutoNum type="arabicPeriod"/>
            </a:pPr>
            <a:r>
              <a:rPr lang="en-IN" sz="2200" b="0" i="0" dirty="0">
                <a:solidFill>
                  <a:srgbClr val="303030"/>
                </a:solidFill>
                <a:effectLst/>
                <a:latin typeface="Times New Roman" panose="02020603050405020304" pitchFamily="18" charset="0"/>
                <a:cs typeface="Times New Roman" panose="02020603050405020304" pitchFamily="18" charset="0"/>
              </a:rPr>
              <a:t>0/1 Knapsack Problem</a:t>
            </a:r>
          </a:p>
          <a:p>
            <a:pPr marL="0" indent="0" algn="just">
              <a:lnSpc>
                <a:spcPct val="100000"/>
              </a:lnSpc>
              <a:buNone/>
            </a:pPr>
            <a:endParaRPr lang="en-US" sz="2200" b="0" i="0" dirty="0">
              <a:effectLst/>
              <a:latin typeface="Times New Roman" panose="02020603050405020304" pitchFamily="18" charset="0"/>
              <a:cs typeface="Times New Roman" panose="02020603050405020304" pitchFamily="18" charset="0"/>
            </a:endParaRPr>
          </a:p>
          <a:p>
            <a:pPr marL="0" indent="0" algn="just">
              <a:lnSpc>
                <a:spcPct val="100000"/>
              </a:lnSpc>
              <a:buNone/>
            </a:pPr>
            <a:r>
              <a:rPr lang="en-US" sz="2200" b="0" i="0" dirty="0">
                <a:effectLst/>
                <a:latin typeface="Times New Roman" panose="02020603050405020304" pitchFamily="18" charset="0"/>
                <a:cs typeface="Times New Roman" panose="02020603050405020304" pitchFamily="18" charset="0"/>
              </a:rPr>
              <a:t>In </a:t>
            </a:r>
            <a:r>
              <a:rPr lang="en-US" sz="2200" b="1" i="0" dirty="0">
                <a:effectLst/>
                <a:latin typeface="Times New Roman" panose="02020603050405020304" pitchFamily="18" charset="0"/>
                <a:cs typeface="Times New Roman" panose="02020603050405020304" pitchFamily="18" charset="0"/>
              </a:rPr>
              <a:t>Fractional Knapsack</a:t>
            </a:r>
            <a:r>
              <a:rPr lang="en-US" sz="2200" b="0" i="0" dirty="0">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200" dirty="0">
                <a:solidFill>
                  <a:srgbClr val="303030"/>
                </a:solidFill>
                <a:latin typeface="Times New Roman" panose="02020603050405020304" pitchFamily="18" charset="0"/>
                <a:cs typeface="Times New Roman" panose="02020603050405020304" pitchFamily="18" charset="0"/>
              </a:rPr>
              <a:t>As the name suggests, items are divisible here.</a:t>
            </a:r>
          </a:p>
          <a:p>
            <a:pPr algn="l" fontAlgn="base">
              <a:buFont typeface="Arial" panose="020B0604020202020204" pitchFamily="34" charset="0"/>
              <a:buChar char="•"/>
            </a:pPr>
            <a:r>
              <a:rPr lang="en-US" sz="2200" dirty="0">
                <a:solidFill>
                  <a:srgbClr val="303030"/>
                </a:solidFill>
                <a:latin typeface="Times New Roman" panose="02020603050405020304" pitchFamily="18" charset="0"/>
                <a:cs typeface="Times New Roman" panose="02020603050405020304" pitchFamily="18" charset="0"/>
              </a:rPr>
              <a:t>We can even put the fraction of any item into the knapsack if taking the complete item is not possible.</a:t>
            </a:r>
          </a:p>
          <a:p>
            <a:pPr algn="l" fontAlgn="base">
              <a:buFont typeface="Arial" panose="020B0604020202020204" pitchFamily="34" charset="0"/>
              <a:buChar char="•"/>
            </a:pPr>
            <a:r>
              <a:rPr lang="en-US" sz="2200" dirty="0">
                <a:solidFill>
                  <a:srgbClr val="303030"/>
                </a:solidFill>
                <a:latin typeface="Times New Roman" panose="02020603050405020304" pitchFamily="18" charset="0"/>
                <a:cs typeface="Times New Roman" panose="02020603050405020304" pitchFamily="18" charset="0"/>
              </a:rPr>
              <a:t>It is solved using Greedy Method.</a:t>
            </a:r>
          </a:p>
          <a:p>
            <a:pPr marL="0" indent="0" algn="just">
              <a:lnSpc>
                <a:spcPct val="100000"/>
              </a:lnSpc>
              <a:buNone/>
            </a:pPr>
            <a:endParaRPr lang="en-US" altLang="en-US" sz="2200" dirty="0">
              <a:solidFill>
                <a:srgbClr val="444444"/>
              </a:solidFill>
              <a:latin typeface="Times New Roman" panose="02020603050405020304" pitchFamily="18" charset="0"/>
              <a:cs typeface="Times New Roman" panose="02020603050405020304" pitchFamily="18" charset="0"/>
            </a:endParaRPr>
          </a:p>
          <a:p>
            <a:pPr marL="0" indent="0" algn="just">
              <a:lnSpc>
                <a:spcPct val="100000"/>
              </a:lnSpc>
              <a:buNone/>
            </a:pPr>
            <a:endParaRPr lang="en-US" altLang="en-US" sz="2200" dirty="0">
              <a:solidFill>
                <a:srgbClr val="44444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8E95BDB-EE7F-43F5-BD69-3B4091AE3092}" type="slidenum">
              <a:rPr lang="en-IN" smtClean="0"/>
              <a:pPr/>
              <a:t>9</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IN" sz="4400" b="1" dirty="0">
                <a:effectLst/>
                <a:latin typeface="Times New Roman" panose="02020603050405020304" pitchFamily="18" charset="0"/>
                <a:ea typeface="Adobe Garamond Pro"/>
                <a:cs typeface="Times New Roman" panose="02020603050405020304" pitchFamily="18" charset="0"/>
              </a:rPr>
              <a:t>Knapsack Problem (contd.)</a:t>
            </a:r>
            <a:endParaRPr lang="en-IN" sz="4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8939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10515600" cy="5069385"/>
          </a:xfrm>
        </p:spPr>
        <p:txBody>
          <a:bodyPr>
            <a:normAutofit lnSpcReduction="10000"/>
          </a:bodyPr>
          <a:lstStyle/>
          <a:p>
            <a:pPr marL="0" indent="0" algn="just">
              <a:lnSpc>
                <a:spcPct val="150000"/>
              </a:lnSpc>
              <a:buNone/>
            </a:pPr>
            <a:r>
              <a:rPr lang="en-US" sz="2400" b="0" i="0" dirty="0">
                <a:solidFill>
                  <a:srgbClr val="303030"/>
                </a:solidFill>
                <a:effectLst/>
                <a:latin typeface="Times New Roman" panose="02020603050405020304" pitchFamily="18" charset="0"/>
                <a:cs typeface="Times New Roman" panose="02020603050405020304" pitchFamily="18" charset="0"/>
              </a:rPr>
              <a:t>Fractional knapsack problem is solved using greedy method in the following steps-</a:t>
            </a:r>
          </a:p>
          <a:p>
            <a:pPr marL="0" indent="0" algn="just">
              <a:lnSpc>
                <a:spcPct val="150000"/>
              </a:lnSpc>
              <a:buNone/>
            </a:pPr>
            <a:r>
              <a:rPr lang="en-US" sz="2400" b="1" i="0" u="sng" dirty="0">
                <a:solidFill>
                  <a:srgbClr val="303030"/>
                </a:solidFill>
                <a:effectLst/>
                <a:latin typeface="Times New Roman" panose="02020603050405020304" pitchFamily="18" charset="0"/>
                <a:cs typeface="Times New Roman" panose="02020603050405020304" pitchFamily="18" charset="0"/>
              </a:rPr>
              <a:t>Step-01:</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03030"/>
                </a:solidFill>
                <a:effectLst/>
                <a:latin typeface="Times New Roman" panose="02020603050405020304" pitchFamily="18" charset="0"/>
                <a:cs typeface="Times New Roman" panose="02020603050405020304" pitchFamily="18" charset="0"/>
              </a:rPr>
              <a:t>For each item, compute its value(profit) / weight ratio.</a:t>
            </a:r>
          </a:p>
          <a:p>
            <a:pPr marL="0" indent="0" algn="l" fontAlgn="base">
              <a:buNone/>
            </a:pPr>
            <a:endParaRPr lang="en-US" sz="2400" b="1" i="0" u="sng"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r>
              <a:rPr lang="en-US" sz="2400" b="1" i="0" u="sng" dirty="0">
                <a:solidFill>
                  <a:srgbClr val="303030"/>
                </a:solidFill>
                <a:effectLst/>
                <a:latin typeface="Times New Roman" panose="02020603050405020304" pitchFamily="18" charset="0"/>
                <a:cs typeface="Times New Roman" panose="02020603050405020304" pitchFamily="18" charset="0"/>
              </a:rPr>
              <a:t>Step-02:</a:t>
            </a:r>
            <a:endParaRPr lang="en-US" sz="2400" b="1" i="0" dirty="0">
              <a:solidFill>
                <a:srgbClr val="303030"/>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03030"/>
                </a:solidFill>
                <a:effectLst/>
                <a:latin typeface="Times New Roman" panose="02020603050405020304" pitchFamily="18" charset="0"/>
                <a:cs typeface="Times New Roman" panose="02020603050405020304" pitchFamily="18" charset="0"/>
              </a:rPr>
              <a:t> Arrange all the items in decreasing order of their value(profit) / weight ratio.</a:t>
            </a:r>
          </a:p>
          <a:p>
            <a:pPr algn="l" fontAlgn="base"/>
            <a:endParaRPr lang="en-US" sz="2400" b="1" i="0" u="sng"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r>
              <a:rPr lang="en-US" sz="2400" b="1" i="0" u="sng" dirty="0">
                <a:solidFill>
                  <a:srgbClr val="303030"/>
                </a:solidFill>
                <a:effectLst/>
                <a:latin typeface="Times New Roman" panose="02020603050405020304" pitchFamily="18" charset="0"/>
                <a:cs typeface="Times New Roman" panose="02020603050405020304" pitchFamily="18" charset="0"/>
              </a:rPr>
              <a:t>Step-03:</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03030"/>
                </a:solidFill>
                <a:effectLst/>
                <a:latin typeface="Times New Roman" panose="02020603050405020304" pitchFamily="18" charset="0"/>
                <a:cs typeface="Times New Roman" panose="02020603050405020304" pitchFamily="18" charset="0"/>
              </a:rPr>
              <a:t>Start putting the items into the knapsack beginning from the item with the highest ratio.</a:t>
            </a:r>
          </a:p>
          <a:p>
            <a:pPr algn="l" fontAlgn="base"/>
            <a:r>
              <a:rPr lang="en-US" sz="2400" b="0" i="0" dirty="0">
                <a:solidFill>
                  <a:srgbClr val="303030"/>
                </a:solidFill>
                <a:effectLst/>
                <a:latin typeface="Times New Roman" panose="02020603050405020304" pitchFamily="18" charset="0"/>
                <a:cs typeface="Times New Roman" panose="02020603050405020304" pitchFamily="18" charset="0"/>
              </a:rPr>
              <a:t>Put as many items as you can into the knapsack.</a:t>
            </a:r>
          </a:p>
          <a:p>
            <a:pPr marL="0" indent="0" algn="just">
              <a:lnSpc>
                <a:spcPct val="150000"/>
              </a:lnSpc>
              <a:buNone/>
            </a:pPr>
            <a:endParaRPr lang="en-US" altLang="en-US" sz="3600" dirty="0">
              <a:solidFill>
                <a:srgbClr val="44444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8E95BDB-EE7F-43F5-BD69-3B4091AE3092}" type="slidenum">
              <a:rPr lang="en-IN" smtClean="0"/>
              <a:pPr/>
              <a:t>10</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IN" sz="4400" b="1" dirty="0">
                <a:effectLst/>
                <a:latin typeface="Times New Roman" panose="02020603050405020304" pitchFamily="18" charset="0"/>
                <a:ea typeface="Adobe Garamond Pro"/>
                <a:cs typeface="Times New Roman" panose="02020603050405020304" pitchFamily="18" charset="0"/>
              </a:rPr>
              <a:t>Knapsack Problem (contd.)</a:t>
            </a:r>
            <a:endParaRPr lang="en-IN" sz="4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78309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8E95BDB-EE7F-43F5-BD69-3B4091AE3092}" type="slidenum">
              <a:rPr lang="en-IN" smtClean="0"/>
              <a:pPr/>
              <a:t>11</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Example-</a:t>
            </a:r>
            <a:r>
              <a:rPr lang="en-IN" sz="4400" b="1" dirty="0">
                <a:latin typeface="Times New Roman" panose="02020603050405020304" pitchFamily="18" charset="0"/>
                <a:cs typeface="Times New Roman" panose="02020603050405020304" pitchFamily="18" charset="0"/>
              </a:rPr>
              <a:t>Knapsack </a:t>
            </a:r>
            <a:r>
              <a:rPr lang="en-IN" sz="4400" b="1" dirty="0">
                <a:effectLst/>
                <a:latin typeface="Times New Roman" panose="02020603050405020304" pitchFamily="18" charset="0"/>
                <a:ea typeface="Adobe Garamond Pro"/>
                <a:cs typeface="Times New Roman" panose="02020603050405020304" pitchFamily="18" charset="0"/>
              </a:rPr>
              <a:t>Problem</a:t>
            </a:r>
            <a:endParaRPr lang="en-IN" sz="4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8D2836E1-34EC-459A-AF7F-0F23F8DB0B03}"/>
              </a:ext>
            </a:extLst>
          </p:cNvPr>
          <p:cNvSpPr txBox="1"/>
          <p:nvPr/>
        </p:nvSpPr>
        <p:spPr>
          <a:xfrm>
            <a:off x="838200" y="1107577"/>
            <a:ext cx="1051560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400" b="0" i="0" dirty="0">
                <a:solidFill>
                  <a:srgbClr val="000000"/>
                </a:solidFill>
                <a:effectLst/>
                <a:latin typeface="Times New Roman" panose="02020603050405020304" pitchFamily="18" charset="0"/>
                <a:cs typeface="Times New Roman" panose="02020603050405020304" pitchFamily="18" charset="0"/>
              </a:rPr>
              <a:t>Let us consider that the capacity of the knapsack </a:t>
            </a:r>
            <a:r>
              <a:rPr lang="en-US" sz="2400" b="1" i="1" dirty="0">
                <a:solidFill>
                  <a:srgbClr val="000000"/>
                </a:solidFill>
                <a:effectLst/>
                <a:latin typeface="Times New Roman" panose="02020603050405020304" pitchFamily="18" charset="0"/>
                <a:cs typeface="Times New Roman" panose="02020603050405020304" pitchFamily="18" charset="0"/>
              </a:rPr>
              <a:t>W</a:t>
            </a:r>
            <a:r>
              <a:rPr lang="en-US" sz="2400" b="1" i="0" dirty="0">
                <a:solidFill>
                  <a:srgbClr val="000000"/>
                </a:solidFill>
                <a:effectLst/>
                <a:latin typeface="Times New Roman" panose="02020603050405020304" pitchFamily="18" charset="0"/>
                <a:cs typeface="Times New Roman" panose="02020603050405020304" pitchFamily="18" charset="0"/>
              </a:rPr>
              <a:t> = 60</a:t>
            </a:r>
            <a:r>
              <a:rPr lang="en-US" sz="2400" b="0" i="0" dirty="0">
                <a:solidFill>
                  <a:srgbClr val="000000"/>
                </a:solidFill>
                <a:effectLst/>
                <a:latin typeface="Times New Roman" panose="02020603050405020304" pitchFamily="18" charset="0"/>
                <a:cs typeface="Times New Roman" panose="02020603050405020304" pitchFamily="18" charset="0"/>
              </a:rPr>
              <a:t> and the list of provided items are shown in the following table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9C6D746-C925-4A16-A8F2-4D0779C7E6BB}"/>
              </a:ext>
            </a:extLst>
          </p:cNvPr>
          <p:cNvPicPr>
            <a:picLocks noChangeAspect="1"/>
          </p:cNvPicPr>
          <p:nvPr/>
        </p:nvPicPr>
        <p:blipFill>
          <a:blip r:embed="rId2"/>
          <a:stretch>
            <a:fillRect/>
          </a:stretch>
        </p:blipFill>
        <p:spPr>
          <a:xfrm>
            <a:off x="1881775" y="2059368"/>
            <a:ext cx="8428449" cy="2401454"/>
          </a:xfrm>
          <a:prstGeom prst="rect">
            <a:avLst/>
          </a:prstGeom>
        </p:spPr>
      </p:pic>
      <p:sp>
        <p:nvSpPr>
          <p:cNvPr id="12" name="TextBox 11">
            <a:extLst>
              <a:ext uri="{FF2B5EF4-FFF2-40B4-BE49-F238E27FC236}">
                <a16:creationId xmlns:a16="http://schemas.microsoft.com/office/drawing/2014/main" id="{0FA51F93-1547-4247-9035-E9D1A77AF1A1}"/>
              </a:ext>
            </a:extLst>
          </p:cNvPr>
          <p:cNvSpPr txBox="1"/>
          <p:nvPr/>
        </p:nvSpPr>
        <p:spPr>
          <a:xfrm>
            <a:off x="838200" y="4723501"/>
            <a:ext cx="10515600" cy="461665"/>
          </a:xfrm>
          <a:prstGeom prst="rect">
            <a:avLst/>
          </a:prstGeom>
          <a:noFill/>
        </p:spPr>
        <p:txBody>
          <a:bodyPr wrap="square">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As the provided items are not sorted based on </a:t>
            </a:r>
            <a:endParaRPr lang="en-IN" sz="24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BBA3C2B5-FACC-49E4-90F6-48CBFA13AFD7}"/>
              </a:ext>
            </a:extLst>
          </p:cNvPr>
          <p:cNvPicPr>
            <a:picLocks noChangeAspect="1"/>
          </p:cNvPicPr>
          <p:nvPr/>
        </p:nvPicPr>
        <p:blipFill>
          <a:blip r:embed="rId3"/>
          <a:stretch>
            <a:fillRect/>
          </a:stretch>
        </p:blipFill>
        <p:spPr>
          <a:xfrm>
            <a:off x="6678187" y="4662035"/>
            <a:ext cx="461522" cy="584595"/>
          </a:xfrm>
          <a:prstGeom prst="rect">
            <a:avLst/>
          </a:prstGeom>
        </p:spPr>
      </p:pic>
    </p:spTree>
    <p:extLst>
      <p:ext uri="{BB962C8B-B14F-4D97-AF65-F5344CB8AC3E}">
        <p14:creationId xmlns:p14="http://schemas.microsoft.com/office/powerpoint/2010/main" val="1511473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8E95BDB-EE7F-43F5-BD69-3B4091AE3092}" type="slidenum">
              <a:rPr lang="en-IN" smtClean="0"/>
              <a:pPr/>
              <a:t>12</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Example-</a:t>
            </a:r>
            <a:r>
              <a:rPr lang="en-IN" sz="4400" b="1" dirty="0">
                <a:latin typeface="Times New Roman" panose="02020603050405020304" pitchFamily="18" charset="0"/>
                <a:cs typeface="Times New Roman" panose="02020603050405020304" pitchFamily="18" charset="0"/>
              </a:rPr>
              <a:t>Knapsack </a:t>
            </a:r>
            <a:r>
              <a:rPr lang="en-IN" sz="4400" b="1" dirty="0">
                <a:effectLst/>
                <a:latin typeface="Times New Roman" panose="02020603050405020304" pitchFamily="18" charset="0"/>
                <a:ea typeface="Adobe Garamond Pro"/>
                <a:cs typeface="Times New Roman" panose="02020603050405020304" pitchFamily="18" charset="0"/>
              </a:rPr>
              <a:t>Problem</a:t>
            </a:r>
            <a:endParaRPr lang="en-IN" sz="4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a:extLst>
              <a:ext uri="{FF2B5EF4-FFF2-40B4-BE49-F238E27FC236}">
                <a16:creationId xmlns:a16="http://schemas.microsoft.com/office/drawing/2014/main" id="{B0DFB4F1-34EB-4541-8411-31450954F782}"/>
              </a:ext>
            </a:extLst>
          </p:cNvPr>
          <p:cNvSpPr txBox="1"/>
          <p:nvPr/>
        </p:nvSpPr>
        <p:spPr>
          <a:xfrm>
            <a:off x="838200" y="1107578"/>
            <a:ext cx="10515600" cy="830997"/>
          </a:xfrm>
          <a:prstGeom prst="rect">
            <a:avLst/>
          </a:prstGeom>
          <a:noFill/>
        </p:spPr>
        <p:txBody>
          <a:bodyPr wrap="square">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After sorting, the items are as shown in the following table.</a:t>
            </a:r>
          </a:p>
          <a:p>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E66C32B-82F3-401A-9BC7-266F7E98DDB3}"/>
              </a:ext>
            </a:extLst>
          </p:cNvPr>
          <p:cNvPicPr>
            <a:picLocks noChangeAspect="1"/>
          </p:cNvPicPr>
          <p:nvPr/>
        </p:nvPicPr>
        <p:blipFill>
          <a:blip r:embed="rId2"/>
          <a:stretch>
            <a:fillRect/>
          </a:stretch>
        </p:blipFill>
        <p:spPr>
          <a:xfrm>
            <a:off x="1692443" y="2095737"/>
            <a:ext cx="8289757" cy="2248379"/>
          </a:xfrm>
          <a:prstGeom prst="rect">
            <a:avLst/>
          </a:prstGeom>
        </p:spPr>
      </p:pic>
    </p:spTree>
    <p:extLst>
      <p:ext uri="{BB962C8B-B14F-4D97-AF65-F5344CB8AC3E}">
        <p14:creationId xmlns:p14="http://schemas.microsoft.com/office/powerpoint/2010/main" val="4205799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8E95BDB-EE7F-43F5-BD69-3B4091AE3092}" type="slidenum">
              <a:rPr lang="en-IN" smtClean="0"/>
              <a:pPr/>
              <a:t>13</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Example-</a:t>
            </a:r>
            <a:r>
              <a:rPr lang="en-IN" sz="4400" b="1" dirty="0">
                <a:latin typeface="Times New Roman" panose="02020603050405020304" pitchFamily="18" charset="0"/>
                <a:cs typeface="Times New Roman" panose="02020603050405020304" pitchFamily="18" charset="0"/>
              </a:rPr>
              <a:t>Knapsack </a:t>
            </a:r>
            <a:r>
              <a:rPr lang="en-IN" sz="4400" b="1" dirty="0">
                <a:effectLst/>
                <a:latin typeface="Times New Roman" panose="02020603050405020304" pitchFamily="18" charset="0"/>
                <a:ea typeface="Adobe Garamond Pro"/>
                <a:cs typeface="Times New Roman" panose="02020603050405020304" pitchFamily="18" charset="0"/>
              </a:rPr>
              <a:t>Problem</a:t>
            </a:r>
            <a:endParaRPr lang="en-IN" sz="4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549CDAB7-DAA0-410F-A170-0A0995FDA899}"/>
              </a:ext>
            </a:extLst>
          </p:cNvPr>
          <p:cNvSpPr>
            <a:spLocks noChangeArrowheads="1"/>
          </p:cNvSpPr>
          <p:nvPr/>
        </p:nvSpPr>
        <p:spPr bwMode="auto">
          <a:xfrm>
            <a:off x="838198" y="1063128"/>
            <a:ext cx="1051559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After sorting all the items according to            .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solidFill>
                <a:srgbClr val="000000"/>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First all of </a:t>
            </a:r>
            <a:r>
              <a:rPr kumimoji="0" lang="en-US" altLang="en-US" sz="2400" b="1"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 chosen as weight of </a:t>
            </a:r>
            <a:r>
              <a:rPr kumimoji="0" lang="en-US" altLang="en-US" sz="2400" b="1"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 less than the capacity of the knapsack.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 item </a:t>
            </a:r>
            <a:r>
              <a:rPr kumimoji="0" lang="en-US" altLang="en-US" sz="2400" b="1"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 chosen, as the available capacity of the knapsack is greater than the weight of </a:t>
            </a:r>
            <a:r>
              <a:rPr kumimoji="0" lang="en-US" altLang="en-US" sz="2400" b="1"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Now, </a:t>
            </a:r>
            <a:r>
              <a:rPr kumimoji="0" lang="en-US" altLang="en-US" sz="2400" b="1"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 chosen as the next item.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However, the whole item cannot be chosen as the remaining capacity of the knapsack is less than the weight of </a:t>
            </a:r>
            <a:r>
              <a:rPr kumimoji="0" lang="en-US" altLang="en-US" sz="2400" b="1"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Hence, fraction of </a:t>
            </a:r>
            <a:r>
              <a:rPr kumimoji="0" lang="en-US" altLang="en-US" sz="2400" b="1"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(i.e. (60 − 50)/20) is chosen.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B11693D-0513-4EF4-B8FD-4C2228AA2B72}"/>
              </a:ext>
            </a:extLst>
          </p:cNvPr>
          <p:cNvPicPr>
            <a:picLocks noChangeAspect="1"/>
          </p:cNvPicPr>
          <p:nvPr/>
        </p:nvPicPr>
        <p:blipFill>
          <a:blip r:embed="rId2"/>
          <a:stretch>
            <a:fillRect/>
          </a:stretch>
        </p:blipFill>
        <p:spPr>
          <a:xfrm>
            <a:off x="5704079" y="1132578"/>
            <a:ext cx="783839" cy="680312"/>
          </a:xfrm>
          <a:prstGeom prst="rect">
            <a:avLst/>
          </a:prstGeom>
        </p:spPr>
      </p:pic>
    </p:spTree>
    <p:extLst>
      <p:ext uri="{BB962C8B-B14F-4D97-AF65-F5344CB8AC3E}">
        <p14:creationId xmlns:p14="http://schemas.microsoft.com/office/powerpoint/2010/main" val="2516571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8E95BDB-EE7F-43F5-BD69-3B4091AE3092}" type="slidenum">
              <a:rPr lang="en-IN" smtClean="0"/>
              <a:pPr/>
              <a:t>14</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US" sz="4400" b="1" dirty="0">
                <a:latin typeface="Casper" panose="02000506000000020004"/>
                <a:cs typeface="Mangal" panose="02040503050203030202" pitchFamily="18" charset="0"/>
              </a:rPr>
              <a:t>Example-</a:t>
            </a:r>
            <a:r>
              <a:rPr lang="en-IN" sz="4400" b="1" dirty="0">
                <a:latin typeface="Casper" panose="02000506000000020004"/>
                <a:cs typeface="Mangal" panose="02040503050203030202" pitchFamily="18" charset="0"/>
              </a:rPr>
              <a:t>Knapsack </a:t>
            </a:r>
            <a:r>
              <a:rPr lang="en-IN" sz="4400" b="1" dirty="0">
                <a:effectLst/>
                <a:latin typeface="Casper" panose="02000506000000020004"/>
                <a:ea typeface="Adobe Garamond Pro"/>
                <a:cs typeface="Mangal" panose="02040503050203030202" pitchFamily="18" charset="0"/>
              </a:rPr>
              <a:t>Problem</a:t>
            </a:r>
            <a:endParaRPr lang="en-IN" sz="4400" dirty="0">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a:extLst>
              <a:ext uri="{FF2B5EF4-FFF2-40B4-BE49-F238E27FC236}">
                <a16:creationId xmlns:a16="http://schemas.microsoft.com/office/drawing/2014/main" id="{C29B304E-0328-4E37-86B0-5C6F154123F6}"/>
              </a:ext>
            </a:extLst>
          </p:cNvPr>
          <p:cNvSpPr txBox="1"/>
          <p:nvPr/>
        </p:nvSpPr>
        <p:spPr>
          <a:xfrm>
            <a:off x="838200" y="1107578"/>
            <a:ext cx="10515600" cy="3359061"/>
          </a:xfrm>
          <a:prstGeom prst="rect">
            <a:avLst/>
          </a:prstGeom>
          <a:noFill/>
        </p:spPr>
        <p:txBody>
          <a:bodyPr wrap="square">
            <a:spAutoFit/>
          </a:bodyPr>
          <a:lstStyle/>
          <a:p>
            <a:pPr algn="just">
              <a:lnSpc>
                <a:spcPct val="150000"/>
              </a:lnSpc>
            </a:pPr>
            <a:r>
              <a:rPr lang="en-US" sz="2400" b="0" i="0" dirty="0">
                <a:solidFill>
                  <a:srgbClr val="000000"/>
                </a:solidFill>
                <a:effectLst/>
                <a:latin typeface="Times New Roman" panose="02020603050405020304" pitchFamily="18" charset="0"/>
                <a:cs typeface="Times New Roman" panose="02020603050405020304" pitchFamily="18" charset="0"/>
              </a:rPr>
              <a:t>Now, the capacity of the Knapsack is equal to the selected items. Hence, no more item can be selected.</a:t>
            </a:r>
          </a:p>
          <a:p>
            <a:pPr algn="just">
              <a:lnSpc>
                <a:spcPct val="150000"/>
              </a:lnSpc>
            </a:pPr>
            <a:r>
              <a:rPr lang="en-US" sz="2400" b="0" i="0" dirty="0">
                <a:solidFill>
                  <a:srgbClr val="000000"/>
                </a:solidFill>
                <a:effectLst/>
                <a:latin typeface="Times New Roman" panose="02020603050405020304" pitchFamily="18" charset="0"/>
                <a:cs typeface="Times New Roman" panose="02020603050405020304" pitchFamily="18" charset="0"/>
              </a:rPr>
              <a:t>The total weight of the selected items is </a:t>
            </a:r>
            <a:r>
              <a:rPr lang="en-US" sz="2400" b="1" i="0" dirty="0">
                <a:solidFill>
                  <a:srgbClr val="000000"/>
                </a:solidFill>
                <a:effectLst/>
                <a:latin typeface="Times New Roman" panose="02020603050405020304" pitchFamily="18" charset="0"/>
                <a:cs typeface="Times New Roman" panose="02020603050405020304" pitchFamily="18" charset="0"/>
              </a:rPr>
              <a:t>10 + 40 + 20 * (10/20) = 60</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lnSpc>
                <a:spcPct val="150000"/>
              </a:lnSpc>
            </a:pPr>
            <a:r>
              <a:rPr lang="en-US" sz="2400" b="0" i="0" dirty="0">
                <a:solidFill>
                  <a:srgbClr val="000000"/>
                </a:solidFill>
                <a:effectLst/>
                <a:latin typeface="Times New Roman" panose="02020603050405020304" pitchFamily="18" charset="0"/>
                <a:cs typeface="Times New Roman" panose="02020603050405020304" pitchFamily="18" charset="0"/>
              </a:rPr>
              <a:t>And the total profit is </a:t>
            </a:r>
            <a:r>
              <a:rPr lang="en-US" sz="2400" b="1" i="0" dirty="0">
                <a:solidFill>
                  <a:srgbClr val="000000"/>
                </a:solidFill>
                <a:effectLst/>
                <a:latin typeface="Times New Roman" panose="02020603050405020304" pitchFamily="18" charset="0"/>
                <a:cs typeface="Times New Roman" panose="02020603050405020304" pitchFamily="18" charset="0"/>
              </a:rPr>
              <a:t>100 + 280 + 120 * (10/20) = 380 + 60 = 440</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lnSpc>
                <a:spcPct val="150000"/>
              </a:lnSpc>
            </a:pPr>
            <a:r>
              <a:rPr lang="en-US" sz="2400" b="0" i="0" dirty="0">
                <a:solidFill>
                  <a:srgbClr val="000000"/>
                </a:solidFill>
                <a:effectLst/>
                <a:latin typeface="Times New Roman" panose="02020603050405020304" pitchFamily="18" charset="0"/>
                <a:cs typeface="Times New Roman" panose="02020603050405020304" pitchFamily="18" charset="0"/>
              </a:rPr>
              <a:t>This is the optimal solution. </a:t>
            </a:r>
          </a:p>
          <a:p>
            <a:pPr algn="just">
              <a:lnSpc>
                <a:spcPct val="150000"/>
              </a:lnSpc>
            </a:pPr>
            <a:r>
              <a:rPr lang="en-US" sz="2400" b="0" i="0" dirty="0">
                <a:solidFill>
                  <a:srgbClr val="000000"/>
                </a:solidFill>
                <a:effectLst/>
                <a:latin typeface="Times New Roman" panose="02020603050405020304" pitchFamily="18" charset="0"/>
                <a:cs typeface="Times New Roman" panose="02020603050405020304" pitchFamily="18" charset="0"/>
              </a:rPr>
              <a:t>We cannot gain more profit selecting any different combination of items.</a:t>
            </a:r>
          </a:p>
        </p:txBody>
      </p:sp>
    </p:spTree>
    <p:extLst>
      <p:ext uri="{BB962C8B-B14F-4D97-AF65-F5344CB8AC3E}">
        <p14:creationId xmlns:p14="http://schemas.microsoft.com/office/powerpoint/2010/main" val="3860127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8E95BDB-EE7F-43F5-BD69-3B4091AE3092}" type="slidenum">
              <a:rPr lang="en-IN" smtClean="0"/>
              <a:pPr/>
              <a:t>15</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US" sz="4400" b="1" dirty="0">
                <a:latin typeface="Casper" panose="02000506000000020004"/>
                <a:cs typeface="Mangal" panose="02040503050203030202" pitchFamily="18" charset="0"/>
              </a:rPr>
              <a:t>Algorithm-</a:t>
            </a:r>
            <a:r>
              <a:rPr lang="en-IN" sz="4400" b="1" dirty="0">
                <a:latin typeface="Casper" panose="02000506000000020004"/>
                <a:cs typeface="Mangal" panose="02040503050203030202" pitchFamily="18" charset="0"/>
              </a:rPr>
              <a:t>Knapsack </a:t>
            </a:r>
            <a:r>
              <a:rPr lang="en-IN" sz="4400" b="1" dirty="0">
                <a:effectLst/>
                <a:latin typeface="Casper" panose="02000506000000020004"/>
                <a:ea typeface="Adobe Garamond Pro"/>
                <a:cs typeface="Mangal" panose="02040503050203030202" pitchFamily="18" charset="0"/>
              </a:rPr>
              <a:t>Problem</a:t>
            </a:r>
            <a:endParaRPr lang="en-IN" sz="4400" dirty="0">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8D2836E1-34EC-459A-AF7F-0F23F8DB0B03}"/>
              </a:ext>
            </a:extLst>
          </p:cNvPr>
          <p:cNvSpPr txBox="1"/>
          <p:nvPr/>
        </p:nvSpPr>
        <p:spPr>
          <a:xfrm>
            <a:off x="838200" y="1107577"/>
            <a:ext cx="10328563" cy="52629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Greedy-Fractional-Knapsack (w[1..n], p[1..n], 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 to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 = 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 to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weight + w[</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W then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 = weight + w[</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(W - weight) / w[</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 = W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break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return x </a:t>
            </a:r>
          </a:p>
        </p:txBody>
      </p:sp>
    </p:spTree>
    <p:extLst>
      <p:ext uri="{BB962C8B-B14F-4D97-AF65-F5344CB8AC3E}">
        <p14:creationId xmlns:p14="http://schemas.microsoft.com/office/powerpoint/2010/main" val="1037831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8E95BDB-EE7F-43F5-BD69-3B4091AE3092}" type="slidenum">
              <a:rPr lang="en-IN" smtClean="0"/>
              <a:pPr/>
              <a:t>16</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US" sz="4400" b="1" dirty="0">
                <a:latin typeface="Casper" panose="02000506000000020004"/>
                <a:cs typeface="Mangal" panose="02040503050203030202" pitchFamily="18" charset="0"/>
              </a:rPr>
              <a:t>Analysis-</a:t>
            </a:r>
            <a:r>
              <a:rPr lang="en-IN" sz="4400" b="1" dirty="0">
                <a:latin typeface="Casper" panose="02000506000000020004"/>
                <a:cs typeface="Mangal" panose="02040503050203030202" pitchFamily="18" charset="0"/>
              </a:rPr>
              <a:t>Knapsack </a:t>
            </a:r>
            <a:r>
              <a:rPr lang="en-IN" sz="4400" b="1" dirty="0">
                <a:effectLst/>
                <a:latin typeface="Casper" panose="02000506000000020004"/>
                <a:ea typeface="Adobe Garamond Pro"/>
                <a:cs typeface="Mangal" panose="02040503050203030202" pitchFamily="18" charset="0"/>
              </a:rPr>
              <a:t>Problem</a:t>
            </a:r>
            <a:endParaRPr lang="en-IN" sz="4400" dirty="0">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8D2836E1-34EC-459A-AF7F-0F23F8DB0B03}"/>
              </a:ext>
            </a:extLst>
          </p:cNvPr>
          <p:cNvSpPr txBox="1"/>
          <p:nvPr/>
        </p:nvSpPr>
        <p:spPr>
          <a:xfrm>
            <a:off x="838200" y="1107577"/>
            <a:ext cx="10328563" cy="2308324"/>
          </a:xfrm>
          <a:prstGeom prst="rect">
            <a:avLst/>
          </a:prstGeom>
          <a:noFill/>
        </p:spPr>
        <p:txBody>
          <a:bodyPr wrap="square">
            <a:spAutoFit/>
          </a:bodyPr>
          <a:lstStyle/>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The main time taking step is the sorting of all items in decreasing order of their value / weight ratio.</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If the items are already arranged in the required order, then while loop takes O(n) time.</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The average time complexity of Quick sort is O(</a:t>
            </a:r>
            <a:r>
              <a:rPr lang="en-US" sz="2400" b="0" i="0" dirty="0" err="1">
                <a:solidFill>
                  <a:srgbClr val="303030"/>
                </a:solidFill>
                <a:effectLst/>
                <a:latin typeface="Times New Roman" panose="02020603050405020304" pitchFamily="18" charset="0"/>
                <a:cs typeface="Times New Roman" panose="02020603050405020304" pitchFamily="18" charset="0"/>
              </a:rPr>
              <a:t>nlogn</a:t>
            </a:r>
            <a:r>
              <a:rPr lang="en-US" sz="2400" b="0" i="0" dirty="0">
                <a:solidFill>
                  <a:srgbClr val="303030"/>
                </a:solidFill>
                <a:effectLst/>
                <a:latin typeface="Times New Roman" panose="02020603050405020304" pitchFamily="18" charset="0"/>
                <a:cs typeface="Times New Roman" panose="02020603050405020304" pitchFamily="18" charset="0"/>
              </a:rPr>
              <a:t>).</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Therefore, total time taken including the sort is O(</a:t>
            </a:r>
            <a:r>
              <a:rPr lang="en-US" sz="2400" b="0" i="0" dirty="0" err="1">
                <a:solidFill>
                  <a:srgbClr val="303030"/>
                </a:solidFill>
                <a:effectLst/>
                <a:latin typeface="Times New Roman" panose="02020603050405020304" pitchFamily="18" charset="0"/>
                <a:cs typeface="Times New Roman" panose="02020603050405020304" pitchFamily="18" charset="0"/>
              </a:rPr>
              <a:t>nlogn</a:t>
            </a:r>
            <a:r>
              <a:rPr lang="en-US" sz="2400" b="0" i="0" dirty="0">
                <a:solidFill>
                  <a:srgbClr val="303030"/>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97444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10515600" cy="5069385"/>
          </a:xfrm>
        </p:spPr>
        <p:txBody>
          <a:bodyPr>
            <a:normAutofit lnSpcReduction="10000"/>
          </a:bodyPr>
          <a:lstStyle/>
          <a:p>
            <a:pPr marL="0" indent="0" algn="just">
              <a:lnSpc>
                <a:spcPct val="150000"/>
              </a:lnSpc>
              <a:buNone/>
            </a:pPr>
            <a:r>
              <a:rPr lang="en-US" sz="2400" b="0" i="0" dirty="0">
                <a:solidFill>
                  <a:srgbClr val="000000"/>
                </a:solidFill>
                <a:effectLst/>
                <a:latin typeface="Times New Roman" panose="02020603050405020304" pitchFamily="18" charset="0"/>
                <a:cs typeface="Times New Roman" panose="02020603050405020304" pitchFamily="18" charset="0"/>
              </a:rPr>
              <a:t>In many cases of resource allocation along with some constraint, the problem can be derived in a similar way of Knapsack problem. </a:t>
            </a:r>
          </a:p>
          <a:p>
            <a:pPr marL="0" indent="0" algn="just">
              <a:lnSpc>
                <a:spcPct val="150000"/>
              </a:lnSpc>
              <a:buNone/>
            </a:pPr>
            <a:r>
              <a:rPr lang="en-US" sz="2400" b="0" i="0" dirty="0">
                <a:solidFill>
                  <a:srgbClr val="000000"/>
                </a:solidFill>
                <a:effectLst/>
                <a:latin typeface="Times New Roman" panose="02020603050405020304" pitchFamily="18" charset="0"/>
                <a:cs typeface="Times New Roman" panose="02020603050405020304" pitchFamily="18" charset="0"/>
              </a:rPr>
              <a:t>Following is a set of example.</a:t>
            </a:r>
          </a:p>
          <a:p>
            <a:pPr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Finding the least wasteful way to cut raw materials</a:t>
            </a:r>
          </a:p>
          <a:p>
            <a:pPr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portfolio optimization</a:t>
            </a:r>
          </a:p>
          <a:p>
            <a:pPr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Cutting stock problems</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Space allocation</a:t>
            </a:r>
          </a:p>
          <a:p>
            <a:pPr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Machine scheduling</a:t>
            </a:r>
          </a:p>
          <a:p>
            <a:pPr algn="just">
              <a:lnSpc>
                <a:spcPct val="150000"/>
              </a:lnSpc>
              <a:buFont typeface="Arial" panose="020B0604020202020204" pitchFamily="34" charset="0"/>
              <a:buChar char="•"/>
            </a:pPr>
            <a:endParaRPr lang="en-US" sz="2400" b="0" i="0" dirty="0">
              <a:effectLst/>
              <a:latin typeface="Times New Roman" panose="02020603050405020304" pitchFamily="18" charset="0"/>
              <a:cs typeface="Times New Roman" panose="02020603050405020304" pitchFamily="18" charset="0"/>
            </a:endParaRPr>
          </a:p>
          <a:p>
            <a:pPr marL="0" indent="0" algn="just">
              <a:lnSpc>
                <a:spcPct val="150000"/>
              </a:lnSpc>
              <a:buNone/>
            </a:pPr>
            <a:endParaRPr lang="en-US" altLang="en-US" sz="2400" dirty="0">
              <a:solidFill>
                <a:srgbClr val="44444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8E95BDB-EE7F-43F5-BD69-3B4091AE3092}" type="slidenum">
              <a:rPr lang="en-IN" smtClean="0"/>
              <a:pPr/>
              <a:t>17</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Applications of </a:t>
            </a:r>
            <a:r>
              <a:rPr lang="en-IN" sz="4400" b="1" dirty="0">
                <a:latin typeface="Times New Roman" panose="02020603050405020304" pitchFamily="18" charset="0"/>
                <a:cs typeface="Times New Roman" panose="02020603050405020304" pitchFamily="18" charset="0"/>
              </a:rPr>
              <a:t>Knapsack </a:t>
            </a:r>
            <a:r>
              <a:rPr lang="en-IN" sz="4400" b="1" dirty="0">
                <a:effectLst/>
                <a:latin typeface="Times New Roman" panose="02020603050405020304" pitchFamily="18" charset="0"/>
                <a:ea typeface="Adobe Garamond Pro"/>
                <a:cs typeface="Times New Roman" panose="02020603050405020304" pitchFamily="18" charset="0"/>
              </a:rPr>
              <a:t>Problem</a:t>
            </a:r>
            <a:endParaRPr lang="en-IN" sz="4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34145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10515600" cy="953366"/>
          </a:xfrm>
        </p:spPr>
        <p:txBody>
          <a:bodyPr anchor="t">
            <a:normAutofit fontScale="90000"/>
          </a:bodyPr>
          <a:lstStyle/>
          <a:p>
            <a:pPr algn="l"/>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Casper"/>
                <a:cs typeface="Times New Roman" panose="02020603050405020304" pitchFamily="18" charset="0"/>
              </a:rPr>
            </a:br>
            <a:br>
              <a:rPr lang="en-US" sz="1800" dirty="0">
                <a:latin typeface="Casper"/>
                <a:cs typeface="Times New Roman" panose="02020603050405020304" pitchFamily="18" charset="0"/>
              </a:rPr>
            </a:br>
            <a:r>
              <a:rPr lang="en-US" sz="1800" dirty="0">
                <a:latin typeface="Casper"/>
                <a:cs typeface="Times New Roman" panose="02020603050405020304" pitchFamily="18" charset="0"/>
              </a:rPr>
              <a:t>1)  </a:t>
            </a:r>
            <a:r>
              <a:rPr lang="en-IN" sz="1800" dirty="0">
                <a:latin typeface="Casper"/>
                <a:cs typeface="Times New Roman" panose="02020603050405020304" pitchFamily="18" charset="0"/>
                <a:hlinkClick r:id="rId2">
                  <a:extLst>
                    <a:ext uri="{A12FA001-AC4F-418D-AE19-62706E023703}">
                      <ahyp:hlinkClr xmlns:ahyp="http://schemas.microsoft.com/office/drawing/2018/hyperlinkcolor" val="tx"/>
                    </a:ext>
                  </a:extLst>
                </a:hlinkClick>
              </a:rPr>
              <a:t>https://www.codesdope.com/course/algorithms-greedy-algorithm/</a:t>
            </a:r>
            <a:br>
              <a:rPr lang="en-IN" sz="1800" dirty="0">
                <a:latin typeface="Casper"/>
                <a:cs typeface="Times New Roman" panose="02020603050405020304" pitchFamily="18" charset="0"/>
              </a:rPr>
            </a:br>
            <a:br>
              <a:rPr lang="en-US" sz="1800" dirty="0">
                <a:latin typeface="Casper"/>
                <a:cs typeface="Times New Roman" panose="02020603050405020304" pitchFamily="18" charset="0"/>
              </a:rPr>
            </a:br>
            <a:r>
              <a:rPr lang="en-US" sz="1800" dirty="0">
                <a:latin typeface="Casper"/>
                <a:cs typeface="Times New Roman" panose="02020603050405020304" pitchFamily="18" charset="0"/>
              </a:rPr>
              <a:t>2) </a:t>
            </a:r>
            <a:r>
              <a:rPr lang="en-US" sz="1800" b="1" dirty="0">
                <a:latin typeface="Casper"/>
                <a:cs typeface="Times New Roman" panose="02020603050405020304" pitchFamily="18" charset="0"/>
              </a:rPr>
              <a:t>Data Structures and Algorithms made easy</a:t>
            </a:r>
            <a:r>
              <a:rPr lang="en-US" sz="1800" dirty="0">
                <a:latin typeface="Casper"/>
                <a:cs typeface="Times New Roman" panose="02020603050405020304" pitchFamily="18" charset="0"/>
              </a:rPr>
              <a:t> By </a:t>
            </a:r>
            <a:r>
              <a:rPr lang="en-US" sz="1800" i="1" dirty="0">
                <a:latin typeface="Casper"/>
                <a:cs typeface="Times New Roman" panose="02020603050405020304" pitchFamily="18" charset="0"/>
              </a:rPr>
              <a:t>Narasimha </a:t>
            </a:r>
            <a:r>
              <a:rPr lang="en-US" sz="1800" i="1" dirty="0" err="1">
                <a:latin typeface="Casper"/>
                <a:cs typeface="Times New Roman" panose="02020603050405020304" pitchFamily="18" charset="0"/>
              </a:rPr>
              <a:t>Karumanchi</a:t>
            </a:r>
            <a:r>
              <a:rPr lang="en-US" sz="1800" i="1" dirty="0">
                <a:latin typeface="Casper"/>
                <a:cs typeface="Times New Roman" panose="02020603050405020304" pitchFamily="18" charset="0"/>
              </a:rPr>
              <a:t>.</a:t>
            </a:r>
            <a:br>
              <a:rPr lang="en-US" sz="1800" i="1" dirty="0">
                <a:latin typeface="Casper"/>
                <a:cs typeface="Times New Roman" panose="02020603050405020304" pitchFamily="18" charset="0"/>
              </a:rPr>
            </a:br>
            <a:br>
              <a:rPr lang="en-US" sz="1800" i="1" dirty="0">
                <a:latin typeface="Casper"/>
                <a:cs typeface="Times New Roman" panose="02020603050405020304" pitchFamily="18" charset="0"/>
              </a:rPr>
            </a:br>
            <a:r>
              <a:rPr lang="en-US" sz="1800" i="1" dirty="0">
                <a:latin typeface="Casper"/>
                <a:cs typeface="Times New Roman" panose="02020603050405020304" pitchFamily="18" charset="0"/>
              </a:rPr>
              <a:t>5)  </a:t>
            </a:r>
            <a:r>
              <a:rPr lang="en-US" sz="1800" dirty="0">
                <a:latin typeface="Casper"/>
                <a:cs typeface="Times New Roman" panose="02020603050405020304" pitchFamily="18" charset="0"/>
              </a:rPr>
              <a:t>The Algorithm Design Manual, 2nd Edition by Steven S </a:t>
            </a:r>
            <a:r>
              <a:rPr lang="en-US" sz="1800" dirty="0" err="1">
                <a:latin typeface="Casper"/>
                <a:cs typeface="Times New Roman" panose="02020603050405020304" pitchFamily="18" charset="0"/>
              </a:rPr>
              <a:t>Skiena</a:t>
            </a:r>
            <a:br>
              <a:rPr lang="en-US" sz="1800" dirty="0">
                <a:latin typeface="Casper"/>
                <a:cs typeface="Times New Roman" panose="02020603050405020304" pitchFamily="18" charset="0"/>
              </a:rPr>
            </a:br>
            <a:br>
              <a:rPr lang="en-US" sz="1800" dirty="0">
                <a:latin typeface="Casper"/>
                <a:cs typeface="Times New Roman" panose="02020603050405020304" pitchFamily="18" charset="0"/>
              </a:rPr>
            </a:br>
            <a:r>
              <a:rPr lang="en-US" sz="1800" dirty="0">
                <a:latin typeface="Casper"/>
                <a:cs typeface="Times New Roman" panose="02020603050405020304" pitchFamily="18" charset="0"/>
              </a:rPr>
              <a:t>6) </a:t>
            </a:r>
            <a:r>
              <a:rPr lang="en-US" sz="1800" b="1" dirty="0">
                <a:latin typeface="Casper"/>
                <a:cs typeface="Times New Roman" panose="02020603050405020304" pitchFamily="18" charset="0"/>
              </a:rPr>
              <a:t>Fundamentals of Computer Algorithms - Horowitz and </a:t>
            </a:r>
            <a:r>
              <a:rPr lang="en-US" sz="1800" b="1" dirty="0" err="1">
                <a:latin typeface="Casper"/>
                <a:cs typeface="Times New Roman" panose="02020603050405020304" pitchFamily="18" charset="0"/>
              </a:rPr>
              <a:t>Sahani</a:t>
            </a:r>
            <a:r>
              <a:rPr lang="en-US" sz="1800" dirty="0">
                <a:latin typeface="Casper"/>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3" name="Rectangle 2"/>
          <p:cNvSpPr/>
          <p:nvPr/>
        </p:nvSpPr>
        <p:spPr>
          <a:xfrm>
            <a:off x="838200" y="192881"/>
            <a:ext cx="8693727" cy="769441"/>
          </a:xfrm>
          <a:prstGeom prst="rect">
            <a:avLst/>
          </a:prstGeom>
        </p:spPr>
        <p:txBody>
          <a:bodyPr wrap="square">
            <a:spAutoFit/>
          </a:bodyPr>
          <a:lstStyle/>
          <a:p>
            <a:pPr algn="ctr"/>
            <a:r>
              <a:rPr lang="en-US" sz="4400" b="1" dirty="0">
                <a:latin typeface="Calibri" panose="020F0502020204030204" pitchFamily="34" charset="0"/>
                <a:cs typeface="Calibri" panose="020F0502020204030204" pitchFamily="34" charset="0"/>
              </a:rPr>
              <a:t>References</a:t>
            </a:r>
            <a:r>
              <a:rPr lang="en-US" sz="4400" b="1" dirty="0">
                <a:latin typeface="Times New Roman" panose="02020603050405020304" pitchFamily="18" charset="0"/>
                <a:cs typeface="Times New Roman" panose="02020603050405020304" pitchFamily="18" charset="0"/>
              </a:rPr>
              <a:t> </a:t>
            </a:r>
            <a:endParaRPr lang="en-IN" sz="44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097571AD-EF65-4378-86D6-3AF0DD73CA0C}"/>
              </a:ext>
            </a:extLst>
          </p:cNvPr>
          <p:cNvSpPr/>
          <p:nvPr/>
        </p:nvSpPr>
        <p:spPr>
          <a:xfrm>
            <a:off x="838200" y="1089891"/>
            <a:ext cx="10515600" cy="50823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5855C06-9819-4A06-9C49-58CDAD8CD94B}"/>
              </a:ext>
            </a:extLst>
          </p:cNvPr>
          <p:cNvSpPr/>
          <p:nvPr/>
        </p:nvSpPr>
        <p:spPr>
          <a:xfrm>
            <a:off x="838200" y="136525"/>
            <a:ext cx="8758382"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1DD8B716-3EDB-4874-B04B-3AC9D49BCFFE}"/>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680476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pic>
        <p:nvPicPr>
          <p:cNvPr id="9409" name="Picture 193">
            <a:extLst>
              <a:ext uri="{FF2B5EF4-FFF2-40B4-BE49-F238E27FC236}">
                <a16:creationId xmlns:a16="http://schemas.microsoft.com/office/drawing/2014/main" id="{D510A736-A7AC-45EC-AD0B-05F7D0648E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 y="571500"/>
            <a:ext cx="3429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653AEC38-806D-42D5-A2BC-256726B17AAF}"/>
              </a:ext>
            </a:extLst>
          </p:cNvPr>
          <p:cNvSpPr>
            <a:spLocks noGrp="1"/>
          </p:cNvSpPr>
          <p:nvPr>
            <p:ph type="sldNum" sz="quarter" idx="12"/>
          </p:nvPr>
        </p:nvSpPr>
        <p:spPr/>
        <p:txBody>
          <a:bodyPr/>
          <a:lstStyle/>
          <a:p>
            <a:fld id="{FC9A48AB-23F1-45F1-98E5-D2CDC7A5261D}" type="slidenum">
              <a:rPr lang="en-US" smtClean="0">
                <a:solidFill>
                  <a:prstClr val="black">
                    <a:tint val="75000"/>
                  </a:prstClr>
                </a:solidFill>
              </a:rPr>
              <a:pPr/>
              <a:t>19</a:t>
            </a:fld>
            <a:endParaRPr lang="en-US">
              <a:solidFill>
                <a:prstClr val="black">
                  <a:tint val="75000"/>
                </a:prstClr>
              </a:solidFill>
            </a:endParaRPr>
          </a:p>
        </p:txBody>
      </p:sp>
      <p:sp>
        <p:nvSpPr>
          <p:cNvPr id="16" name="TextBox 15">
            <a:extLst>
              <a:ext uri="{FF2B5EF4-FFF2-40B4-BE49-F238E27FC236}">
                <a16:creationId xmlns:a16="http://schemas.microsoft.com/office/drawing/2014/main" id="{E5F0351E-06FD-4A80-BCDD-3A30B2F6CEAA}"/>
              </a:ext>
            </a:extLst>
          </p:cNvPr>
          <p:cNvSpPr txBox="1"/>
          <p:nvPr/>
        </p:nvSpPr>
        <p:spPr>
          <a:xfrm>
            <a:off x="3306619" y="5490886"/>
            <a:ext cx="3234858" cy="584775"/>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For any Queries-</a:t>
            </a:r>
          </a:p>
          <a:p>
            <a:r>
              <a:rPr lang="en-IN" sz="1600" b="1" dirty="0">
                <a:latin typeface="Times New Roman" panose="02020603050405020304" pitchFamily="18" charset="0"/>
                <a:cs typeface="Times New Roman" panose="02020603050405020304" pitchFamily="18" charset="0"/>
              </a:rPr>
              <a:t>E-Mail: </a:t>
            </a:r>
            <a:r>
              <a:rPr lang="en-IN" sz="1600" dirty="0">
                <a:latin typeface="Times New Roman" panose="02020603050405020304" pitchFamily="18" charset="0"/>
                <a:cs typeface="Times New Roman" panose="02020603050405020304" pitchFamily="18" charset="0"/>
              </a:rPr>
              <a:t>gurpreetkaur.uic@cumail.in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1484</TotalTime>
  <Words>1263</Words>
  <Application>Microsoft Office PowerPoint</Application>
  <PresentationFormat>Widescreen</PresentationFormat>
  <Paragraphs>147</Paragraphs>
  <Slides>19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Calibri</vt:lpstr>
      <vt:lpstr>Calibri Light</vt:lpstr>
      <vt:lpstr>Casper</vt:lpstr>
      <vt:lpstr>Raleway ExtraBold</vt:lpstr>
      <vt:lpstr>The Serif Hand Light</vt:lpstr>
      <vt:lpstr>Times New Roman</vt:lpstr>
      <vt:lpstr>Office Theme</vt:lpstr>
      <vt:lpstr>1_Office Theme</vt:lpstr>
      <vt:lpstr>PowerPoint Presentation</vt:lpstr>
      <vt:lpstr>Topics to be covered</vt:lpstr>
      <vt:lpstr>PowerPoint Presentation</vt:lpstr>
      <vt:lpstr>Components of Greedy Method</vt:lpstr>
      <vt:lpstr>Greedy Method</vt:lpstr>
      <vt:lpstr>Application of Greedy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1)  https://www.codesdope.com/course/algorithms-greedy-algorithm/  2) Data Structures and Algorithms made easy By Narasimha Karumanchi.  5)  The Algorithm Design Manual, 2nd Edition by Steven S Skiena  6) Fundamentals of Computer Algorithms - Horowitz and Sahani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Uttama Garg</dc:creator>
  <cp:lastModifiedBy>Paramjeet Singh</cp:lastModifiedBy>
  <cp:revision>219</cp:revision>
  <dcterms:created xsi:type="dcterms:W3CDTF">2020-06-19T07:16:36Z</dcterms:created>
  <dcterms:modified xsi:type="dcterms:W3CDTF">2025-09-08T10:35:58Z</dcterms:modified>
</cp:coreProperties>
</file>