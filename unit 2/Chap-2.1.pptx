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Lst>
  <p:notesMasterIdLst>
    <p:notesMasterId r:id="rId57"/>
  </p:notesMasterIdLst>
  <p:sldIdLst>
    <p:sldId id="361" r:id="rId3"/>
    <p:sldId id="344" r:id="rId4"/>
    <p:sldId id="390" r:id="rId5"/>
    <p:sldId id="379" r:id="rId6"/>
    <p:sldId id="380" r:id="rId7"/>
    <p:sldId id="381" r:id="rId8"/>
    <p:sldId id="382" r:id="rId9"/>
    <p:sldId id="383" r:id="rId10"/>
    <p:sldId id="384" r:id="rId11"/>
    <p:sldId id="385" r:id="rId12"/>
    <p:sldId id="386" r:id="rId13"/>
    <p:sldId id="387" r:id="rId14"/>
    <p:sldId id="388" r:id="rId15"/>
    <p:sldId id="389" r:id="rId16"/>
    <p:sldId id="391" r:id="rId17"/>
    <p:sldId id="318" r:id="rId18"/>
    <p:sldId id="316" r:id="rId19"/>
    <p:sldId id="319" r:id="rId20"/>
    <p:sldId id="320" r:id="rId21"/>
    <p:sldId id="326" r:id="rId22"/>
    <p:sldId id="321" r:id="rId23"/>
    <p:sldId id="322" r:id="rId24"/>
    <p:sldId id="323" r:id="rId25"/>
    <p:sldId id="327" r:id="rId26"/>
    <p:sldId id="328" r:id="rId27"/>
    <p:sldId id="392" r:id="rId28"/>
    <p:sldId id="330" r:id="rId29"/>
    <p:sldId id="393" r:id="rId30"/>
    <p:sldId id="394" r:id="rId31"/>
    <p:sldId id="395" r:id="rId32"/>
    <p:sldId id="396" r:id="rId33"/>
    <p:sldId id="397" r:id="rId34"/>
    <p:sldId id="398" r:id="rId35"/>
    <p:sldId id="324" r:id="rId36"/>
    <p:sldId id="399" r:id="rId37"/>
    <p:sldId id="400" r:id="rId38"/>
    <p:sldId id="329" r:id="rId39"/>
    <p:sldId id="401" r:id="rId40"/>
    <p:sldId id="402" r:id="rId41"/>
    <p:sldId id="403" r:id="rId42"/>
    <p:sldId id="404" r:id="rId43"/>
    <p:sldId id="405" r:id="rId44"/>
    <p:sldId id="407" r:id="rId45"/>
    <p:sldId id="417" r:id="rId46"/>
    <p:sldId id="408" r:id="rId47"/>
    <p:sldId id="409" r:id="rId48"/>
    <p:sldId id="410" r:id="rId49"/>
    <p:sldId id="412" r:id="rId50"/>
    <p:sldId id="413" r:id="rId51"/>
    <p:sldId id="414" r:id="rId52"/>
    <p:sldId id="415" r:id="rId53"/>
    <p:sldId id="416" r:id="rId54"/>
    <p:sldId id="268" r:id="rId55"/>
    <p:sldId id="279"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46" d="100"/>
          <a:sy n="46" d="100"/>
        </p:scale>
        <p:origin x="58" y="7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962FA2-C996-4D9D-A358-FD4E9DC4D022}" type="datetimeFigureOut">
              <a:rPr lang="en-IN" smtClean="0"/>
              <a:t>13-09-2025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CD9F31-B2BE-4940-84CF-33910A1DD6E8}" type="slidenum">
              <a:rPr lang="en-IN" smtClean="0"/>
              <a:t>‹#›</a:t>
            </a:fld>
            <a:endParaRPr lang="en-IN"/>
          </a:p>
        </p:txBody>
      </p:sp>
    </p:spTree>
    <p:extLst>
      <p:ext uri="{BB962C8B-B14F-4D97-AF65-F5344CB8AC3E}">
        <p14:creationId xmlns:p14="http://schemas.microsoft.com/office/powerpoint/2010/main" val="2519429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D59FF-52CD-4547-B926-5A06C17C9CE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9CBBB92-A735-46F2-A0C6-84A57AE2EB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21F1E74-8121-4010-8E54-2B6288485EA8}"/>
              </a:ext>
            </a:extLst>
          </p:cNvPr>
          <p:cNvSpPr>
            <a:spLocks noGrp="1"/>
          </p:cNvSpPr>
          <p:nvPr>
            <p:ph type="dt" sz="half" idx="10"/>
          </p:nvPr>
        </p:nvSpPr>
        <p:spPr/>
        <p:txBody>
          <a:bodyPr/>
          <a:lstStyle/>
          <a:p>
            <a:fld id="{C3ED2120-49A2-400F-B8C8-26FFF09FA081}" type="datetime1">
              <a:rPr lang="en-IN" smtClean="0"/>
              <a:t>13-09-2025</a:t>
            </a:fld>
            <a:endParaRPr lang="en-IN"/>
          </a:p>
        </p:txBody>
      </p:sp>
      <p:sp>
        <p:nvSpPr>
          <p:cNvPr id="5" name="Footer Placeholder 4">
            <a:extLst>
              <a:ext uri="{FF2B5EF4-FFF2-40B4-BE49-F238E27FC236}">
                <a16:creationId xmlns:a16="http://schemas.microsoft.com/office/drawing/2014/main" id="{20390C88-281E-4537-BEA3-D2AE5AF572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273825-D25D-4F04-B482-172C60CACDAD}"/>
              </a:ext>
            </a:extLst>
          </p:cNvPr>
          <p:cNvSpPr>
            <a:spLocks noGrp="1"/>
          </p:cNvSpPr>
          <p:nvPr>
            <p:ph type="sldNum" sz="quarter" idx="12"/>
          </p:nvPr>
        </p:nvSpPr>
        <p:spPr/>
        <p:txBody>
          <a:bodyPr/>
          <a:lstStyle/>
          <a:p>
            <a:fld id="{C60DEA4B-34B4-4AC2-B43A-8ADFF4CF648D}" type="slidenum">
              <a:rPr lang="en-IN" smtClean="0"/>
              <a:t>‹#›</a:t>
            </a:fld>
            <a:endParaRPr lang="en-IN"/>
          </a:p>
        </p:txBody>
      </p:sp>
    </p:spTree>
    <p:extLst>
      <p:ext uri="{BB962C8B-B14F-4D97-AF65-F5344CB8AC3E}">
        <p14:creationId xmlns:p14="http://schemas.microsoft.com/office/powerpoint/2010/main" val="2155644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7EDF8-BE30-4357-BB94-7C0C88467C9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D228ADD-99FB-4B32-8EFD-2F5B477195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339196-1970-4933-B82B-E1CA6B9AF863}"/>
              </a:ext>
            </a:extLst>
          </p:cNvPr>
          <p:cNvSpPr>
            <a:spLocks noGrp="1"/>
          </p:cNvSpPr>
          <p:nvPr>
            <p:ph type="dt" sz="half" idx="10"/>
          </p:nvPr>
        </p:nvSpPr>
        <p:spPr/>
        <p:txBody>
          <a:bodyPr/>
          <a:lstStyle/>
          <a:p>
            <a:fld id="{BDDD3DC3-77B8-45CA-BA61-8C8A4192F575}" type="datetime1">
              <a:rPr lang="en-IN" smtClean="0"/>
              <a:t>13-09-2025</a:t>
            </a:fld>
            <a:endParaRPr lang="en-IN"/>
          </a:p>
        </p:txBody>
      </p:sp>
      <p:sp>
        <p:nvSpPr>
          <p:cNvPr id="5" name="Footer Placeholder 4">
            <a:extLst>
              <a:ext uri="{FF2B5EF4-FFF2-40B4-BE49-F238E27FC236}">
                <a16:creationId xmlns:a16="http://schemas.microsoft.com/office/drawing/2014/main" id="{8AB49120-F536-42AE-A3B9-9FAC9B880E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0015BB-E37E-45FD-B80F-E1B4855A2323}"/>
              </a:ext>
            </a:extLst>
          </p:cNvPr>
          <p:cNvSpPr>
            <a:spLocks noGrp="1"/>
          </p:cNvSpPr>
          <p:nvPr>
            <p:ph type="sldNum" sz="quarter" idx="12"/>
          </p:nvPr>
        </p:nvSpPr>
        <p:spPr/>
        <p:txBody>
          <a:bodyPr/>
          <a:lstStyle/>
          <a:p>
            <a:fld id="{C60DEA4B-34B4-4AC2-B43A-8ADFF4CF648D}" type="slidenum">
              <a:rPr lang="en-IN" smtClean="0"/>
              <a:t>‹#›</a:t>
            </a:fld>
            <a:endParaRPr lang="en-IN"/>
          </a:p>
        </p:txBody>
      </p:sp>
    </p:spTree>
    <p:extLst>
      <p:ext uri="{BB962C8B-B14F-4D97-AF65-F5344CB8AC3E}">
        <p14:creationId xmlns:p14="http://schemas.microsoft.com/office/powerpoint/2010/main" val="839736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65262-9D2A-4FFC-9B04-24B3B6B0A1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A402565-0E7B-466B-9735-E6B1C69950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40B7D5-FCDC-4090-ACC3-2500B777A538}"/>
              </a:ext>
            </a:extLst>
          </p:cNvPr>
          <p:cNvSpPr>
            <a:spLocks noGrp="1"/>
          </p:cNvSpPr>
          <p:nvPr>
            <p:ph type="dt" sz="half" idx="10"/>
          </p:nvPr>
        </p:nvSpPr>
        <p:spPr/>
        <p:txBody>
          <a:bodyPr/>
          <a:lstStyle/>
          <a:p>
            <a:fld id="{85BB8C2C-9C8A-4684-810B-E57DD48CB502}" type="datetime1">
              <a:rPr lang="en-IN" smtClean="0"/>
              <a:t>13-09-2025</a:t>
            </a:fld>
            <a:endParaRPr lang="en-IN"/>
          </a:p>
        </p:txBody>
      </p:sp>
      <p:sp>
        <p:nvSpPr>
          <p:cNvPr id="5" name="Footer Placeholder 4">
            <a:extLst>
              <a:ext uri="{FF2B5EF4-FFF2-40B4-BE49-F238E27FC236}">
                <a16:creationId xmlns:a16="http://schemas.microsoft.com/office/drawing/2014/main" id="{121F72F2-24B3-4DC7-9950-8E6152328A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32264F-E39E-40D8-B06E-FDF960117066}"/>
              </a:ext>
            </a:extLst>
          </p:cNvPr>
          <p:cNvSpPr>
            <a:spLocks noGrp="1"/>
          </p:cNvSpPr>
          <p:nvPr>
            <p:ph type="sldNum" sz="quarter" idx="12"/>
          </p:nvPr>
        </p:nvSpPr>
        <p:spPr/>
        <p:txBody>
          <a:bodyPr/>
          <a:lstStyle/>
          <a:p>
            <a:fld id="{C60DEA4B-34B4-4AC2-B43A-8ADFF4CF648D}" type="slidenum">
              <a:rPr lang="en-IN" smtClean="0"/>
              <a:t>‹#›</a:t>
            </a:fld>
            <a:endParaRPr lang="en-IN"/>
          </a:p>
        </p:txBody>
      </p:sp>
    </p:spTree>
    <p:extLst>
      <p:ext uri="{BB962C8B-B14F-4D97-AF65-F5344CB8AC3E}">
        <p14:creationId xmlns:p14="http://schemas.microsoft.com/office/powerpoint/2010/main" val="3176097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7807C-B2EE-404B-A769-B0A577CBE6E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1BFA969-9179-4B92-98D9-FAD1E34B33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DB3142B-C6F2-4170-98A6-E99958BA0C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60492E5-1937-4D7A-A39C-4EC9552598C3}"/>
              </a:ext>
            </a:extLst>
          </p:cNvPr>
          <p:cNvSpPr>
            <a:spLocks noGrp="1"/>
          </p:cNvSpPr>
          <p:nvPr>
            <p:ph type="dt" sz="half" idx="10"/>
          </p:nvPr>
        </p:nvSpPr>
        <p:spPr/>
        <p:txBody>
          <a:bodyPr/>
          <a:lstStyle/>
          <a:p>
            <a:fld id="{81F87085-630F-4EB1-BDDC-9BBF2734D804}" type="datetime1">
              <a:rPr lang="en-IN" smtClean="0"/>
              <a:t>13-09-2025</a:t>
            </a:fld>
            <a:endParaRPr lang="en-IN"/>
          </a:p>
        </p:txBody>
      </p:sp>
      <p:sp>
        <p:nvSpPr>
          <p:cNvPr id="6" name="Footer Placeholder 5">
            <a:extLst>
              <a:ext uri="{FF2B5EF4-FFF2-40B4-BE49-F238E27FC236}">
                <a16:creationId xmlns:a16="http://schemas.microsoft.com/office/drawing/2014/main" id="{E623D6B0-F9B0-4209-A706-DBA332019E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3D6A2A1-E497-43B5-A94B-00541A2C5647}"/>
              </a:ext>
            </a:extLst>
          </p:cNvPr>
          <p:cNvSpPr>
            <a:spLocks noGrp="1"/>
          </p:cNvSpPr>
          <p:nvPr>
            <p:ph type="sldNum" sz="quarter" idx="12"/>
          </p:nvPr>
        </p:nvSpPr>
        <p:spPr/>
        <p:txBody>
          <a:bodyPr/>
          <a:lstStyle/>
          <a:p>
            <a:fld id="{C60DEA4B-34B4-4AC2-B43A-8ADFF4CF648D}" type="slidenum">
              <a:rPr lang="en-IN" smtClean="0"/>
              <a:t>‹#›</a:t>
            </a:fld>
            <a:endParaRPr lang="en-IN"/>
          </a:p>
        </p:txBody>
      </p:sp>
    </p:spTree>
    <p:extLst>
      <p:ext uri="{BB962C8B-B14F-4D97-AF65-F5344CB8AC3E}">
        <p14:creationId xmlns:p14="http://schemas.microsoft.com/office/powerpoint/2010/main" val="35913589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23968-0271-4A09-BE43-844EA3A6EF3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778D556-71C8-460A-9A4E-9F61F6952C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7563A1-B6A3-4F96-A07A-4452B3AF5F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1F77E52-626F-47CC-BD78-33C2F7E962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E4E4058-41C6-4BAE-A034-DA798FD58F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89102EC-EAFB-4ECE-9E8B-69EA0DD14ECA}"/>
              </a:ext>
            </a:extLst>
          </p:cNvPr>
          <p:cNvSpPr>
            <a:spLocks noGrp="1"/>
          </p:cNvSpPr>
          <p:nvPr>
            <p:ph type="dt" sz="half" idx="10"/>
          </p:nvPr>
        </p:nvSpPr>
        <p:spPr/>
        <p:txBody>
          <a:bodyPr/>
          <a:lstStyle/>
          <a:p>
            <a:fld id="{DCA2FE1D-21E2-4DA2-B859-5B19B62EFE4B}" type="datetime1">
              <a:rPr lang="en-IN" smtClean="0"/>
              <a:t>13-09-2025</a:t>
            </a:fld>
            <a:endParaRPr lang="en-IN"/>
          </a:p>
        </p:txBody>
      </p:sp>
      <p:sp>
        <p:nvSpPr>
          <p:cNvPr id="8" name="Footer Placeholder 7">
            <a:extLst>
              <a:ext uri="{FF2B5EF4-FFF2-40B4-BE49-F238E27FC236}">
                <a16:creationId xmlns:a16="http://schemas.microsoft.com/office/drawing/2014/main" id="{1C3214BD-4893-4771-B455-A0926574E67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3D3EBA8-2743-4C01-98F4-5A6FA5569A3D}"/>
              </a:ext>
            </a:extLst>
          </p:cNvPr>
          <p:cNvSpPr>
            <a:spLocks noGrp="1"/>
          </p:cNvSpPr>
          <p:nvPr>
            <p:ph type="sldNum" sz="quarter" idx="12"/>
          </p:nvPr>
        </p:nvSpPr>
        <p:spPr/>
        <p:txBody>
          <a:bodyPr/>
          <a:lstStyle/>
          <a:p>
            <a:fld id="{C60DEA4B-34B4-4AC2-B43A-8ADFF4CF648D}" type="slidenum">
              <a:rPr lang="en-IN" smtClean="0"/>
              <a:t>‹#›</a:t>
            </a:fld>
            <a:endParaRPr lang="en-IN"/>
          </a:p>
        </p:txBody>
      </p:sp>
    </p:spTree>
    <p:extLst>
      <p:ext uri="{BB962C8B-B14F-4D97-AF65-F5344CB8AC3E}">
        <p14:creationId xmlns:p14="http://schemas.microsoft.com/office/powerpoint/2010/main" val="3758202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87400-72AE-4258-B989-8D77493B89B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14D8A79-C0DF-4153-863D-3146C02AAC09}"/>
              </a:ext>
            </a:extLst>
          </p:cNvPr>
          <p:cNvSpPr>
            <a:spLocks noGrp="1"/>
          </p:cNvSpPr>
          <p:nvPr>
            <p:ph type="dt" sz="half" idx="10"/>
          </p:nvPr>
        </p:nvSpPr>
        <p:spPr/>
        <p:txBody>
          <a:bodyPr/>
          <a:lstStyle/>
          <a:p>
            <a:fld id="{097FC029-134F-4411-AEC2-CC1D77A78955}" type="datetime1">
              <a:rPr lang="en-IN" smtClean="0"/>
              <a:t>13-09-2025</a:t>
            </a:fld>
            <a:endParaRPr lang="en-IN"/>
          </a:p>
        </p:txBody>
      </p:sp>
      <p:sp>
        <p:nvSpPr>
          <p:cNvPr id="4" name="Footer Placeholder 3">
            <a:extLst>
              <a:ext uri="{FF2B5EF4-FFF2-40B4-BE49-F238E27FC236}">
                <a16:creationId xmlns:a16="http://schemas.microsoft.com/office/drawing/2014/main" id="{6F5CF422-4266-4B9A-8006-524372FEC83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5933A62-05C2-44E7-BC95-E3CD81ADF969}"/>
              </a:ext>
            </a:extLst>
          </p:cNvPr>
          <p:cNvSpPr>
            <a:spLocks noGrp="1"/>
          </p:cNvSpPr>
          <p:nvPr>
            <p:ph type="sldNum" sz="quarter" idx="12"/>
          </p:nvPr>
        </p:nvSpPr>
        <p:spPr/>
        <p:txBody>
          <a:bodyPr/>
          <a:lstStyle/>
          <a:p>
            <a:fld id="{C60DEA4B-34B4-4AC2-B43A-8ADFF4CF648D}" type="slidenum">
              <a:rPr lang="en-IN" smtClean="0"/>
              <a:t>‹#›</a:t>
            </a:fld>
            <a:endParaRPr lang="en-IN"/>
          </a:p>
        </p:txBody>
      </p:sp>
    </p:spTree>
    <p:extLst>
      <p:ext uri="{BB962C8B-B14F-4D97-AF65-F5344CB8AC3E}">
        <p14:creationId xmlns:p14="http://schemas.microsoft.com/office/powerpoint/2010/main" val="631309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6088E0-4692-4986-BE04-F1EEE1DD89EB}"/>
              </a:ext>
            </a:extLst>
          </p:cNvPr>
          <p:cNvSpPr>
            <a:spLocks noGrp="1"/>
          </p:cNvSpPr>
          <p:nvPr>
            <p:ph type="dt" sz="half" idx="10"/>
          </p:nvPr>
        </p:nvSpPr>
        <p:spPr/>
        <p:txBody>
          <a:bodyPr/>
          <a:lstStyle/>
          <a:p>
            <a:fld id="{0F2AB72E-0CDE-4155-BD23-DE259C1689C5}" type="datetime1">
              <a:rPr lang="en-IN" smtClean="0"/>
              <a:t>13-09-2025</a:t>
            </a:fld>
            <a:endParaRPr lang="en-IN"/>
          </a:p>
        </p:txBody>
      </p:sp>
      <p:sp>
        <p:nvSpPr>
          <p:cNvPr id="3" name="Footer Placeholder 2">
            <a:extLst>
              <a:ext uri="{FF2B5EF4-FFF2-40B4-BE49-F238E27FC236}">
                <a16:creationId xmlns:a16="http://schemas.microsoft.com/office/drawing/2014/main" id="{6FD4CB74-26A6-47F4-883E-321CF6A7BC9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5ED8B1F-E5A4-4C61-9942-FEC1637EA1B6}"/>
              </a:ext>
            </a:extLst>
          </p:cNvPr>
          <p:cNvSpPr>
            <a:spLocks noGrp="1"/>
          </p:cNvSpPr>
          <p:nvPr>
            <p:ph type="sldNum" sz="quarter" idx="12"/>
          </p:nvPr>
        </p:nvSpPr>
        <p:spPr/>
        <p:txBody>
          <a:bodyPr/>
          <a:lstStyle/>
          <a:p>
            <a:fld id="{C60DEA4B-34B4-4AC2-B43A-8ADFF4CF648D}" type="slidenum">
              <a:rPr lang="en-IN" smtClean="0"/>
              <a:t>‹#›</a:t>
            </a:fld>
            <a:endParaRPr lang="en-IN"/>
          </a:p>
        </p:txBody>
      </p:sp>
    </p:spTree>
    <p:extLst>
      <p:ext uri="{BB962C8B-B14F-4D97-AF65-F5344CB8AC3E}">
        <p14:creationId xmlns:p14="http://schemas.microsoft.com/office/powerpoint/2010/main" val="2192870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2E5F2-27E2-483C-B7E2-96BFB4FD4F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0A2EE3E-904B-4D51-889C-1D8BA5A847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054E018-474B-40B5-AA93-981AEEB350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CE36F9-1345-4499-9326-73202B13267D}"/>
              </a:ext>
            </a:extLst>
          </p:cNvPr>
          <p:cNvSpPr>
            <a:spLocks noGrp="1"/>
          </p:cNvSpPr>
          <p:nvPr>
            <p:ph type="dt" sz="half" idx="10"/>
          </p:nvPr>
        </p:nvSpPr>
        <p:spPr/>
        <p:txBody>
          <a:bodyPr/>
          <a:lstStyle/>
          <a:p>
            <a:fld id="{85AF5BCB-F407-4D31-BA30-2FDD84777677}" type="datetime1">
              <a:rPr lang="en-IN" smtClean="0"/>
              <a:t>13-09-2025</a:t>
            </a:fld>
            <a:endParaRPr lang="en-IN"/>
          </a:p>
        </p:txBody>
      </p:sp>
      <p:sp>
        <p:nvSpPr>
          <p:cNvPr id="6" name="Footer Placeholder 5">
            <a:extLst>
              <a:ext uri="{FF2B5EF4-FFF2-40B4-BE49-F238E27FC236}">
                <a16:creationId xmlns:a16="http://schemas.microsoft.com/office/drawing/2014/main" id="{F39D3C60-044A-4F96-A513-186D062ED70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56BC095-ADCA-4383-83BB-5A07BD0D70AD}"/>
              </a:ext>
            </a:extLst>
          </p:cNvPr>
          <p:cNvSpPr>
            <a:spLocks noGrp="1"/>
          </p:cNvSpPr>
          <p:nvPr>
            <p:ph type="sldNum" sz="quarter" idx="12"/>
          </p:nvPr>
        </p:nvSpPr>
        <p:spPr/>
        <p:txBody>
          <a:bodyPr/>
          <a:lstStyle/>
          <a:p>
            <a:fld id="{C60DEA4B-34B4-4AC2-B43A-8ADFF4CF648D}" type="slidenum">
              <a:rPr lang="en-IN" smtClean="0"/>
              <a:t>‹#›</a:t>
            </a:fld>
            <a:endParaRPr lang="en-IN"/>
          </a:p>
        </p:txBody>
      </p:sp>
    </p:spTree>
    <p:extLst>
      <p:ext uri="{BB962C8B-B14F-4D97-AF65-F5344CB8AC3E}">
        <p14:creationId xmlns:p14="http://schemas.microsoft.com/office/powerpoint/2010/main" val="36079104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EDF00-A846-4E0B-B14F-B6733866AD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70D770B-EE78-4CB2-9C96-C39D4B5A47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325F049-12FD-4E58-8D16-EA26085D00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9115AE-572E-4E7D-84D7-02A9E0C46BFA}"/>
              </a:ext>
            </a:extLst>
          </p:cNvPr>
          <p:cNvSpPr>
            <a:spLocks noGrp="1"/>
          </p:cNvSpPr>
          <p:nvPr>
            <p:ph type="dt" sz="half" idx="10"/>
          </p:nvPr>
        </p:nvSpPr>
        <p:spPr/>
        <p:txBody>
          <a:bodyPr/>
          <a:lstStyle/>
          <a:p>
            <a:fld id="{70750075-DB03-4FC1-BA6F-B0898AC7E720}" type="datetime1">
              <a:rPr lang="en-IN" smtClean="0"/>
              <a:t>13-09-2025</a:t>
            </a:fld>
            <a:endParaRPr lang="en-IN"/>
          </a:p>
        </p:txBody>
      </p:sp>
      <p:sp>
        <p:nvSpPr>
          <p:cNvPr id="6" name="Footer Placeholder 5">
            <a:extLst>
              <a:ext uri="{FF2B5EF4-FFF2-40B4-BE49-F238E27FC236}">
                <a16:creationId xmlns:a16="http://schemas.microsoft.com/office/drawing/2014/main" id="{42609F1A-F1AA-4720-97D6-2896A8E765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CB0BE8-0B85-4E6E-A448-425624F310A7}"/>
              </a:ext>
            </a:extLst>
          </p:cNvPr>
          <p:cNvSpPr>
            <a:spLocks noGrp="1"/>
          </p:cNvSpPr>
          <p:nvPr>
            <p:ph type="sldNum" sz="quarter" idx="12"/>
          </p:nvPr>
        </p:nvSpPr>
        <p:spPr/>
        <p:txBody>
          <a:bodyPr/>
          <a:lstStyle/>
          <a:p>
            <a:fld id="{C60DEA4B-34B4-4AC2-B43A-8ADFF4CF648D}" type="slidenum">
              <a:rPr lang="en-IN" smtClean="0"/>
              <a:t>‹#›</a:t>
            </a:fld>
            <a:endParaRPr lang="en-IN"/>
          </a:p>
        </p:txBody>
      </p:sp>
    </p:spTree>
    <p:extLst>
      <p:ext uri="{BB962C8B-B14F-4D97-AF65-F5344CB8AC3E}">
        <p14:creationId xmlns:p14="http://schemas.microsoft.com/office/powerpoint/2010/main" val="2739837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9C99B-DA25-4E96-B5F4-DE72EC07A98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F134AC2-39D4-4A76-A6CD-3764F4E1D19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7CF5FB-2E37-49B3-9E9E-B4DCAD2B7B53}"/>
              </a:ext>
            </a:extLst>
          </p:cNvPr>
          <p:cNvSpPr>
            <a:spLocks noGrp="1"/>
          </p:cNvSpPr>
          <p:nvPr>
            <p:ph type="dt" sz="half" idx="10"/>
          </p:nvPr>
        </p:nvSpPr>
        <p:spPr/>
        <p:txBody>
          <a:bodyPr/>
          <a:lstStyle/>
          <a:p>
            <a:fld id="{4AC479AC-924C-4D57-9C64-D60E839C7E19}" type="datetime1">
              <a:rPr lang="en-IN" smtClean="0"/>
              <a:t>13-09-2025</a:t>
            </a:fld>
            <a:endParaRPr lang="en-IN"/>
          </a:p>
        </p:txBody>
      </p:sp>
      <p:sp>
        <p:nvSpPr>
          <p:cNvPr id="5" name="Footer Placeholder 4">
            <a:extLst>
              <a:ext uri="{FF2B5EF4-FFF2-40B4-BE49-F238E27FC236}">
                <a16:creationId xmlns:a16="http://schemas.microsoft.com/office/drawing/2014/main" id="{B5CB1CAE-A05D-4EA3-AC05-6C5EA80A88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7996AB-BEAD-4E89-8077-82EF973A26D4}"/>
              </a:ext>
            </a:extLst>
          </p:cNvPr>
          <p:cNvSpPr>
            <a:spLocks noGrp="1"/>
          </p:cNvSpPr>
          <p:nvPr>
            <p:ph type="sldNum" sz="quarter" idx="12"/>
          </p:nvPr>
        </p:nvSpPr>
        <p:spPr/>
        <p:txBody>
          <a:bodyPr/>
          <a:lstStyle/>
          <a:p>
            <a:fld id="{C60DEA4B-34B4-4AC2-B43A-8ADFF4CF648D}" type="slidenum">
              <a:rPr lang="en-IN" smtClean="0"/>
              <a:t>‹#›</a:t>
            </a:fld>
            <a:endParaRPr lang="en-IN"/>
          </a:p>
        </p:txBody>
      </p:sp>
    </p:spTree>
    <p:extLst>
      <p:ext uri="{BB962C8B-B14F-4D97-AF65-F5344CB8AC3E}">
        <p14:creationId xmlns:p14="http://schemas.microsoft.com/office/powerpoint/2010/main" val="1342800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2659A3-7C8D-45A2-8250-49FE44DAC7A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0717036-1B1F-42EB-A415-FE5564A656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F0E806-80D4-4E21-A13E-539ADA8D1D68}"/>
              </a:ext>
            </a:extLst>
          </p:cNvPr>
          <p:cNvSpPr>
            <a:spLocks noGrp="1"/>
          </p:cNvSpPr>
          <p:nvPr>
            <p:ph type="dt" sz="half" idx="10"/>
          </p:nvPr>
        </p:nvSpPr>
        <p:spPr/>
        <p:txBody>
          <a:bodyPr/>
          <a:lstStyle/>
          <a:p>
            <a:fld id="{8A1EF2A4-9873-473A-B0D2-255A1809B208}" type="datetime1">
              <a:rPr lang="en-IN" smtClean="0"/>
              <a:t>13-09-2025</a:t>
            </a:fld>
            <a:endParaRPr lang="en-IN"/>
          </a:p>
        </p:txBody>
      </p:sp>
      <p:sp>
        <p:nvSpPr>
          <p:cNvPr id="5" name="Footer Placeholder 4">
            <a:extLst>
              <a:ext uri="{FF2B5EF4-FFF2-40B4-BE49-F238E27FC236}">
                <a16:creationId xmlns:a16="http://schemas.microsoft.com/office/drawing/2014/main" id="{8049FCD6-1AEB-4962-9571-4263B61B4F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4A4BAA-2025-4952-833C-E34A10DC4301}"/>
              </a:ext>
            </a:extLst>
          </p:cNvPr>
          <p:cNvSpPr>
            <a:spLocks noGrp="1"/>
          </p:cNvSpPr>
          <p:nvPr>
            <p:ph type="sldNum" sz="quarter" idx="12"/>
          </p:nvPr>
        </p:nvSpPr>
        <p:spPr/>
        <p:txBody>
          <a:bodyPr/>
          <a:lstStyle/>
          <a:p>
            <a:fld id="{C60DEA4B-34B4-4AC2-B43A-8ADFF4CF648D}" type="slidenum">
              <a:rPr lang="en-IN" smtClean="0"/>
              <a:t>‹#›</a:t>
            </a:fld>
            <a:endParaRPr lang="en-IN"/>
          </a:p>
        </p:txBody>
      </p:sp>
    </p:spTree>
    <p:extLst>
      <p:ext uri="{BB962C8B-B14F-4D97-AF65-F5344CB8AC3E}">
        <p14:creationId xmlns:p14="http://schemas.microsoft.com/office/powerpoint/2010/main" val="41319081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46313"/>
            <a:ext cx="9144000" cy="2387600"/>
          </a:xfrm>
          <a:prstGeom prst="rect">
            <a:avLst/>
          </a:prstGeom>
        </p:spPr>
        <p:txBody>
          <a:bodyPr anchor="b"/>
          <a:lstStyle>
            <a:lvl1pPr algn="ctr">
              <a:defRPr sz="6000"/>
            </a:lvl1pPr>
          </a:lstStyle>
          <a:p>
            <a:r>
              <a:rPr lang="en-US"/>
              <a:t>Click to edit Master title style</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lvl1pPr>
              <a:defRPr kumimoji="0" lang="en-US" altLang="en-US" sz="1800" b="1" i="0" u="none" strike="noStrike" kern="1200" cap="none" spc="0" normalizeH="0" baseline="0" noProof="0" smtClean="0">
                <a:ln>
                  <a:noFill/>
                </a:ln>
                <a:solidFill>
                  <a:prstClr val="white"/>
                </a:solidFill>
                <a:effectLst/>
                <a:uLnTx/>
                <a:uFillTx/>
                <a:latin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AFA1D54-BB41-49C1-92E7-B3BFFC19DBC1}" type="datetime1">
              <a:rPr kumimoji="0" lang="en-IN" altLang="en-US" sz="1800" b="1" i="0" u="none" strike="noStrike" kern="1200" cap="none" spc="0" normalizeH="0" baseline="0" noProof="0" smtClean="0">
                <a:ln>
                  <a:noFill/>
                </a:ln>
                <a:solidFill>
                  <a:prstClr val="white"/>
                </a:solidFill>
                <a:effectLst/>
                <a:uLnTx/>
                <a:uFillTx/>
                <a:latin typeface="Calibri" panose="020F0502020204030204" pitchFamily="34" charset="0"/>
                <a:ea typeface="+mn-ea"/>
                <a:cs typeface="+mn-cs"/>
              </a:rPr>
              <a:t>13-09-2025</a:t>
            </a:fld>
            <a:endParaRPr kumimoji="0" lang="en-IN" altLang="en-US" sz="1800" b="1" i="0" u="none" strike="noStrike" kern="120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FD231AE-402A-4394-B01A-F986496EE090}" type="slidenum">
              <a:rPr kumimoji="0" lang="en-IN"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974932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51DE6C7-9F78-4D01-A165-A27F83493D87}" type="datetime1">
              <a:rPr lang="en-IN" smtClean="0">
                <a:solidFill>
                  <a:prstClr val="black">
                    <a:tint val="75000"/>
                  </a:prstClr>
                </a:solidFill>
              </a:rPr>
              <a:t>13-09-2025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388831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FCCCA92-FD60-4EE4-A613-BD692BB445EA}" type="datetime1">
              <a:rPr lang="en-IN" smtClean="0"/>
              <a:t>13-09-2025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2503328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BCCF61-4844-40CD-B14C-46E1ADFBF427}" type="datetime1">
              <a:rPr lang="en-IN" smtClean="0"/>
              <a:t>13-09-2025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1335197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9FAA0B-0E94-4505-91B2-2EA39BC64FBA}" type="datetime1">
              <a:rPr lang="en-IN" smtClean="0"/>
              <a:t>13-09-2025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960287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6BE2B3B-D391-4522-B615-B96DD6ED6AB2}" type="datetime1">
              <a:rPr lang="en-IN" smtClean="0"/>
              <a:t>13-09-2025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3191936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C6FF987-B3D0-4D22-9D84-BD63FFF843AA}" type="datetime1">
              <a:rPr lang="en-IN" smtClean="0"/>
              <a:t>13-09-2025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1149126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180F2EB-C3ED-4EA1-B540-D5BA9FD5767F}" type="datetime1">
              <a:rPr lang="en-IN" smtClean="0"/>
              <a:t>13-09-2025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7653290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604E8E-540B-47B6-8CCB-528EED7ED2B9}" type="datetime1">
              <a:rPr lang="en-IN" smtClean="0"/>
              <a:t>13-09-2025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6937274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4BCBD77-7E25-4696-BA34-7A7D5D7C2164}" type="datetime1">
              <a:rPr lang="en-IN" smtClean="0"/>
              <a:t>13-09-2025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2755914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518EFA-9003-4777-A85A-B31FFE54E871}" type="datetime1">
              <a:rPr lang="en-IN" smtClean="0"/>
              <a:t>13-09-2025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1841540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BFDF51-648B-48B1-B8E5-9146DB38CC53}" type="datetime1">
              <a:rPr lang="en-IN" smtClean="0"/>
              <a:t>13-09-2025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193620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E38EAF-824F-4917-A7C4-BF0BAA77286A}" type="datetime1">
              <a:rPr lang="en-IN" smtClean="0"/>
              <a:t>13-09-2025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4544203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18525228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2645832-1DB9-4726-860E-23D8A6329669}" type="datetime1">
              <a:rPr lang="en-IN" smtClean="0">
                <a:solidFill>
                  <a:prstClr val="black">
                    <a:tint val="75000"/>
                  </a:prstClr>
                </a:solidFill>
              </a:rPr>
              <a:t>13-09-2025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0446526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46313"/>
            <a:ext cx="9144000" cy="2387600"/>
          </a:xfrm>
          <a:prstGeom prst="rect">
            <a:avLst/>
          </a:prstGeom>
        </p:spPr>
        <p:txBody>
          <a:bodyPr anchor="b"/>
          <a:lstStyle>
            <a:lvl1pPr algn="ctr">
              <a:defRPr sz="6000"/>
            </a:lvl1pPr>
          </a:lstStyle>
          <a:p>
            <a:r>
              <a:rPr lang="en-US"/>
              <a:t>Click to edit Master title style</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lvl1pPr>
              <a:defRPr kumimoji="0" lang="en-US" altLang="en-US" sz="1800" b="1" i="0" u="none" strike="noStrike" kern="1200" cap="none" spc="0" normalizeH="0" baseline="0" noProof="0" smtClean="0">
                <a:ln>
                  <a:noFill/>
                </a:ln>
                <a:solidFill>
                  <a:prstClr val="white"/>
                </a:solidFill>
                <a:effectLst/>
                <a:uLnTx/>
                <a:uFillTx/>
                <a:latin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FAAAC2D-4EAC-4510-9F6F-1F65A171AFA9}" type="datetime1">
              <a:rPr kumimoji="0" lang="en-IN" altLang="en-US" sz="1800" b="1" i="0" u="none" strike="noStrike" kern="1200" cap="none" spc="0" normalizeH="0" baseline="0" noProof="0" smtClean="0">
                <a:ln>
                  <a:noFill/>
                </a:ln>
                <a:solidFill>
                  <a:prstClr val="white"/>
                </a:solidFill>
                <a:effectLst/>
                <a:uLnTx/>
                <a:uFillTx/>
                <a:latin typeface="Calibri" panose="020F0502020204030204" pitchFamily="34" charset="0"/>
                <a:ea typeface="+mn-ea"/>
                <a:cs typeface="+mn-cs"/>
              </a:rPr>
              <a:t>13-09-2025</a:t>
            </a:fld>
            <a:endParaRPr kumimoji="0" lang="en-IN" altLang="en-US" sz="1800" b="1" i="0" u="none" strike="noStrike" kern="120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FD231AE-402A-4394-B01A-F986496EE090}" type="slidenum">
              <a:rPr kumimoji="0" lang="en-IN"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992547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image" Target="../media/image1.png"/><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139D7F-7503-4B8F-952D-4D8A75575C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55C9321-1A36-4A3F-802F-D89364988D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B07198-6CE5-471D-9A73-88C5E1083C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DE94C2-2163-46C2-B187-1EAD54B77E39}" type="datetime1">
              <a:rPr lang="en-IN" smtClean="0"/>
              <a:t>13-09-2025</a:t>
            </a:fld>
            <a:endParaRPr lang="en-IN"/>
          </a:p>
        </p:txBody>
      </p:sp>
      <p:sp>
        <p:nvSpPr>
          <p:cNvPr id="5" name="Footer Placeholder 4">
            <a:extLst>
              <a:ext uri="{FF2B5EF4-FFF2-40B4-BE49-F238E27FC236}">
                <a16:creationId xmlns:a16="http://schemas.microsoft.com/office/drawing/2014/main" id="{E7392F7F-5977-43AB-BE88-6787B4B1BF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F1C9906-EE43-4370-BB39-9786193DFA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0DEA4B-34B4-4AC2-B43A-8ADFF4CF648D}" type="slidenum">
              <a:rPr lang="en-IN" smtClean="0"/>
              <a:t>‹#›</a:t>
            </a:fld>
            <a:endParaRPr lang="en-IN"/>
          </a:p>
        </p:txBody>
      </p:sp>
      <p:sp>
        <p:nvSpPr>
          <p:cNvPr id="7" name="Rectangle 6">
            <a:extLst>
              <a:ext uri="{FF2B5EF4-FFF2-40B4-BE49-F238E27FC236}">
                <a16:creationId xmlns:a16="http://schemas.microsoft.com/office/drawing/2014/main" id="{51B53512-3F36-43FD-9A8C-5EF865D26EA2}"/>
              </a:ext>
            </a:extLst>
          </p:cNvPr>
          <p:cNvSpPr/>
          <p:nvPr userDrawn="1"/>
        </p:nvSpPr>
        <p:spPr>
          <a:xfrm>
            <a:off x="11029361" y="6356350"/>
            <a:ext cx="324439" cy="36512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5818483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F1F4AA-F870-4686-BD45-8368FDA01582}" type="datetime1">
              <a:rPr lang="en-IN" smtClean="0"/>
              <a:t>13-09-2025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
        <p:nvSpPr>
          <p:cNvPr id="7" name="Rectangle 6">
            <a:extLst>
              <a:ext uri="{FF2B5EF4-FFF2-40B4-BE49-F238E27FC236}">
                <a16:creationId xmlns:a16="http://schemas.microsoft.com/office/drawing/2014/main" id="{CC55639E-0636-478E-80D3-6029AB54361F}"/>
              </a:ext>
            </a:extLst>
          </p:cNvPr>
          <p:cNvSpPr/>
          <p:nvPr userDrawn="1"/>
        </p:nvSpPr>
        <p:spPr>
          <a:xfrm>
            <a:off x="11076495" y="6356350"/>
            <a:ext cx="277305" cy="36512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275514688"/>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1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hyperlink" Target="https://www.geeksforgeeks.org/divide-and-conquer-introduction/" TargetMode="Externa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9702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459213" y="6014156"/>
            <a:ext cx="6432043"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UNIT-2.1</a:t>
            </a:r>
          </a:p>
          <a:p>
            <a:pPr eaLnBrk="1" hangingPunct="1"/>
            <a:endParaRPr lang="en-US" sz="1600" dirty="0">
              <a:latin typeface="Raleway ExtraBold" pitchFamily="34" charset="-52"/>
            </a:endParaRPr>
          </a:p>
        </p:txBody>
      </p:sp>
      <p:sp>
        <p:nvSpPr>
          <p:cNvPr id="26" name="TextBox 25"/>
          <p:cNvSpPr txBox="1">
            <a:spLocks noChangeArrowheads="1"/>
          </p:cNvSpPr>
          <p:nvPr/>
        </p:nvSpPr>
        <p:spPr bwMode="auto">
          <a:xfrm>
            <a:off x="1282700" y="1676400"/>
            <a:ext cx="9715499" cy="3801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Times New Roman" pitchFamily="18" charset="0"/>
                <a:ea typeface="Karla" pitchFamily="2" charset="0"/>
                <a:cs typeface="Times New Roman" pitchFamily="18" charset="0"/>
              </a:rPr>
              <a:t>UNIVERSITY INSTITUTE OF COMPUTING</a:t>
            </a:r>
          </a:p>
          <a:p>
            <a:pPr lvl="0" algn="ctr" defTabSz="622300">
              <a:lnSpc>
                <a:spcPct val="90000"/>
              </a:lnSpc>
              <a:spcBef>
                <a:spcPct val="0"/>
              </a:spcBef>
              <a:spcAft>
                <a:spcPct val="35000"/>
              </a:spcAft>
            </a:pPr>
            <a:r>
              <a:rPr lang="en-US" sz="2800" b="1" dirty="0">
                <a:latin typeface="Times New Roman" pitchFamily="18" charset="0"/>
                <a:ea typeface="Calibri" panose="020F0502020204030204" pitchFamily="34" charset="0"/>
                <a:cs typeface="Times New Roman" pitchFamily="18" charset="0"/>
              </a:rPr>
              <a:t>MASTER OF COMPUTER APPLICATIONS</a:t>
            </a:r>
          </a:p>
          <a:p>
            <a:pPr lvl="0" algn="ctr" defTabSz="622300">
              <a:lnSpc>
                <a:spcPct val="90000"/>
              </a:lnSpc>
              <a:spcBef>
                <a:spcPct val="0"/>
              </a:spcBef>
              <a:spcAft>
                <a:spcPct val="35000"/>
              </a:spcAft>
            </a:pPr>
            <a:r>
              <a:rPr lang="en-US" sz="2400" b="1" dirty="0">
                <a:latin typeface="Times New Roman" pitchFamily="18" charset="0"/>
                <a:ea typeface="Calibri" panose="020F0502020204030204" pitchFamily="34" charset="0"/>
                <a:cs typeface="Times New Roman" pitchFamily="18" charset="0"/>
              </a:rPr>
              <a:t>DESIGN AND ANALYSIS OF ALGORITHMS </a:t>
            </a: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itchFamily="18" charset="0"/>
              <a:cs typeface="Times New Roman"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itchFamily="18" charset="0"/>
              <a:cs typeface="Times New Roman" pitchFamily="18" charset="0"/>
            </a:endParaRP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itchFamily="18" charset="0"/>
                <a:cs typeface="Times New Roman" pitchFamily="18" charset="0"/>
              </a:rPr>
              <a:t> </a:t>
            </a:r>
          </a:p>
          <a:p>
            <a:pPr eaLnBrk="1" hangingPunct="1"/>
            <a:endParaRPr lang="en-US" sz="1600" dirty="0">
              <a:latin typeface="Times New Roman" pitchFamily="18" charset="0"/>
              <a:cs typeface="Times New Roman" pitchFamily="18" charset="0"/>
            </a:endParaRPr>
          </a:p>
        </p:txBody>
      </p:sp>
      <p:sp>
        <p:nvSpPr>
          <p:cNvPr id="2" name="Slide Number Placeholder 1">
            <a:extLst>
              <a:ext uri="{FF2B5EF4-FFF2-40B4-BE49-F238E27FC236}">
                <a16:creationId xmlns:a16="http://schemas.microsoft.com/office/drawing/2014/main" id="{BBDF66F8-7F06-4338-9EB9-6BF3A1C53742}"/>
              </a:ext>
            </a:extLst>
          </p:cNvPr>
          <p:cNvSpPr>
            <a:spLocks noGrp="1"/>
          </p:cNvSpPr>
          <p:nvPr>
            <p:ph type="sldNum" sz="quarter" idx="12"/>
          </p:nvPr>
        </p:nvSpPr>
        <p:spPr/>
        <p:txBody>
          <a:bodyPr/>
          <a:lstStyle/>
          <a:p>
            <a:fld id="{C60DEA4B-34B4-4AC2-B43A-8ADFF4CF648D}" type="slidenum">
              <a:rPr lang="en-IN" smtClean="0"/>
              <a:t>1</a:t>
            </a:fld>
            <a:endParaRPr lang="en-IN"/>
          </a:p>
        </p:txBody>
      </p:sp>
      <p:pic>
        <p:nvPicPr>
          <p:cNvPr id="14" name="Picture 13">
            <a:extLst>
              <a:ext uri="{FF2B5EF4-FFF2-40B4-BE49-F238E27FC236}">
                <a16:creationId xmlns:a16="http://schemas.microsoft.com/office/drawing/2014/main" id="{F62FB572-6647-4277-9265-D97573E5DE08}"/>
              </a:ext>
            </a:extLst>
          </p:cNvPr>
          <p:cNvPicPr>
            <a:picLocks noChangeAspect="1"/>
          </p:cNvPicPr>
          <p:nvPr/>
        </p:nvPicPr>
        <p:blipFill>
          <a:blip r:embed="rId2" cstate="print">
            <a:extLst>
              <a:ext uri="{BEBA8EAE-BF5A-486C-A8C5-ECC9F3942E4B}">
                <a14:imgProps xmlns:a14="http://schemas.microsoft.com/office/drawing/2010/main">
                  <a14:imgLayer r:embed="rId3">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22893" y="-4121"/>
            <a:ext cx="3859753" cy="1538254"/>
          </a:xfrm>
          <a:prstGeom prst="rect">
            <a:avLst/>
          </a:prstGeom>
        </p:spPr>
      </p:pic>
      <p:pic>
        <p:nvPicPr>
          <p:cNvPr id="1141" name="Picture 117">
            <a:extLst>
              <a:ext uri="{FF2B5EF4-FFF2-40B4-BE49-F238E27FC236}">
                <a16:creationId xmlns:a16="http://schemas.microsoft.com/office/drawing/2014/main" id="{5BC33AE6-46D7-4133-A045-39390224D899}"/>
              </a:ext>
            </a:extLst>
          </p:cNvPr>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0" y="2765085"/>
            <a:ext cx="3302000" cy="313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40597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DA324E-DF48-4753-9565-B5E706C7AB1C}"/>
              </a:ext>
            </a:extLst>
          </p:cNvPr>
          <p:cNvSpPr>
            <a:spLocks noGrp="1"/>
          </p:cNvSpPr>
          <p:nvPr>
            <p:ph idx="1"/>
          </p:nvPr>
        </p:nvSpPr>
        <p:spPr>
          <a:xfrm>
            <a:off x="838200" y="1107577"/>
            <a:ext cx="10515600" cy="5069385"/>
          </a:xfrm>
        </p:spPr>
        <p:txBody>
          <a:bodyPr>
            <a:normAutofit/>
          </a:bodyPr>
          <a:lstStyle/>
          <a:p>
            <a:pPr marL="457200" indent="-457200" algn="just">
              <a:lnSpc>
                <a:spcPct val="150000"/>
              </a:lnSpc>
              <a:buFont typeface="Monotype Sorts" pitchFamily="2" charset="2"/>
              <a:buNone/>
            </a:pPr>
            <a:r>
              <a:rPr lang="en-US" sz="2400" b="1" i="0" dirty="0">
                <a:effectLst/>
                <a:latin typeface="Times New Roman" panose="02020603050405020304" pitchFamily="18" charset="0"/>
                <a:cs typeface="Times New Roman" panose="02020603050405020304" pitchFamily="18" charset="0"/>
              </a:rPr>
              <a:t>Divide and Conquer</a:t>
            </a:r>
            <a:r>
              <a:rPr lang="en-US" sz="2400" b="0" i="0" dirty="0">
                <a:effectLst/>
                <a:latin typeface="Times New Roman" panose="02020603050405020304" pitchFamily="18" charset="0"/>
                <a:cs typeface="Times New Roman" panose="02020603050405020304" pitchFamily="18" charset="0"/>
              </a:rPr>
              <a:t> is an algorithm design paradigm that involves breaking up a larger problem into </a:t>
            </a:r>
            <a:r>
              <a:rPr lang="en-US" sz="2400" b="0" i="1" dirty="0">
                <a:effectLst/>
                <a:latin typeface="Times New Roman" panose="02020603050405020304" pitchFamily="18" charset="0"/>
                <a:cs typeface="Times New Roman" panose="02020603050405020304" pitchFamily="18" charset="0"/>
              </a:rPr>
              <a:t>non-overlapping</a:t>
            </a:r>
            <a:r>
              <a:rPr lang="en-US" sz="2400" b="0" i="0" dirty="0">
                <a:effectLst/>
                <a:latin typeface="Times New Roman" panose="02020603050405020304" pitchFamily="18" charset="0"/>
                <a:cs typeface="Times New Roman" panose="02020603050405020304" pitchFamily="18" charset="0"/>
              </a:rPr>
              <a:t> sub-problems, solving each of these sub-problems, and combining the results to solve the original problems. A problem has non-overlapping​ sub-problems if you can find its solution by solving each sub-problem once.</a:t>
            </a:r>
            <a:endParaRPr lang="en-US" alt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8E95BDB-EE7F-43F5-BD69-3B4091AE3092}" type="slidenum">
              <a:rPr lang="en-IN" smtClean="0"/>
              <a:pPr/>
              <a:t>2</a:t>
            </a:fld>
            <a:endParaRPr lang="en-IN" dirty="0"/>
          </a:p>
        </p:txBody>
      </p:sp>
      <p:sp>
        <p:nvSpPr>
          <p:cNvPr id="5" name="Rectangle 4">
            <a:extLst>
              <a:ext uri="{FF2B5EF4-FFF2-40B4-BE49-F238E27FC236}">
                <a16:creationId xmlns:a16="http://schemas.microsoft.com/office/drawing/2014/main" id="{592F9C6B-84FE-4477-96BD-056EAA1B6416}"/>
              </a:ext>
            </a:extLst>
          </p:cNvPr>
          <p:cNvSpPr/>
          <p:nvPr/>
        </p:nvSpPr>
        <p:spPr>
          <a:xfrm>
            <a:off x="838200" y="158750"/>
            <a:ext cx="8786091" cy="769441"/>
          </a:xfrm>
          <a:prstGeom prst="rect">
            <a:avLst/>
          </a:prstGeom>
        </p:spPr>
        <p:txBody>
          <a:bodyPr wrap="square">
            <a:spAutoFit/>
          </a:bodyPr>
          <a:lstStyle/>
          <a:p>
            <a:pPr algn="ctr"/>
            <a:r>
              <a:rPr lang="en-US" sz="4400" b="1" dirty="0">
                <a:latin typeface="Times New Roman" panose="02020603050405020304" pitchFamily="18" charset="0"/>
                <a:cs typeface="Times New Roman" panose="02020603050405020304" pitchFamily="18" charset="0"/>
              </a:rPr>
              <a:t>    Divide &amp; Conquer</a:t>
            </a:r>
            <a:endParaRPr lang="en-IN" sz="4400" dirty="0">
              <a:latin typeface="Times New Roman" panose="02020603050405020304" pitchFamily="18" charset="0"/>
              <a:cs typeface="Times New Roman" panose="02020603050405020304" pitchFamily="18" charset="0"/>
            </a:endParaRPr>
          </a:p>
        </p:txBody>
      </p:sp>
      <p:sp>
        <p:nvSpPr>
          <p:cNvPr id="9" name="Rectangle 3">
            <a:extLst>
              <a:ext uri="{FF2B5EF4-FFF2-40B4-BE49-F238E27FC236}">
                <a16:creationId xmlns:a16="http://schemas.microsoft.com/office/drawing/2014/main" id="{068B10FD-0768-4475-934C-1E863B8458A5}"/>
              </a:ext>
            </a:extLst>
          </p:cNvPr>
          <p:cNvSpPr>
            <a:spLocks noChangeArrowheads="1"/>
          </p:cNvSpPr>
          <p:nvPr/>
        </p:nvSpPr>
        <p:spPr bwMode="auto">
          <a:xfrm>
            <a:off x="0" y="-184666"/>
            <a:ext cx="264816"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7">
            <a:extLst>
              <a:ext uri="{FF2B5EF4-FFF2-40B4-BE49-F238E27FC236}">
                <a16:creationId xmlns:a16="http://schemas.microsoft.com/office/drawing/2014/main" id="{CC87F129-1760-41C6-9AA2-7145D6426A56}"/>
              </a:ext>
            </a:extLst>
          </p:cNvPr>
          <p:cNvSpPr/>
          <p:nvPr/>
        </p:nvSpPr>
        <p:spPr>
          <a:xfrm>
            <a:off x="838200" y="1085353"/>
            <a:ext cx="10515600" cy="50916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A52C848E-E775-410D-9350-AAB1713CDEC1}"/>
              </a:ext>
            </a:extLst>
          </p:cNvPr>
          <p:cNvSpPr/>
          <p:nvPr/>
        </p:nvSpPr>
        <p:spPr>
          <a:xfrm>
            <a:off x="838200" y="136525"/>
            <a:ext cx="8786091" cy="76944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6476279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DA324E-DF48-4753-9565-B5E706C7AB1C}"/>
              </a:ext>
            </a:extLst>
          </p:cNvPr>
          <p:cNvSpPr>
            <a:spLocks noGrp="1"/>
          </p:cNvSpPr>
          <p:nvPr>
            <p:ph idx="1"/>
          </p:nvPr>
        </p:nvSpPr>
        <p:spPr>
          <a:xfrm>
            <a:off x="838200" y="1107577"/>
            <a:ext cx="10515600" cy="5069385"/>
          </a:xfrm>
        </p:spPr>
        <p:txBody>
          <a:bodyPr>
            <a:normAutofit/>
          </a:bodyPr>
          <a:lstStyle/>
          <a:p>
            <a:pPr marL="0" indent="0" algn="just">
              <a:buNone/>
            </a:pPr>
            <a:r>
              <a:rPr lang="en-US" sz="2400" b="0" i="0" dirty="0">
                <a:effectLst/>
                <a:latin typeface="Times New Roman" panose="02020603050405020304" pitchFamily="18" charset="0"/>
                <a:cs typeface="Times New Roman" panose="02020603050405020304" pitchFamily="18" charset="0"/>
              </a:rPr>
              <a:t>The three main steps in the divide and conquer paradigm are:</a:t>
            </a:r>
          </a:p>
          <a:p>
            <a:pPr marL="0" indent="0" algn="just">
              <a:buNone/>
            </a:pPr>
            <a:endParaRPr lang="en-US" sz="2400" b="0" i="0" dirty="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b="1" i="0" dirty="0">
                <a:effectLst/>
                <a:latin typeface="Times New Roman" panose="02020603050405020304" pitchFamily="18" charset="0"/>
                <a:cs typeface="Times New Roman" panose="02020603050405020304" pitchFamily="18" charset="0"/>
              </a:rPr>
              <a:t>divide</a:t>
            </a:r>
            <a:r>
              <a:rPr lang="en-US" sz="2400" b="0" i="0" dirty="0">
                <a:effectLst/>
                <a:latin typeface="Times New Roman" panose="02020603050405020304" pitchFamily="18" charset="0"/>
                <a:cs typeface="Times New Roman" panose="02020603050405020304" pitchFamily="18" charset="0"/>
              </a:rPr>
              <a:t>: involves breaking the problem into smaller, non-overlapping chunks.</a:t>
            </a:r>
          </a:p>
          <a:p>
            <a:pPr algn="just">
              <a:buFont typeface="Arial" panose="020B0604020202020204" pitchFamily="34" charset="0"/>
              <a:buChar char="•"/>
            </a:pPr>
            <a:r>
              <a:rPr lang="en-US" sz="2400" b="1" i="0" dirty="0">
                <a:effectLst/>
                <a:latin typeface="Times New Roman" panose="02020603050405020304" pitchFamily="18" charset="0"/>
                <a:cs typeface="Times New Roman" panose="02020603050405020304" pitchFamily="18" charset="0"/>
              </a:rPr>
              <a:t>conquer</a:t>
            </a:r>
            <a:r>
              <a:rPr lang="en-US" sz="2400" b="0" i="0" dirty="0">
                <a:effectLst/>
                <a:latin typeface="Times New Roman" panose="02020603050405020304" pitchFamily="18" charset="0"/>
                <a:cs typeface="Times New Roman" panose="02020603050405020304" pitchFamily="18" charset="0"/>
              </a:rPr>
              <a:t>: involves solving the sub-problems recursively.</a:t>
            </a:r>
          </a:p>
          <a:p>
            <a:pPr algn="just">
              <a:buFont typeface="Arial" panose="020B0604020202020204" pitchFamily="34" charset="0"/>
              <a:buChar char="•"/>
            </a:pPr>
            <a:r>
              <a:rPr lang="en-US" sz="2400" b="1" i="0" dirty="0">
                <a:effectLst/>
                <a:latin typeface="Times New Roman" panose="02020603050405020304" pitchFamily="18" charset="0"/>
                <a:cs typeface="Times New Roman" panose="02020603050405020304" pitchFamily="18" charset="0"/>
              </a:rPr>
              <a:t>combine</a:t>
            </a:r>
            <a:r>
              <a:rPr lang="en-US" sz="2400" b="0" i="0" dirty="0">
                <a:effectLst/>
                <a:latin typeface="Times New Roman" panose="02020603050405020304" pitchFamily="18" charset="0"/>
                <a:cs typeface="Times New Roman" panose="02020603050405020304" pitchFamily="18" charset="0"/>
              </a:rPr>
              <a:t>: involves combining the solutions of the smaller sub-problems to solve the original problem.</a:t>
            </a:r>
          </a:p>
        </p:txBody>
      </p:sp>
      <p:sp>
        <p:nvSpPr>
          <p:cNvPr id="4" name="Slide Number Placeholder 3"/>
          <p:cNvSpPr>
            <a:spLocks noGrp="1"/>
          </p:cNvSpPr>
          <p:nvPr>
            <p:ph type="sldNum" sz="quarter" idx="12"/>
          </p:nvPr>
        </p:nvSpPr>
        <p:spPr/>
        <p:txBody>
          <a:bodyPr/>
          <a:lstStyle/>
          <a:p>
            <a:fld id="{68E95BDB-EE7F-43F5-BD69-3B4091AE3092}" type="slidenum">
              <a:rPr lang="en-IN" smtClean="0"/>
              <a:pPr/>
              <a:t>3</a:t>
            </a:fld>
            <a:endParaRPr lang="en-IN" dirty="0"/>
          </a:p>
        </p:txBody>
      </p:sp>
      <p:sp>
        <p:nvSpPr>
          <p:cNvPr id="5" name="Rectangle 4">
            <a:extLst>
              <a:ext uri="{FF2B5EF4-FFF2-40B4-BE49-F238E27FC236}">
                <a16:creationId xmlns:a16="http://schemas.microsoft.com/office/drawing/2014/main" id="{592F9C6B-84FE-4477-96BD-056EAA1B6416}"/>
              </a:ext>
            </a:extLst>
          </p:cNvPr>
          <p:cNvSpPr/>
          <p:nvPr/>
        </p:nvSpPr>
        <p:spPr>
          <a:xfrm>
            <a:off x="838200" y="158750"/>
            <a:ext cx="8786091" cy="769441"/>
          </a:xfrm>
          <a:prstGeom prst="rect">
            <a:avLst/>
          </a:prstGeom>
        </p:spPr>
        <p:txBody>
          <a:bodyPr wrap="square">
            <a:spAutoFit/>
          </a:bodyPr>
          <a:lstStyle/>
          <a:p>
            <a:pPr algn="ctr"/>
            <a:r>
              <a:rPr lang="en-US" sz="4400" b="1" dirty="0">
                <a:latin typeface="Times New Roman" panose="02020603050405020304" pitchFamily="18" charset="0"/>
                <a:cs typeface="Times New Roman" panose="02020603050405020304" pitchFamily="18" charset="0"/>
              </a:rPr>
              <a:t>    Divide &amp; Conquer (contd.)</a:t>
            </a:r>
            <a:endParaRPr lang="en-IN" sz="4400" dirty="0">
              <a:latin typeface="Times New Roman" panose="02020603050405020304" pitchFamily="18" charset="0"/>
              <a:cs typeface="Times New Roman" panose="02020603050405020304" pitchFamily="18" charset="0"/>
            </a:endParaRPr>
          </a:p>
        </p:txBody>
      </p:sp>
      <p:sp>
        <p:nvSpPr>
          <p:cNvPr id="9" name="Rectangle 3">
            <a:extLst>
              <a:ext uri="{FF2B5EF4-FFF2-40B4-BE49-F238E27FC236}">
                <a16:creationId xmlns:a16="http://schemas.microsoft.com/office/drawing/2014/main" id="{068B10FD-0768-4475-934C-1E863B8458A5}"/>
              </a:ext>
            </a:extLst>
          </p:cNvPr>
          <p:cNvSpPr>
            <a:spLocks noChangeArrowheads="1"/>
          </p:cNvSpPr>
          <p:nvPr/>
        </p:nvSpPr>
        <p:spPr bwMode="auto">
          <a:xfrm>
            <a:off x="0" y="-184666"/>
            <a:ext cx="264816"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7">
            <a:extLst>
              <a:ext uri="{FF2B5EF4-FFF2-40B4-BE49-F238E27FC236}">
                <a16:creationId xmlns:a16="http://schemas.microsoft.com/office/drawing/2014/main" id="{CC87F129-1760-41C6-9AA2-7145D6426A56}"/>
              </a:ext>
            </a:extLst>
          </p:cNvPr>
          <p:cNvSpPr/>
          <p:nvPr/>
        </p:nvSpPr>
        <p:spPr>
          <a:xfrm>
            <a:off x="838200" y="1085353"/>
            <a:ext cx="10515600" cy="50916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A52C848E-E775-410D-9350-AAB1713CDEC1}"/>
              </a:ext>
            </a:extLst>
          </p:cNvPr>
          <p:cNvSpPr/>
          <p:nvPr/>
        </p:nvSpPr>
        <p:spPr>
          <a:xfrm>
            <a:off x="838200" y="136525"/>
            <a:ext cx="8786091" cy="76944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893080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1323C-FCCF-42CB-8AF4-41AAEA2F9A47}"/>
              </a:ext>
            </a:extLst>
          </p:cNvPr>
          <p:cNvSpPr>
            <a:spLocks noGrp="1"/>
          </p:cNvSpPr>
          <p:nvPr>
            <p:ph type="title"/>
          </p:nvPr>
        </p:nvSpPr>
        <p:spPr>
          <a:xfrm>
            <a:off x="838200" y="76632"/>
            <a:ext cx="8712200" cy="955244"/>
          </a:xfrm>
          <a:ln>
            <a:solidFill>
              <a:schemeClr val="tx1"/>
            </a:solidFill>
          </a:ln>
        </p:spPr>
        <p:txBody>
          <a:bodyPr>
            <a:normAutofit fontScale="90000"/>
          </a:bodyPr>
          <a:lstStyle/>
          <a:p>
            <a:r>
              <a:rPr lang="en-US" altLang="en-US" b="1" dirty="0">
                <a:latin typeface="Times New Roman" panose="02020603050405020304" pitchFamily="18" charset="0"/>
                <a:cs typeface="Times New Roman" panose="02020603050405020304" pitchFamily="18" charset="0"/>
              </a:rPr>
              <a:t>Divide-and-Conquer Technique (cont.)</a:t>
            </a:r>
            <a:endParaRPr lang="en-IN"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F6824C8-657C-4817-914A-3BE9BC8E8405}"/>
              </a:ext>
            </a:extLst>
          </p:cNvPr>
          <p:cNvSpPr>
            <a:spLocks noGrp="1"/>
          </p:cNvSpPr>
          <p:nvPr>
            <p:ph type="sldNum" sz="quarter" idx="12"/>
          </p:nvPr>
        </p:nvSpPr>
        <p:spPr/>
        <p:txBody>
          <a:bodyPr/>
          <a:lstStyle/>
          <a:p>
            <a:fld id="{BDCDBBEF-AA6C-4BA6-85B2-A17D7F280E38}" type="slidenum">
              <a:rPr lang="en-US" smtClean="0"/>
              <a:pPr/>
              <a:t>4</a:t>
            </a:fld>
            <a:endParaRPr lang="en-US"/>
          </a:p>
        </p:txBody>
      </p:sp>
      <p:sp>
        <p:nvSpPr>
          <p:cNvPr id="5" name="Oval 6">
            <a:extLst>
              <a:ext uri="{FF2B5EF4-FFF2-40B4-BE49-F238E27FC236}">
                <a16:creationId xmlns:a16="http://schemas.microsoft.com/office/drawing/2014/main" id="{EB1BCC3F-9519-4BCD-9D18-4C1658E5308B}"/>
              </a:ext>
            </a:extLst>
          </p:cNvPr>
          <p:cNvSpPr>
            <a:spLocks noChangeArrowheads="1"/>
          </p:cNvSpPr>
          <p:nvPr/>
        </p:nvSpPr>
        <p:spPr bwMode="auto">
          <a:xfrm>
            <a:off x="6959608" y="2520662"/>
            <a:ext cx="2286000" cy="838200"/>
          </a:xfrm>
          <a:prstGeom prst="ellipse">
            <a:avLst/>
          </a:prstGeom>
          <a:solidFill>
            <a:schemeClr val="accent1"/>
          </a:solidFill>
          <a:ln w="12700">
            <a:solidFill>
              <a:srgbClr val="FF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800" b="1">
                <a:solidFill>
                  <a:schemeClr val="bg2"/>
                </a:solidFill>
              </a:rPr>
              <a:t>subproblem 2 </a:t>
            </a:r>
          </a:p>
          <a:p>
            <a:r>
              <a:rPr lang="en-US" altLang="en-US" sz="1800" b="1">
                <a:solidFill>
                  <a:schemeClr val="bg2"/>
                </a:solidFill>
              </a:rPr>
              <a:t>of size </a:t>
            </a:r>
            <a:r>
              <a:rPr lang="en-US" altLang="en-US" sz="1800" b="1" i="1">
                <a:solidFill>
                  <a:schemeClr val="bg2"/>
                </a:solidFill>
              </a:rPr>
              <a:t>n</a:t>
            </a:r>
            <a:r>
              <a:rPr lang="en-US" altLang="en-US" sz="1800" b="1">
                <a:solidFill>
                  <a:schemeClr val="bg2"/>
                </a:solidFill>
              </a:rPr>
              <a:t>/2</a:t>
            </a:r>
          </a:p>
        </p:txBody>
      </p:sp>
      <p:sp>
        <p:nvSpPr>
          <p:cNvPr id="6" name="Oval 7">
            <a:extLst>
              <a:ext uri="{FF2B5EF4-FFF2-40B4-BE49-F238E27FC236}">
                <a16:creationId xmlns:a16="http://schemas.microsoft.com/office/drawing/2014/main" id="{BBA744AD-D48B-41EF-84B5-58110F49F4FA}"/>
              </a:ext>
            </a:extLst>
          </p:cNvPr>
          <p:cNvSpPr>
            <a:spLocks noChangeArrowheads="1"/>
          </p:cNvSpPr>
          <p:nvPr/>
        </p:nvSpPr>
        <p:spPr bwMode="auto">
          <a:xfrm>
            <a:off x="2623127" y="2520662"/>
            <a:ext cx="2286000" cy="838200"/>
          </a:xfrm>
          <a:prstGeom prst="ellipse">
            <a:avLst/>
          </a:prstGeom>
          <a:solidFill>
            <a:schemeClr val="accent1"/>
          </a:solidFill>
          <a:ln w="12700">
            <a:solidFill>
              <a:srgbClr val="FF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800" b="1">
                <a:solidFill>
                  <a:schemeClr val="bg2"/>
                </a:solidFill>
              </a:rPr>
              <a:t>subproblem 1 </a:t>
            </a:r>
          </a:p>
          <a:p>
            <a:r>
              <a:rPr lang="en-US" altLang="en-US" sz="1800" b="1">
                <a:solidFill>
                  <a:schemeClr val="bg2"/>
                </a:solidFill>
              </a:rPr>
              <a:t>of size </a:t>
            </a:r>
            <a:r>
              <a:rPr lang="en-US" altLang="en-US" sz="1800" b="1" i="1">
                <a:solidFill>
                  <a:schemeClr val="bg2"/>
                </a:solidFill>
              </a:rPr>
              <a:t>n</a:t>
            </a:r>
            <a:r>
              <a:rPr lang="en-US" altLang="en-US" sz="1800" b="1">
                <a:solidFill>
                  <a:schemeClr val="bg2"/>
                </a:solidFill>
              </a:rPr>
              <a:t>/2</a:t>
            </a:r>
          </a:p>
        </p:txBody>
      </p:sp>
      <p:sp>
        <p:nvSpPr>
          <p:cNvPr id="7" name="Rectangle 8">
            <a:extLst>
              <a:ext uri="{FF2B5EF4-FFF2-40B4-BE49-F238E27FC236}">
                <a16:creationId xmlns:a16="http://schemas.microsoft.com/office/drawing/2014/main" id="{45EF1561-9CE5-4076-B8CA-952D473E98FC}"/>
              </a:ext>
            </a:extLst>
          </p:cNvPr>
          <p:cNvSpPr>
            <a:spLocks noChangeArrowheads="1"/>
          </p:cNvSpPr>
          <p:nvPr/>
        </p:nvSpPr>
        <p:spPr bwMode="auto">
          <a:xfrm>
            <a:off x="2582754" y="3804228"/>
            <a:ext cx="2530746" cy="685800"/>
          </a:xfrm>
          <a:prstGeom prst="rect">
            <a:avLst/>
          </a:prstGeom>
          <a:solidFill>
            <a:schemeClr val="accent1"/>
          </a:solidFill>
          <a:ln w="12700">
            <a:solidFill>
              <a:srgbClr val="FF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600" b="1" dirty="0">
                <a:solidFill>
                  <a:schemeClr val="bg2"/>
                </a:solidFill>
              </a:rPr>
              <a:t>a solution to subproblem 1</a:t>
            </a:r>
            <a:endParaRPr lang="en-US" altLang="en-US" dirty="0"/>
          </a:p>
        </p:txBody>
      </p:sp>
      <p:sp>
        <p:nvSpPr>
          <p:cNvPr id="8" name="Rectangle 9">
            <a:extLst>
              <a:ext uri="{FF2B5EF4-FFF2-40B4-BE49-F238E27FC236}">
                <a16:creationId xmlns:a16="http://schemas.microsoft.com/office/drawing/2014/main" id="{E43A5920-0DFA-4FFF-B0B6-C7C459020DB1}"/>
              </a:ext>
            </a:extLst>
          </p:cNvPr>
          <p:cNvSpPr>
            <a:spLocks noChangeArrowheads="1"/>
          </p:cNvSpPr>
          <p:nvPr/>
        </p:nvSpPr>
        <p:spPr bwMode="auto">
          <a:xfrm>
            <a:off x="4826008" y="5568662"/>
            <a:ext cx="2286000" cy="685800"/>
          </a:xfrm>
          <a:prstGeom prst="rect">
            <a:avLst/>
          </a:prstGeom>
          <a:solidFill>
            <a:schemeClr val="accent1"/>
          </a:solidFill>
          <a:ln w="12700">
            <a:solidFill>
              <a:srgbClr val="FF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600" b="1">
                <a:solidFill>
                  <a:schemeClr val="bg2"/>
                </a:solidFill>
              </a:rPr>
              <a:t>a solution to</a:t>
            </a:r>
          </a:p>
          <a:p>
            <a:r>
              <a:rPr lang="en-US" altLang="en-US" sz="1600" b="1">
                <a:solidFill>
                  <a:schemeClr val="bg2"/>
                </a:solidFill>
              </a:rPr>
              <a:t>the original problem</a:t>
            </a:r>
            <a:endParaRPr lang="en-US" altLang="en-US"/>
          </a:p>
        </p:txBody>
      </p:sp>
      <p:sp>
        <p:nvSpPr>
          <p:cNvPr id="9" name="Rectangle 10">
            <a:extLst>
              <a:ext uri="{FF2B5EF4-FFF2-40B4-BE49-F238E27FC236}">
                <a16:creationId xmlns:a16="http://schemas.microsoft.com/office/drawing/2014/main" id="{95B27E21-B387-4205-9141-512550FDE625}"/>
              </a:ext>
            </a:extLst>
          </p:cNvPr>
          <p:cNvSpPr>
            <a:spLocks noChangeArrowheads="1"/>
          </p:cNvSpPr>
          <p:nvPr/>
        </p:nvSpPr>
        <p:spPr bwMode="auto">
          <a:xfrm>
            <a:off x="6959607" y="3816062"/>
            <a:ext cx="2743197" cy="685800"/>
          </a:xfrm>
          <a:prstGeom prst="rect">
            <a:avLst/>
          </a:prstGeom>
          <a:solidFill>
            <a:schemeClr val="accent1"/>
          </a:solidFill>
          <a:ln w="12700">
            <a:solidFill>
              <a:srgbClr val="FF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600" b="1" dirty="0">
                <a:solidFill>
                  <a:schemeClr val="bg2"/>
                </a:solidFill>
              </a:rPr>
              <a:t>a solution to subproblem 2</a:t>
            </a:r>
            <a:endParaRPr lang="en-US" altLang="en-US" dirty="0"/>
          </a:p>
        </p:txBody>
      </p:sp>
      <p:sp>
        <p:nvSpPr>
          <p:cNvPr id="10" name="Line 11">
            <a:extLst>
              <a:ext uri="{FF2B5EF4-FFF2-40B4-BE49-F238E27FC236}">
                <a16:creationId xmlns:a16="http://schemas.microsoft.com/office/drawing/2014/main" id="{B6E1E3A8-351E-4782-B556-71E3FF1690B5}"/>
              </a:ext>
            </a:extLst>
          </p:cNvPr>
          <p:cNvSpPr>
            <a:spLocks noChangeShapeType="1"/>
          </p:cNvSpPr>
          <p:nvPr/>
        </p:nvSpPr>
        <p:spPr bwMode="auto">
          <a:xfrm flipH="1">
            <a:off x="4064008" y="2215862"/>
            <a:ext cx="1447800" cy="304800"/>
          </a:xfrm>
          <a:prstGeom prst="line">
            <a:avLst/>
          </a:prstGeom>
          <a:noFill/>
          <a:ln w="127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 name="Line 12">
            <a:extLst>
              <a:ext uri="{FF2B5EF4-FFF2-40B4-BE49-F238E27FC236}">
                <a16:creationId xmlns:a16="http://schemas.microsoft.com/office/drawing/2014/main" id="{AF70EC00-2321-41AE-BBCE-C07BE4D576D5}"/>
              </a:ext>
            </a:extLst>
          </p:cNvPr>
          <p:cNvSpPr>
            <a:spLocks noChangeShapeType="1"/>
          </p:cNvSpPr>
          <p:nvPr/>
        </p:nvSpPr>
        <p:spPr bwMode="auto">
          <a:xfrm>
            <a:off x="6350008" y="2215862"/>
            <a:ext cx="1524000" cy="304800"/>
          </a:xfrm>
          <a:prstGeom prst="line">
            <a:avLst/>
          </a:prstGeom>
          <a:noFill/>
          <a:ln w="127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 name="Oval 4">
            <a:extLst>
              <a:ext uri="{FF2B5EF4-FFF2-40B4-BE49-F238E27FC236}">
                <a16:creationId xmlns:a16="http://schemas.microsoft.com/office/drawing/2014/main" id="{104CB79A-4432-431E-B8B1-D1B2155B14BF}"/>
              </a:ext>
            </a:extLst>
          </p:cNvPr>
          <p:cNvSpPr>
            <a:spLocks noChangeArrowheads="1"/>
          </p:cNvSpPr>
          <p:nvPr/>
        </p:nvSpPr>
        <p:spPr bwMode="auto">
          <a:xfrm>
            <a:off x="4826008" y="1110962"/>
            <a:ext cx="2286000" cy="838200"/>
          </a:xfrm>
          <a:prstGeom prst="ellipse">
            <a:avLst/>
          </a:prstGeom>
          <a:solidFill>
            <a:schemeClr val="accent1"/>
          </a:solidFill>
          <a:ln w="12700">
            <a:solidFill>
              <a:srgbClr val="FF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800" b="1" dirty="0">
                <a:solidFill>
                  <a:schemeClr val="bg2"/>
                </a:solidFill>
              </a:rPr>
              <a:t>a problem of size </a:t>
            </a:r>
            <a:r>
              <a:rPr lang="en-US" altLang="en-US" sz="1800" b="1" i="1" dirty="0">
                <a:solidFill>
                  <a:schemeClr val="bg2"/>
                </a:solidFill>
              </a:rPr>
              <a:t>n</a:t>
            </a:r>
            <a:endParaRPr lang="en-US" altLang="en-US" sz="1800" b="1" dirty="0">
              <a:solidFill>
                <a:schemeClr val="bg2"/>
              </a:solidFill>
            </a:endParaRPr>
          </a:p>
        </p:txBody>
      </p:sp>
      <p:sp>
        <p:nvSpPr>
          <p:cNvPr id="13" name="Line 13">
            <a:extLst>
              <a:ext uri="{FF2B5EF4-FFF2-40B4-BE49-F238E27FC236}">
                <a16:creationId xmlns:a16="http://schemas.microsoft.com/office/drawing/2014/main" id="{7CD80F73-892A-48E2-A8DF-6EDE346AB0F7}"/>
              </a:ext>
            </a:extLst>
          </p:cNvPr>
          <p:cNvSpPr>
            <a:spLocks noChangeShapeType="1"/>
          </p:cNvSpPr>
          <p:nvPr/>
        </p:nvSpPr>
        <p:spPr bwMode="auto">
          <a:xfrm>
            <a:off x="3683008" y="3358862"/>
            <a:ext cx="0" cy="457200"/>
          </a:xfrm>
          <a:prstGeom prst="line">
            <a:avLst/>
          </a:prstGeom>
          <a:noFill/>
          <a:ln w="127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 name="Line 14">
            <a:extLst>
              <a:ext uri="{FF2B5EF4-FFF2-40B4-BE49-F238E27FC236}">
                <a16:creationId xmlns:a16="http://schemas.microsoft.com/office/drawing/2014/main" id="{F7BFCF41-3480-4387-B304-E90CABA82419}"/>
              </a:ext>
            </a:extLst>
          </p:cNvPr>
          <p:cNvSpPr>
            <a:spLocks noChangeShapeType="1"/>
          </p:cNvSpPr>
          <p:nvPr/>
        </p:nvSpPr>
        <p:spPr bwMode="auto">
          <a:xfrm>
            <a:off x="8102608" y="3358862"/>
            <a:ext cx="0" cy="457200"/>
          </a:xfrm>
          <a:prstGeom prst="line">
            <a:avLst/>
          </a:prstGeom>
          <a:noFill/>
          <a:ln w="127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 name="Line 15">
            <a:extLst>
              <a:ext uri="{FF2B5EF4-FFF2-40B4-BE49-F238E27FC236}">
                <a16:creationId xmlns:a16="http://schemas.microsoft.com/office/drawing/2014/main" id="{345A0C30-796D-466F-8153-1993E0E2CC71}"/>
              </a:ext>
            </a:extLst>
          </p:cNvPr>
          <p:cNvSpPr>
            <a:spLocks noChangeShapeType="1"/>
          </p:cNvSpPr>
          <p:nvPr/>
        </p:nvSpPr>
        <p:spPr bwMode="auto">
          <a:xfrm>
            <a:off x="3683008" y="4501862"/>
            <a:ext cx="0" cy="53340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 name="Line 16">
            <a:extLst>
              <a:ext uri="{FF2B5EF4-FFF2-40B4-BE49-F238E27FC236}">
                <a16:creationId xmlns:a16="http://schemas.microsoft.com/office/drawing/2014/main" id="{E4398607-4911-4BE3-AF5F-FDD1F0459A93}"/>
              </a:ext>
            </a:extLst>
          </p:cNvPr>
          <p:cNvSpPr>
            <a:spLocks noChangeShapeType="1"/>
          </p:cNvSpPr>
          <p:nvPr/>
        </p:nvSpPr>
        <p:spPr bwMode="auto">
          <a:xfrm>
            <a:off x="8093371" y="4501862"/>
            <a:ext cx="0" cy="53340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7" name="Line 17">
            <a:extLst>
              <a:ext uri="{FF2B5EF4-FFF2-40B4-BE49-F238E27FC236}">
                <a16:creationId xmlns:a16="http://schemas.microsoft.com/office/drawing/2014/main" id="{C022E5FD-96DC-45CA-88AF-968341A9DD84}"/>
              </a:ext>
            </a:extLst>
          </p:cNvPr>
          <p:cNvSpPr>
            <a:spLocks noChangeShapeType="1"/>
          </p:cNvSpPr>
          <p:nvPr/>
        </p:nvSpPr>
        <p:spPr bwMode="auto">
          <a:xfrm>
            <a:off x="3683008" y="5035262"/>
            <a:ext cx="4419600" cy="0"/>
          </a:xfrm>
          <a:prstGeom prst="line">
            <a:avLst/>
          </a:prstGeom>
          <a:noFill/>
          <a:ln w="127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 name="Line 18">
            <a:extLst>
              <a:ext uri="{FF2B5EF4-FFF2-40B4-BE49-F238E27FC236}">
                <a16:creationId xmlns:a16="http://schemas.microsoft.com/office/drawing/2014/main" id="{8FD4329E-72B9-4827-9A96-7E631BDCA0B3}"/>
              </a:ext>
            </a:extLst>
          </p:cNvPr>
          <p:cNvSpPr>
            <a:spLocks noChangeShapeType="1"/>
          </p:cNvSpPr>
          <p:nvPr/>
        </p:nvSpPr>
        <p:spPr bwMode="auto">
          <a:xfrm>
            <a:off x="5969008" y="5035262"/>
            <a:ext cx="0" cy="533400"/>
          </a:xfrm>
          <a:prstGeom prst="line">
            <a:avLst/>
          </a:prstGeom>
          <a:noFill/>
          <a:ln w="127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 name="Text Box 19">
            <a:extLst>
              <a:ext uri="{FF2B5EF4-FFF2-40B4-BE49-F238E27FC236}">
                <a16:creationId xmlns:a16="http://schemas.microsoft.com/office/drawing/2014/main" id="{484B5B5B-05AD-4E8C-9C97-2EFCE68ECA8F}"/>
              </a:ext>
            </a:extLst>
          </p:cNvPr>
          <p:cNvSpPr txBox="1">
            <a:spLocks noChangeArrowheads="1"/>
          </p:cNvSpPr>
          <p:nvPr/>
        </p:nvSpPr>
        <p:spPr bwMode="auto">
          <a:xfrm>
            <a:off x="5473708" y="1896197"/>
            <a:ext cx="1447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b="1" dirty="0">
                <a:solidFill>
                  <a:srgbClr val="FF9933"/>
                </a:solidFill>
              </a:rPr>
              <a:t>(instance)</a:t>
            </a:r>
          </a:p>
        </p:txBody>
      </p:sp>
      <p:sp>
        <p:nvSpPr>
          <p:cNvPr id="20" name="Text Box 20">
            <a:extLst>
              <a:ext uri="{FF2B5EF4-FFF2-40B4-BE49-F238E27FC236}">
                <a16:creationId xmlns:a16="http://schemas.microsoft.com/office/drawing/2014/main" id="{872B5CCC-10A3-4316-AF75-F64EAEEB5114}"/>
              </a:ext>
            </a:extLst>
          </p:cNvPr>
          <p:cNvSpPr txBox="1">
            <a:spLocks noChangeArrowheads="1"/>
          </p:cNvSpPr>
          <p:nvPr/>
        </p:nvSpPr>
        <p:spPr bwMode="auto">
          <a:xfrm>
            <a:off x="8255008" y="4699579"/>
            <a:ext cx="27432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2000" dirty="0">
                <a:solidFill>
                  <a:srgbClr val="FF6600"/>
                </a:solidFill>
                <a:latin typeface="Times New Roman" panose="02020603050405020304" pitchFamily="18" charset="0"/>
                <a:cs typeface="Times New Roman" panose="02020603050405020304" pitchFamily="18" charset="0"/>
              </a:rPr>
              <a:t>It general leads to a recursive algorithm!</a:t>
            </a:r>
          </a:p>
        </p:txBody>
      </p:sp>
      <p:sp>
        <p:nvSpPr>
          <p:cNvPr id="21" name="TextBox 20">
            <a:extLst>
              <a:ext uri="{FF2B5EF4-FFF2-40B4-BE49-F238E27FC236}">
                <a16:creationId xmlns:a16="http://schemas.microsoft.com/office/drawing/2014/main" id="{88AB2238-14E8-43ED-B045-0C2DE05F3988}"/>
              </a:ext>
            </a:extLst>
          </p:cNvPr>
          <p:cNvSpPr txBox="1"/>
          <p:nvPr/>
        </p:nvSpPr>
        <p:spPr>
          <a:xfrm>
            <a:off x="7342910" y="5684333"/>
            <a:ext cx="2844799" cy="276998"/>
          </a:xfrm>
          <a:prstGeom prst="rect">
            <a:avLst/>
          </a:prstGeom>
          <a:noFill/>
          <a:ln>
            <a:solidFill>
              <a:schemeClr val="tx1"/>
            </a:solidFill>
          </a:ln>
        </p:spPr>
        <p:txBody>
          <a:bodyPr wrap="square" rtlCol="0">
            <a:spAutoFit/>
          </a:bodyPr>
          <a:lstStyle/>
          <a:p>
            <a:r>
              <a:rPr lang="en-IN" sz="1200" b="1" dirty="0"/>
              <a:t>Fig. 1: </a:t>
            </a:r>
            <a:r>
              <a:rPr lang="en-IN" sz="1200" dirty="0"/>
              <a:t>Representation of Divide &amp; Conquer </a:t>
            </a:r>
          </a:p>
        </p:txBody>
      </p:sp>
    </p:spTree>
    <p:extLst>
      <p:ext uri="{BB962C8B-B14F-4D97-AF65-F5344CB8AC3E}">
        <p14:creationId xmlns:p14="http://schemas.microsoft.com/office/powerpoint/2010/main" val="676531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1000" fill="hold"/>
                                        <p:tgtEl>
                                          <p:spTgt spid="20"/>
                                        </p:tgtEl>
                                        <p:attrNameLst>
                                          <p:attrName>ppt_x</p:attrName>
                                        </p:attrNameLst>
                                      </p:cBhvr>
                                      <p:tavLst>
                                        <p:tav tm="0">
                                          <p:val>
                                            <p:strVal val="#ppt_x"/>
                                          </p:val>
                                        </p:tav>
                                        <p:tav tm="100000">
                                          <p:val>
                                            <p:strVal val="#ppt_x"/>
                                          </p:val>
                                        </p:tav>
                                      </p:tavLst>
                                    </p:anim>
                                    <p:anim calcmode="lin" valueType="num">
                                      <p:cBhvr additive="base">
                                        <p:cTn id="8" dur="10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0997C-CCA3-4B18-AA08-734446DF014F}"/>
              </a:ext>
            </a:extLst>
          </p:cNvPr>
          <p:cNvSpPr>
            <a:spLocks noGrp="1"/>
          </p:cNvSpPr>
          <p:nvPr>
            <p:ph type="title"/>
          </p:nvPr>
        </p:nvSpPr>
        <p:spPr>
          <a:xfrm>
            <a:off x="838200" y="136526"/>
            <a:ext cx="8749145" cy="897948"/>
          </a:xfrm>
          <a:ln>
            <a:solidFill>
              <a:schemeClr val="tx1"/>
            </a:solidFill>
          </a:ln>
        </p:spPr>
        <p:txBody>
          <a:bodyPr/>
          <a:lstStyle/>
          <a:p>
            <a:pPr algn="ctr"/>
            <a:r>
              <a:rPr lang="en-US" altLang="en-US" b="1" dirty="0">
                <a:latin typeface="Times New Roman" panose="02020603050405020304" pitchFamily="18" charset="0"/>
                <a:cs typeface="Times New Roman" panose="02020603050405020304" pitchFamily="18" charset="0"/>
              </a:rPr>
              <a:t>Divide-and-Conquer Examples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04465C7-F825-47AD-81B9-7258A6A9F476}"/>
              </a:ext>
            </a:extLst>
          </p:cNvPr>
          <p:cNvSpPr>
            <a:spLocks noGrp="1"/>
          </p:cNvSpPr>
          <p:nvPr>
            <p:ph idx="1"/>
          </p:nvPr>
        </p:nvSpPr>
        <p:spPr>
          <a:xfrm>
            <a:off x="838200" y="1163782"/>
            <a:ext cx="10515600" cy="5013181"/>
          </a:xfrm>
          <a:ln>
            <a:solidFill>
              <a:schemeClr val="tx1"/>
            </a:solidFill>
          </a:ln>
        </p:spPr>
        <p:txBody>
          <a:bodyPr>
            <a:normAutofit/>
          </a:bodyPr>
          <a:lstStyle/>
          <a:p>
            <a:pPr marL="457200" indent="-457200" algn="just">
              <a:lnSpc>
                <a:spcPct val="150000"/>
              </a:lnSpc>
            </a:pPr>
            <a:r>
              <a:rPr lang="en-US" altLang="en-US" sz="2400" dirty="0">
                <a:latin typeface="Times New Roman" panose="02020603050405020304" pitchFamily="18" charset="0"/>
                <a:cs typeface="Times New Roman" panose="02020603050405020304" pitchFamily="18" charset="0"/>
              </a:rPr>
              <a:t>Sorting: </a:t>
            </a:r>
            <a:r>
              <a:rPr lang="en-US" altLang="en-US" sz="2400" dirty="0" err="1">
                <a:latin typeface="Times New Roman" panose="02020603050405020304" pitchFamily="18" charset="0"/>
                <a:cs typeface="Times New Roman" panose="02020603050405020304" pitchFamily="18" charset="0"/>
              </a:rPr>
              <a:t>mergesort</a:t>
            </a:r>
            <a:r>
              <a:rPr lang="en-US" altLang="en-US" sz="2400" dirty="0">
                <a:latin typeface="Times New Roman" panose="02020603050405020304" pitchFamily="18" charset="0"/>
                <a:cs typeface="Times New Roman" panose="02020603050405020304" pitchFamily="18" charset="0"/>
              </a:rPr>
              <a:t> and quicksort</a:t>
            </a:r>
          </a:p>
          <a:p>
            <a:pPr marL="457200" indent="-457200" algn="just">
              <a:lnSpc>
                <a:spcPct val="150000"/>
              </a:lnSpc>
            </a:pPr>
            <a:r>
              <a:rPr lang="en-US" altLang="en-US" sz="2400" dirty="0">
                <a:latin typeface="Times New Roman" panose="02020603050405020304" pitchFamily="18" charset="0"/>
                <a:cs typeface="Times New Roman" panose="02020603050405020304" pitchFamily="18" charset="0"/>
              </a:rPr>
              <a:t>Binary tree traversals</a:t>
            </a:r>
          </a:p>
          <a:p>
            <a:pPr marL="457200" indent="-457200" algn="just">
              <a:lnSpc>
                <a:spcPct val="150000"/>
              </a:lnSpc>
            </a:pPr>
            <a:r>
              <a:rPr lang="en-US" altLang="en-US" sz="2400" dirty="0">
                <a:latin typeface="Times New Roman" panose="02020603050405020304" pitchFamily="18" charset="0"/>
                <a:cs typeface="Times New Roman" panose="02020603050405020304" pitchFamily="18" charset="0"/>
              </a:rPr>
              <a:t>Binary search</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AC8AC89-446D-4C53-AEA9-E7CA810295BC}"/>
              </a:ext>
            </a:extLst>
          </p:cNvPr>
          <p:cNvSpPr>
            <a:spLocks noGrp="1"/>
          </p:cNvSpPr>
          <p:nvPr>
            <p:ph type="sldNum" sz="quarter" idx="12"/>
          </p:nvPr>
        </p:nvSpPr>
        <p:spPr/>
        <p:txBody>
          <a:bodyPr/>
          <a:lstStyle/>
          <a:p>
            <a:fld id="{BDCDBBEF-AA6C-4BA6-85B2-A17D7F280E38}" type="slidenum">
              <a:rPr lang="en-US" smtClean="0"/>
              <a:pPr/>
              <a:t>5</a:t>
            </a:fld>
            <a:endParaRPr lang="en-US"/>
          </a:p>
        </p:txBody>
      </p:sp>
    </p:spTree>
    <p:extLst>
      <p:ext uri="{BB962C8B-B14F-4D97-AF65-F5344CB8AC3E}">
        <p14:creationId xmlns:p14="http://schemas.microsoft.com/office/powerpoint/2010/main" val="4271045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815B9-8EA1-492A-BEEF-216831F2D237}"/>
              </a:ext>
            </a:extLst>
          </p:cNvPr>
          <p:cNvSpPr>
            <a:spLocks noGrp="1"/>
          </p:cNvSpPr>
          <p:nvPr>
            <p:ph type="title"/>
          </p:nvPr>
        </p:nvSpPr>
        <p:spPr>
          <a:xfrm>
            <a:off x="838200" y="136526"/>
            <a:ext cx="8749145" cy="907184"/>
          </a:xfrm>
          <a:ln>
            <a:solidFill>
              <a:schemeClr val="tx1"/>
            </a:solidFill>
          </a:ln>
        </p:spPr>
        <p:txBody>
          <a:bodyPr/>
          <a:lstStyle/>
          <a:p>
            <a:pPr algn="ctr"/>
            <a:r>
              <a:rPr lang="en-IN" b="1" dirty="0">
                <a:latin typeface="Times New Roman" panose="02020603050405020304" pitchFamily="18" charset="0"/>
                <a:cs typeface="Times New Roman" panose="02020603050405020304" pitchFamily="18" charset="0"/>
              </a:rPr>
              <a:t>Binary Search</a:t>
            </a:r>
          </a:p>
        </p:txBody>
      </p:sp>
      <p:sp>
        <p:nvSpPr>
          <p:cNvPr id="3" name="Content Placeholder 2">
            <a:extLst>
              <a:ext uri="{FF2B5EF4-FFF2-40B4-BE49-F238E27FC236}">
                <a16:creationId xmlns:a16="http://schemas.microsoft.com/office/drawing/2014/main" id="{ED7E5283-1B8F-43E2-A475-9FD122D1E155}"/>
              </a:ext>
            </a:extLst>
          </p:cNvPr>
          <p:cNvSpPr>
            <a:spLocks noGrp="1"/>
          </p:cNvSpPr>
          <p:nvPr>
            <p:ph idx="1"/>
          </p:nvPr>
        </p:nvSpPr>
        <p:spPr>
          <a:xfrm>
            <a:off x="838200" y="1173018"/>
            <a:ext cx="10515600" cy="4950691"/>
          </a:xfrm>
          <a:ln>
            <a:solidFill>
              <a:schemeClr val="tx1"/>
            </a:solidFill>
          </a:ln>
        </p:spPr>
        <p:txBody>
          <a:bodyPr/>
          <a:lstStyle/>
          <a:p>
            <a:pPr algn="just"/>
            <a:r>
              <a:rPr lang="en-US" altLang="en-US" sz="2400" dirty="0">
                <a:latin typeface="Times New Roman" panose="02020603050405020304" pitchFamily="18" charset="0"/>
                <a:cs typeface="Times New Roman" panose="02020603050405020304" pitchFamily="18" charset="0"/>
              </a:rPr>
              <a:t>The binary search algorithm uses the divide-and-conquer strategy to search through an array</a:t>
            </a:r>
          </a:p>
          <a:p>
            <a:pPr algn="just">
              <a:spcBef>
                <a:spcPts val="2900"/>
              </a:spcBef>
            </a:pPr>
            <a:r>
              <a:rPr lang="en-US" altLang="en-US" sz="2400" dirty="0">
                <a:latin typeface="Times New Roman" panose="02020603050405020304" pitchFamily="18" charset="0"/>
                <a:cs typeface="Times New Roman" panose="02020603050405020304" pitchFamily="18" charset="0"/>
              </a:rPr>
              <a:t>The array </a:t>
            </a:r>
            <a:r>
              <a:rPr lang="en-US" altLang="en-US" sz="2400" b="1" i="1" dirty="0">
                <a:latin typeface="Times New Roman" panose="02020603050405020304" pitchFamily="18" charset="0"/>
                <a:cs typeface="Times New Roman" panose="02020603050405020304" pitchFamily="18" charset="0"/>
              </a:rPr>
              <a:t>must be sorted</a:t>
            </a:r>
            <a:endParaRPr lang="en-US" altLang="en-US" sz="2400" dirty="0">
              <a:latin typeface="Times New Roman" panose="02020603050405020304" pitchFamily="18" charset="0"/>
              <a:cs typeface="Times New Roman" panose="02020603050405020304" pitchFamily="18" charset="0"/>
            </a:endParaRPr>
          </a:p>
          <a:p>
            <a:pPr marL="635000" lvl="1" algn="just">
              <a:spcBef>
                <a:spcPts val="2900"/>
              </a:spcBef>
            </a:pPr>
            <a:r>
              <a:rPr lang="en-US" altLang="en-US" dirty="0">
                <a:latin typeface="Times New Roman" panose="02020603050405020304" pitchFamily="18" charset="0"/>
                <a:cs typeface="Times New Roman" panose="02020603050405020304" pitchFamily="18" charset="0"/>
              </a:rPr>
              <a:t>the “zeroing in” strategy for looking up a word in the dictionary won’t work it the words are not in alphabetical order</a:t>
            </a:r>
          </a:p>
          <a:p>
            <a:pPr marL="635000" lvl="1" algn="just">
              <a:spcBef>
                <a:spcPts val="2900"/>
              </a:spcBef>
            </a:pPr>
            <a:r>
              <a:rPr lang="en-US" altLang="en-US" dirty="0">
                <a:latin typeface="Times New Roman" panose="02020603050405020304" pitchFamily="18" charset="0"/>
                <a:cs typeface="Times New Roman" panose="02020603050405020304" pitchFamily="18" charset="0"/>
              </a:rPr>
              <a:t>binary search will not work unless the array is sorted</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9196CF2-A32D-4230-B676-6A86FBF89EDB}"/>
              </a:ext>
            </a:extLst>
          </p:cNvPr>
          <p:cNvSpPr>
            <a:spLocks noGrp="1"/>
          </p:cNvSpPr>
          <p:nvPr>
            <p:ph type="sldNum" sz="quarter" idx="12"/>
          </p:nvPr>
        </p:nvSpPr>
        <p:spPr/>
        <p:txBody>
          <a:bodyPr/>
          <a:lstStyle/>
          <a:p>
            <a:fld id="{BDCDBBEF-AA6C-4BA6-85B2-A17D7F280E38}" type="slidenum">
              <a:rPr lang="en-US" smtClean="0"/>
              <a:pPr/>
              <a:t>6</a:t>
            </a:fld>
            <a:endParaRPr lang="en-US"/>
          </a:p>
        </p:txBody>
      </p:sp>
    </p:spTree>
    <p:extLst>
      <p:ext uri="{BB962C8B-B14F-4D97-AF65-F5344CB8AC3E}">
        <p14:creationId xmlns:p14="http://schemas.microsoft.com/office/powerpoint/2010/main" val="3733493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815B9-8EA1-492A-BEEF-216831F2D237}"/>
              </a:ext>
            </a:extLst>
          </p:cNvPr>
          <p:cNvSpPr>
            <a:spLocks noGrp="1"/>
          </p:cNvSpPr>
          <p:nvPr>
            <p:ph type="title"/>
          </p:nvPr>
        </p:nvSpPr>
        <p:spPr>
          <a:xfrm>
            <a:off x="838200" y="136526"/>
            <a:ext cx="8749145" cy="907184"/>
          </a:xfrm>
          <a:ln>
            <a:solidFill>
              <a:schemeClr val="tx1"/>
            </a:solidFill>
          </a:ln>
        </p:spPr>
        <p:txBody>
          <a:bodyPr/>
          <a:lstStyle/>
          <a:p>
            <a:pPr algn="ctr"/>
            <a:r>
              <a:rPr lang="en-IN" b="1" dirty="0">
                <a:latin typeface="Times New Roman" panose="02020603050405020304" pitchFamily="18" charset="0"/>
                <a:cs typeface="Times New Roman" panose="02020603050405020304" pitchFamily="18" charset="0"/>
              </a:rPr>
              <a:t>Binary Search (contd.)</a:t>
            </a:r>
          </a:p>
        </p:txBody>
      </p:sp>
      <p:sp>
        <p:nvSpPr>
          <p:cNvPr id="3" name="Content Placeholder 2">
            <a:extLst>
              <a:ext uri="{FF2B5EF4-FFF2-40B4-BE49-F238E27FC236}">
                <a16:creationId xmlns:a16="http://schemas.microsoft.com/office/drawing/2014/main" id="{ED7E5283-1B8F-43E2-A475-9FD122D1E155}"/>
              </a:ext>
            </a:extLst>
          </p:cNvPr>
          <p:cNvSpPr>
            <a:spLocks noGrp="1"/>
          </p:cNvSpPr>
          <p:nvPr>
            <p:ph idx="1"/>
          </p:nvPr>
        </p:nvSpPr>
        <p:spPr>
          <a:xfrm>
            <a:off x="838200" y="1173018"/>
            <a:ext cx="10515600" cy="4950691"/>
          </a:xfrm>
          <a:ln>
            <a:solidFill>
              <a:schemeClr val="tx1"/>
            </a:solidFill>
          </a:ln>
        </p:spPr>
        <p:txBody>
          <a:bodyPr/>
          <a:lstStyle/>
          <a:p>
            <a:r>
              <a:rPr lang="en-US" altLang="en-US" sz="2400" dirty="0">
                <a:latin typeface="Times New Roman" panose="02020603050405020304" pitchFamily="18" charset="0"/>
                <a:cs typeface="Times New Roman" panose="02020603050405020304" pitchFamily="18" charset="0"/>
              </a:rPr>
              <a:t>To search a list of </a:t>
            </a:r>
            <a:r>
              <a:rPr lang="en-US" altLang="en-US" sz="2400" i="1" dirty="0">
                <a:latin typeface="Times New Roman" panose="02020603050405020304" pitchFamily="18" charset="0"/>
                <a:cs typeface="Times New Roman" panose="02020603050405020304" pitchFamily="18" charset="0"/>
                <a:sym typeface="Palatino" charset="0"/>
              </a:rPr>
              <a:t>n</a:t>
            </a:r>
            <a:r>
              <a:rPr lang="en-US" altLang="en-US" sz="2400" dirty="0">
                <a:latin typeface="Times New Roman" panose="02020603050405020304" pitchFamily="18" charset="0"/>
                <a:cs typeface="Times New Roman" panose="02020603050405020304" pitchFamily="18" charset="0"/>
              </a:rPr>
              <a:t> items, first look at the item in location </a:t>
            </a:r>
            <a:r>
              <a:rPr lang="en-US" altLang="en-US" sz="2400" i="1" dirty="0">
                <a:latin typeface="Times New Roman" panose="02020603050405020304" pitchFamily="18" charset="0"/>
                <a:cs typeface="Times New Roman" panose="02020603050405020304" pitchFamily="18" charset="0"/>
                <a:sym typeface="Palatino" charset="0"/>
              </a:rPr>
              <a:t>n</a:t>
            </a:r>
            <a:r>
              <a:rPr lang="en-US" altLang="en-US" sz="2400" dirty="0">
                <a:latin typeface="Times New Roman" panose="02020603050405020304" pitchFamily="18" charset="0"/>
                <a:cs typeface="Times New Roman" panose="02020603050405020304" pitchFamily="18" charset="0"/>
              </a:rPr>
              <a:t>/2</a:t>
            </a:r>
          </a:p>
          <a:p>
            <a:pPr marL="635000" lvl="1"/>
            <a:r>
              <a:rPr lang="en-US" altLang="en-US" dirty="0">
                <a:latin typeface="Times New Roman" panose="02020603050405020304" pitchFamily="18" charset="0"/>
                <a:cs typeface="Times New Roman" panose="02020603050405020304" pitchFamily="18" charset="0"/>
              </a:rPr>
              <a:t>then search either the region from 0 to </a:t>
            </a:r>
            <a:r>
              <a:rPr lang="en-US" altLang="en-US" i="1" dirty="0">
                <a:latin typeface="Times New Roman" panose="02020603050405020304" pitchFamily="18" charset="0"/>
                <a:cs typeface="Times New Roman" panose="02020603050405020304" pitchFamily="18" charset="0"/>
                <a:sym typeface="Palatino" charset="0"/>
              </a:rPr>
              <a:t>n</a:t>
            </a:r>
            <a:r>
              <a:rPr lang="en-US" altLang="en-US" dirty="0">
                <a:latin typeface="Times New Roman" panose="02020603050405020304" pitchFamily="18" charset="0"/>
                <a:cs typeface="Times New Roman" panose="02020603050405020304" pitchFamily="18" charset="0"/>
              </a:rPr>
              <a:t>/2-1 or the region from </a:t>
            </a:r>
            <a:r>
              <a:rPr lang="en-US" altLang="en-US" i="1" dirty="0">
                <a:latin typeface="Times New Roman" panose="02020603050405020304" pitchFamily="18" charset="0"/>
                <a:cs typeface="Times New Roman" panose="02020603050405020304" pitchFamily="18" charset="0"/>
                <a:sym typeface="Palatino" charset="0"/>
              </a:rPr>
              <a:t>n</a:t>
            </a:r>
            <a:r>
              <a:rPr lang="en-US" altLang="en-US" dirty="0">
                <a:latin typeface="Times New Roman" panose="02020603050405020304" pitchFamily="18" charset="0"/>
                <a:cs typeface="Times New Roman" panose="02020603050405020304" pitchFamily="18" charset="0"/>
              </a:rPr>
              <a:t>/2+1 to </a:t>
            </a:r>
            <a:r>
              <a:rPr lang="en-US" altLang="en-US" i="1" dirty="0">
                <a:latin typeface="Times New Roman" panose="02020603050405020304" pitchFamily="18" charset="0"/>
                <a:cs typeface="Times New Roman" panose="02020603050405020304" pitchFamily="18" charset="0"/>
                <a:sym typeface="Palatino" charset="0"/>
              </a:rPr>
              <a:t>n</a:t>
            </a:r>
            <a:r>
              <a:rPr lang="en-US" altLang="en-US" dirty="0">
                <a:latin typeface="Times New Roman" panose="02020603050405020304" pitchFamily="18" charset="0"/>
                <a:cs typeface="Times New Roman" panose="02020603050405020304" pitchFamily="18" charset="0"/>
              </a:rPr>
              <a:t>-1</a:t>
            </a:r>
          </a:p>
          <a:p>
            <a:pPr>
              <a:spcBef>
                <a:spcPts val="2200"/>
              </a:spcBef>
            </a:pPr>
            <a:r>
              <a:rPr lang="en-US" altLang="en-US" sz="2400" b="1" dirty="0">
                <a:latin typeface="Times New Roman" panose="02020603050405020304" pitchFamily="18" charset="0"/>
                <a:cs typeface="Times New Roman" panose="02020603050405020304" pitchFamily="18" charset="0"/>
              </a:rPr>
              <a:t>Example: </a:t>
            </a:r>
            <a:r>
              <a:rPr lang="en-US" altLang="en-US" sz="2400" dirty="0">
                <a:latin typeface="Times New Roman" panose="02020603050405020304" pitchFamily="18" charset="0"/>
                <a:cs typeface="Times New Roman" panose="02020603050405020304" pitchFamily="18" charset="0"/>
              </a:rPr>
              <a:t>searching for 57 in a sorted list of 15 numbers</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9196CF2-A32D-4230-B676-6A86FBF89EDB}"/>
              </a:ext>
            </a:extLst>
          </p:cNvPr>
          <p:cNvSpPr>
            <a:spLocks noGrp="1"/>
          </p:cNvSpPr>
          <p:nvPr>
            <p:ph type="sldNum" sz="quarter" idx="12"/>
          </p:nvPr>
        </p:nvSpPr>
        <p:spPr/>
        <p:txBody>
          <a:bodyPr/>
          <a:lstStyle/>
          <a:p>
            <a:fld id="{BDCDBBEF-AA6C-4BA6-85B2-A17D7F280E38}" type="slidenum">
              <a:rPr lang="en-US" smtClean="0"/>
              <a:pPr/>
              <a:t>7</a:t>
            </a:fld>
            <a:endParaRPr lang="en-US"/>
          </a:p>
        </p:txBody>
      </p:sp>
      <p:grpSp>
        <p:nvGrpSpPr>
          <p:cNvPr id="5" name="Group 5">
            <a:extLst>
              <a:ext uri="{FF2B5EF4-FFF2-40B4-BE49-F238E27FC236}">
                <a16:creationId xmlns:a16="http://schemas.microsoft.com/office/drawing/2014/main" id="{EF9E2471-DEAC-4AFE-ADDD-35509C72BF33}"/>
              </a:ext>
            </a:extLst>
          </p:cNvPr>
          <p:cNvGrpSpPr>
            <a:grpSpLocks/>
          </p:cNvGrpSpPr>
          <p:nvPr/>
        </p:nvGrpSpPr>
        <p:grpSpPr bwMode="auto">
          <a:xfrm>
            <a:off x="2699182" y="4930212"/>
            <a:ext cx="7291388" cy="889000"/>
            <a:chOff x="0" y="0"/>
            <a:chExt cx="4592" cy="560"/>
          </a:xfrm>
        </p:grpSpPr>
        <p:pic>
          <p:nvPicPr>
            <p:cNvPr id="6" name="Picture 3">
              <a:extLst>
                <a:ext uri="{FF2B5EF4-FFF2-40B4-BE49-F238E27FC236}">
                  <a16:creationId xmlns:a16="http://schemas.microsoft.com/office/drawing/2014/main" id="{9B7CD187-59B4-43F2-9F59-EA6B73F83E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 y="0"/>
              <a:ext cx="4335" cy="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a:tailEnd/>
                </a14:hiddenLine>
              </a:ext>
            </a:extLst>
          </p:spPr>
        </p:pic>
        <p:sp>
          <p:nvSpPr>
            <p:cNvPr id="7" name="Rectangle 4">
              <a:extLst>
                <a:ext uri="{FF2B5EF4-FFF2-40B4-BE49-F238E27FC236}">
                  <a16:creationId xmlns:a16="http://schemas.microsoft.com/office/drawing/2014/main" id="{97461A3B-E01D-41B6-9FA6-82155C8D540C}"/>
                </a:ext>
              </a:extLst>
            </p:cNvPr>
            <p:cNvSpPr>
              <a:spLocks/>
            </p:cNvSpPr>
            <p:nvPr/>
          </p:nvSpPr>
          <p:spPr bwMode="auto">
            <a:xfrm>
              <a:off x="0" y="20"/>
              <a:ext cx="1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lvl1pPr algn="l">
                <a:defRPr sz="1200">
                  <a:solidFill>
                    <a:schemeClr val="tx1"/>
                  </a:solidFill>
                  <a:latin typeface="Gill Sans" charset="0"/>
                </a:defRPr>
              </a:lvl1pPr>
              <a:lvl2pPr algn="l">
                <a:defRPr sz="1200">
                  <a:solidFill>
                    <a:schemeClr val="tx1"/>
                  </a:solidFill>
                  <a:latin typeface="Gill Sans" charset="0"/>
                </a:defRPr>
              </a:lvl2pPr>
              <a:lvl3pPr algn="l">
                <a:defRPr sz="1200">
                  <a:solidFill>
                    <a:schemeClr val="tx1"/>
                  </a:solidFill>
                  <a:latin typeface="Gill Sans" charset="0"/>
                </a:defRPr>
              </a:lvl3pPr>
              <a:lvl4pPr algn="l">
                <a:defRPr sz="1200">
                  <a:solidFill>
                    <a:schemeClr val="tx1"/>
                  </a:solidFill>
                  <a:latin typeface="Gill Sans" charset="0"/>
                </a:defRPr>
              </a:lvl4pPr>
              <a:lvl5pPr algn="l">
                <a:defRPr sz="1200">
                  <a:solidFill>
                    <a:schemeClr val="tx1"/>
                  </a:solidFill>
                  <a:latin typeface="Gill Sans" charset="0"/>
                </a:defRPr>
              </a:lvl5pPr>
              <a:lvl6pPr fontAlgn="base">
                <a:spcBef>
                  <a:spcPct val="0"/>
                </a:spcBef>
                <a:spcAft>
                  <a:spcPct val="0"/>
                </a:spcAft>
                <a:defRPr sz="1200">
                  <a:solidFill>
                    <a:schemeClr val="tx1"/>
                  </a:solidFill>
                  <a:latin typeface="Gill Sans" charset="0"/>
                </a:defRPr>
              </a:lvl6pPr>
              <a:lvl7pPr fontAlgn="base">
                <a:spcBef>
                  <a:spcPct val="0"/>
                </a:spcBef>
                <a:spcAft>
                  <a:spcPct val="0"/>
                </a:spcAft>
                <a:defRPr sz="1200">
                  <a:solidFill>
                    <a:schemeClr val="tx1"/>
                  </a:solidFill>
                  <a:latin typeface="Gill Sans" charset="0"/>
                </a:defRPr>
              </a:lvl7pPr>
              <a:lvl8pPr fontAlgn="base">
                <a:spcBef>
                  <a:spcPct val="0"/>
                </a:spcBef>
                <a:spcAft>
                  <a:spcPct val="0"/>
                </a:spcAft>
                <a:defRPr sz="1200">
                  <a:solidFill>
                    <a:schemeClr val="tx1"/>
                  </a:solidFill>
                  <a:latin typeface="Gill Sans" charset="0"/>
                </a:defRPr>
              </a:lvl8pPr>
              <a:lvl9pPr fontAlgn="base">
                <a:spcBef>
                  <a:spcPct val="0"/>
                </a:spcBef>
                <a:spcAft>
                  <a:spcPct val="0"/>
                </a:spcAft>
                <a:defRPr sz="1200">
                  <a:solidFill>
                    <a:schemeClr val="tx1"/>
                  </a:solidFill>
                  <a:latin typeface="Gill Sans" charset="0"/>
                </a:defRPr>
              </a:lvl9pPr>
            </a:lstStyle>
            <a:p>
              <a:pPr algn="ctr"/>
              <a:r>
                <a:rPr lang="en-US" altLang="en-US" sz="1400">
                  <a:solidFill>
                    <a:srgbClr val="000080"/>
                  </a:solidFill>
                </a:rPr>
                <a:t>①</a:t>
              </a:r>
            </a:p>
          </p:txBody>
        </p:sp>
      </p:grpSp>
      <p:grpSp>
        <p:nvGrpSpPr>
          <p:cNvPr id="8" name="Group 10">
            <a:extLst>
              <a:ext uri="{FF2B5EF4-FFF2-40B4-BE49-F238E27FC236}">
                <a16:creationId xmlns:a16="http://schemas.microsoft.com/office/drawing/2014/main" id="{01E432BE-11EF-42FA-AEE1-B9D215BEF3E7}"/>
              </a:ext>
            </a:extLst>
          </p:cNvPr>
          <p:cNvGrpSpPr>
            <a:grpSpLocks/>
          </p:cNvGrpSpPr>
          <p:nvPr/>
        </p:nvGrpSpPr>
        <p:grpSpPr bwMode="auto">
          <a:xfrm>
            <a:off x="2699182" y="2997978"/>
            <a:ext cx="7145338" cy="1846262"/>
            <a:chOff x="0" y="0"/>
            <a:chExt cx="4500" cy="1162"/>
          </a:xfrm>
        </p:grpSpPr>
        <p:grpSp>
          <p:nvGrpSpPr>
            <p:cNvPr id="9" name="Group 8">
              <a:extLst>
                <a:ext uri="{FF2B5EF4-FFF2-40B4-BE49-F238E27FC236}">
                  <a16:creationId xmlns:a16="http://schemas.microsoft.com/office/drawing/2014/main" id="{664206BA-F639-42F3-AEEA-9D79E5C4DC7C}"/>
                </a:ext>
              </a:extLst>
            </p:cNvPr>
            <p:cNvGrpSpPr>
              <a:grpSpLocks/>
            </p:cNvGrpSpPr>
            <p:nvPr/>
          </p:nvGrpSpPr>
          <p:grpSpPr bwMode="auto">
            <a:xfrm>
              <a:off x="0" y="918"/>
              <a:ext cx="4500" cy="244"/>
              <a:chOff x="0" y="0"/>
              <a:chExt cx="4500" cy="244"/>
            </a:xfrm>
          </p:grpSpPr>
          <p:pic>
            <p:nvPicPr>
              <p:cNvPr id="11" name="Picture 6">
                <a:extLst>
                  <a:ext uri="{FF2B5EF4-FFF2-40B4-BE49-F238E27FC236}">
                    <a16:creationId xmlns:a16="http://schemas.microsoft.com/office/drawing/2014/main" id="{DF16CA80-12AC-4DB1-BF8E-F5317C9C7F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 y="0"/>
                <a:ext cx="4243"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a:tailEnd/>
                  </a14:hiddenLine>
                </a:ext>
              </a:extLst>
            </p:spPr>
          </p:pic>
          <p:sp>
            <p:nvSpPr>
              <p:cNvPr id="12" name="Rectangle 7">
                <a:extLst>
                  <a:ext uri="{FF2B5EF4-FFF2-40B4-BE49-F238E27FC236}">
                    <a16:creationId xmlns:a16="http://schemas.microsoft.com/office/drawing/2014/main" id="{54E204B5-3FE0-444C-B850-3EC1E68BCADA}"/>
                  </a:ext>
                </a:extLst>
              </p:cNvPr>
              <p:cNvSpPr>
                <a:spLocks/>
              </p:cNvSpPr>
              <p:nvPr/>
            </p:nvSpPr>
            <p:spPr bwMode="auto">
              <a:xfrm>
                <a:off x="0" y="52"/>
                <a:ext cx="1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lvl1pPr algn="l">
                  <a:defRPr sz="1200">
                    <a:solidFill>
                      <a:schemeClr val="tx1"/>
                    </a:solidFill>
                    <a:latin typeface="Gill Sans" charset="0"/>
                  </a:defRPr>
                </a:lvl1pPr>
                <a:lvl2pPr algn="l">
                  <a:defRPr sz="1200">
                    <a:solidFill>
                      <a:schemeClr val="tx1"/>
                    </a:solidFill>
                    <a:latin typeface="Gill Sans" charset="0"/>
                  </a:defRPr>
                </a:lvl2pPr>
                <a:lvl3pPr algn="l">
                  <a:defRPr sz="1200">
                    <a:solidFill>
                      <a:schemeClr val="tx1"/>
                    </a:solidFill>
                    <a:latin typeface="Gill Sans" charset="0"/>
                  </a:defRPr>
                </a:lvl3pPr>
                <a:lvl4pPr algn="l">
                  <a:defRPr sz="1200">
                    <a:solidFill>
                      <a:schemeClr val="tx1"/>
                    </a:solidFill>
                    <a:latin typeface="Gill Sans" charset="0"/>
                  </a:defRPr>
                </a:lvl4pPr>
                <a:lvl5pPr algn="l">
                  <a:defRPr sz="1200">
                    <a:solidFill>
                      <a:schemeClr val="tx1"/>
                    </a:solidFill>
                    <a:latin typeface="Gill Sans" charset="0"/>
                  </a:defRPr>
                </a:lvl5pPr>
                <a:lvl6pPr fontAlgn="base">
                  <a:spcBef>
                    <a:spcPct val="0"/>
                  </a:spcBef>
                  <a:spcAft>
                    <a:spcPct val="0"/>
                  </a:spcAft>
                  <a:defRPr sz="1200">
                    <a:solidFill>
                      <a:schemeClr val="tx1"/>
                    </a:solidFill>
                    <a:latin typeface="Gill Sans" charset="0"/>
                  </a:defRPr>
                </a:lvl6pPr>
                <a:lvl7pPr fontAlgn="base">
                  <a:spcBef>
                    <a:spcPct val="0"/>
                  </a:spcBef>
                  <a:spcAft>
                    <a:spcPct val="0"/>
                  </a:spcAft>
                  <a:defRPr sz="1200">
                    <a:solidFill>
                      <a:schemeClr val="tx1"/>
                    </a:solidFill>
                    <a:latin typeface="Gill Sans" charset="0"/>
                  </a:defRPr>
                </a:lvl7pPr>
                <a:lvl8pPr fontAlgn="base">
                  <a:spcBef>
                    <a:spcPct val="0"/>
                  </a:spcBef>
                  <a:spcAft>
                    <a:spcPct val="0"/>
                  </a:spcAft>
                  <a:defRPr sz="1200">
                    <a:solidFill>
                      <a:schemeClr val="tx1"/>
                    </a:solidFill>
                    <a:latin typeface="Gill Sans" charset="0"/>
                  </a:defRPr>
                </a:lvl8pPr>
                <a:lvl9pPr fontAlgn="base">
                  <a:spcBef>
                    <a:spcPct val="0"/>
                  </a:spcBef>
                  <a:spcAft>
                    <a:spcPct val="0"/>
                  </a:spcAft>
                  <a:defRPr sz="1200">
                    <a:solidFill>
                      <a:schemeClr val="tx1"/>
                    </a:solidFill>
                    <a:latin typeface="Gill Sans" charset="0"/>
                  </a:defRPr>
                </a:lvl9pPr>
              </a:lstStyle>
              <a:p>
                <a:pPr algn="ctr"/>
                <a:r>
                  <a:rPr lang="en-US" altLang="en-US" sz="1400">
                    <a:solidFill>
                      <a:srgbClr val="000080"/>
                    </a:solidFill>
                  </a:rPr>
                  <a:t>②</a:t>
                </a:r>
              </a:p>
            </p:txBody>
          </p:sp>
        </p:grpSp>
        <p:pic>
          <p:nvPicPr>
            <p:cNvPr id="10" name="Picture 9">
              <a:extLst>
                <a:ext uri="{FF2B5EF4-FFF2-40B4-BE49-F238E27FC236}">
                  <a16:creationId xmlns:a16="http://schemas.microsoft.com/office/drawing/2014/main" id="{979E9330-D619-42A0-A24F-4E891E7C76D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5" y="0"/>
              <a:ext cx="1056"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a:tailEnd/>
                </a14:hiddenLine>
              </a:ext>
            </a:extLst>
          </p:spPr>
        </p:pic>
      </p:grpSp>
      <p:grpSp>
        <p:nvGrpSpPr>
          <p:cNvPr id="13" name="Group 17">
            <a:extLst>
              <a:ext uri="{FF2B5EF4-FFF2-40B4-BE49-F238E27FC236}">
                <a16:creationId xmlns:a16="http://schemas.microsoft.com/office/drawing/2014/main" id="{F72018C3-C1A0-4F6A-8194-A3ED01AA07D0}"/>
              </a:ext>
            </a:extLst>
          </p:cNvPr>
          <p:cNvGrpSpPr>
            <a:grpSpLocks/>
          </p:cNvGrpSpPr>
          <p:nvPr/>
        </p:nvGrpSpPr>
        <p:grpSpPr bwMode="auto">
          <a:xfrm>
            <a:off x="2940482" y="2761673"/>
            <a:ext cx="6646863" cy="1587500"/>
            <a:chOff x="0" y="0"/>
            <a:chExt cx="4186" cy="999"/>
          </a:xfrm>
        </p:grpSpPr>
        <p:sp>
          <p:nvSpPr>
            <p:cNvPr id="14" name="Rectangle 15">
              <a:extLst>
                <a:ext uri="{FF2B5EF4-FFF2-40B4-BE49-F238E27FC236}">
                  <a16:creationId xmlns:a16="http://schemas.microsoft.com/office/drawing/2014/main" id="{83B86FD0-515D-4412-A190-DB390B5F516A}"/>
                </a:ext>
              </a:extLst>
            </p:cNvPr>
            <p:cNvSpPr>
              <a:spLocks/>
            </p:cNvSpPr>
            <p:nvPr/>
          </p:nvSpPr>
          <p:spPr bwMode="auto">
            <a:xfrm>
              <a:off x="2263" y="136"/>
              <a:ext cx="1424"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lvl1pPr algn="l">
                <a:defRPr sz="1200">
                  <a:solidFill>
                    <a:schemeClr val="tx1"/>
                  </a:solidFill>
                  <a:latin typeface="Gill Sans" charset="0"/>
                </a:defRPr>
              </a:lvl1pPr>
              <a:lvl2pPr algn="l">
                <a:defRPr sz="1200">
                  <a:solidFill>
                    <a:schemeClr val="tx1"/>
                  </a:solidFill>
                  <a:latin typeface="Gill Sans" charset="0"/>
                </a:defRPr>
              </a:lvl2pPr>
              <a:lvl3pPr algn="l">
                <a:defRPr sz="1200">
                  <a:solidFill>
                    <a:schemeClr val="tx1"/>
                  </a:solidFill>
                  <a:latin typeface="Gill Sans" charset="0"/>
                </a:defRPr>
              </a:lvl3pPr>
              <a:lvl4pPr algn="l">
                <a:defRPr sz="1200">
                  <a:solidFill>
                    <a:schemeClr val="tx1"/>
                  </a:solidFill>
                  <a:latin typeface="Gill Sans" charset="0"/>
                </a:defRPr>
              </a:lvl4pPr>
              <a:lvl5pPr algn="l">
                <a:defRPr sz="1200">
                  <a:solidFill>
                    <a:schemeClr val="tx1"/>
                  </a:solidFill>
                  <a:latin typeface="Gill Sans" charset="0"/>
                </a:defRPr>
              </a:lvl5pPr>
              <a:lvl6pPr fontAlgn="base">
                <a:spcBef>
                  <a:spcPct val="0"/>
                </a:spcBef>
                <a:spcAft>
                  <a:spcPct val="0"/>
                </a:spcAft>
                <a:defRPr sz="1200">
                  <a:solidFill>
                    <a:schemeClr val="tx1"/>
                  </a:solidFill>
                  <a:latin typeface="Gill Sans" charset="0"/>
                </a:defRPr>
              </a:lvl6pPr>
              <a:lvl7pPr fontAlgn="base">
                <a:spcBef>
                  <a:spcPct val="0"/>
                </a:spcBef>
                <a:spcAft>
                  <a:spcPct val="0"/>
                </a:spcAft>
                <a:defRPr sz="1200">
                  <a:solidFill>
                    <a:schemeClr val="tx1"/>
                  </a:solidFill>
                  <a:latin typeface="Gill Sans" charset="0"/>
                </a:defRPr>
              </a:lvl7pPr>
              <a:lvl8pPr fontAlgn="base">
                <a:spcBef>
                  <a:spcPct val="0"/>
                </a:spcBef>
                <a:spcAft>
                  <a:spcPct val="0"/>
                </a:spcAft>
                <a:defRPr sz="1200">
                  <a:solidFill>
                    <a:schemeClr val="tx1"/>
                  </a:solidFill>
                  <a:latin typeface="Gill Sans" charset="0"/>
                </a:defRPr>
              </a:lvl8pPr>
              <a:lvl9pPr fontAlgn="base">
                <a:spcBef>
                  <a:spcPct val="0"/>
                </a:spcBef>
                <a:spcAft>
                  <a:spcPct val="0"/>
                </a:spcAft>
                <a:defRPr sz="1200">
                  <a:solidFill>
                    <a:schemeClr val="tx1"/>
                  </a:solidFill>
                  <a:latin typeface="Gill Sans" charset="0"/>
                </a:defRPr>
              </a:lvl9pPr>
            </a:lstStyle>
            <a:p>
              <a:r>
                <a:rPr lang="en-US" altLang="en-US" sz="1600" i="1">
                  <a:solidFill>
                    <a:srgbClr val="000080"/>
                  </a:solidFill>
                  <a:latin typeface="Helvetica Neue" charset="0"/>
                  <a:cs typeface="Helvetica Neue" charset="0"/>
                  <a:sym typeface="Helvetica Neue" charset="0"/>
                </a:rPr>
                <a:t>start in the middle </a:t>
              </a:r>
            </a:p>
          </p:txBody>
        </p:sp>
        <p:pic>
          <p:nvPicPr>
            <p:cNvPr id="15" name="Picture 16">
              <a:extLst>
                <a:ext uri="{FF2B5EF4-FFF2-40B4-BE49-F238E27FC236}">
                  <a16:creationId xmlns:a16="http://schemas.microsoft.com/office/drawing/2014/main" id="{7CF6B6FB-B704-46FC-B265-145DF4E8A78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4186" cy="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a:tailEnd/>
                </a14:hiddenLine>
              </a:ext>
            </a:extLst>
          </p:spPr>
        </p:pic>
      </p:grpSp>
      <p:grpSp>
        <p:nvGrpSpPr>
          <p:cNvPr id="16" name="Group 14">
            <a:extLst>
              <a:ext uri="{FF2B5EF4-FFF2-40B4-BE49-F238E27FC236}">
                <a16:creationId xmlns:a16="http://schemas.microsoft.com/office/drawing/2014/main" id="{798962F0-E7F3-4403-8982-47B394573945}"/>
              </a:ext>
            </a:extLst>
          </p:cNvPr>
          <p:cNvGrpSpPr>
            <a:grpSpLocks/>
          </p:cNvGrpSpPr>
          <p:nvPr/>
        </p:nvGrpSpPr>
        <p:grpSpPr bwMode="auto">
          <a:xfrm>
            <a:off x="2699182" y="3177386"/>
            <a:ext cx="7154863" cy="1308100"/>
            <a:chOff x="0" y="0"/>
            <a:chExt cx="4506" cy="824"/>
          </a:xfrm>
        </p:grpSpPr>
        <p:sp>
          <p:nvSpPr>
            <p:cNvPr id="17" name="Rectangle 11">
              <a:extLst>
                <a:ext uri="{FF2B5EF4-FFF2-40B4-BE49-F238E27FC236}">
                  <a16:creationId xmlns:a16="http://schemas.microsoft.com/office/drawing/2014/main" id="{C08335AD-59F2-4C45-8C2A-791DEA994CE8}"/>
                </a:ext>
              </a:extLst>
            </p:cNvPr>
            <p:cNvSpPr>
              <a:spLocks/>
            </p:cNvSpPr>
            <p:nvPr/>
          </p:nvSpPr>
          <p:spPr bwMode="auto">
            <a:xfrm>
              <a:off x="0" y="612"/>
              <a:ext cx="1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lvl1pPr algn="l">
                <a:defRPr sz="1200">
                  <a:solidFill>
                    <a:schemeClr val="tx1"/>
                  </a:solidFill>
                  <a:latin typeface="Gill Sans" charset="0"/>
                </a:defRPr>
              </a:lvl1pPr>
              <a:lvl2pPr algn="l">
                <a:defRPr sz="1200">
                  <a:solidFill>
                    <a:schemeClr val="tx1"/>
                  </a:solidFill>
                  <a:latin typeface="Gill Sans" charset="0"/>
                </a:defRPr>
              </a:lvl2pPr>
              <a:lvl3pPr algn="l">
                <a:defRPr sz="1200">
                  <a:solidFill>
                    <a:schemeClr val="tx1"/>
                  </a:solidFill>
                  <a:latin typeface="Gill Sans" charset="0"/>
                </a:defRPr>
              </a:lvl3pPr>
              <a:lvl4pPr algn="l">
                <a:defRPr sz="1200">
                  <a:solidFill>
                    <a:schemeClr val="tx1"/>
                  </a:solidFill>
                  <a:latin typeface="Gill Sans" charset="0"/>
                </a:defRPr>
              </a:lvl4pPr>
              <a:lvl5pPr algn="l">
                <a:defRPr sz="1200">
                  <a:solidFill>
                    <a:schemeClr val="tx1"/>
                  </a:solidFill>
                  <a:latin typeface="Gill Sans" charset="0"/>
                </a:defRPr>
              </a:lvl5pPr>
              <a:lvl6pPr fontAlgn="base">
                <a:spcBef>
                  <a:spcPct val="0"/>
                </a:spcBef>
                <a:spcAft>
                  <a:spcPct val="0"/>
                </a:spcAft>
                <a:defRPr sz="1200">
                  <a:solidFill>
                    <a:schemeClr val="tx1"/>
                  </a:solidFill>
                  <a:latin typeface="Gill Sans" charset="0"/>
                </a:defRPr>
              </a:lvl6pPr>
              <a:lvl7pPr fontAlgn="base">
                <a:spcBef>
                  <a:spcPct val="0"/>
                </a:spcBef>
                <a:spcAft>
                  <a:spcPct val="0"/>
                </a:spcAft>
                <a:defRPr sz="1200">
                  <a:solidFill>
                    <a:schemeClr val="tx1"/>
                  </a:solidFill>
                  <a:latin typeface="Gill Sans" charset="0"/>
                </a:defRPr>
              </a:lvl7pPr>
              <a:lvl8pPr fontAlgn="base">
                <a:spcBef>
                  <a:spcPct val="0"/>
                </a:spcBef>
                <a:spcAft>
                  <a:spcPct val="0"/>
                </a:spcAft>
                <a:defRPr sz="1200">
                  <a:solidFill>
                    <a:schemeClr val="tx1"/>
                  </a:solidFill>
                  <a:latin typeface="Gill Sans" charset="0"/>
                </a:defRPr>
              </a:lvl8pPr>
              <a:lvl9pPr fontAlgn="base">
                <a:spcBef>
                  <a:spcPct val="0"/>
                </a:spcBef>
                <a:spcAft>
                  <a:spcPct val="0"/>
                </a:spcAft>
                <a:defRPr sz="1200">
                  <a:solidFill>
                    <a:schemeClr val="tx1"/>
                  </a:solidFill>
                  <a:latin typeface="Gill Sans" charset="0"/>
                </a:defRPr>
              </a:lvl9pPr>
            </a:lstStyle>
            <a:p>
              <a:pPr algn="ctr"/>
              <a:r>
                <a:rPr lang="en-US" altLang="en-US" sz="1400">
                  <a:solidFill>
                    <a:srgbClr val="000080"/>
                  </a:solidFill>
                </a:rPr>
                <a:t>③</a:t>
              </a:r>
            </a:p>
          </p:txBody>
        </p:sp>
        <p:pic>
          <p:nvPicPr>
            <p:cNvPr id="18" name="Picture 12">
              <a:extLst>
                <a:ext uri="{FF2B5EF4-FFF2-40B4-BE49-F238E27FC236}">
                  <a16:creationId xmlns:a16="http://schemas.microsoft.com/office/drawing/2014/main" id="{91835BB8-4564-4C2C-BC86-ADE6E286AB1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7" y="592"/>
              <a:ext cx="3209"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a:tailEnd/>
                </a14:hiddenLine>
              </a:ext>
            </a:extLst>
          </p:spPr>
        </p:pic>
        <p:pic>
          <p:nvPicPr>
            <p:cNvPr id="19" name="Picture 13">
              <a:extLst>
                <a:ext uri="{FF2B5EF4-FFF2-40B4-BE49-F238E27FC236}">
                  <a16:creationId xmlns:a16="http://schemas.microsoft.com/office/drawing/2014/main" id="{B7E7D621-40D8-4069-A0B4-0554BC3B4E0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09" y="0"/>
              <a:ext cx="631"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a:tailEnd/>
                </a14:hiddenLine>
              </a:ext>
            </a:extLst>
          </p:spPr>
        </p:pic>
      </p:grpSp>
    </p:spTree>
    <p:extLst>
      <p:ext uri="{BB962C8B-B14F-4D97-AF65-F5344CB8AC3E}">
        <p14:creationId xmlns:p14="http://schemas.microsoft.com/office/powerpoint/2010/main" val="1757502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blinds(horizontal)">
                                      <p:cBhvr>
                                        <p:cTn id="2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815B9-8EA1-492A-BEEF-216831F2D237}"/>
              </a:ext>
            </a:extLst>
          </p:cNvPr>
          <p:cNvSpPr>
            <a:spLocks noGrp="1"/>
          </p:cNvSpPr>
          <p:nvPr>
            <p:ph type="title"/>
          </p:nvPr>
        </p:nvSpPr>
        <p:spPr>
          <a:xfrm>
            <a:off x="838200" y="136526"/>
            <a:ext cx="8749145" cy="907184"/>
          </a:xfrm>
          <a:ln>
            <a:solidFill>
              <a:schemeClr val="tx1"/>
            </a:solidFill>
          </a:ln>
        </p:spPr>
        <p:txBody>
          <a:bodyPr/>
          <a:lstStyle/>
          <a:p>
            <a:pPr algn="ctr"/>
            <a:r>
              <a:rPr lang="en-IN" b="1" dirty="0">
                <a:latin typeface="Times New Roman" panose="02020603050405020304" pitchFamily="18" charset="0"/>
                <a:cs typeface="Times New Roman" panose="02020603050405020304" pitchFamily="18" charset="0"/>
              </a:rPr>
              <a:t>Binary Search (contd.)</a:t>
            </a:r>
          </a:p>
        </p:txBody>
      </p:sp>
      <p:sp>
        <p:nvSpPr>
          <p:cNvPr id="3" name="Content Placeholder 2">
            <a:extLst>
              <a:ext uri="{FF2B5EF4-FFF2-40B4-BE49-F238E27FC236}">
                <a16:creationId xmlns:a16="http://schemas.microsoft.com/office/drawing/2014/main" id="{ED7E5283-1B8F-43E2-A475-9FD122D1E155}"/>
              </a:ext>
            </a:extLst>
          </p:cNvPr>
          <p:cNvSpPr>
            <a:spLocks noGrp="1"/>
          </p:cNvSpPr>
          <p:nvPr>
            <p:ph idx="1"/>
          </p:nvPr>
        </p:nvSpPr>
        <p:spPr>
          <a:xfrm>
            <a:off x="838200" y="1173018"/>
            <a:ext cx="10515600" cy="4950691"/>
          </a:xfrm>
          <a:ln>
            <a:solidFill>
              <a:schemeClr val="tx1"/>
            </a:solidFill>
          </a:ln>
        </p:spPr>
        <p:txBody>
          <a:bodyPr/>
          <a:lstStyle/>
          <a:p>
            <a:pPr algn="just"/>
            <a:r>
              <a:rPr lang="en-US" altLang="en-US" sz="2400" dirty="0">
                <a:latin typeface="Times New Roman" panose="02020603050405020304" pitchFamily="18" charset="0"/>
                <a:cs typeface="Times New Roman" panose="02020603050405020304" pitchFamily="18" charset="0"/>
              </a:rPr>
              <a:t>The algorithm uses two variables to keep track of the boundaries of the region to search</a:t>
            </a:r>
          </a:p>
          <a:p>
            <a:pPr marL="368300" lvl="1" indent="0" algn="just">
              <a:buFont typeface="Zapf Dingbats" charset="0"/>
              <a:buNone/>
            </a:pPr>
            <a:r>
              <a:rPr lang="en-US" altLang="en-US" dirty="0">
                <a:latin typeface="Times New Roman" panose="02020603050405020304" pitchFamily="18" charset="0"/>
                <a:cs typeface="Times New Roman" panose="02020603050405020304" pitchFamily="18" charset="0"/>
                <a:sym typeface="Courier" charset="0"/>
              </a:rPr>
              <a:t>lower</a:t>
            </a:r>
            <a:r>
              <a:rPr lang="en-US" altLang="en-US" dirty="0">
                <a:latin typeface="Times New Roman" panose="02020603050405020304" pitchFamily="18" charset="0"/>
                <a:cs typeface="Times New Roman" panose="02020603050405020304" pitchFamily="18" charset="0"/>
              </a:rPr>
              <a:t>		the index </a:t>
            </a:r>
            <a:r>
              <a:rPr lang="en-US" altLang="en-US" b="1" i="1" dirty="0">
                <a:latin typeface="Times New Roman" panose="02020603050405020304" pitchFamily="18" charset="0"/>
                <a:cs typeface="Times New Roman" panose="02020603050405020304" pitchFamily="18" charset="0"/>
              </a:rPr>
              <a:t>one below</a:t>
            </a:r>
            <a:r>
              <a:rPr lang="en-US" altLang="en-US" dirty="0">
                <a:latin typeface="Times New Roman" panose="02020603050405020304" pitchFamily="18" charset="0"/>
                <a:cs typeface="Times New Roman" panose="02020603050405020304" pitchFamily="18" charset="0"/>
              </a:rPr>
              <a:t> the leftmost item in the region</a:t>
            </a:r>
          </a:p>
          <a:p>
            <a:pPr marL="368300" lvl="1" indent="0" algn="just">
              <a:buFont typeface="Zapf Dingbats" charset="0"/>
              <a:buNone/>
            </a:pPr>
            <a:r>
              <a:rPr lang="en-US" altLang="en-US" dirty="0">
                <a:latin typeface="Times New Roman" panose="02020603050405020304" pitchFamily="18" charset="0"/>
                <a:cs typeface="Times New Roman" panose="02020603050405020304" pitchFamily="18" charset="0"/>
                <a:sym typeface="Courier" charset="0"/>
              </a:rPr>
              <a:t>upper</a:t>
            </a:r>
            <a:r>
              <a:rPr lang="en-US" altLang="en-US" dirty="0">
                <a:latin typeface="Times New Roman" panose="02020603050405020304" pitchFamily="18" charset="0"/>
                <a:cs typeface="Times New Roman" panose="02020603050405020304" pitchFamily="18" charset="0"/>
              </a:rPr>
              <a:t>		the index </a:t>
            </a:r>
            <a:r>
              <a:rPr lang="en-US" altLang="en-US" b="1" i="1" dirty="0">
                <a:latin typeface="Times New Roman" panose="02020603050405020304" pitchFamily="18" charset="0"/>
                <a:cs typeface="Times New Roman" panose="02020603050405020304" pitchFamily="18" charset="0"/>
              </a:rPr>
              <a:t>one above</a:t>
            </a:r>
            <a:r>
              <a:rPr lang="en-US" altLang="en-US" dirty="0">
                <a:latin typeface="Times New Roman" panose="02020603050405020304" pitchFamily="18" charset="0"/>
                <a:cs typeface="Times New Roman" panose="02020603050405020304" pitchFamily="18" charset="0"/>
              </a:rPr>
              <a:t> the rightmost region</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9196CF2-A32D-4230-B676-6A86FBF89EDB}"/>
              </a:ext>
            </a:extLst>
          </p:cNvPr>
          <p:cNvSpPr>
            <a:spLocks noGrp="1"/>
          </p:cNvSpPr>
          <p:nvPr>
            <p:ph type="sldNum" sz="quarter" idx="12"/>
          </p:nvPr>
        </p:nvSpPr>
        <p:spPr/>
        <p:txBody>
          <a:bodyPr/>
          <a:lstStyle/>
          <a:p>
            <a:fld id="{BDCDBBEF-AA6C-4BA6-85B2-A17D7F280E38}" type="slidenum">
              <a:rPr lang="en-US" smtClean="0"/>
              <a:pPr/>
              <a:t>8</a:t>
            </a:fld>
            <a:endParaRPr lang="en-US"/>
          </a:p>
        </p:txBody>
      </p:sp>
      <p:pic>
        <p:nvPicPr>
          <p:cNvPr id="20" name="Picture 3">
            <a:extLst>
              <a:ext uri="{FF2B5EF4-FFF2-40B4-BE49-F238E27FC236}">
                <a16:creationId xmlns:a16="http://schemas.microsoft.com/office/drawing/2014/main" id="{6DD01F85-289D-4EAD-BC95-4BDED868C5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8527" y="3048000"/>
            <a:ext cx="663892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a:tailEnd/>
              </a14:hiddenLine>
            </a:ext>
          </a:extLst>
        </p:spPr>
      </p:pic>
      <p:sp>
        <p:nvSpPr>
          <p:cNvPr id="21" name="Rectangle 6">
            <a:extLst>
              <a:ext uri="{FF2B5EF4-FFF2-40B4-BE49-F238E27FC236}">
                <a16:creationId xmlns:a16="http://schemas.microsoft.com/office/drawing/2014/main" id="{6D7BDA26-CEC1-4DFA-BDC8-8551C371FB8B}"/>
              </a:ext>
            </a:extLst>
          </p:cNvPr>
          <p:cNvSpPr>
            <a:spLocks/>
          </p:cNvSpPr>
          <p:nvPr/>
        </p:nvSpPr>
        <p:spPr bwMode="auto">
          <a:xfrm>
            <a:off x="2826327" y="4052454"/>
            <a:ext cx="64611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lvl1pPr algn="l">
              <a:defRPr sz="1200">
                <a:solidFill>
                  <a:schemeClr val="tx1"/>
                </a:solidFill>
                <a:latin typeface="Gill Sans" charset="0"/>
              </a:defRPr>
            </a:lvl1pPr>
            <a:lvl2pPr algn="l">
              <a:defRPr sz="1200">
                <a:solidFill>
                  <a:schemeClr val="tx1"/>
                </a:solidFill>
                <a:latin typeface="Gill Sans" charset="0"/>
              </a:defRPr>
            </a:lvl2pPr>
            <a:lvl3pPr algn="l">
              <a:defRPr sz="1200">
                <a:solidFill>
                  <a:schemeClr val="tx1"/>
                </a:solidFill>
                <a:latin typeface="Gill Sans" charset="0"/>
              </a:defRPr>
            </a:lvl3pPr>
            <a:lvl4pPr algn="l">
              <a:defRPr sz="1200">
                <a:solidFill>
                  <a:schemeClr val="tx1"/>
                </a:solidFill>
                <a:latin typeface="Gill Sans" charset="0"/>
              </a:defRPr>
            </a:lvl4pPr>
            <a:lvl5pPr algn="l">
              <a:defRPr sz="1200">
                <a:solidFill>
                  <a:schemeClr val="tx1"/>
                </a:solidFill>
                <a:latin typeface="Gill Sans" charset="0"/>
              </a:defRPr>
            </a:lvl5pPr>
            <a:lvl6pPr fontAlgn="base">
              <a:spcBef>
                <a:spcPct val="0"/>
              </a:spcBef>
              <a:spcAft>
                <a:spcPct val="0"/>
              </a:spcAft>
              <a:defRPr sz="1200">
                <a:solidFill>
                  <a:schemeClr val="tx1"/>
                </a:solidFill>
                <a:latin typeface="Gill Sans" charset="0"/>
              </a:defRPr>
            </a:lvl6pPr>
            <a:lvl7pPr fontAlgn="base">
              <a:spcBef>
                <a:spcPct val="0"/>
              </a:spcBef>
              <a:spcAft>
                <a:spcPct val="0"/>
              </a:spcAft>
              <a:defRPr sz="1200">
                <a:solidFill>
                  <a:schemeClr val="tx1"/>
                </a:solidFill>
                <a:latin typeface="Gill Sans" charset="0"/>
              </a:defRPr>
            </a:lvl7pPr>
            <a:lvl8pPr fontAlgn="base">
              <a:spcBef>
                <a:spcPct val="0"/>
              </a:spcBef>
              <a:spcAft>
                <a:spcPct val="0"/>
              </a:spcAft>
              <a:defRPr sz="1200">
                <a:solidFill>
                  <a:schemeClr val="tx1"/>
                </a:solidFill>
                <a:latin typeface="Gill Sans" charset="0"/>
              </a:defRPr>
            </a:lvl8pPr>
            <a:lvl9pPr fontAlgn="base">
              <a:spcBef>
                <a:spcPct val="0"/>
              </a:spcBef>
              <a:spcAft>
                <a:spcPct val="0"/>
              </a:spcAft>
              <a:defRPr sz="1200">
                <a:solidFill>
                  <a:schemeClr val="tx1"/>
                </a:solidFill>
                <a:latin typeface="Gill Sans" charset="0"/>
              </a:defRPr>
            </a:lvl9pPr>
          </a:lstStyle>
          <a:p>
            <a:pPr>
              <a:spcBef>
                <a:spcPts val="400"/>
              </a:spcBef>
            </a:pPr>
            <a:r>
              <a:rPr lang="en-US" altLang="en-US" sz="2000" i="1" dirty="0">
                <a:solidFill>
                  <a:srgbClr val="000080"/>
                </a:solidFill>
                <a:latin typeface="Casper"/>
                <a:cs typeface="Helvetica Neue" charset="0"/>
                <a:sym typeface="Helvetica Neue" charset="0"/>
              </a:rPr>
              <a:t>initial values when searching an array of n items:</a:t>
            </a:r>
          </a:p>
          <a:p>
            <a:pPr>
              <a:spcBef>
                <a:spcPts val="400"/>
              </a:spcBef>
            </a:pPr>
            <a:r>
              <a:rPr lang="en-US" altLang="en-US" sz="2000" dirty="0">
                <a:solidFill>
                  <a:srgbClr val="000080"/>
                </a:solidFill>
                <a:latin typeface="Casper"/>
                <a:ea typeface="Courier" charset="0"/>
                <a:cs typeface="Courier" charset="0"/>
                <a:sym typeface="Courier" charset="0"/>
              </a:rPr>
              <a:t>lower = -1</a:t>
            </a:r>
            <a:endParaRPr lang="en-US" altLang="en-US" sz="2000" i="1" dirty="0">
              <a:solidFill>
                <a:srgbClr val="000080"/>
              </a:solidFill>
              <a:latin typeface="Casper"/>
              <a:cs typeface="Helvetica Neue" charset="0"/>
              <a:sym typeface="Helvetica Neue" charset="0"/>
            </a:endParaRPr>
          </a:p>
          <a:p>
            <a:pPr>
              <a:spcBef>
                <a:spcPts val="400"/>
              </a:spcBef>
            </a:pPr>
            <a:r>
              <a:rPr lang="en-US" altLang="en-US" sz="2000" dirty="0">
                <a:solidFill>
                  <a:srgbClr val="000080"/>
                </a:solidFill>
                <a:latin typeface="Casper"/>
                <a:ea typeface="Courier" charset="0"/>
                <a:cs typeface="Courier" charset="0"/>
                <a:sym typeface="Courier" charset="0"/>
              </a:rPr>
              <a:t>upper = n</a:t>
            </a:r>
          </a:p>
        </p:txBody>
      </p:sp>
    </p:spTree>
    <p:extLst>
      <p:ext uri="{BB962C8B-B14F-4D97-AF65-F5344CB8AC3E}">
        <p14:creationId xmlns:p14="http://schemas.microsoft.com/office/powerpoint/2010/main" val="285780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linds(horizontal)">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1926629984" fill="hold" grpId="0" nodeType="clickEffect">
                                  <p:stCondLst>
                                    <p:cond delay="0"/>
                                  </p:stCondLst>
                                  <p:childTnLst>
                                    <p:set>
                                      <p:cBhvr>
                                        <p:cTn id="11" dur="1" fill="hold">
                                          <p:stCondLst>
                                            <p:cond delay="499"/>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815B9-8EA1-492A-BEEF-216831F2D237}"/>
              </a:ext>
            </a:extLst>
          </p:cNvPr>
          <p:cNvSpPr>
            <a:spLocks noGrp="1"/>
          </p:cNvSpPr>
          <p:nvPr>
            <p:ph type="title"/>
          </p:nvPr>
        </p:nvSpPr>
        <p:spPr>
          <a:xfrm>
            <a:off x="838200" y="136526"/>
            <a:ext cx="8749145" cy="907184"/>
          </a:xfrm>
          <a:ln>
            <a:solidFill>
              <a:schemeClr val="tx1"/>
            </a:solidFill>
          </a:ln>
        </p:spPr>
        <p:txBody>
          <a:bodyPr/>
          <a:lstStyle/>
          <a:p>
            <a:pPr algn="ctr"/>
            <a:r>
              <a:rPr lang="en-IN" b="1" dirty="0">
                <a:latin typeface="Times New Roman" panose="02020603050405020304" pitchFamily="18" charset="0"/>
                <a:cs typeface="Times New Roman" panose="02020603050405020304" pitchFamily="18" charset="0"/>
              </a:rPr>
              <a:t>Binary Search (contd.)</a:t>
            </a:r>
          </a:p>
        </p:txBody>
      </p:sp>
      <p:sp>
        <p:nvSpPr>
          <p:cNvPr id="3" name="Content Placeholder 2">
            <a:extLst>
              <a:ext uri="{FF2B5EF4-FFF2-40B4-BE49-F238E27FC236}">
                <a16:creationId xmlns:a16="http://schemas.microsoft.com/office/drawing/2014/main" id="{ED7E5283-1B8F-43E2-A475-9FD122D1E155}"/>
              </a:ext>
            </a:extLst>
          </p:cNvPr>
          <p:cNvSpPr>
            <a:spLocks noGrp="1"/>
          </p:cNvSpPr>
          <p:nvPr>
            <p:ph idx="1"/>
          </p:nvPr>
        </p:nvSpPr>
        <p:spPr>
          <a:xfrm>
            <a:off x="838200" y="1173018"/>
            <a:ext cx="10515600" cy="4950691"/>
          </a:xfrm>
          <a:ln>
            <a:solidFill>
              <a:schemeClr val="tx1"/>
            </a:solidFill>
          </a:ln>
        </p:spPr>
        <p:txBody>
          <a:bodyPr>
            <a:normAutofit/>
          </a:bodyPr>
          <a:lstStyle/>
          <a:p>
            <a:r>
              <a:rPr lang="en-US" altLang="en-US" sz="2400" dirty="0">
                <a:latin typeface="Times New Roman" panose="02020603050405020304" pitchFamily="18" charset="0"/>
                <a:cs typeface="Times New Roman" panose="02020603050405020304" pitchFamily="18" charset="0"/>
              </a:rPr>
              <a:t>The algorithm is based on an iteration (“loop”) that keeps making the region smaller and smaller</a:t>
            </a:r>
          </a:p>
          <a:p>
            <a:pPr marL="685800" lvl="1"/>
            <a:r>
              <a:rPr lang="en-US" altLang="en-US" dirty="0">
                <a:latin typeface="Times New Roman" panose="02020603050405020304" pitchFamily="18" charset="0"/>
                <a:cs typeface="Times New Roman" panose="02020603050405020304" pitchFamily="18" charset="0"/>
              </a:rPr>
              <a:t>the initial region is the complete array</a:t>
            </a:r>
          </a:p>
          <a:p>
            <a:pPr marL="685800" lvl="1"/>
            <a:r>
              <a:rPr lang="en-US" altLang="en-US" dirty="0">
                <a:latin typeface="Times New Roman" panose="02020603050405020304" pitchFamily="18" charset="0"/>
                <a:cs typeface="Times New Roman" panose="02020603050405020304" pitchFamily="18" charset="0"/>
              </a:rPr>
              <a:t>the next one is either the upper half or lower half</a:t>
            </a:r>
          </a:p>
          <a:p>
            <a:pPr marL="685800" lvl="1"/>
            <a:r>
              <a:rPr lang="en-US" altLang="en-US" dirty="0">
                <a:latin typeface="Times New Roman" panose="02020603050405020304" pitchFamily="18" charset="0"/>
                <a:cs typeface="Times New Roman" panose="02020603050405020304" pitchFamily="18" charset="0"/>
              </a:rPr>
              <a:t>the one after that is one quarter, then one eighth, then...</a:t>
            </a:r>
          </a:p>
          <a:p>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9196CF2-A32D-4230-B676-6A86FBF89EDB}"/>
              </a:ext>
            </a:extLst>
          </p:cNvPr>
          <p:cNvSpPr>
            <a:spLocks noGrp="1"/>
          </p:cNvSpPr>
          <p:nvPr>
            <p:ph type="sldNum" sz="quarter" idx="12"/>
          </p:nvPr>
        </p:nvSpPr>
        <p:spPr/>
        <p:txBody>
          <a:bodyPr/>
          <a:lstStyle/>
          <a:p>
            <a:fld id="{BDCDBBEF-AA6C-4BA6-85B2-A17D7F280E38}" type="slidenum">
              <a:rPr lang="en-US" smtClean="0"/>
              <a:pPr/>
              <a:t>9</a:t>
            </a:fld>
            <a:endParaRPr lang="en-US"/>
          </a:p>
        </p:txBody>
      </p:sp>
      <p:pic>
        <p:nvPicPr>
          <p:cNvPr id="7" name="Picture 3">
            <a:extLst>
              <a:ext uri="{FF2B5EF4-FFF2-40B4-BE49-F238E27FC236}">
                <a16:creationId xmlns:a16="http://schemas.microsoft.com/office/drawing/2014/main" id="{30459837-7FB1-4553-A87C-F5E344F256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8454" y="3267363"/>
            <a:ext cx="663892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a:tailEnd/>
              </a14:hiddenLine>
            </a:ext>
          </a:extLst>
        </p:spPr>
      </p:pic>
      <p:sp>
        <p:nvSpPr>
          <p:cNvPr id="8" name="Rectangle 6">
            <a:extLst>
              <a:ext uri="{FF2B5EF4-FFF2-40B4-BE49-F238E27FC236}">
                <a16:creationId xmlns:a16="http://schemas.microsoft.com/office/drawing/2014/main" id="{5313D645-9E79-44E6-86E0-1B120AEB863E}"/>
              </a:ext>
            </a:extLst>
          </p:cNvPr>
          <p:cNvSpPr>
            <a:spLocks/>
          </p:cNvSpPr>
          <p:nvPr/>
        </p:nvSpPr>
        <p:spPr bwMode="auto">
          <a:xfrm>
            <a:off x="2900507" y="4162136"/>
            <a:ext cx="6114184"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lvl1pPr algn="l">
              <a:defRPr sz="1200">
                <a:solidFill>
                  <a:schemeClr val="tx1"/>
                </a:solidFill>
                <a:latin typeface="Gill Sans" charset="0"/>
              </a:defRPr>
            </a:lvl1pPr>
            <a:lvl2pPr algn="l">
              <a:defRPr sz="1200">
                <a:solidFill>
                  <a:schemeClr val="tx1"/>
                </a:solidFill>
                <a:latin typeface="Gill Sans" charset="0"/>
              </a:defRPr>
            </a:lvl2pPr>
            <a:lvl3pPr algn="l">
              <a:defRPr sz="1200">
                <a:solidFill>
                  <a:schemeClr val="tx1"/>
                </a:solidFill>
                <a:latin typeface="Gill Sans" charset="0"/>
              </a:defRPr>
            </a:lvl3pPr>
            <a:lvl4pPr algn="l">
              <a:defRPr sz="1200">
                <a:solidFill>
                  <a:schemeClr val="tx1"/>
                </a:solidFill>
                <a:latin typeface="Gill Sans" charset="0"/>
              </a:defRPr>
            </a:lvl4pPr>
            <a:lvl5pPr algn="l">
              <a:defRPr sz="1200">
                <a:solidFill>
                  <a:schemeClr val="tx1"/>
                </a:solidFill>
                <a:latin typeface="Gill Sans" charset="0"/>
              </a:defRPr>
            </a:lvl5pPr>
            <a:lvl6pPr fontAlgn="base">
              <a:spcBef>
                <a:spcPct val="0"/>
              </a:spcBef>
              <a:spcAft>
                <a:spcPct val="0"/>
              </a:spcAft>
              <a:defRPr sz="1200">
                <a:solidFill>
                  <a:schemeClr val="tx1"/>
                </a:solidFill>
                <a:latin typeface="Gill Sans" charset="0"/>
              </a:defRPr>
            </a:lvl6pPr>
            <a:lvl7pPr fontAlgn="base">
              <a:spcBef>
                <a:spcPct val="0"/>
              </a:spcBef>
              <a:spcAft>
                <a:spcPct val="0"/>
              </a:spcAft>
              <a:defRPr sz="1200">
                <a:solidFill>
                  <a:schemeClr val="tx1"/>
                </a:solidFill>
                <a:latin typeface="Gill Sans" charset="0"/>
              </a:defRPr>
            </a:lvl7pPr>
            <a:lvl8pPr fontAlgn="base">
              <a:spcBef>
                <a:spcPct val="0"/>
              </a:spcBef>
              <a:spcAft>
                <a:spcPct val="0"/>
              </a:spcAft>
              <a:defRPr sz="1200">
                <a:solidFill>
                  <a:schemeClr val="tx1"/>
                </a:solidFill>
                <a:latin typeface="Gill Sans" charset="0"/>
              </a:defRPr>
            </a:lvl8pPr>
            <a:lvl9pPr fontAlgn="base">
              <a:spcBef>
                <a:spcPct val="0"/>
              </a:spcBef>
              <a:spcAft>
                <a:spcPct val="0"/>
              </a:spcAft>
              <a:defRPr sz="1200">
                <a:solidFill>
                  <a:schemeClr val="tx1"/>
                </a:solidFill>
                <a:latin typeface="Gill Sans" charset="0"/>
              </a:defRPr>
            </a:lvl9pPr>
          </a:lstStyle>
          <a:p>
            <a:pPr>
              <a:spcBef>
                <a:spcPts val="400"/>
              </a:spcBef>
            </a:pPr>
            <a:r>
              <a:rPr lang="en-US" altLang="en-US" sz="2400" i="1" dirty="0">
                <a:solidFill>
                  <a:srgbClr val="000080"/>
                </a:solidFill>
                <a:latin typeface="Casper"/>
                <a:cs typeface="Helvetica Neue" charset="0"/>
                <a:sym typeface="Helvetica Neue" charset="0"/>
              </a:rPr>
              <a:t>initial values when searching an array of n items:</a:t>
            </a:r>
          </a:p>
          <a:p>
            <a:pPr>
              <a:spcBef>
                <a:spcPts val="400"/>
              </a:spcBef>
            </a:pPr>
            <a:r>
              <a:rPr lang="en-US" altLang="en-US" sz="2400" dirty="0">
                <a:solidFill>
                  <a:srgbClr val="000080"/>
                </a:solidFill>
                <a:latin typeface="Casper"/>
                <a:ea typeface="Courier" charset="0"/>
                <a:cs typeface="Courier" charset="0"/>
                <a:sym typeface="Courier" charset="0"/>
              </a:rPr>
              <a:t>lower = -1</a:t>
            </a:r>
            <a:endParaRPr lang="en-US" altLang="en-US" sz="2400" i="1" dirty="0">
              <a:solidFill>
                <a:srgbClr val="000080"/>
              </a:solidFill>
              <a:latin typeface="Casper"/>
              <a:cs typeface="Helvetica Neue" charset="0"/>
              <a:sym typeface="Helvetica Neue" charset="0"/>
            </a:endParaRPr>
          </a:p>
          <a:p>
            <a:pPr>
              <a:spcBef>
                <a:spcPts val="400"/>
              </a:spcBef>
            </a:pPr>
            <a:r>
              <a:rPr lang="en-US" altLang="en-US" sz="2400" dirty="0">
                <a:solidFill>
                  <a:srgbClr val="000080"/>
                </a:solidFill>
                <a:latin typeface="Casper"/>
                <a:ea typeface="Courier" charset="0"/>
                <a:cs typeface="Courier" charset="0"/>
                <a:sym typeface="Courier" charset="0"/>
              </a:rPr>
              <a:t>upper = n</a:t>
            </a:r>
          </a:p>
        </p:txBody>
      </p:sp>
    </p:spTree>
    <p:extLst>
      <p:ext uri="{BB962C8B-B14F-4D97-AF65-F5344CB8AC3E}">
        <p14:creationId xmlns:p14="http://schemas.microsoft.com/office/powerpoint/2010/main" val="2154709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1926676576" fill="hold" grpId="0" nodeType="clickEffect">
                                  <p:stCondLst>
                                    <p:cond delay="0"/>
                                  </p:stCondLst>
                                  <p:childTnLst>
                                    <p:set>
                                      <p:cBhvr>
                                        <p:cTn id="11" dur="1" fill="hold">
                                          <p:stCondLst>
                                            <p:cond delay="499"/>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815B9-8EA1-492A-BEEF-216831F2D237}"/>
              </a:ext>
            </a:extLst>
          </p:cNvPr>
          <p:cNvSpPr>
            <a:spLocks noGrp="1"/>
          </p:cNvSpPr>
          <p:nvPr>
            <p:ph type="title"/>
          </p:nvPr>
        </p:nvSpPr>
        <p:spPr>
          <a:xfrm>
            <a:off x="838200" y="136526"/>
            <a:ext cx="8749145" cy="907184"/>
          </a:xfrm>
          <a:ln>
            <a:solidFill>
              <a:schemeClr val="tx1"/>
            </a:solidFill>
          </a:ln>
        </p:spPr>
        <p:txBody>
          <a:bodyPr/>
          <a:lstStyle/>
          <a:p>
            <a:pPr algn="ctr"/>
            <a:r>
              <a:rPr lang="en-IN" b="1" dirty="0">
                <a:latin typeface="Times New Roman" panose="02020603050405020304" pitchFamily="18" charset="0"/>
                <a:cs typeface="Times New Roman" panose="02020603050405020304" pitchFamily="18" charset="0"/>
              </a:rPr>
              <a:t>Binary Search (contd.)</a:t>
            </a:r>
          </a:p>
        </p:txBody>
      </p:sp>
      <p:sp>
        <p:nvSpPr>
          <p:cNvPr id="3" name="Content Placeholder 2">
            <a:extLst>
              <a:ext uri="{FF2B5EF4-FFF2-40B4-BE49-F238E27FC236}">
                <a16:creationId xmlns:a16="http://schemas.microsoft.com/office/drawing/2014/main" id="{ED7E5283-1B8F-43E2-A475-9FD122D1E155}"/>
              </a:ext>
            </a:extLst>
          </p:cNvPr>
          <p:cNvSpPr>
            <a:spLocks noGrp="1"/>
          </p:cNvSpPr>
          <p:nvPr>
            <p:ph idx="1"/>
          </p:nvPr>
        </p:nvSpPr>
        <p:spPr>
          <a:xfrm>
            <a:off x="838200" y="1173018"/>
            <a:ext cx="10515600" cy="4950691"/>
          </a:xfrm>
          <a:ln>
            <a:solidFill>
              <a:schemeClr val="tx1"/>
            </a:solidFill>
          </a:ln>
        </p:spPr>
        <p:txBody>
          <a:bodyPr/>
          <a:lstStyle/>
          <a:p>
            <a:r>
              <a:rPr lang="en-US" altLang="en-US" sz="2400" dirty="0">
                <a:latin typeface="Times New Roman" panose="02020603050405020304" pitchFamily="18" charset="0"/>
                <a:cs typeface="Times New Roman" panose="02020603050405020304" pitchFamily="18" charset="0"/>
              </a:rPr>
              <a:t>The heart of the algorithm contains these operations:</a:t>
            </a:r>
          </a:p>
          <a:p>
            <a:pPr marL="0" lvl="1" indent="0">
              <a:spcBef>
                <a:spcPts val="2100"/>
              </a:spcBef>
              <a:buFont typeface="Zapf Dingbats" charset="0"/>
              <a:buNone/>
            </a:pPr>
            <a:r>
              <a:rPr lang="en-US" altLang="en-US" dirty="0">
                <a:latin typeface="Times New Roman" panose="02020603050405020304" pitchFamily="18" charset="0"/>
                <a:cs typeface="Times New Roman" panose="02020603050405020304" pitchFamily="18" charset="0"/>
                <a:sym typeface="Courier" charset="0"/>
              </a:rPr>
              <a:t>    mid = (lower + upper) / 2</a:t>
            </a:r>
          </a:p>
          <a:p>
            <a:pPr marL="0" lvl="1" indent="0">
              <a:buFont typeface="Zapf Dingbats" charset="0"/>
              <a:buNone/>
            </a:pPr>
            <a:r>
              <a:rPr lang="en-US" altLang="en-US" dirty="0">
                <a:latin typeface="Times New Roman" panose="02020603050405020304" pitchFamily="18" charset="0"/>
                <a:cs typeface="Times New Roman" panose="02020603050405020304" pitchFamily="18" charset="0"/>
                <a:sym typeface="Courier" charset="0"/>
              </a:rPr>
              <a:t>    return mid if k == a[mid]</a:t>
            </a:r>
          </a:p>
          <a:p>
            <a:pPr marL="0" lvl="1" indent="0">
              <a:buFont typeface="Zapf Dingbats" charset="0"/>
              <a:buNone/>
            </a:pPr>
            <a:r>
              <a:rPr lang="en-US" altLang="en-US" dirty="0">
                <a:latin typeface="Times New Roman" panose="02020603050405020304" pitchFamily="18" charset="0"/>
                <a:cs typeface="Times New Roman" panose="02020603050405020304" pitchFamily="18" charset="0"/>
                <a:sym typeface="Courier" charset="0"/>
              </a:rPr>
              <a:t>    upper = mid if k &lt; a[mid]</a:t>
            </a:r>
          </a:p>
          <a:p>
            <a:pPr marL="0" lvl="1" indent="0">
              <a:buFont typeface="Zapf Dingbats" charset="0"/>
              <a:buNone/>
            </a:pPr>
            <a:r>
              <a:rPr lang="en-US" altLang="en-US" dirty="0">
                <a:latin typeface="Times New Roman" panose="02020603050405020304" pitchFamily="18" charset="0"/>
                <a:cs typeface="Times New Roman" panose="02020603050405020304" pitchFamily="18" charset="0"/>
                <a:sym typeface="Courier" charset="0"/>
              </a:rPr>
              <a:t>    lower = mid if k &gt; a[mid]</a:t>
            </a:r>
          </a:p>
          <a:p>
            <a:pPr>
              <a:spcBef>
                <a:spcPts val="2900"/>
              </a:spcBef>
            </a:pPr>
            <a:r>
              <a:rPr lang="en-US" altLang="en-US" sz="2400" dirty="0">
                <a:latin typeface="Times New Roman" panose="02020603050405020304" pitchFamily="18" charset="0"/>
                <a:cs typeface="Times New Roman" panose="02020603050405020304" pitchFamily="18" charset="0"/>
              </a:rPr>
              <a:t>The first iteration when searching for 57 in a list of size 15:</a:t>
            </a:r>
          </a:p>
          <a:p>
            <a:pPr marL="0" lvl="1" indent="0">
              <a:buFont typeface="Zapf Dingbats" charset="0"/>
              <a:buNone/>
            </a:pPr>
            <a:endParaRPr lang="en-US" altLang="en-US" dirty="0">
              <a:latin typeface="Times New Roman" panose="02020603050405020304" pitchFamily="18" charset="0"/>
              <a:cs typeface="Times New Roman" panose="02020603050405020304" pitchFamily="18" charset="0"/>
              <a:sym typeface="Courier" charset="0"/>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9196CF2-A32D-4230-B676-6A86FBF89EDB}"/>
              </a:ext>
            </a:extLst>
          </p:cNvPr>
          <p:cNvSpPr>
            <a:spLocks noGrp="1"/>
          </p:cNvSpPr>
          <p:nvPr>
            <p:ph type="sldNum" sz="quarter" idx="12"/>
          </p:nvPr>
        </p:nvSpPr>
        <p:spPr/>
        <p:txBody>
          <a:bodyPr/>
          <a:lstStyle/>
          <a:p>
            <a:fld id="{BDCDBBEF-AA6C-4BA6-85B2-A17D7F280E38}" type="slidenum">
              <a:rPr lang="en-US" smtClean="0"/>
              <a:pPr/>
              <a:t>10</a:t>
            </a:fld>
            <a:endParaRPr lang="en-US"/>
          </a:p>
        </p:txBody>
      </p:sp>
      <p:pic>
        <p:nvPicPr>
          <p:cNvPr id="9" name="Picture 3">
            <a:extLst>
              <a:ext uri="{FF2B5EF4-FFF2-40B4-BE49-F238E27FC236}">
                <a16:creationId xmlns:a16="http://schemas.microsoft.com/office/drawing/2014/main" id="{0371A866-5214-4A87-94A7-23D041B726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6620" y="4142509"/>
            <a:ext cx="663892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a:tailEnd/>
              </a14:hiddenLine>
            </a:ext>
          </a:extLst>
        </p:spPr>
      </p:pic>
      <p:sp>
        <p:nvSpPr>
          <p:cNvPr id="10" name="Rectangle 6">
            <a:extLst>
              <a:ext uri="{FF2B5EF4-FFF2-40B4-BE49-F238E27FC236}">
                <a16:creationId xmlns:a16="http://schemas.microsoft.com/office/drawing/2014/main" id="{7C24CE1F-63C4-406A-9F29-2DE757026A19}"/>
              </a:ext>
            </a:extLst>
          </p:cNvPr>
          <p:cNvSpPr>
            <a:spLocks/>
          </p:cNvSpPr>
          <p:nvPr/>
        </p:nvSpPr>
        <p:spPr bwMode="auto">
          <a:xfrm>
            <a:off x="2805545" y="5247409"/>
            <a:ext cx="151130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lvl1pPr algn="l">
              <a:defRPr sz="1200">
                <a:solidFill>
                  <a:schemeClr val="tx1"/>
                </a:solidFill>
                <a:latin typeface="Gill Sans" charset="0"/>
              </a:defRPr>
            </a:lvl1pPr>
            <a:lvl2pPr algn="l">
              <a:defRPr sz="1200">
                <a:solidFill>
                  <a:schemeClr val="tx1"/>
                </a:solidFill>
                <a:latin typeface="Gill Sans" charset="0"/>
              </a:defRPr>
            </a:lvl2pPr>
            <a:lvl3pPr algn="l">
              <a:defRPr sz="1200">
                <a:solidFill>
                  <a:schemeClr val="tx1"/>
                </a:solidFill>
                <a:latin typeface="Gill Sans" charset="0"/>
              </a:defRPr>
            </a:lvl3pPr>
            <a:lvl4pPr algn="l">
              <a:defRPr sz="1200">
                <a:solidFill>
                  <a:schemeClr val="tx1"/>
                </a:solidFill>
                <a:latin typeface="Gill Sans" charset="0"/>
              </a:defRPr>
            </a:lvl4pPr>
            <a:lvl5pPr algn="l">
              <a:defRPr sz="1200">
                <a:solidFill>
                  <a:schemeClr val="tx1"/>
                </a:solidFill>
                <a:latin typeface="Gill Sans" charset="0"/>
              </a:defRPr>
            </a:lvl5pPr>
            <a:lvl6pPr fontAlgn="base">
              <a:spcBef>
                <a:spcPct val="0"/>
              </a:spcBef>
              <a:spcAft>
                <a:spcPct val="0"/>
              </a:spcAft>
              <a:defRPr sz="1200">
                <a:solidFill>
                  <a:schemeClr val="tx1"/>
                </a:solidFill>
                <a:latin typeface="Gill Sans" charset="0"/>
              </a:defRPr>
            </a:lvl6pPr>
            <a:lvl7pPr fontAlgn="base">
              <a:spcBef>
                <a:spcPct val="0"/>
              </a:spcBef>
              <a:spcAft>
                <a:spcPct val="0"/>
              </a:spcAft>
              <a:defRPr sz="1200">
                <a:solidFill>
                  <a:schemeClr val="tx1"/>
                </a:solidFill>
                <a:latin typeface="Gill Sans" charset="0"/>
              </a:defRPr>
            </a:lvl7pPr>
            <a:lvl8pPr fontAlgn="base">
              <a:spcBef>
                <a:spcPct val="0"/>
              </a:spcBef>
              <a:spcAft>
                <a:spcPct val="0"/>
              </a:spcAft>
              <a:defRPr sz="1200">
                <a:solidFill>
                  <a:schemeClr val="tx1"/>
                </a:solidFill>
                <a:latin typeface="Gill Sans" charset="0"/>
              </a:defRPr>
            </a:lvl8pPr>
            <a:lvl9pPr fontAlgn="base">
              <a:spcBef>
                <a:spcPct val="0"/>
              </a:spcBef>
              <a:spcAft>
                <a:spcPct val="0"/>
              </a:spcAft>
              <a:defRPr sz="1200">
                <a:solidFill>
                  <a:schemeClr val="tx1"/>
                </a:solidFill>
                <a:latin typeface="Gill Sans" charset="0"/>
              </a:defRPr>
            </a:lvl9pPr>
          </a:lstStyle>
          <a:p>
            <a:pPr>
              <a:spcBef>
                <a:spcPts val="400"/>
              </a:spcBef>
            </a:pPr>
            <a:r>
              <a:rPr lang="en-US" altLang="en-US" sz="1600">
                <a:solidFill>
                  <a:srgbClr val="000080"/>
                </a:solidFill>
                <a:latin typeface="Courier" charset="0"/>
                <a:ea typeface="Courier" charset="0"/>
                <a:cs typeface="Courier" charset="0"/>
                <a:sym typeface="Courier" charset="0"/>
              </a:rPr>
              <a:t>lower = -1</a:t>
            </a:r>
            <a:endParaRPr lang="en-US" altLang="en-US" sz="1600" i="1">
              <a:solidFill>
                <a:srgbClr val="000080"/>
              </a:solidFill>
              <a:latin typeface="Helvetica Neue" charset="0"/>
              <a:cs typeface="Helvetica Neue" charset="0"/>
              <a:sym typeface="Helvetica Neue" charset="0"/>
            </a:endParaRPr>
          </a:p>
          <a:p>
            <a:pPr>
              <a:spcBef>
                <a:spcPts val="400"/>
              </a:spcBef>
            </a:pPr>
            <a:r>
              <a:rPr lang="en-US" altLang="en-US" sz="1600">
                <a:solidFill>
                  <a:srgbClr val="000080"/>
                </a:solidFill>
                <a:latin typeface="Courier" charset="0"/>
                <a:ea typeface="Courier" charset="0"/>
                <a:cs typeface="Courier" charset="0"/>
                <a:sym typeface="Courier" charset="0"/>
              </a:rPr>
              <a:t>upper = 15</a:t>
            </a:r>
          </a:p>
        </p:txBody>
      </p:sp>
      <p:grpSp>
        <p:nvGrpSpPr>
          <p:cNvPr id="11" name="Group 9">
            <a:extLst>
              <a:ext uri="{FF2B5EF4-FFF2-40B4-BE49-F238E27FC236}">
                <a16:creationId xmlns:a16="http://schemas.microsoft.com/office/drawing/2014/main" id="{0E07C154-2FD8-43A8-9885-E21508BEF49B}"/>
              </a:ext>
            </a:extLst>
          </p:cNvPr>
          <p:cNvGrpSpPr>
            <a:grpSpLocks/>
          </p:cNvGrpSpPr>
          <p:nvPr/>
        </p:nvGrpSpPr>
        <p:grpSpPr bwMode="auto">
          <a:xfrm>
            <a:off x="4659745" y="4701309"/>
            <a:ext cx="2362200" cy="1168400"/>
            <a:chOff x="0" y="0"/>
            <a:chExt cx="1488" cy="736"/>
          </a:xfrm>
        </p:grpSpPr>
        <p:sp>
          <p:nvSpPr>
            <p:cNvPr id="12" name="Rectangle 7">
              <a:extLst>
                <a:ext uri="{FF2B5EF4-FFF2-40B4-BE49-F238E27FC236}">
                  <a16:creationId xmlns:a16="http://schemas.microsoft.com/office/drawing/2014/main" id="{8909DA17-6846-4B9F-869F-CE034E07FAF2}"/>
                </a:ext>
              </a:extLst>
            </p:cNvPr>
            <p:cNvSpPr>
              <a:spLocks/>
            </p:cNvSpPr>
            <p:nvPr/>
          </p:nvSpPr>
          <p:spPr bwMode="auto">
            <a:xfrm>
              <a:off x="0" y="344"/>
              <a:ext cx="1488"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lvl1pPr algn="l">
                <a:defRPr sz="1200">
                  <a:solidFill>
                    <a:schemeClr val="tx1"/>
                  </a:solidFill>
                  <a:latin typeface="Gill Sans" charset="0"/>
                </a:defRPr>
              </a:lvl1pPr>
              <a:lvl2pPr algn="l">
                <a:defRPr sz="1200">
                  <a:solidFill>
                    <a:schemeClr val="tx1"/>
                  </a:solidFill>
                  <a:latin typeface="Gill Sans" charset="0"/>
                </a:defRPr>
              </a:lvl2pPr>
              <a:lvl3pPr algn="l">
                <a:defRPr sz="1200">
                  <a:solidFill>
                    <a:schemeClr val="tx1"/>
                  </a:solidFill>
                  <a:latin typeface="Gill Sans" charset="0"/>
                </a:defRPr>
              </a:lvl3pPr>
              <a:lvl4pPr algn="l">
                <a:defRPr sz="1200">
                  <a:solidFill>
                    <a:schemeClr val="tx1"/>
                  </a:solidFill>
                  <a:latin typeface="Gill Sans" charset="0"/>
                </a:defRPr>
              </a:lvl4pPr>
              <a:lvl5pPr algn="l">
                <a:defRPr sz="1200">
                  <a:solidFill>
                    <a:schemeClr val="tx1"/>
                  </a:solidFill>
                  <a:latin typeface="Gill Sans" charset="0"/>
                </a:defRPr>
              </a:lvl5pPr>
              <a:lvl6pPr fontAlgn="base">
                <a:spcBef>
                  <a:spcPct val="0"/>
                </a:spcBef>
                <a:spcAft>
                  <a:spcPct val="0"/>
                </a:spcAft>
                <a:defRPr sz="1200">
                  <a:solidFill>
                    <a:schemeClr val="tx1"/>
                  </a:solidFill>
                  <a:latin typeface="Gill Sans" charset="0"/>
                </a:defRPr>
              </a:lvl6pPr>
              <a:lvl7pPr fontAlgn="base">
                <a:spcBef>
                  <a:spcPct val="0"/>
                </a:spcBef>
                <a:spcAft>
                  <a:spcPct val="0"/>
                </a:spcAft>
                <a:defRPr sz="1200">
                  <a:solidFill>
                    <a:schemeClr val="tx1"/>
                  </a:solidFill>
                  <a:latin typeface="Gill Sans" charset="0"/>
                </a:defRPr>
              </a:lvl7pPr>
              <a:lvl8pPr fontAlgn="base">
                <a:spcBef>
                  <a:spcPct val="0"/>
                </a:spcBef>
                <a:spcAft>
                  <a:spcPct val="0"/>
                </a:spcAft>
                <a:defRPr sz="1200">
                  <a:solidFill>
                    <a:schemeClr val="tx1"/>
                  </a:solidFill>
                  <a:latin typeface="Gill Sans" charset="0"/>
                </a:defRPr>
              </a:lvl8pPr>
              <a:lvl9pPr fontAlgn="base">
                <a:spcBef>
                  <a:spcPct val="0"/>
                </a:spcBef>
                <a:spcAft>
                  <a:spcPct val="0"/>
                </a:spcAft>
                <a:defRPr sz="1200">
                  <a:solidFill>
                    <a:schemeClr val="tx1"/>
                  </a:solidFill>
                  <a:latin typeface="Gill Sans" charset="0"/>
                </a:defRPr>
              </a:lvl9pPr>
            </a:lstStyle>
            <a:p>
              <a:pPr>
                <a:spcBef>
                  <a:spcPts val="400"/>
                </a:spcBef>
              </a:pPr>
              <a:r>
                <a:rPr lang="en-US" altLang="en-US" sz="1600">
                  <a:solidFill>
                    <a:srgbClr val="000080"/>
                  </a:solidFill>
                  <a:latin typeface="Courier" charset="0"/>
                  <a:ea typeface="Courier" charset="0"/>
                  <a:cs typeface="Courier" charset="0"/>
                  <a:sym typeface="Courier" charset="0"/>
                </a:rPr>
                <a:t>mid = 14 / 2 = 7</a:t>
              </a:r>
              <a:endParaRPr lang="en-US" altLang="en-US" sz="1600" i="1">
                <a:solidFill>
                  <a:srgbClr val="000080"/>
                </a:solidFill>
                <a:latin typeface="Helvetica Neue" charset="0"/>
                <a:cs typeface="Helvetica Neue" charset="0"/>
                <a:sym typeface="Helvetica Neue" charset="0"/>
              </a:endParaRPr>
            </a:p>
            <a:p>
              <a:pPr>
                <a:spcBef>
                  <a:spcPts val="400"/>
                </a:spcBef>
              </a:pPr>
              <a:endParaRPr lang="en-US" altLang="en-US" sz="1600" i="1">
                <a:solidFill>
                  <a:srgbClr val="000080"/>
                </a:solidFill>
                <a:latin typeface="Helvetica Neue" charset="0"/>
                <a:cs typeface="Helvetica Neue" charset="0"/>
                <a:sym typeface="Helvetica Neue" charset="0"/>
              </a:endParaRPr>
            </a:p>
          </p:txBody>
        </p:sp>
        <p:sp>
          <p:nvSpPr>
            <p:cNvPr id="13" name="Rectangle 8">
              <a:extLst>
                <a:ext uri="{FF2B5EF4-FFF2-40B4-BE49-F238E27FC236}">
                  <a16:creationId xmlns:a16="http://schemas.microsoft.com/office/drawing/2014/main" id="{5A617AC4-6716-4C8A-9CBB-B388DAA7F55E}"/>
                </a:ext>
              </a:extLst>
            </p:cNvPr>
            <p:cNvSpPr>
              <a:spLocks/>
            </p:cNvSpPr>
            <p:nvPr/>
          </p:nvSpPr>
          <p:spPr bwMode="auto">
            <a:xfrm>
              <a:off x="674" y="0"/>
              <a:ext cx="13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lvl1pPr algn="l">
                <a:defRPr sz="1200">
                  <a:solidFill>
                    <a:schemeClr val="tx1"/>
                  </a:solidFill>
                  <a:latin typeface="Gill Sans" charset="0"/>
                </a:defRPr>
              </a:lvl1pPr>
              <a:lvl2pPr algn="l">
                <a:defRPr sz="1200">
                  <a:solidFill>
                    <a:schemeClr val="tx1"/>
                  </a:solidFill>
                  <a:latin typeface="Gill Sans" charset="0"/>
                </a:defRPr>
              </a:lvl2pPr>
              <a:lvl3pPr algn="l">
                <a:defRPr sz="1200">
                  <a:solidFill>
                    <a:schemeClr val="tx1"/>
                  </a:solidFill>
                  <a:latin typeface="Gill Sans" charset="0"/>
                </a:defRPr>
              </a:lvl3pPr>
              <a:lvl4pPr algn="l">
                <a:defRPr sz="1200">
                  <a:solidFill>
                    <a:schemeClr val="tx1"/>
                  </a:solidFill>
                  <a:latin typeface="Gill Sans" charset="0"/>
                </a:defRPr>
              </a:lvl4pPr>
              <a:lvl5pPr algn="l">
                <a:defRPr sz="1200">
                  <a:solidFill>
                    <a:schemeClr val="tx1"/>
                  </a:solidFill>
                  <a:latin typeface="Gill Sans" charset="0"/>
                </a:defRPr>
              </a:lvl5pPr>
              <a:lvl6pPr fontAlgn="base">
                <a:spcBef>
                  <a:spcPct val="0"/>
                </a:spcBef>
                <a:spcAft>
                  <a:spcPct val="0"/>
                </a:spcAft>
                <a:defRPr sz="1200">
                  <a:solidFill>
                    <a:schemeClr val="tx1"/>
                  </a:solidFill>
                  <a:latin typeface="Gill Sans" charset="0"/>
                </a:defRPr>
              </a:lvl6pPr>
              <a:lvl7pPr fontAlgn="base">
                <a:spcBef>
                  <a:spcPct val="0"/>
                </a:spcBef>
                <a:spcAft>
                  <a:spcPct val="0"/>
                </a:spcAft>
                <a:defRPr sz="1200">
                  <a:solidFill>
                    <a:schemeClr val="tx1"/>
                  </a:solidFill>
                  <a:latin typeface="Gill Sans" charset="0"/>
                </a:defRPr>
              </a:lvl7pPr>
              <a:lvl8pPr fontAlgn="base">
                <a:spcBef>
                  <a:spcPct val="0"/>
                </a:spcBef>
                <a:spcAft>
                  <a:spcPct val="0"/>
                </a:spcAft>
                <a:defRPr sz="1200">
                  <a:solidFill>
                    <a:schemeClr val="tx1"/>
                  </a:solidFill>
                  <a:latin typeface="Gill Sans" charset="0"/>
                </a:defRPr>
              </a:lvl8pPr>
              <a:lvl9pPr fontAlgn="base">
                <a:spcBef>
                  <a:spcPct val="0"/>
                </a:spcBef>
                <a:spcAft>
                  <a:spcPct val="0"/>
                </a:spcAft>
                <a:defRPr sz="1200">
                  <a:solidFill>
                    <a:schemeClr val="tx1"/>
                  </a:solidFill>
                  <a:latin typeface="Gill Sans" charset="0"/>
                </a:defRPr>
              </a:lvl9pPr>
            </a:lstStyle>
            <a:p>
              <a:pPr algn="ctr"/>
              <a:r>
                <a:rPr lang="en-US" altLang="en-US" sz="1800" b="1">
                  <a:solidFill>
                    <a:srgbClr val="000080"/>
                  </a:solidFill>
                  <a:latin typeface="Helvetica Neue" charset="0"/>
                  <a:cs typeface="Helvetica Neue" charset="0"/>
                  <a:sym typeface="Helvetica Neue" charset="0"/>
                </a:rPr>
                <a:t>*</a:t>
              </a:r>
            </a:p>
          </p:txBody>
        </p:sp>
      </p:grpSp>
      <p:sp>
        <p:nvSpPr>
          <p:cNvPr id="14" name="Rectangle 10">
            <a:extLst>
              <a:ext uri="{FF2B5EF4-FFF2-40B4-BE49-F238E27FC236}">
                <a16:creationId xmlns:a16="http://schemas.microsoft.com/office/drawing/2014/main" id="{DECCBE6F-2A76-44A2-8A89-82CB10DCBBB2}"/>
              </a:ext>
            </a:extLst>
          </p:cNvPr>
          <p:cNvSpPr>
            <a:spLocks/>
          </p:cNvSpPr>
          <p:nvPr/>
        </p:nvSpPr>
        <p:spPr bwMode="auto">
          <a:xfrm>
            <a:off x="7225145" y="5260109"/>
            <a:ext cx="23622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lvl1pPr algn="l">
              <a:defRPr sz="1200">
                <a:solidFill>
                  <a:schemeClr val="tx1"/>
                </a:solidFill>
                <a:latin typeface="Gill Sans" charset="0"/>
              </a:defRPr>
            </a:lvl1pPr>
            <a:lvl2pPr algn="l">
              <a:defRPr sz="1200">
                <a:solidFill>
                  <a:schemeClr val="tx1"/>
                </a:solidFill>
                <a:latin typeface="Gill Sans" charset="0"/>
              </a:defRPr>
            </a:lvl2pPr>
            <a:lvl3pPr algn="l">
              <a:defRPr sz="1200">
                <a:solidFill>
                  <a:schemeClr val="tx1"/>
                </a:solidFill>
                <a:latin typeface="Gill Sans" charset="0"/>
              </a:defRPr>
            </a:lvl3pPr>
            <a:lvl4pPr algn="l">
              <a:defRPr sz="1200">
                <a:solidFill>
                  <a:schemeClr val="tx1"/>
                </a:solidFill>
                <a:latin typeface="Gill Sans" charset="0"/>
              </a:defRPr>
            </a:lvl4pPr>
            <a:lvl5pPr algn="l">
              <a:defRPr sz="1200">
                <a:solidFill>
                  <a:schemeClr val="tx1"/>
                </a:solidFill>
                <a:latin typeface="Gill Sans" charset="0"/>
              </a:defRPr>
            </a:lvl5pPr>
            <a:lvl6pPr fontAlgn="base">
              <a:spcBef>
                <a:spcPct val="0"/>
              </a:spcBef>
              <a:spcAft>
                <a:spcPct val="0"/>
              </a:spcAft>
              <a:defRPr sz="1200">
                <a:solidFill>
                  <a:schemeClr val="tx1"/>
                </a:solidFill>
                <a:latin typeface="Gill Sans" charset="0"/>
              </a:defRPr>
            </a:lvl6pPr>
            <a:lvl7pPr fontAlgn="base">
              <a:spcBef>
                <a:spcPct val="0"/>
              </a:spcBef>
              <a:spcAft>
                <a:spcPct val="0"/>
              </a:spcAft>
              <a:defRPr sz="1200">
                <a:solidFill>
                  <a:schemeClr val="tx1"/>
                </a:solidFill>
                <a:latin typeface="Gill Sans" charset="0"/>
              </a:defRPr>
            </a:lvl7pPr>
            <a:lvl8pPr fontAlgn="base">
              <a:spcBef>
                <a:spcPct val="0"/>
              </a:spcBef>
              <a:spcAft>
                <a:spcPct val="0"/>
              </a:spcAft>
              <a:defRPr sz="1200">
                <a:solidFill>
                  <a:schemeClr val="tx1"/>
                </a:solidFill>
                <a:latin typeface="Gill Sans" charset="0"/>
              </a:defRPr>
            </a:lvl8pPr>
            <a:lvl9pPr fontAlgn="base">
              <a:spcBef>
                <a:spcPct val="0"/>
              </a:spcBef>
              <a:spcAft>
                <a:spcPct val="0"/>
              </a:spcAft>
              <a:defRPr sz="1200">
                <a:solidFill>
                  <a:schemeClr val="tx1"/>
                </a:solidFill>
                <a:latin typeface="Gill Sans" charset="0"/>
              </a:defRPr>
            </a:lvl9pPr>
          </a:lstStyle>
          <a:p>
            <a:pPr>
              <a:spcBef>
                <a:spcPts val="400"/>
              </a:spcBef>
            </a:pPr>
            <a:r>
              <a:rPr lang="en-US" altLang="en-US" sz="1600">
                <a:solidFill>
                  <a:srgbClr val="000080"/>
                </a:solidFill>
                <a:latin typeface="Courier" charset="0"/>
                <a:ea typeface="Courier" charset="0"/>
                <a:cs typeface="Courier" charset="0"/>
                <a:sym typeface="Courier" charset="0"/>
              </a:rPr>
              <a:t>upper for next iteration: 7</a:t>
            </a:r>
            <a:endParaRPr lang="en-US" altLang="en-US" sz="1600" i="1">
              <a:solidFill>
                <a:srgbClr val="000080"/>
              </a:solidFill>
              <a:latin typeface="Helvetica Neue" charset="0"/>
              <a:cs typeface="Helvetica Neue" charset="0"/>
              <a:sym typeface="Helvetica Neue" charset="0"/>
            </a:endParaRPr>
          </a:p>
          <a:p>
            <a:pPr>
              <a:spcBef>
                <a:spcPts val="400"/>
              </a:spcBef>
            </a:pPr>
            <a:endParaRPr lang="en-US" altLang="en-US" sz="1600" i="1">
              <a:solidFill>
                <a:srgbClr val="000080"/>
              </a:solidFill>
              <a:latin typeface="Helvetica Neue" charset="0"/>
              <a:cs typeface="Helvetica Neue" charset="0"/>
              <a:sym typeface="Helvetica Neue" charset="0"/>
            </a:endParaRPr>
          </a:p>
        </p:txBody>
      </p:sp>
    </p:spTree>
    <p:extLst>
      <p:ext uri="{BB962C8B-B14F-4D97-AF65-F5344CB8AC3E}">
        <p14:creationId xmlns:p14="http://schemas.microsoft.com/office/powerpoint/2010/main" val="1714347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linds(horizontal)">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utoUpdateAnimBg="0"/>
      <p:bldP spid="14"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815B9-8EA1-492A-BEEF-216831F2D237}"/>
              </a:ext>
            </a:extLst>
          </p:cNvPr>
          <p:cNvSpPr>
            <a:spLocks noGrp="1"/>
          </p:cNvSpPr>
          <p:nvPr>
            <p:ph type="title"/>
          </p:nvPr>
        </p:nvSpPr>
        <p:spPr>
          <a:xfrm>
            <a:off x="838200" y="136526"/>
            <a:ext cx="8749145" cy="907184"/>
          </a:xfrm>
          <a:ln>
            <a:solidFill>
              <a:schemeClr val="tx1"/>
            </a:solidFill>
          </a:ln>
        </p:spPr>
        <p:txBody>
          <a:bodyPr/>
          <a:lstStyle/>
          <a:p>
            <a:pPr algn="ctr"/>
            <a:r>
              <a:rPr lang="en-IN" b="1" dirty="0">
                <a:latin typeface="Times New Roman" panose="02020603050405020304" pitchFamily="18" charset="0"/>
                <a:cs typeface="Times New Roman" panose="02020603050405020304" pitchFamily="18" charset="0"/>
              </a:rPr>
              <a:t>Binary Search (contd.)</a:t>
            </a:r>
          </a:p>
        </p:txBody>
      </p:sp>
      <p:sp>
        <p:nvSpPr>
          <p:cNvPr id="3" name="Content Placeholder 2">
            <a:extLst>
              <a:ext uri="{FF2B5EF4-FFF2-40B4-BE49-F238E27FC236}">
                <a16:creationId xmlns:a16="http://schemas.microsoft.com/office/drawing/2014/main" id="{ED7E5283-1B8F-43E2-A475-9FD122D1E155}"/>
              </a:ext>
            </a:extLst>
          </p:cNvPr>
          <p:cNvSpPr>
            <a:spLocks noGrp="1"/>
          </p:cNvSpPr>
          <p:nvPr>
            <p:ph idx="1"/>
          </p:nvPr>
        </p:nvSpPr>
        <p:spPr>
          <a:xfrm>
            <a:off x="838200" y="1173018"/>
            <a:ext cx="10515600" cy="4950691"/>
          </a:xfrm>
          <a:ln>
            <a:solidFill>
              <a:schemeClr val="tx1"/>
            </a:solidFill>
          </a:ln>
        </p:spPr>
        <p:txBody>
          <a:bodyPr>
            <a:normAutofit/>
          </a:bodyPr>
          <a:lstStyle/>
          <a:p>
            <a:r>
              <a:rPr lang="en-US" altLang="en-US" sz="2400" dirty="0">
                <a:latin typeface="Times New Roman" panose="02020603050405020304" pitchFamily="18" charset="0"/>
                <a:cs typeface="Times New Roman" panose="02020603050405020304" pitchFamily="18" charset="0"/>
              </a:rPr>
              <a:t>The remaining iterations when searching for 57:</a:t>
            </a:r>
          </a:p>
          <a:p>
            <a:pPr marL="165100" lvl="1" indent="0">
              <a:spcBef>
                <a:spcPts val="2300"/>
              </a:spcBef>
              <a:buFont typeface="Zapf Dingbats" charset="0"/>
              <a:buNone/>
            </a:pPr>
            <a:r>
              <a:rPr lang="en-US" altLang="en-US" dirty="0">
                <a:latin typeface="Times New Roman" panose="02020603050405020304" pitchFamily="18" charset="0"/>
                <a:cs typeface="Times New Roman" panose="02020603050405020304" pitchFamily="18" charset="0"/>
                <a:sym typeface="Courier" charset="0"/>
              </a:rPr>
              <a:t>lower = -1</a:t>
            </a:r>
            <a:br>
              <a:rPr lang="en-US" altLang="en-US" dirty="0">
                <a:latin typeface="Times New Roman" panose="02020603050405020304" pitchFamily="18" charset="0"/>
                <a:cs typeface="Times New Roman" panose="02020603050405020304" pitchFamily="18" charset="0"/>
                <a:sym typeface="Courier" charset="0"/>
              </a:rPr>
            </a:br>
            <a:r>
              <a:rPr lang="en-US" altLang="en-US" dirty="0">
                <a:latin typeface="Times New Roman" panose="02020603050405020304" pitchFamily="18" charset="0"/>
                <a:cs typeface="Times New Roman" panose="02020603050405020304" pitchFamily="18" charset="0"/>
                <a:sym typeface="Courier" charset="0"/>
              </a:rPr>
              <a:t>upper = 7</a:t>
            </a:r>
            <a:br>
              <a:rPr lang="en-US" altLang="en-US" dirty="0">
                <a:latin typeface="Times New Roman" panose="02020603050405020304" pitchFamily="18" charset="0"/>
                <a:cs typeface="Times New Roman" panose="02020603050405020304" pitchFamily="18" charset="0"/>
                <a:sym typeface="Courier" charset="0"/>
              </a:rPr>
            </a:br>
            <a:r>
              <a:rPr lang="en-US" altLang="en-US" dirty="0">
                <a:latin typeface="Times New Roman" panose="02020603050405020304" pitchFamily="18" charset="0"/>
                <a:cs typeface="Times New Roman" panose="02020603050405020304" pitchFamily="18" charset="0"/>
                <a:sym typeface="Courier" charset="0"/>
              </a:rPr>
              <a:t>mid = 3</a:t>
            </a:r>
            <a:br>
              <a:rPr lang="en-US" altLang="en-US" dirty="0">
                <a:latin typeface="Times New Roman" panose="02020603050405020304" pitchFamily="18" charset="0"/>
                <a:cs typeface="Times New Roman" panose="02020603050405020304" pitchFamily="18" charset="0"/>
                <a:sym typeface="Courier" charset="0"/>
              </a:rPr>
            </a:br>
            <a:r>
              <a:rPr lang="en-US" altLang="en-US" dirty="0">
                <a:latin typeface="Times New Roman" panose="02020603050405020304" pitchFamily="18" charset="0"/>
                <a:cs typeface="Times New Roman" panose="02020603050405020304" pitchFamily="18" charset="0"/>
                <a:sym typeface="Courier" charset="0"/>
              </a:rPr>
              <a:t>lower = 3</a:t>
            </a:r>
          </a:p>
          <a:p>
            <a:pPr marL="165100" lvl="1" indent="0">
              <a:spcBef>
                <a:spcPts val="3300"/>
              </a:spcBef>
              <a:buFont typeface="Zapf Dingbats" charset="0"/>
              <a:buNone/>
            </a:pPr>
            <a:r>
              <a:rPr lang="en-US" altLang="en-US" dirty="0">
                <a:latin typeface="Times New Roman" panose="02020603050405020304" pitchFamily="18" charset="0"/>
                <a:cs typeface="Times New Roman" panose="02020603050405020304" pitchFamily="18" charset="0"/>
                <a:sym typeface="Courier" charset="0"/>
              </a:rPr>
              <a:t>lower = 3</a:t>
            </a:r>
            <a:br>
              <a:rPr lang="en-US" altLang="en-US" dirty="0">
                <a:latin typeface="Times New Roman" panose="02020603050405020304" pitchFamily="18" charset="0"/>
                <a:cs typeface="Times New Roman" panose="02020603050405020304" pitchFamily="18" charset="0"/>
                <a:sym typeface="Courier" charset="0"/>
              </a:rPr>
            </a:br>
            <a:r>
              <a:rPr lang="en-US" altLang="en-US" dirty="0">
                <a:latin typeface="Times New Roman" panose="02020603050405020304" pitchFamily="18" charset="0"/>
                <a:cs typeface="Times New Roman" panose="02020603050405020304" pitchFamily="18" charset="0"/>
                <a:sym typeface="Courier" charset="0"/>
              </a:rPr>
              <a:t>upper = 7</a:t>
            </a:r>
            <a:br>
              <a:rPr lang="en-US" altLang="en-US" dirty="0">
                <a:latin typeface="Times New Roman" panose="02020603050405020304" pitchFamily="18" charset="0"/>
                <a:cs typeface="Times New Roman" panose="02020603050405020304" pitchFamily="18" charset="0"/>
                <a:sym typeface="Courier" charset="0"/>
              </a:rPr>
            </a:br>
            <a:r>
              <a:rPr lang="en-US" altLang="en-US" dirty="0">
                <a:latin typeface="Times New Roman" panose="02020603050405020304" pitchFamily="18" charset="0"/>
                <a:cs typeface="Times New Roman" panose="02020603050405020304" pitchFamily="18" charset="0"/>
                <a:sym typeface="Courier" charset="0"/>
              </a:rPr>
              <a:t>mid = 5</a:t>
            </a:r>
            <a:br>
              <a:rPr lang="en-US" altLang="en-US" dirty="0">
                <a:latin typeface="Times New Roman" panose="02020603050405020304" pitchFamily="18" charset="0"/>
                <a:cs typeface="Times New Roman" panose="02020603050405020304" pitchFamily="18" charset="0"/>
                <a:sym typeface="Courier" charset="0"/>
              </a:rPr>
            </a:br>
            <a:r>
              <a:rPr lang="en-US" altLang="en-US" dirty="0">
                <a:latin typeface="Times New Roman" panose="02020603050405020304" pitchFamily="18" charset="0"/>
                <a:cs typeface="Times New Roman" panose="02020603050405020304" pitchFamily="18" charset="0"/>
                <a:sym typeface="Courier" charset="0"/>
              </a:rPr>
              <a:t>found it!</a:t>
            </a:r>
          </a:p>
          <a:p>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9196CF2-A32D-4230-B676-6A86FBF89EDB}"/>
              </a:ext>
            </a:extLst>
          </p:cNvPr>
          <p:cNvSpPr>
            <a:spLocks noGrp="1"/>
          </p:cNvSpPr>
          <p:nvPr>
            <p:ph type="sldNum" sz="quarter" idx="12"/>
          </p:nvPr>
        </p:nvSpPr>
        <p:spPr/>
        <p:txBody>
          <a:bodyPr/>
          <a:lstStyle/>
          <a:p>
            <a:fld id="{BDCDBBEF-AA6C-4BA6-85B2-A17D7F280E38}" type="slidenum">
              <a:rPr lang="en-US" smtClean="0"/>
              <a:pPr/>
              <a:t>11</a:t>
            </a:fld>
            <a:endParaRPr lang="en-US"/>
          </a:p>
        </p:txBody>
      </p:sp>
      <p:grpSp>
        <p:nvGrpSpPr>
          <p:cNvPr id="15" name="Group 6">
            <a:extLst>
              <a:ext uri="{FF2B5EF4-FFF2-40B4-BE49-F238E27FC236}">
                <a16:creationId xmlns:a16="http://schemas.microsoft.com/office/drawing/2014/main" id="{75DE6516-647E-40AD-ACA6-0C96D5EB00F4}"/>
              </a:ext>
            </a:extLst>
          </p:cNvPr>
          <p:cNvGrpSpPr>
            <a:grpSpLocks/>
          </p:cNvGrpSpPr>
          <p:nvPr/>
        </p:nvGrpSpPr>
        <p:grpSpPr bwMode="auto">
          <a:xfrm>
            <a:off x="4123850" y="2724874"/>
            <a:ext cx="6705600" cy="1130300"/>
            <a:chOff x="0" y="0"/>
            <a:chExt cx="4223" cy="712"/>
          </a:xfrm>
        </p:grpSpPr>
        <p:pic>
          <p:nvPicPr>
            <p:cNvPr id="16" name="Picture 3">
              <a:extLst>
                <a:ext uri="{FF2B5EF4-FFF2-40B4-BE49-F238E27FC236}">
                  <a16:creationId xmlns:a16="http://schemas.microsoft.com/office/drawing/2014/main" id="{A2EE4343-9344-40C3-93D5-B096EAE380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 y="232"/>
              <a:ext cx="4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a:tailEnd/>
                </a14:hiddenLine>
              </a:ext>
            </a:extLst>
          </p:spPr>
        </p:pic>
        <p:sp>
          <p:nvSpPr>
            <p:cNvPr id="17" name="Rectangle 4">
              <a:extLst>
                <a:ext uri="{FF2B5EF4-FFF2-40B4-BE49-F238E27FC236}">
                  <a16:creationId xmlns:a16="http://schemas.microsoft.com/office/drawing/2014/main" id="{1CD243FB-75C1-465B-B63D-3B3C7ECA3610}"/>
                </a:ext>
              </a:extLst>
            </p:cNvPr>
            <p:cNvSpPr>
              <a:spLocks/>
            </p:cNvSpPr>
            <p:nvPr/>
          </p:nvSpPr>
          <p:spPr bwMode="auto">
            <a:xfrm>
              <a:off x="0" y="0"/>
              <a:ext cx="119"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lvl1pPr algn="l">
                <a:defRPr sz="1200">
                  <a:solidFill>
                    <a:schemeClr val="tx1"/>
                  </a:solidFill>
                  <a:latin typeface="Gill Sans" charset="0"/>
                </a:defRPr>
              </a:lvl1pPr>
              <a:lvl2pPr algn="l">
                <a:defRPr sz="1200">
                  <a:solidFill>
                    <a:schemeClr val="tx1"/>
                  </a:solidFill>
                  <a:latin typeface="Gill Sans" charset="0"/>
                </a:defRPr>
              </a:lvl2pPr>
              <a:lvl3pPr algn="l">
                <a:defRPr sz="1200">
                  <a:solidFill>
                    <a:schemeClr val="tx1"/>
                  </a:solidFill>
                  <a:latin typeface="Gill Sans" charset="0"/>
                </a:defRPr>
              </a:lvl3pPr>
              <a:lvl4pPr algn="l">
                <a:defRPr sz="1200">
                  <a:solidFill>
                    <a:schemeClr val="tx1"/>
                  </a:solidFill>
                  <a:latin typeface="Gill Sans" charset="0"/>
                </a:defRPr>
              </a:lvl4pPr>
              <a:lvl5pPr algn="l">
                <a:defRPr sz="1200">
                  <a:solidFill>
                    <a:schemeClr val="tx1"/>
                  </a:solidFill>
                  <a:latin typeface="Gill Sans" charset="0"/>
                </a:defRPr>
              </a:lvl5pPr>
              <a:lvl6pPr fontAlgn="base">
                <a:spcBef>
                  <a:spcPct val="0"/>
                </a:spcBef>
                <a:spcAft>
                  <a:spcPct val="0"/>
                </a:spcAft>
                <a:defRPr sz="1200">
                  <a:solidFill>
                    <a:schemeClr val="tx1"/>
                  </a:solidFill>
                  <a:latin typeface="Gill Sans" charset="0"/>
                </a:defRPr>
              </a:lvl6pPr>
              <a:lvl7pPr fontAlgn="base">
                <a:spcBef>
                  <a:spcPct val="0"/>
                </a:spcBef>
                <a:spcAft>
                  <a:spcPct val="0"/>
                </a:spcAft>
                <a:defRPr sz="1200">
                  <a:solidFill>
                    <a:schemeClr val="tx1"/>
                  </a:solidFill>
                  <a:latin typeface="Gill Sans" charset="0"/>
                </a:defRPr>
              </a:lvl7pPr>
              <a:lvl8pPr fontAlgn="base">
                <a:spcBef>
                  <a:spcPct val="0"/>
                </a:spcBef>
                <a:spcAft>
                  <a:spcPct val="0"/>
                </a:spcAft>
                <a:defRPr sz="1200">
                  <a:solidFill>
                    <a:schemeClr val="tx1"/>
                  </a:solidFill>
                  <a:latin typeface="Gill Sans" charset="0"/>
                </a:defRPr>
              </a:lvl8pPr>
              <a:lvl9pPr fontAlgn="base">
                <a:spcBef>
                  <a:spcPct val="0"/>
                </a:spcBef>
                <a:spcAft>
                  <a:spcPct val="0"/>
                </a:spcAft>
                <a:defRPr sz="1200">
                  <a:solidFill>
                    <a:schemeClr val="tx1"/>
                  </a:solidFill>
                  <a:latin typeface="Gill Sans" charset="0"/>
                </a:defRPr>
              </a:lvl9pPr>
            </a:lstStyle>
            <a:p>
              <a:pPr algn="ctr"/>
              <a:r>
                <a:rPr lang="en-US" altLang="en-US" sz="1800" b="1">
                  <a:solidFill>
                    <a:srgbClr val="000080"/>
                  </a:solidFill>
                  <a:latin typeface="Helvetica Neue" charset="0"/>
                  <a:cs typeface="Helvetica Neue" charset="0"/>
                  <a:sym typeface="Helvetica Neue" charset="0"/>
                </a:rPr>
                <a:t>[</a:t>
              </a:r>
            </a:p>
          </p:txBody>
        </p:sp>
        <p:sp>
          <p:nvSpPr>
            <p:cNvPr id="18" name="Rectangle 5">
              <a:extLst>
                <a:ext uri="{FF2B5EF4-FFF2-40B4-BE49-F238E27FC236}">
                  <a16:creationId xmlns:a16="http://schemas.microsoft.com/office/drawing/2014/main" id="{CBE8974E-2566-4E22-B54B-F543613CD023}"/>
                </a:ext>
              </a:extLst>
            </p:cNvPr>
            <p:cNvSpPr>
              <a:spLocks/>
            </p:cNvSpPr>
            <p:nvPr/>
          </p:nvSpPr>
          <p:spPr bwMode="auto">
            <a:xfrm>
              <a:off x="2071" y="0"/>
              <a:ext cx="12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lvl1pPr algn="l">
                <a:defRPr sz="1200">
                  <a:solidFill>
                    <a:schemeClr val="tx1"/>
                  </a:solidFill>
                  <a:latin typeface="Gill Sans" charset="0"/>
                </a:defRPr>
              </a:lvl1pPr>
              <a:lvl2pPr algn="l">
                <a:defRPr sz="1200">
                  <a:solidFill>
                    <a:schemeClr val="tx1"/>
                  </a:solidFill>
                  <a:latin typeface="Gill Sans" charset="0"/>
                </a:defRPr>
              </a:lvl2pPr>
              <a:lvl3pPr algn="l">
                <a:defRPr sz="1200">
                  <a:solidFill>
                    <a:schemeClr val="tx1"/>
                  </a:solidFill>
                  <a:latin typeface="Gill Sans" charset="0"/>
                </a:defRPr>
              </a:lvl3pPr>
              <a:lvl4pPr algn="l">
                <a:defRPr sz="1200">
                  <a:solidFill>
                    <a:schemeClr val="tx1"/>
                  </a:solidFill>
                  <a:latin typeface="Gill Sans" charset="0"/>
                </a:defRPr>
              </a:lvl4pPr>
              <a:lvl5pPr algn="l">
                <a:defRPr sz="1200">
                  <a:solidFill>
                    <a:schemeClr val="tx1"/>
                  </a:solidFill>
                  <a:latin typeface="Gill Sans" charset="0"/>
                </a:defRPr>
              </a:lvl5pPr>
              <a:lvl6pPr fontAlgn="base">
                <a:spcBef>
                  <a:spcPct val="0"/>
                </a:spcBef>
                <a:spcAft>
                  <a:spcPct val="0"/>
                </a:spcAft>
                <a:defRPr sz="1200">
                  <a:solidFill>
                    <a:schemeClr val="tx1"/>
                  </a:solidFill>
                  <a:latin typeface="Gill Sans" charset="0"/>
                </a:defRPr>
              </a:lvl6pPr>
              <a:lvl7pPr fontAlgn="base">
                <a:spcBef>
                  <a:spcPct val="0"/>
                </a:spcBef>
                <a:spcAft>
                  <a:spcPct val="0"/>
                </a:spcAft>
                <a:defRPr sz="1200">
                  <a:solidFill>
                    <a:schemeClr val="tx1"/>
                  </a:solidFill>
                  <a:latin typeface="Gill Sans" charset="0"/>
                </a:defRPr>
              </a:lvl7pPr>
              <a:lvl8pPr fontAlgn="base">
                <a:spcBef>
                  <a:spcPct val="0"/>
                </a:spcBef>
                <a:spcAft>
                  <a:spcPct val="0"/>
                </a:spcAft>
                <a:defRPr sz="1200">
                  <a:solidFill>
                    <a:schemeClr val="tx1"/>
                  </a:solidFill>
                  <a:latin typeface="Gill Sans" charset="0"/>
                </a:defRPr>
              </a:lvl8pPr>
              <a:lvl9pPr fontAlgn="base">
                <a:spcBef>
                  <a:spcPct val="0"/>
                </a:spcBef>
                <a:spcAft>
                  <a:spcPct val="0"/>
                </a:spcAft>
                <a:defRPr sz="1200">
                  <a:solidFill>
                    <a:schemeClr val="tx1"/>
                  </a:solidFill>
                  <a:latin typeface="Gill Sans" charset="0"/>
                </a:defRPr>
              </a:lvl9pPr>
            </a:lstStyle>
            <a:p>
              <a:pPr algn="ctr"/>
              <a:r>
                <a:rPr lang="en-US" altLang="en-US" sz="1800" b="1">
                  <a:solidFill>
                    <a:srgbClr val="000080"/>
                  </a:solidFill>
                  <a:latin typeface="Helvetica Neue" charset="0"/>
                  <a:cs typeface="Helvetica Neue" charset="0"/>
                  <a:sym typeface="Helvetica Neue" charset="0"/>
                </a:rPr>
                <a:t>]</a:t>
              </a:r>
            </a:p>
          </p:txBody>
        </p:sp>
      </p:grpSp>
      <p:grpSp>
        <p:nvGrpSpPr>
          <p:cNvPr id="19" name="Group 10">
            <a:extLst>
              <a:ext uri="{FF2B5EF4-FFF2-40B4-BE49-F238E27FC236}">
                <a16:creationId xmlns:a16="http://schemas.microsoft.com/office/drawing/2014/main" id="{494C001D-3135-4A4E-BB2C-61383FF2159A}"/>
              </a:ext>
            </a:extLst>
          </p:cNvPr>
          <p:cNvGrpSpPr>
            <a:grpSpLocks/>
          </p:cNvGrpSpPr>
          <p:nvPr/>
        </p:nvGrpSpPr>
        <p:grpSpPr bwMode="auto">
          <a:xfrm>
            <a:off x="3743037" y="4108450"/>
            <a:ext cx="6638925" cy="1143000"/>
            <a:chOff x="0" y="0"/>
            <a:chExt cx="4182" cy="720"/>
          </a:xfrm>
        </p:grpSpPr>
        <p:pic>
          <p:nvPicPr>
            <p:cNvPr id="20" name="Picture 7">
              <a:extLst>
                <a:ext uri="{FF2B5EF4-FFF2-40B4-BE49-F238E27FC236}">
                  <a16:creationId xmlns:a16="http://schemas.microsoft.com/office/drawing/2014/main" id="{6E2C15AB-CA59-4AD6-9020-559804DA6C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0"/>
              <a:ext cx="418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a:tailEnd/>
                </a14:hiddenLine>
              </a:ext>
            </a:extLst>
          </p:spPr>
        </p:pic>
        <p:sp>
          <p:nvSpPr>
            <p:cNvPr id="21" name="Rectangle 8">
              <a:extLst>
                <a:ext uri="{FF2B5EF4-FFF2-40B4-BE49-F238E27FC236}">
                  <a16:creationId xmlns:a16="http://schemas.microsoft.com/office/drawing/2014/main" id="{597C2159-2060-4368-87C4-FA4D713434A9}"/>
                </a:ext>
              </a:extLst>
            </p:cNvPr>
            <p:cNvSpPr>
              <a:spLocks/>
            </p:cNvSpPr>
            <p:nvPr/>
          </p:nvSpPr>
          <p:spPr bwMode="auto">
            <a:xfrm>
              <a:off x="966" y="0"/>
              <a:ext cx="12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lvl1pPr algn="l">
                <a:defRPr sz="1200">
                  <a:solidFill>
                    <a:schemeClr val="tx1"/>
                  </a:solidFill>
                  <a:latin typeface="Gill Sans" charset="0"/>
                </a:defRPr>
              </a:lvl1pPr>
              <a:lvl2pPr algn="l">
                <a:defRPr sz="1200">
                  <a:solidFill>
                    <a:schemeClr val="tx1"/>
                  </a:solidFill>
                  <a:latin typeface="Gill Sans" charset="0"/>
                </a:defRPr>
              </a:lvl2pPr>
              <a:lvl3pPr algn="l">
                <a:defRPr sz="1200">
                  <a:solidFill>
                    <a:schemeClr val="tx1"/>
                  </a:solidFill>
                  <a:latin typeface="Gill Sans" charset="0"/>
                </a:defRPr>
              </a:lvl3pPr>
              <a:lvl4pPr algn="l">
                <a:defRPr sz="1200">
                  <a:solidFill>
                    <a:schemeClr val="tx1"/>
                  </a:solidFill>
                  <a:latin typeface="Gill Sans" charset="0"/>
                </a:defRPr>
              </a:lvl4pPr>
              <a:lvl5pPr algn="l">
                <a:defRPr sz="1200">
                  <a:solidFill>
                    <a:schemeClr val="tx1"/>
                  </a:solidFill>
                  <a:latin typeface="Gill Sans" charset="0"/>
                </a:defRPr>
              </a:lvl5pPr>
              <a:lvl6pPr fontAlgn="base">
                <a:spcBef>
                  <a:spcPct val="0"/>
                </a:spcBef>
                <a:spcAft>
                  <a:spcPct val="0"/>
                </a:spcAft>
                <a:defRPr sz="1200">
                  <a:solidFill>
                    <a:schemeClr val="tx1"/>
                  </a:solidFill>
                  <a:latin typeface="Gill Sans" charset="0"/>
                </a:defRPr>
              </a:lvl6pPr>
              <a:lvl7pPr fontAlgn="base">
                <a:spcBef>
                  <a:spcPct val="0"/>
                </a:spcBef>
                <a:spcAft>
                  <a:spcPct val="0"/>
                </a:spcAft>
                <a:defRPr sz="1200">
                  <a:solidFill>
                    <a:schemeClr val="tx1"/>
                  </a:solidFill>
                  <a:latin typeface="Gill Sans" charset="0"/>
                </a:defRPr>
              </a:lvl7pPr>
              <a:lvl8pPr fontAlgn="base">
                <a:spcBef>
                  <a:spcPct val="0"/>
                </a:spcBef>
                <a:spcAft>
                  <a:spcPct val="0"/>
                </a:spcAft>
                <a:defRPr sz="1200">
                  <a:solidFill>
                    <a:schemeClr val="tx1"/>
                  </a:solidFill>
                  <a:latin typeface="Gill Sans" charset="0"/>
                </a:defRPr>
              </a:lvl8pPr>
              <a:lvl9pPr fontAlgn="base">
                <a:spcBef>
                  <a:spcPct val="0"/>
                </a:spcBef>
                <a:spcAft>
                  <a:spcPct val="0"/>
                </a:spcAft>
                <a:defRPr sz="1200">
                  <a:solidFill>
                    <a:schemeClr val="tx1"/>
                  </a:solidFill>
                  <a:latin typeface="Gill Sans" charset="0"/>
                </a:defRPr>
              </a:lvl9pPr>
            </a:lstStyle>
            <a:p>
              <a:pPr algn="ctr"/>
              <a:r>
                <a:rPr lang="en-US" altLang="en-US" sz="1800" b="1">
                  <a:solidFill>
                    <a:srgbClr val="000080"/>
                  </a:solidFill>
                  <a:latin typeface="Helvetica Neue" charset="0"/>
                  <a:cs typeface="Helvetica Neue" charset="0"/>
                  <a:sym typeface="Helvetica Neue" charset="0"/>
                </a:rPr>
                <a:t>[</a:t>
              </a:r>
            </a:p>
          </p:txBody>
        </p:sp>
        <p:sp>
          <p:nvSpPr>
            <p:cNvPr id="22" name="Rectangle 9">
              <a:extLst>
                <a:ext uri="{FF2B5EF4-FFF2-40B4-BE49-F238E27FC236}">
                  <a16:creationId xmlns:a16="http://schemas.microsoft.com/office/drawing/2014/main" id="{A81B1D99-75FF-475C-BD55-94FADB26C60E}"/>
                </a:ext>
              </a:extLst>
            </p:cNvPr>
            <p:cNvSpPr>
              <a:spLocks/>
            </p:cNvSpPr>
            <p:nvPr/>
          </p:nvSpPr>
          <p:spPr bwMode="auto">
            <a:xfrm>
              <a:off x="2030" y="0"/>
              <a:ext cx="12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lvl1pPr algn="l">
                <a:defRPr sz="1200">
                  <a:solidFill>
                    <a:schemeClr val="tx1"/>
                  </a:solidFill>
                  <a:latin typeface="Gill Sans" charset="0"/>
                </a:defRPr>
              </a:lvl1pPr>
              <a:lvl2pPr algn="l">
                <a:defRPr sz="1200">
                  <a:solidFill>
                    <a:schemeClr val="tx1"/>
                  </a:solidFill>
                  <a:latin typeface="Gill Sans" charset="0"/>
                </a:defRPr>
              </a:lvl2pPr>
              <a:lvl3pPr algn="l">
                <a:defRPr sz="1200">
                  <a:solidFill>
                    <a:schemeClr val="tx1"/>
                  </a:solidFill>
                  <a:latin typeface="Gill Sans" charset="0"/>
                </a:defRPr>
              </a:lvl3pPr>
              <a:lvl4pPr algn="l">
                <a:defRPr sz="1200">
                  <a:solidFill>
                    <a:schemeClr val="tx1"/>
                  </a:solidFill>
                  <a:latin typeface="Gill Sans" charset="0"/>
                </a:defRPr>
              </a:lvl4pPr>
              <a:lvl5pPr algn="l">
                <a:defRPr sz="1200">
                  <a:solidFill>
                    <a:schemeClr val="tx1"/>
                  </a:solidFill>
                  <a:latin typeface="Gill Sans" charset="0"/>
                </a:defRPr>
              </a:lvl5pPr>
              <a:lvl6pPr fontAlgn="base">
                <a:spcBef>
                  <a:spcPct val="0"/>
                </a:spcBef>
                <a:spcAft>
                  <a:spcPct val="0"/>
                </a:spcAft>
                <a:defRPr sz="1200">
                  <a:solidFill>
                    <a:schemeClr val="tx1"/>
                  </a:solidFill>
                  <a:latin typeface="Gill Sans" charset="0"/>
                </a:defRPr>
              </a:lvl6pPr>
              <a:lvl7pPr fontAlgn="base">
                <a:spcBef>
                  <a:spcPct val="0"/>
                </a:spcBef>
                <a:spcAft>
                  <a:spcPct val="0"/>
                </a:spcAft>
                <a:defRPr sz="1200">
                  <a:solidFill>
                    <a:schemeClr val="tx1"/>
                  </a:solidFill>
                  <a:latin typeface="Gill Sans" charset="0"/>
                </a:defRPr>
              </a:lvl7pPr>
              <a:lvl8pPr fontAlgn="base">
                <a:spcBef>
                  <a:spcPct val="0"/>
                </a:spcBef>
                <a:spcAft>
                  <a:spcPct val="0"/>
                </a:spcAft>
                <a:defRPr sz="1200">
                  <a:solidFill>
                    <a:schemeClr val="tx1"/>
                  </a:solidFill>
                  <a:latin typeface="Gill Sans" charset="0"/>
                </a:defRPr>
              </a:lvl8pPr>
              <a:lvl9pPr fontAlgn="base">
                <a:spcBef>
                  <a:spcPct val="0"/>
                </a:spcBef>
                <a:spcAft>
                  <a:spcPct val="0"/>
                </a:spcAft>
                <a:defRPr sz="1200">
                  <a:solidFill>
                    <a:schemeClr val="tx1"/>
                  </a:solidFill>
                  <a:latin typeface="Gill Sans" charset="0"/>
                </a:defRPr>
              </a:lvl9pPr>
            </a:lstStyle>
            <a:p>
              <a:pPr algn="ctr"/>
              <a:r>
                <a:rPr lang="en-US" altLang="en-US" sz="1800" b="1">
                  <a:solidFill>
                    <a:srgbClr val="000080"/>
                  </a:solidFill>
                  <a:latin typeface="Helvetica Neue" charset="0"/>
                  <a:cs typeface="Helvetica Neue" charset="0"/>
                  <a:sym typeface="Helvetica Neue" charset="0"/>
                </a:rPr>
                <a:t>]</a:t>
              </a:r>
            </a:p>
          </p:txBody>
        </p:sp>
      </p:grpSp>
      <p:sp>
        <p:nvSpPr>
          <p:cNvPr id="23" name="Rectangle 13">
            <a:extLst>
              <a:ext uri="{FF2B5EF4-FFF2-40B4-BE49-F238E27FC236}">
                <a16:creationId xmlns:a16="http://schemas.microsoft.com/office/drawing/2014/main" id="{83749755-D1FB-4CD3-A860-BC0244392E90}"/>
              </a:ext>
            </a:extLst>
          </p:cNvPr>
          <p:cNvSpPr>
            <a:spLocks/>
          </p:cNvSpPr>
          <p:nvPr/>
        </p:nvSpPr>
        <p:spPr bwMode="auto">
          <a:xfrm>
            <a:off x="5529407" y="5141191"/>
            <a:ext cx="43561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lvl1pPr algn="l">
              <a:defRPr sz="1200">
                <a:solidFill>
                  <a:schemeClr val="tx1"/>
                </a:solidFill>
                <a:latin typeface="Gill Sans" charset="0"/>
              </a:defRPr>
            </a:lvl1pPr>
            <a:lvl2pPr algn="l">
              <a:defRPr sz="1200">
                <a:solidFill>
                  <a:schemeClr val="tx1"/>
                </a:solidFill>
                <a:latin typeface="Gill Sans" charset="0"/>
              </a:defRPr>
            </a:lvl2pPr>
            <a:lvl3pPr algn="l">
              <a:defRPr sz="1200">
                <a:solidFill>
                  <a:schemeClr val="tx1"/>
                </a:solidFill>
                <a:latin typeface="Gill Sans" charset="0"/>
              </a:defRPr>
            </a:lvl3pPr>
            <a:lvl4pPr algn="l">
              <a:defRPr sz="1200">
                <a:solidFill>
                  <a:schemeClr val="tx1"/>
                </a:solidFill>
                <a:latin typeface="Gill Sans" charset="0"/>
              </a:defRPr>
            </a:lvl4pPr>
            <a:lvl5pPr algn="l">
              <a:defRPr sz="1200">
                <a:solidFill>
                  <a:schemeClr val="tx1"/>
                </a:solidFill>
                <a:latin typeface="Gill Sans" charset="0"/>
              </a:defRPr>
            </a:lvl5pPr>
            <a:lvl6pPr fontAlgn="base">
              <a:spcBef>
                <a:spcPct val="0"/>
              </a:spcBef>
              <a:spcAft>
                <a:spcPct val="0"/>
              </a:spcAft>
              <a:defRPr sz="1200">
                <a:solidFill>
                  <a:schemeClr val="tx1"/>
                </a:solidFill>
                <a:latin typeface="Gill Sans" charset="0"/>
              </a:defRPr>
            </a:lvl6pPr>
            <a:lvl7pPr fontAlgn="base">
              <a:spcBef>
                <a:spcPct val="0"/>
              </a:spcBef>
              <a:spcAft>
                <a:spcPct val="0"/>
              </a:spcAft>
              <a:defRPr sz="1200">
                <a:solidFill>
                  <a:schemeClr val="tx1"/>
                </a:solidFill>
                <a:latin typeface="Gill Sans" charset="0"/>
              </a:defRPr>
            </a:lvl7pPr>
            <a:lvl8pPr fontAlgn="base">
              <a:spcBef>
                <a:spcPct val="0"/>
              </a:spcBef>
              <a:spcAft>
                <a:spcPct val="0"/>
              </a:spcAft>
              <a:defRPr sz="1200">
                <a:solidFill>
                  <a:schemeClr val="tx1"/>
                </a:solidFill>
                <a:latin typeface="Gill Sans" charset="0"/>
              </a:defRPr>
            </a:lvl8pPr>
            <a:lvl9pPr fontAlgn="base">
              <a:spcBef>
                <a:spcPct val="0"/>
              </a:spcBef>
              <a:spcAft>
                <a:spcPct val="0"/>
              </a:spcAft>
              <a:defRPr sz="1200">
                <a:solidFill>
                  <a:schemeClr val="tx1"/>
                </a:solidFill>
                <a:latin typeface="Gill Sans" charset="0"/>
              </a:defRPr>
            </a:lvl9pPr>
          </a:lstStyle>
          <a:p>
            <a:r>
              <a:rPr lang="en-US" altLang="en-US" sz="1600" i="1">
                <a:solidFill>
                  <a:srgbClr val="000080"/>
                </a:solidFill>
                <a:latin typeface="Helvetica Neue" charset="0"/>
                <a:cs typeface="Helvetica Neue" charset="0"/>
                <a:sym typeface="Helvetica Neue" charset="0"/>
              </a:rPr>
              <a:t>This search required only 3 comparisons:</a:t>
            </a:r>
          </a:p>
          <a:p>
            <a:pPr>
              <a:spcBef>
                <a:spcPts val="600"/>
              </a:spcBef>
            </a:pPr>
            <a:r>
              <a:rPr lang="en-US" altLang="en-US" sz="1600" i="1">
                <a:solidFill>
                  <a:srgbClr val="000080"/>
                </a:solidFill>
                <a:latin typeface="Helvetica Neue" charset="0"/>
                <a:cs typeface="Helvetica Neue" charset="0"/>
                <a:sym typeface="Helvetica Neue" charset="0"/>
              </a:rPr>
              <a:t>   </a:t>
            </a:r>
            <a:r>
              <a:rPr lang="en-US" altLang="en-US" sz="1600">
                <a:solidFill>
                  <a:srgbClr val="000080"/>
                </a:solidFill>
                <a:latin typeface="Courier" charset="0"/>
                <a:ea typeface="Courier" charset="0"/>
                <a:cs typeface="Courier" charset="0"/>
                <a:sym typeface="Courier" charset="0"/>
              </a:rPr>
              <a:t>a[7]</a:t>
            </a:r>
            <a:r>
              <a:rPr lang="en-US" altLang="en-US" sz="1600" i="1">
                <a:solidFill>
                  <a:srgbClr val="000080"/>
                </a:solidFill>
                <a:latin typeface="Helvetica Neue" charset="0"/>
                <a:cs typeface="Helvetica Neue" charset="0"/>
                <a:sym typeface="Helvetica Neue" charset="0"/>
              </a:rPr>
              <a:t>, </a:t>
            </a:r>
            <a:r>
              <a:rPr lang="en-US" altLang="en-US" sz="1600">
                <a:solidFill>
                  <a:srgbClr val="000080"/>
                </a:solidFill>
                <a:latin typeface="Courier" charset="0"/>
                <a:ea typeface="Courier" charset="0"/>
                <a:cs typeface="Courier" charset="0"/>
                <a:sym typeface="Courier" charset="0"/>
              </a:rPr>
              <a:t>a[3]</a:t>
            </a:r>
            <a:r>
              <a:rPr lang="en-US" altLang="en-US" sz="1600" i="1">
                <a:solidFill>
                  <a:srgbClr val="000080"/>
                </a:solidFill>
                <a:latin typeface="Helvetica Neue" charset="0"/>
                <a:cs typeface="Helvetica Neue" charset="0"/>
                <a:sym typeface="Helvetica Neue" charset="0"/>
              </a:rPr>
              <a:t>, </a:t>
            </a:r>
            <a:r>
              <a:rPr lang="en-US" altLang="en-US" sz="1600">
                <a:solidFill>
                  <a:srgbClr val="000080"/>
                </a:solidFill>
                <a:latin typeface="Courier" charset="0"/>
                <a:ea typeface="Courier" charset="0"/>
                <a:cs typeface="Courier" charset="0"/>
                <a:sym typeface="Courier" charset="0"/>
              </a:rPr>
              <a:t>a[5]</a:t>
            </a:r>
          </a:p>
        </p:txBody>
      </p:sp>
      <p:sp>
        <p:nvSpPr>
          <p:cNvPr id="24" name="Rectangle 12">
            <a:extLst>
              <a:ext uri="{FF2B5EF4-FFF2-40B4-BE49-F238E27FC236}">
                <a16:creationId xmlns:a16="http://schemas.microsoft.com/office/drawing/2014/main" id="{85BD8DC9-FFD3-4350-980F-6F4E696ED57B}"/>
              </a:ext>
            </a:extLst>
          </p:cNvPr>
          <p:cNvSpPr>
            <a:spLocks/>
          </p:cNvSpPr>
          <p:nvPr/>
        </p:nvSpPr>
        <p:spPr bwMode="auto">
          <a:xfrm>
            <a:off x="6096000" y="4223474"/>
            <a:ext cx="20796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lvl1pPr algn="l">
              <a:defRPr sz="1200">
                <a:solidFill>
                  <a:schemeClr val="tx1"/>
                </a:solidFill>
                <a:latin typeface="Gill Sans" charset="0"/>
              </a:defRPr>
            </a:lvl1pPr>
            <a:lvl2pPr algn="l">
              <a:defRPr sz="1200">
                <a:solidFill>
                  <a:schemeClr val="tx1"/>
                </a:solidFill>
                <a:latin typeface="Gill Sans" charset="0"/>
              </a:defRPr>
            </a:lvl2pPr>
            <a:lvl3pPr algn="l">
              <a:defRPr sz="1200">
                <a:solidFill>
                  <a:schemeClr val="tx1"/>
                </a:solidFill>
                <a:latin typeface="Gill Sans" charset="0"/>
              </a:defRPr>
            </a:lvl3pPr>
            <a:lvl4pPr algn="l">
              <a:defRPr sz="1200">
                <a:solidFill>
                  <a:schemeClr val="tx1"/>
                </a:solidFill>
                <a:latin typeface="Gill Sans" charset="0"/>
              </a:defRPr>
            </a:lvl4pPr>
            <a:lvl5pPr algn="l">
              <a:defRPr sz="1200">
                <a:solidFill>
                  <a:schemeClr val="tx1"/>
                </a:solidFill>
                <a:latin typeface="Gill Sans" charset="0"/>
              </a:defRPr>
            </a:lvl5pPr>
            <a:lvl6pPr fontAlgn="base">
              <a:spcBef>
                <a:spcPct val="0"/>
              </a:spcBef>
              <a:spcAft>
                <a:spcPct val="0"/>
              </a:spcAft>
              <a:defRPr sz="1200">
                <a:solidFill>
                  <a:schemeClr val="tx1"/>
                </a:solidFill>
                <a:latin typeface="Gill Sans" charset="0"/>
              </a:defRPr>
            </a:lvl6pPr>
            <a:lvl7pPr fontAlgn="base">
              <a:spcBef>
                <a:spcPct val="0"/>
              </a:spcBef>
              <a:spcAft>
                <a:spcPct val="0"/>
              </a:spcAft>
              <a:defRPr sz="1200">
                <a:solidFill>
                  <a:schemeClr val="tx1"/>
                </a:solidFill>
                <a:latin typeface="Gill Sans" charset="0"/>
              </a:defRPr>
            </a:lvl7pPr>
            <a:lvl8pPr fontAlgn="base">
              <a:spcBef>
                <a:spcPct val="0"/>
              </a:spcBef>
              <a:spcAft>
                <a:spcPct val="0"/>
              </a:spcAft>
              <a:defRPr sz="1200">
                <a:solidFill>
                  <a:schemeClr val="tx1"/>
                </a:solidFill>
                <a:latin typeface="Gill Sans" charset="0"/>
              </a:defRPr>
            </a:lvl8pPr>
            <a:lvl9pPr fontAlgn="base">
              <a:spcBef>
                <a:spcPct val="0"/>
              </a:spcBef>
              <a:spcAft>
                <a:spcPct val="0"/>
              </a:spcAft>
              <a:defRPr sz="1200">
                <a:solidFill>
                  <a:schemeClr val="tx1"/>
                </a:solidFill>
                <a:latin typeface="Gill Sans" charset="0"/>
              </a:defRPr>
            </a:lvl9pPr>
          </a:lstStyle>
          <a:p>
            <a:pPr algn="ctr"/>
            <a:r>
              <a:rPr lang="en-US" altLang="en-US" sz="1800" b="1" dirty="0">
                <a:solidFill>
                  <a:srgbClr val="000080"/>
                </a:solidFill>
                <a:latin typeface="Helvetica Neue" charset="0"/>
                <a:cs typeface="Helvetica Neue" charset="0"/>
                <a:sym typeface="Helvetica Neue" charset="0"/>
              </a:rPr>
              <a:t>*</a:t>
            </a:r>
          </a:p>
        </p:txBody>
      </p:sp>
      <p:sp>
        <p:nvSpPr>
          <p:cNvPr id="25" name="Rectangle 11">
            <a:extLst>
              <a:ext uri="{FF2B5EF4-FFF2-40B4-BE49-F238E27FC236}">
                <a16:creationId xmlns:a16="http://schemas.microsoft.com/office/drawing/2014/main" id="{EC072507-3762-4929-9DC4-1F93785E069C}"/>
              </a:ext>
            </a:extLst>
          </p:cNvPr>
          <p:cNvSpPr>
            <a:spLocks/>
          </p:cNvSpPr>
          <p:nvPr/>
        </p:nvSpPr>
        <p:spPr bwMode="auto">
          <a:xfrm>
            <a:off x="5718644" y="2860533"/>
            <a:ext cx="20796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lvl1pPr algn="l">
              <a:defRPr sz="1200">
                <a:solidFill>
                  <a:schemeClr val="tx1"/>
                </a:solidFill>
                <a:latin typeface="Gill Sans" charset="0"/>
              </a:defRPr>
            </a:lvl1pPr>
            <a:lvl2pPr algn="l">
              <a:defRPr sz="1200">
                <a:solidFill>
                  <a:schemeClr val="tx1"/>
                </a:solidFill>
                <a:latin typeface="Gill Sans" charset="0"/>
              </a:defRPr>
            </a:lvl2pPr>
            <a:lvl3pPr algn="l">
              <a:defRPr sz="1200">
                <a:solidFill>
                  <a:schemeClr val="tx1"/>
                </a:solidFill>
                <a:latin typeface="Gill Sans" charset="0"/>
              </a:defRPr>
            </a:lvl3pPr>
            <a:lvl4pPr algn="l">
              <a:defRPr sz="1200">
                <a:solidFill>
                  <a:schemeClr val="tx1"/>
                </a:solidFill>
                <a:latin typeface="Gill Sans" charset="0"/>
              </a:defRPr>
            </a:lvl4pPr>
            <a:lvl5pPr algn="l">
              <a:defRPr sz="1200">
                <a:solidFill>
                  <a:schemeClr val="tx1"/>
                </a:solidFill>
                <a:latin typeface="Gill Sans" charset="0"/>
              </a:defRPr>
            </a:lvl5pPr>
            <a:lvl6pPr fontAlgn="base">
              <a:spcBef>
                <a:spcPct val="0"/>
              </a:spcBef>
              <a:spcAft>
                <a:spcPct val="0"/>
              </a:spcAft>
              <a:defRPr sz="1200">
                <a:solidFill>
                  <a:schemeClr val="tx1"/>
                </a:solidFill>
                <a:latin typeface="Gill Sans" charset="0"/>
              </a:defRPr>
            </a:lvl6pPr>
            <a:lvl7pPr fontAlgn="base">
              <a:spcBef>
                <a:spcPct val="0"/>
              </a:spcBef>
              <a:spcAft>
                <a:spcPct val="0"/>
              </a:spcAft>
              <a:defRPr sz="1200">
                <a:solidFill>
                  <a:schemeClr val="tx1"/>
                </a:solidFill>
                <a:latin typeface="Gill Sans" charset="0"/>
              </a:defRPr>
            </a:lvl7pPr>
            <a:lvl8pPr fontAlgn="base">
              <a:spcBef>
                <a:spcPct val="0"/>
              </a:spcBef>
              <a:spcAft>
                <a:spcPct val="0"/>
              </a:spcAft>
              <a:defRPr sz="1200">
                <a:solidFill>
                  <a:schemeClr val="tx1"/>
                </a:solidFill>
                <a:latin typeface="Gill Sans" charset="0"/>
              </a:defRPr>
            </a:lvl8pPr>
            <a:lvl9pPr fontAlgn="base">
              <a:spcBef>
                <a:spcPct val="0"/>
              </a:spcBef>
              <a:spcAft>
                <a:spcPct val="0"/>
              </a:spcAft>
              <a:defRPr sz="1200">
                <a:solidFill>
                  <a:schemeClr val="tx1"/>
                </a:solidFill>
                <a:latin typeface="Gill Sans" charset="0"/>
              </a:defRPr>
            </a:lvl9pPr>
          </a:lstStyle>
          <a:p>
            <a:pPr algn="ctr"/>
            <a:r>
              <a:rPr lang="en-US" altLang="en-US" sz="1800" b="1" dirty="0">
                <a:solidFill>
                  <a:srgbClr val="000080"/>
                </a:solidFill>
                <a:latin typeface="Helvetica Neue" charset="0"/>
                <a:cs typeface="Helvetica Neue" charset="0"/>
                <a:sym typeface="Helvetica Neue" charset="0"/>
              </a:rPr>
              <a:t>*</a:t>
            </a:r>
          </a:p>
        </p:txBody>
      </p:sp>
      <p:sp>
        <p:nvSpPr>
          <p:cNvPr id="26" name="Rectangle 15">
            <a:extLst>
              <a:ext uri="{FF2B5EF4-FFF2-40B4-BE49-F238E27FC236}">
                <a16:creationId xmlns:a16="http://schemas.microsoft.com/office/drawing/2014/main" id="{C480B2E9-AC08-42C3-BE89-4520AC9CD225}"/>
              </a:ext>
            </a:extLst>
          </p:cNvPr>
          <p:cNvSpPr>
            <a:spLocks/>
          </p:cNvSpPr>
          <p:nvPr/>
        </p:nvSpPr>
        <p:spPr bwMode="auto">
          <a:xfrm>
            <a:off x="7656275" y="1250662"/>
            <a:ext cx="3517900" cy="1765300"/>
          </a:xfrm>
          <a:prstGeom prst="rect">
            <a:avLst/>
          </a:prstGeom>
          <a:solidFill>
            <a:srgbClr val="E6E6E6"/>
          </a:solidFill>
          <a:ln>
            <a:noFill/>
          </a:ln>
          <a:effectLst>
            <a:outerShdw blurRad="127000" dist="76199" dir="2700000" algn="ctr" rotWithShape="0">
              <a:schemeClr val="bg2">
                <a:alpha val="75000"/>
              </a:schemeClr>
            </a:outerShdw>
          </a:effectLst>
          <a:extLst>
            <a:ext uri="{91240B29-F687-4F45-9708-019B960494DF}">
              <a14:hiddenLine xmlns:a14="http://schemas.microsoft.com/office/drawing/2010/main" w="25400" cap="flat">
                <a:solidFill>
                  <a:schemeClr val="tx1"/>
                </a:solidFill>
                <a:miter lim="800000"/>
                <a:headEnd type="none" w="med" len="med"/>
                <a:tailEnd type="none" w="med" len="med"/>
              </a14:hiddenLine>
            </a:ext>
          </a:extLst>
        </p:spPr>
        <p:txBody>
          <a:bodyPr lIns="127000" tIns="127000" rIns="127000" bIns="127000" anchor="ctr"/>
          <a:lstStyle>
            <a:lvl1pPr algn="l">
              <a:defRPr sz="1200">
                <a:solidFill>
                  <a:schemeClr val="tx1"/>
                </a:solidFill>
                <a:latin typeface="Gill Sans" charset="0"/>
              </a:defRPr>
            </a:lvl1pPr>
            <a:lvl2pPr algn="l">
              <a:defRPr sz="1200">
                <a:solidFill>
                  <a:schemeClr val="tx1"/>
                </a:solidFill>
                <a:latin typeface="Gill Sans" charset="0"/>
              </a:defRPr>
            </a:lvl2pPr>
            <a:lvl3pPr algn="l">
              <a:defRPr sz="1200">
                <a:solidFill>
                  <a:schemeClr val="tx1"/>
                </a:solidFill>
                <a:latin typeface="Gill Sans" charset="0"/>
              </a:defRPr>
            </a:lvl3pPr>
            <a:lvl4pPr algn="l">
              <a:defRPr sz="1200">
                <a:solidFill>
                  <a:schemeClr val="tx1"/>
                </a:solidFill>
                <a:latin typeface="Gill Sans" charset="0"/>
              </a:defRPr>
            </a:lvl4pPr>
            <a:lvl5pPr algn="l">
              <a:defRPr sz="1200">
                <a:solidFill>
                  <a:schemeClr val="tx1"/>
                </a:solidFill>
                <a:latin typeface="Gill Sans" charset="0"/>
              </a:defRPr>
            </a:lvl5pPr>
            <a:lvl6pPr fontAlgn="base">
              <a:spcBef>
                <a:spcPct val="0"/>
              </a:spcBef>
              <a:spcAft>
                <a:spcPct val="0"/>
              </a:spcAft>
              <a:defRPr sz="1200">
                <a:solidFill>
                  <a:schemeClr val="tx1"/>
                </a:solidFill>
                <a:latin typeface="Gill Sans" charset="0"/>
              </a:defRPr>
            </a:lvl6pPr>
            <a:lvl7pPr fontAlgn="base">
              <a:spcBef>
                <a:spcPct val="0"/>
              </a:spcBef>
              <a:spcAft>
                <a:spcPct val="0"/>
              </a:spcAft>
              <a:defRPr sz="1200">
                <a:solidFill>
                  <a:schemeClr val="tx1"/>
                </a:solidFill>
                <a:latin typeface="Gill Sans" charset="0"/>
              </a:defRPr>
            </a:lvl7pPr>
            <a:lvl8pPr fontAlgn="base">
              <a:spcBef>
                <a:spcPct val="0"/>
              </a:spcBef>
              <a:spcAft>
                <a:spcPct val="0"/>
              </a:spcAft>
              <a:defRPr sz="1200">
                <a:solidFill>
                  <a:schemeClr val="tx1"/>
                </a:solidFill>
                <a:latin typeface="Gill Sans" charset="0"/>
              </a:defRPr>
            </a:lvl8pPr>
            <a:lvl9pPr fontAlgn="base">
              <a:spcBef>
                <a:spcPct val="0"/>
              </a:spcBef>
              <a:spcAft>
                <a:spcPct val="0"/>
              </a:spcAft>
              <a:defRPr sz="1200">
                <a:solidFill>
                  <a:schemeClr val="tx1"/>
                </a:solidFill>
                <a:latin typeface="Gill Sans" charset="0"/>
              </a:defRPr>
            </a:lvl9pPr>
          </a:lstStyle>
          <a:p>
            <a:r>
              <a:rPr lang="en-US" altLang="en-US" sz="1600" dirty="0">
                <a:latin typeface="Courier" charset="0"/>
                <a:ea typeface="Courier" charset="0"/>
                <a:cs typeface="Courier" charset="0"/>
                <a:sym typeface="Courier" charset="0"/>
              </a:rPr>
              <a:t>mid = (lower + upper) / 2return mid if k == a[mid]upper = mid if k &lt; a[mid]lower = mid if k &gt; a[mid]</a:t>
            </a:r>
          </a:p>
        </p:txBody>
      </p:sp>
    </p:spTree>
    <p:extLst>
      <p:ext uri="{BB962C8B-B14F-4D97-AF65-F5344CB8AC3E}">
        <p14:creationId xmlns:p14="http://schemas.microsoft.com/office/powerpoint/2010/main" val="4113125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par>
                          <p:cTn id="8" fill="hold">
                            <p:stCondLst>
                              <p:cond delay="500"/>
                            </p:stCondLst>
                            <p:childTnLst>
                              <p:par>
                                <p:cTn id="9" presetID="1" presetClass="entr" presetSubtype="-1927553664" fill="hold" nodeType="afterEffect">
                                  <p:stCondLst>
                                    <p:cond delay="0"/>
                                  </p:stCondLst>
                                  <p:childTnLst>
                                    <p:set>
                                      <p:cBhvr>
                                        <p:cTn id="10" dur="1" fill="hold">
                                          <p:stCondLst>
                                            <p:cond delay="499"/>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2035904416" fill="hold" grpId="0" nodeType="clickEffect">
                                  <p:stCondLst>
                                    <p:cond delay="0"/>
                                  </p:stCondLst>
                                  <p:childTnLst>
                                    <p:set>
                                      <p:cBhvr>
                                        <p:cTn id="14" dur="1" fill="hold">
                                          <p:stCondLst>
                                            <p:cond delay="499"/>
                                          </p:stCondLst>
                                        </p:cTn>
                                        <p:tgtEl>
                                          <p:spTgt spid="23"/>
                                        </p:tgtEl>
                                        <p:attrNameLst>
                                          <p:attrName>style.visibility</p:attrName>
                                        </p:attrNameLst>
                                      </p:cBhvr>
                                      <p:to>
                                        <p:strVal val="visible"/>
                                      </p:to>
                                    </p:set>
                                  </p:childTnLst>
                                </p:cTn>
                              </p:par>
                            </p:childTnLst>
                          </p:cTn>
                        </p:par>
                        <p:par>
                          <p:cTn id="15" fill="hold">
                            <p:stCondLst>
                              <p:cond delay="500"/>
                            </p:stCondLst>
                            <p:childTnLst>
                              <p:par>
                                <p:cTn id="16" presetID="1" presetClass="entr" presetSubtype="0" fill="hold" grpId="0" nodeType="afterEffect">
                                  <p:stCondLst>
                                    <p:cond delay="0"/>
                                  </p:stCondLst>
                                  <p:childTnLst>
                                    <p:set>
                                      <p:cBhvr>
                                        <p:cTn id="17" dur="1" fill="hold">
                                          <p:stCondLst>
                                            <p:cond delay="499"/>
                                          </p:stCondLst>
                                        </p:cTn>
                                        <p:tgtEl>
                                          <p:spTgt spid="24"/>
                                        </p:tgtEl>
                                        <p:attrNameLst>
                                          <p:attrName>style.visibility</p:attrName>
                                        </p:attrNameLst>
                                      </p:cBhvr>
                                      <p:to>
                                        <p:strVal val="visible"/>
                                      </p:to>
                                    </p:set>
                                  </p:childTnLst>
                                </p:cTn>
                              </p:par>
                            </p:childTnLst>
                          </p:cTn>
                        </p:par>
                        <p:par>
                          <p:cTn id="18" fill="hold">
                            <p:stCondLst>
                              <p:cond delay="1000"/>
                            </p:stCondLst>
                            <p:childTnLst>
                              <p:par>
                                <p:cTn id="19" presetID="3" presetClass="entr" presetSubtype="10"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blinds(horizontal)">
                                      <p:cBhvr>
                                        <p:cTn id="21" dur="500"/>
                                        <p:tgtEl>
                                          <p:spTgt spid="25"/>
                                        </p:tgtEl>
                                      </p:cBhvr>
                                    </p:animEffect>
                                  </p:childTnLst>
                                </p:cTn>
                              </p:par>
                            </p:childTnLst>
                          </p:cTn>
                        </p:par>
                        <p:par>
                          <p:cTn id="22" fill="hold">
                            <p:stCondLst>
                              <p:cond delay="1500"/>
                            </p:stCondLst>
                            <p:childTnLst>
                              <p:par>
                                <p:cTn id="23" presetID="-2035807888" presetClass="entr" presetSubtype="-2035805584" fill="hold" grpId="0" nodeType="afterEffect">
                                  <p:stCondLst>
                                    <p:cond delay="0"/>
                                  </p:stCondLst>
                                  <p:childTnLst>
                                    <p:set>
                                      <p:cBhvr>
                                        <p:cTn id="24" dur="1" fill="hold">
                                          <p:stCondLst>
                                            <p:cond delay="499"/>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utoUpdateAnimBg="0"/>
      <p:bldP spid="24" grpId="0" autoUpdateAnimBg="0"/>
      <p:bldP spid="25" grpId="0" autoUpdateAnimBg="0"/>
      <p:bldP spid="26" grpId="0"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815B9-8EA1-492A-BEEF-216831F2D237}"/>
              </a:ext>
            </a:extLst>
          </p:cNvPr>
          <p:cNvSpPr>
            <a:spLocks noGrp="1"/>
          </p:cNvSpPr>
          <p:nvPr>
            <p:ph type="title"/>
          </p:nvPr>
        </p:nvSpPr>
        <p:spPr>
          <a:xfrm>
            <a:off x="838200" y="136526"/>
            <a:ext cx="8749145" cy="907184"/>
          </a:xfrm>
          <a:ln>
            <a:solidFill>
              <a:schemeClr val="tx1"/>
            </a:solidFill>
          </a:ln>
        </p:spPr>
        <p:txBody>
          <a:bodyPr/>
          <a:lstStyle/>
          <a:p>
            <a:pPr algn="ctr"/>
            <a:r>
              <a:rPr lang="en-IN" b="1" dirty="0">
                <a:latin typeface="Times New Roman" panose="02020603050405020304" pitchFamily="18" charset="0"/>
                <a:cs typeface="Times New Roman" panose="02020603050405020304" pitchFamily="18" charset="0"/>
              </a:rPr>
              <a:t>Binary Search (contd.)</a:t>
            </a:r>
          </a:p>
        </p:txBody>
      </p:sp>
      <p:sp>
        <p:nvSpPr>
          <p:cNvPr id="3" name="Content Placeholder 2">
            <a:extLst>
              <a:ext uri="{FF2B5EF4-FFF2-40B4-BE49-F238E27FC236}">
                <a16:creationId xmlns:a16="http://schemas.microsoft.com/office/drawing/2014/main" id="{ED7E5283-1B8F-43E2-A475-9FD122D1E155}"/>
              </a:ext>
            </a:extLst>
          </p:cNvPr>
          <p:cNvSpPr>
            <a:spLocks noGrp="1"/>
          </p:cNvSpPr>
          <p:nvPr>
            <p:ph idx="1"/>
          </p:nvPr>
        </p:nvSpPr>
        <p:spPr>
          <a:xfrm>
            <a:off x="838200" y="1173018"/>
            <a:ext cx="10515600" cy="4950691"/>
          </a:xfrm>
          <a:ln>
            <a:solidFill>
              <a:schemeClr val="tx1"/>
            </a:solidFill>
          </a:ln>
        </p:spPr>
        <p:txBody>
          <a:bodyPr/>
          <a:lstStyle/>
          <a:p>
            <a:r>
              <a:rPr lang="en-US" altLang="en-US" sz="2400" dirty="0">
                <a:latin typeface="Times New Roman" panose="02020603050405020304" pitchFamily="18" charset="0"/>
                <a:cs typeface="Times New Roman" panose="02020603050405020304" pitchFamily="18" charset="0"/>
              </a:rPr>
              <a:t>The number of iterations made by this algorithm when it searches an array of </a:t>
            </a:r>
            <a:r>
              <a:rPr lang="en-US" altLang="en-US" sz="2400" i="1" dirty="0">
                <a:latin typeface="Times New Roman" panose="02020603050405020304" pitchFamily="18" charset="0"/>
                <a:cs typeface="Times New Roman" panose="02020603050405020304" pitchFamily="18" charset="0"/>
                <a:sym typeface="Palatino" charset="0"/>
              </a:rPr>
              <a:t>n</a:t>
            </a:r>
            <a:r>
              <a:rPr lang="en-US" altLang="en-US" sz="2400" dirty="0">
                <a:latin typeface="Times New Roman" panose="02020603050405020304" pitchFamily="18" charset="0"/>
                <a:cs typeface="Times New Roman" panose="02020603050405020304" pitchFamily="18" charset="0"/>
              </a:rPr>
              <a:t> items is roughly  </a:t>
            </a:r>
          </a:p>
          <a:p>
            <a:pPr>
              <a:spcBef>
                <a:spcPts val="2300"/>
              </a:spcBef>
            </a:pPr>
            <a:r>
              <a:rPr lang="en-US" altLang="en-US" sz="2400" dirty="0">
                <a:latin typeface="Times New Roman" panose="02020603050405020304" pitchFamily="18" charset="0"/>
                <a:cs typeface="Times New Roman" panose="02020603050405020304" pitchFamily="18" charset="0"/>
              </a:rPr>
              <a:t>To see why, consider the question from the other direction</a:t>
            </a:r>
          </a:p>
          <a:p>
            <a:pPr marL="635000" lvl="1"/>
            <a:r>
              <a:rPr lang="en-US" altLang="en-US" dirty="0">
                <a:latin typeface="Times New Roman" panose="02020603050405020304" pitchFamily="18" charset="0"/>
                <a:cs typeface="Times New Roman" panose="02020603050405020304" pitchFamily="18" charset="0"/>
              </a:rPr>
              <a:t>suppose we have an array that starts out with 1 item</a:t>
            </a:r>
          </a:p>
          <a:p>
            <a:pPr marL="635000" lvl="1"/>
            <a:r>
              <a:rPr lang="en-US" altLang="en-US" dirty="0">
                <a:latin typeface="Times New Roman" panose="02020603050405020304" pitchFamily="18" charset="0"/>
                <a:cs typeface="Times New Roman" panose="02020603050405020304" pitchFamily="18" charset="0"/>
              </a:rPr>
              <a:t>suppose each step of an iteration doubles the size of the array</a:t>
            </a:r>
          </a:p>
          <a:p>
            <a:pPr marL="635000" lvl="1"/>
            <a:r>
              <a:rPr lang="en-US" altLang="en-US" dirty="0">
                <a:latin typeface="Times New Roman" panose="02020603050405020304" pitchFamily="18" charset="0"/>
                <a:cs typeface="Times New Roman" panose="02020603050405020304" pitchFamily="18" charset="0"/>
              </a:rPr>
              <a:t>after </a:t>
            </a:r>
            <a:r>
              <a:rPr lang="en-US" altLang="en-US" i="1" dirty="0">
                <a:latin typeface="Times New Roman" panose="02020603050405020304" pitchFamily="18" charset="0"/>
                <a:cs typeface="Times New Roman" panose="02020603050405020304" pitchFamily="18" charset="0"/>
                <a:sym typeface="Palatino" charset="0"/>
              </a:rPr>
              <a:t>n</a:t>
            </a:r>
            <a:r>
              <a:rPr lang="en-US" altLang="en-US" dirty="0">
                <a:latin typeface="Times New Roman" panose="02020603050405020304" pitchFamily="18" charset="0"/>
                <a:cs typeface="Times New Roman" panose="02020603050405020304" pitchFamily="18" charset="0"/>
              </a:rPr>
              <a:t> steps we will have 2</a:t>
            </a:r>
            <a:r>
              <a:rPr lang="en-US" altLang="en-US" i="1" baseline="32000" dirty="0">
                <a:latin typeface="Times New Roman" panose="02020603050405020304" pitchFamily="18" charset="0"/>
                <a:cs typeface="Times New Roman" panose="02020603050405020304" pitchFamily="18" charset="0"/>
                <a:sym typeface="Palatino" charset="0"/>
              </a:rPr>
              <a:t>n</a:t>
            </a:r>
            <a:r>
              <a:rPr lang="en-US" altLang="en-US" dirty="0">
                <a:latin typeface="Times New Roman" panose="02020603050405020304" pitchFamily="18" charset="0"/>
                <a:cs typeface="Times New Roman" panose="02020603050405020304" pitchFamily="18" charset="0"/>
              </a:rPr>
              <a:t> items in the array </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9196CF2-A32D-4230-B676-6A86FBF89EDB}"/>
              </a:ext>
            </a:extLst>
          </p:cNvPr>
          <p:cNvSpPr>
            <a:spLocks noGrp="1"/>
          </p:cNvSpPr>
          <p:nvPr>
            <p:ph type="sldNum" sz="quarter" idx="12"/>
          </p:nvPr>
        </p:nvSpPr>
        <p:spPr/>
        <p:txBody>
          <a:bodyPr/>
          <a:lstStyle/>
          <a:p>
            <a:fld id="{BDCDBBEF-AA6C-4BA6-85B2-A17D7F280E38}" type="slidenum">
              <a:rPr lang="en-US" smtClean="0"/>
              <a:pPr/>
              <a:t>12</a:t>
            </a:fld>
            <a:endParaRPr lang="en-US"/>
          </a:p>
        </p:txBody>
      </p:sp>
      <p:pic>
        <p:nvPicPr>
          <p:cNvPr id="5" name="Picture 3">
            <a:extLst>
              <a:ext uri="{FF2B5EF4-FFF2-40B4-BE49-F238E27FC236}">
                <a16:creationId xmlns:a16="http://schemas.microsoft.com/office/drawing/2014/main" id="{E35A0A8B-FA05-4379-99E8-FC09F4D588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35850" y="3282373"/>
            <a:ext cx="3797300"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a:tailEnd/>
              </a14:hiddenLine>
            </a:ext>
          </a:extLst>
        </p:spPr>
      </p:pic>
      <p:sp>
        <p:nvSpPr>
          <p:cNvPr id="7" name="TextBox 6">
            <a:extLst>
              <a:ext uri="{FF2B5EF4-FFF2-40B4-BE49-F238E27FC236}">
                <a16:creationId xmlns:a16="http://schemas.microsoft.com/office/drawing/2014/main" id="{6A24D75D-2585-4A9C-AC9B-ED717C09F396}"/>
              </a:ext>
            </a:extLst>
          </p:cNvPr>
          <p:cNvSpPr txBox="1"/>
          <p:nvPr/>
        </p:nvSpPr>
        <p:spPr>
          <a:xfrm>
            <a:off x="1219200" y="4114861"/>
            <a:ext cx="6096000" cy="830997"/>
          </a:xfrm>
          <a:prstGeom prst="rect">
            <a:avLst/>
          </a:prstGeom>
          <a:noFill/>
        </p:spPr>
        <p:txBody>
          <a:bodyPr wrap="square">
            <a:spAutoFit/>
          </a:bodyPr>
          <a:lstStyle/>
          <a:p>
            <a:pPr algn="l"/>
            <a:r>
              <a:rPr lang="en-US" sz="2400" b="0" i="0" dirty="0">
                <a:solidFill>
                  <a:srgbClr val="333333"/>
                </a:solidFill>
                <a:effectLst/>
                <a:latin typeface="Casper" panose="02000506000000020004"/>
              </a:rPr>
              <a:t>The complexity of Binary search algorithm is O (log n)</a:t>
            </a:r>
          </a:p>
        </p:txBody>
      </p:sp>
    </p:spTree>
    <p:extLst>
      <p:ext uri="{BB962C8B-B14F-4D97-AF65-F5344CB8AC3E}">
        <p14:creationId xmlns:p14="http://schemas.microsoft.com/office/powerpoint/2010/main" val="3603339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0997C-CCA3-4B18-AA08-734446DF014F}"/>
              </a:ext>
            </a:extLst>
          </p:cNvPr>
          <p:cNvSpPr>
            <a:spLocks noGrp="1"/>
          </p:cNvSpPr>
          <p:nvPr>
            <p:ph type="title"/>
          </p:nvPr>
        </p:nvSpPr>
        <p:spPr>
          <a:xfrm>
            <a:off x="838200" y="136526"/>
            <a:ext cx="8749145" cy="897948"/>
          </a:xfrm>
          <a:ln>
            <a:solidFill>
              <a:schemeClr val="tx1"/>
            </a:solidFill>
          </a:ln>
        </p:spPr>
        <p:txBody>
          <a:bodyPr/>
          <a:lstStyle/>
          <a:p>
            <a:pPr algn="ctr"/>
            <a:r>
              <a:rPr lang="en-US" altLang="en-US" b="1" dirty="0">
                <a:latin typeface="Times New Roman" panose="02020603050405020304" pitchFamily="18" charset="0"/>
                <a:cs typeface="Times New Roman" panose="02020603050405020304" pitchFamily="18" charset="0"/>
              </a:rPr>
              <a:t>Divide-and-Conquer - Advantages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04465C7-F825-47AD-81B9-7258A6A9F476}"/>
              </a:ext>
            </a:extLst>
          </p:cNvPr>
          <p:cNvSpPr>
            <a:spLocks noGrp="1"/>
          </p:cNvSpPr>
          <p:nvPr>
            <p:ph idx="1"/>
          </p:nvPr>
        </p:nvSpPr>
        <p:spPr>
          <a:xfrm>
            <a:off x="838200" y="1163782"/>
            <a:ext cx="10515600" cy="5013181"/>
          </a:xfrm>
          <a:ln>
            <a:solidFill>
              <a:schemeClr val="tx1"/>
            </a:solidFill>
          </a:ln>
        </p:spPr>
        <p:txBody>
          <a:bodyPr>
            <a:noAutofit/>
          </a:bodyPr>
          <a:lstStyle/>
          <a:p>
            <a:pPr algn="just"/>
            <a:r>
              <a:rPr lang="en-US" sz="2400" dirty="0">
                <a:latin typeface="Times New Roman" panose="02020603050405020304" pitchFamily="18" charset="0"/>
                <a:cs typeface="Times New Roman" panose="02020603050405020304" pitchFamily="18" charset="0"/>
              </a:rPr>
              <a:t>Complexity can be reduced using the concepts of divide and conquer.</a:t>
            </a:r>
          </a:p>
          <a:p>
            <a:pPr algn="just"/>
            <a:r>
              <a:rPr lang="en-US" sz="2400" dirty="0">
                <a:latin typeface="Times New Roman" panose="02020603050405020304" pitchFamily="18" charset="0"/>
                <a:cs typeface="Times New Roman" panose="02020603050405020304" pitchFamily="18" charset="0"/>
              </a:rPr>
              <a:t>Increase in productivity by allowing multiple programmers to work on different parts of the project independently at the same time.</a:t>
            </a:r>
          </a:p>
          <a:p>
            <a:pPr algn="just"/>
            <a:r>
              <a:rPr lang="en-US" sz="2400" dirty="0">
                <a:latin typeface="Times New Roman" panose="02020603050405020304" pitchFamily="18" charset="0"/>
                <a:cs typeface="Times New Roman" panose="02020603050405020304" pitchFamily="18" charset="0"/>
              </a:rPr>
              <a:t>Modules can be re-used many times; thus, it saves time, reduces complexity and increase reliability.</a:t>
            </a:r>
          </a:p>
          <a:p>
            <a:pPr algn="just"/>
            <a:r>
              <a:rPr lang="en-US" sz="2400" dirty="0">
                <a:latin typeface="Times New Roman" panose="02020603050405020304" pitchFamily="18" charset="0"/>
                <a:cs typeface="Times New Roman" panose="02020603050405020304" pitchFamily="18" charset="0"/>
              </a:rPr>
              <a:t>Easier to update/fix the program by replacing individual modules rather than larger amount of code.</a:t>
            </a:r>
          </a:p>
          <a:p>
            <a:pPr algn="just"/>
            <a:r>
              <a:rPr lang="en-US" sz="2400" dirty="0">
                <a:latin typeface="Times New Roman" panose="02020603050405020304" pitchFamily="18" charset="0"/>
                <a:cs typeface="Times New Roman" panose="02020603050405020304" pitchFamily="18" charset="0"/>
              </a:rPr>
              <a:t>Ability to either eliminate or at least reduce the necessity of employing GOTO statement</a:t>
            </a:r>
          </a:p>
          <a:p>
            <a:pPr algn="just"/>
            <a:r>
              <a:rPr lang="en-US" sz="2400" b="0" i="0" dirty="0">
                <a:effectLst/>
                <a:latin typeface="Times New Roman" panose="02020603050405020304" pitchFamily="18" charset="0"/>
                <a:cs typeface="Times New Roman" panose="02020603050405020304" pitchFamily="18" charset="0"/>
              </a:rPr>
              <a:t>Since the sub-problems are independent, they can be computed in parallel.</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AC8AC89-446D-4C53-AEA9-E7CA810295BC}"/>
              </a:ext>
            </a:extLst>
          </p:cNvPr>
          <p:cNvSpPr>
            <a:spLocks noGrp="1"/>
          </p:cNvSpPr>
          <p:nvPr>
            <p:ph type="sldNum" sz="quarter" idx="12"/>
          </p:nvPr>
        </p:nvSpPr>
        <p:spPr/>
        <p:txBody>
          <a:bodyPr/>
          <a:lstStyle/>
          <a:p>
            <a:fld id="{BDCDBBEF-AA6C-4BA6-85B2-A17D7F280E38}" type="slidenum">
              <a:rPr lang="en-US" smtClean="0"/>
              <a:pPr/>
              <a:t>13</a:t>
            </a:fld>
            <a:endParaRPr lang="en-US"/>
          </a:p>
        </p:txBody>
      </p:sp>
    </p:spTree>
    <p:extLst>
      <p:ext uri="{BB962C8B-B14F-4D97-AF65-F5344CB8AC3E}">
        <p14:creationId xmlns:p14="http://schemas.microsoft.com/office/powerpoint/2010/main" val="697134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0997C-CCA3-4B18-AA08-734446DF014F}"/>
              </a:ext>
            </a:extLst>
          </p:cNvPr>
          <p:cNvSpPr>
            <a:spLocks noGrp="1"/>
          </p:cNvSpPr>
          <p:nvPr>
            <p:ph type="title"/>
          </p:nvPr>
        </p:nvSpPr>
        <p:spPr>
          <a:xfrm>
            <a:off x="838200" y="136526"/>
            <a:ext cx="8749145" cy="897948"/>
          </a:xfrm>
          <a:ln>
            <a:solidFill>
              <a:schemeClr val="tx1"/>
            </a:solidFill>
          </a:ln>
        </p:spPr>
        <p:txBody>
          <a:bodyPr>
            <a:normAutofit fontScale="90000"/>
          </a:bodyPr>
          <a:lstStyle/>
          <a:p>
            <a:pPr algn="ctr"/>
            <a:r>
              <a:rPr lang="en-US" altLang="en-US" b="1" dirty="0">
                <a:latin typeface="Times New Roman" panose="02020603050405020304" pitchFamily="18" charset="0"/>
                <a:cs typeface="Times New Roman" panose="02020603050405020304" pitchFamily="18" charset="0"/>
              </a:rPr>
              <a:t>Divide and Conquer - Disadvantages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04465C7-F825-47AD-81B9-7258A6A9F476}"/>
              </a:ext>
            </a:extLst>
          </p:cNvPr>
          <p:cNvSpPr>
            <a:spLocks noGrp="1"/>
          </p:cNvSpPr>
          <p:nvPr>
            <p:ph idx="1"/>
          </p:nvPr>
        </p:nvSpPr>
        <p:spPr>
          <a:xfrm>
            <a:off x="838200" y="1163782"/>
            <a:ext cx="10515600" cy="5013181"/>
          </a:xfrm>
          <a:ln>
            <a:solidFill>
              <a:schemeClr val="tx1"/>
            </a:solidFill>
          </a:ln>
        </p:spPr>
        <p:txBody>
          <a:bodyPr/>
          <a:lstStyle/>
          <a:p>
            <a:pPr algn="just"/>
            <a:r>
              <a:rPr lang="en-US" sz="2400" dirty="0">
                <a:latin typeface="Times New Roman" panose="02020603050405020304" pitchFamily="18" charset="0"/>
                <a:cs typeface="Times New Roman" panose="02020603050405020304" pitchFamily="18" charset="0"/>
              </a:rPr>
              <a:t>Problem decomposition may be very complex and therefore not actually suitable to divide and conquer.</a:t>
            </a:r>
          </a:p>
          <a:p>
            <a:pPr algn="just"/>
            <a:r>
              <a:rPr lang="en-US" sz="2400" dirty="0">
                <a:latin typeface="Times New Roman" panose="02020603050405020304" pitchFamily="18" charset="0"/>
                <a:cs typeface="Times New Roman" panose="02020603050405020304" pitchFamily="18" charset="0"/>
              </a:rPr>
              <a:t>Recursive nature of the solution may end up duplicating sub-problems, dynamic solutions may be better in some of these cases, like Fibonacci.</a:t>
            </a:r>
          </a:p>
          <a:p>
            <a:pPr algn="just"/>
            <a:r>
              <a:rPr lang="en-US" sz="2400" dirty="0">
                <a:latin typeface="Times New Roman" panose="02020603050405020304" pitchFamily="18" charset="0"/>
                <a:cs typeface="Times New Roman" panose="02020603050405020304" pitchFamily="18" charset="0"/>
              </a:rPr>
              <a:t>Recursion into small/tiny base cases may lead to huge recursive stacks, and efficiency can be lost by not applying solutions earlier for larger base cases.</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AC8AC89-446D-4C53-AEA9-E7CA810295BC}"/>
              </a:ext>
            </a:extLst>
          </p:cNvPr>
          <p:cNvSpPr>
            <a:spLocks noGrp="1"/>
          </p:cNvSpPr>
          <p:nvPr>
            <p:ph type="sldNum" sz="quarter" idx="12"/>
          </p:nvPr>
        </p:nvSpPr>
        <p:spPr/>
        <p:txBody>
          <a:bodyPr/>
          <a:lstStyle/>
          <a:p>
            <a:fld id="{BDCDBBEF-AA6C-4BA6-85B2-A17D7F280E38}" type="slidenum">
              <a:rPr lang="en-US" smtClean="0"/>
              <a:pPr/>
              <a:t>14</a:t>
            </a:fld>
            <a:endParaRPr lang="en-US"/>
          </a:p>
        </p:txBody>
      </p:sp>
    </p:spTree>
    <p:extLst>
      <p:ext uri="{BB962C8B-B14F-4D97-AF65-F5344CB8AC3E}">
        <p14:creationId xmlns:p14="http://schemas.microsoft.com/office/powerpoint/2010/main" val="11985544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0997C-CCA3-4B18-AA08-734446DF014F}"/>
              </a:ext>
            </a:extLst>
          </p:cNvPr>
          <p:cNvSpPr>
            <a:spLocks noGrp="1"/>
          </p:cNvSpPr>
          <p:nvPr>
            <p:ph type="title"/>
          </p:nvPr>
        </p:nvSpPr>
        <p:spPr>
          <a:xfrm>
            <a:off x="838200" y="136526"/>
            <a:ext cx="8749145" cy="897948"/>
          </a:xfrm>
          <a:ln>
            <a:solidFill>
              <a:schemeClr val="tx1"/>
            </a:solidFill>
          </a:ln>
        </p:spPr>
        <p:txBody>
          <a:bodyPr>
            <a:normAutofit/>
          </a:bodyPr>
          <a:lstStyle/>
          <a:p>
            <a:pPr algn="ctr"/>
            <a:r>
              <a:rPr lang="en-US" altLang="en-US" b="1" dirty="0">
                <a:latin typeface="Times New Roman" panose="02020603050405020304" pitchFamily="18" charset="0"/>
                <a:cs typeface="Times New Roman" panose="02020603050405020304" pitchFamily="18" charset="0"/>
              </a:rPr>
              <a:t>Complexity</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04465C7-F825-47AD-81B9-7258A6A9F476}"/>
              </a:ext>
            </a:extLst>
          </p:cNvPr>
          <p:cNvSpPr>
            <a:spLocks noGrp="1"/>
          </p:cNvSpPr>
          <p:nvPr>
            <p:ph idx="1"/>
          </p:nvPr>
        </p:nvSpPr>
        <p:spPr>
          <a:xfrm>
            <a:off x="838200" y="1182636"/>
            <a:ext cx="10515600" cy="5013181"/>
          </a:xfrm>
          <a:ln>
            <a:solidFill>
              <a:schemeClr val="tx1"/>
            </a:solidFill>
          </a:ln>
        </p:spPr>
        <p:txBody>
          <a:bodyPr>
            <a:normAutofit/>
          </a:bodyPr>
          <a:lstStyle/>
          <a:p>
            <a:pPr algn="just"/>
            <a:r>
              <a:rPr lang="en-US" sz="2400" b="0" i="0" dirty="0">
                <a:effectLst/>
                <a:latin typeface="Times New Roman" panose="02020603050405020304" pitchFamily="18" charset="0"/>
                <a:cs typeface="Times New Roman" panose="02020603050405020304" pitchFamily="18" charset="0"/>
              </a:rPr>
              <a:t>The complexity of the divide and conquer algorithm is calculated using </a:t>
            </a:r>
            <a:r>
              <a:rPr lang="en-US" sz="2400" b="0" i="0" u="none" strike="noStrike" dirty="0">
                <a:effectLst/>
                <a:latin typeface="Times New Roman" panose="02020603050405020304" pitchFamily="18" charset="0"/>
                <a:cs typeface="Times New Roman" panose="02020603050405020304" pitchFamily="18" charset="0"/>
              </a:rPr>
              <a:t>the master </a:t>
            </a:r>
            <a:r>
              <a:rPr lang="en-US" sz="2400" b="0" i="0" u="none" strike="noStrike" dirty="0" err="1">
                <a:effectLst/>
                <a:latin typeface="Times New Roman" panose="02020603050405020304" pitchFamily="18" charset="0"/>
                <a:cs typeface="Times New Roman" panose="02020603050405020304" pitchFamily="18" charset="0"/>
              </a:rPr>
              <a:t>theorm</a:t>
            </a:r>
            <a:r>
              <a:rPr lang="en-US" sz="2400" b="0" i="0" dirty="0">
                <a:effectLst/>
                <a:latin typeface="Times New Roman" panose="02020603050405020304" pitchFamily="18" charset="0"/>
                <a:cs typeface="Times New Roman" panose="02020603050405020304" pitchFamily="18" charset="0"/>
              </a:rPr>
              <a:t>.</a:t>
            </a:r>
          </a:p>
          <a:p>
            <a:pPr algn="just"/>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AC8AC89-446D-4C53-AEA9-E7CA810295BC}"/>
              </a:ext>
            </a:extLst>
          </p:cNvPr>
          <p:cNvSpPr>
            <a:spLocks noGrp="1"/>
          </p:cNvSpPr>
          <p:nvPr>
            <p:ph type="sldNum" sz="quarter" idx="12"/>
          </p:nvPr>
        </p:nvSpPr>
        <p:spPr/>
        <p:txBody>
          <a:bodyPr/>
          <a:lstStyle/>
          <a:p>
            <a:fld id="{BDCDBBEF-AA6C-4BA6-85B2-A17D7F280E38}" type="slidenum">
              <a:rPr lang="en-US" smtClean="0"/>
              <a:pPr/>
              <a:t>15</a:t>
            </a:fld>
            <a:endParaRPr lang="en-US"/>
          </a:p>
        </p:txBody>
      </p:sp>
      <p:sp>
        <p:nvSpPr>
          <p:cNvPr id="6" name="Rectangle 1">
            <a:extLst>
              <a:ext uri="{FF2B5EF4-FFF2-40B4-BE49-F238E27FC236}">
                <a16:creationId xmlns:a16="http://schemas.microsoft.com/office/drawing/2014/main" id="{6CA3D8D8-F2C9-4A69-9AEE-2A3AD05C36CC}"/>
              </a:ext>
            </a:extLst>
          </p:cNvPr>
          <p:cNvSpPr>
            <a:spLocks noChangeArrowheads="1"/>
          </p:cNvSpPr>
          <p:nvPr/>
        </p:nvSpPr>
        <p:spPr bwMode="auto">
          <a:xfrm>
            <a:off x="1173589" y="2114653"/>
            <a:ext cx="10048594" cy="3426547"/>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0156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5265E"/>
                </a:solidFill>
                <a:effectLst/>
                <a:latin typeface="Times New Roman" panose="02020603050405020304" pitchFamily="18" charset="0"/>
                <a:cs typeface="Times New Roman" panose="02020603050405020304" pitchFamily="18" charset="0"/>
              </a:rPr>
              <a:t>T(n) = </a:t>
            </a:r>
            <a:r>
              <a:rPr kumimoji="0" lang="en-US" altLang="en-US" sz="2400" b="0" i="0" u="none" strike="noStrike" cap="none" normalizeH="0" baseline="0" dirty="0" err="1">
                <a:ln>
                  <a:noFill/>
                </a:ln>
                <a:solidFill>
                  <a:srgbClr val="25265E"/>
                </a:solidFill>
                <a:effectLst/>
                <a:latin typeface="Times New Roman" panose="02020603050405020304" pitchFamily="18" charset="0"/>
                <a:cs typeface="Times New Roman" panose="02020603050405020304" pitchFamily="18" charset="0"/>
              </a:rPr>
              <a:t>aT</a:t>
            </a:r>
            <a:r>
              <a:rPr kumimoji="0" lang="en-US" altLang="en-US" sz="2400" b="0" i="0" u="none" strike="noStrike" cap="none" normalizeH="0" baseline="0" dirty="0">
                <a:ln>
                  <a:noFill/>
                </a:ln>
                <a:solidFill>
                  <a:srgbClr val="25265E"/>
                </a:solidFill>
                <a:effectLst/>
                <a:latin typeface="Times New Roman" panose="02020603050405020304" pitchFamily="18" charset="0"/>
                <a:cs typeface="Times New Roman" panose="02020603050405020304" pitchFamily="18" charset="0"/>
              </a:rPr>
              <a:t>(n/b) + f(n),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5265E"/>
                </a:solidFill>
                <a:effectLst/>
                <a:latin typeface="Times New Roman" panose="02020603050405020304" pitchFamily="18" charset="0"/>
                <a:cs typeface="Times New Roman" panose="02020603050405020304" pitchFamily="18" charset="0"/>
              </a:rPr>
              <a:t>where,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5265E"/>
                </a:solidFill>
                <a:effectLst/>
                <a:latin typeface="Times New Roman" panose="02020603050405020304" pitchFamily="18" charset="0"/>
                <a:cs typeface="Times New Roman" panose="02020603050405020304" pitchFamily="18" charset="0"/>
              </a:rPr>
              <a:t>n = size of input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5265E"/>
                </a:solidFill>
                <a:effectLst/>
                <a:latin typeface="Times New Roman" panose="02020603050405020304" pitchFamily="18" charset="0"/>
                <a:cs typeface="Times New Roman" panose="02020603050405020304" pitchFamily="18" charset="0"/>
              </a:rPr>
              <a:t>a = number of subproblems in the recursion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5265E"/>
                </a:solidFill>
                <a:effectLst/>
                <a:latin typeface="Times New Roman" panose="02020603050405020304" pitchFamily="18" charset="0"/>
                <a:cs typeface="Times New Roman" panose="02020603050405020304" pitchFamily="18" charset="0"/>
              </a:rPr>
              <a:t>n/b = size of each subproblem. All subproblems are assumed to have the same size.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5265E"/>
                </a:solidFill>
                <a:effectLst/>
                <a:latin typeface="Times New Roman" panose="02020603050405020304" pitchFamily="18" charset="0"/>
                <a:cs typeface="Times New Roman" panose="02020603050405020304" pitchFamily="18" charset="0"/>
              </a:rPr>
              <a:t>f(n) = cost of the work done outside the recursive call, which includes the cost of dividing the problem and cost of merging the solutions.</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67266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1BEB5-F583-4D72-9F0B-7AA16704337A}"/>
              </a:ext>
            </a:extLst>
          </p:cNvPr>
          <p:cNvSpPr>
            <a:spLocks noGrp="1"/>
          </p:cNvSpPr>
          <p:nvPr>
            <p:ph type="title"/>
          </p:nvPr>
        </p:nvSpPr>
        <p:spPr>
          <a:xfrm>
            <a:off x="838200" y="133673"/>
            <a:ext cx="8749145" cy="882281"/>
          </a:xfrm>
        </p:spPr>
        <p:txBody>
          <a:bodyPr/>
          <a:lstStyle/>
          <a:p>
            <a:pPr algn="ctr"/>
            <a:r>
              <a:rPr lang="en-US" b="1" dirty="0">
                <a:latin typeface="Times New Roman" pitchFamily="18" charset="0"/>
                <a:cs typeface="Times New Roman" pitchFamily="18" charset="0"/>
              </a:rPr>
              <a:t>Merge</a:t>
            </a:r>
            <a:r>
              <a:rPr lang="en-IN" b="1" dirty="0">
                <a:latin typeface="Times New Roman" pitchFamily="18" charset="0"/>
                <a:cs typeface="Times New Roman" pitchFamily="18" charset="0"/>
              </a:rPr>
              <a:t> Sort</a:t>
            </a:r>
          </a:p>
        </p:txBody>
      </p:sp>
      <p:sp>
        <p:nvSpPr>
          <p:cNvPr id="4" name="Slide Number Placeholder 3">
            <a:extLst>
              <a:ext uri="{FF2B5EF4-FFF2-40B4-BE49-F238E27FC236}">
                <a16:creationId xmlns:a16="http://schemas.microsoft.com/office/drawing/2014/main" id="{B7EAAF0E-9175-4595-843F-5D00585CAE37}"/>
              </a:ext>
            </a:extLst>
          </p:cNvPr>
          <p:cNvSpPr>
            <a:spLocks noGrp="1"/>
          </p:cNvSpPr>
          <p:nvPr>
            <p:ph type="sldNum" sz="quarter" idx="4294967295"/>
          </p:nvPr>
        </p:nvSpPr>
        <p:spPr>
          <a:xfrm>
            <a:off x="8610600" y="6356350"/>
            <a:ext cx="2743200" cy="365125"/>
          </a:xfrm>
        </p:spPr>
        <p:txBody>
          <a:bodyPr/>
          <a:lstStyle/>
          <a:p>
            <a:fld id="{BDCDBBEF-AA6C-4BA6-85B2-A17D7F280E38}" type="slidenum">
              <a:rPr lang="en-US" smtClean="0"/>
              <a:pPr/>
              <a:t>16</a:t>
            </a:fld>
            <a:endParaRPr lang="en-US"/>
          </a:p>
        </p:txBody>
      </p:sp>
      <p:sp>
        <p:nvSpPr>
          <p:cNvPr id="6" name="TextBox 5">
            <a:extLst>
              <a:ext uri="{FF2B5EF4-FFF2-40B4-BE49-F238E27FC236}">
                <a16:creationId xmlns:a16="http://schemas.microsoft.com/office/drawing/2014/main" id="{C29D01AD-D0B5-4205-9907-5626FDA21D22}"/>
              </a:ext>
            </a:extLst>
          </p:cNvPr>
          <p:cNvSpPr txBox="1"/>
          <p:nvPr/>
        </p:nvSpPr>
        <p:spPr>
          <a:xfrm>
            <a:off x="838199" y="1015954"/>
            <a:ext cx="10515599" cy="1938992"/>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Merge Sort is a </a:t>
            </a:r>
            <a:r>
              <a:rPr lang="en-US" sz="2400"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Divide and Conquer</a:t>
            </a:r>
            <a:r>
              <a:rPr lang="en-US" sz="2400" dirty="0">
                <a:latin typeface="Times New Roman" panose="02020603050405020304" pitchFamily="18" charset="0"/>
                <a:cs typeface="Times New Roman" panose="02020603050405020304" pitchFamily="18" charset="0"/>
              </a:rPr>
              <a:t> algorithm. It divides input array in two halves, calls itself for the two halves and then merges the two sorted halves. </a:t>
            </a:r>
            <a:r>
              <a:rPr lang="en-US" sz="2400" b="1" dirty="0">
                <a:latin typeface="Times New Roman" panose="02020603050405020304" pitchFamily="18" charset="0"/>
                <a:cs typeface="Times New Roman" panose="02020603050405020304" pitchFamily="18" charset="0"/>
              </a:rPr>
              <a:t>The merge() function</a:t>
            </a:r>
            <a:r>
              <a:rPr lang="en-US" sz="2400" dirty="0">
                <a:latin typeface="Times New Roman" panose="02020603050405020304" pitchFamily="18" charset="0"/>
                <a:cs typeface="Times New Roman" panose="02020603050405020304" pitchFamily="18" charset="0"/>
              </a:rPr>
              <a:t> is used for merging two halves. The merge(</a:t>
            </a: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 l, m, r) is key process that assumes that </a:t>
            </a: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l..m</a:t>
            </a:r>
            <a:r>
              <a:rPr lang="en-US" sz="2400" dirty="0">
                <a:latin typeface="Times New Roman" panose="02020603050405020304" pitchFamily="18" charset="0"/>
                <a:cs typeface="Times New Roman" panose="02020603050405020304" pitchFamily="18" charset="0"/>
              </a:rPr>
              <a:t>] and </a:t>
            </a: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[m+1..r] are sorted and merges the two sorted sub-arrays into one. See following C implementation for details.</a:t>
            </a:r>
            <a:endParaRPr lang="en-IN" sz="2400" dirty="0">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B9A0E8EF-728F-45C7-97B0-0E51CF6BA0C8}"/>
              </a:ext>
            </a:extLst>
          </p:cNvPr>
          <p:cNvSpPr/>
          <p:nvPr/>
        </p:nvSpPr>
        <p:spPr>
          <a:xfrm>
            <a:off x="838200" y="136525"/>
            <a:ext cx="8749145" cy="87942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DD87FE2-0622-4E0C-BC50-1AEEA2CCAEC8}"/>
              </a:ext>
            </a:extLst>
          </p:cNvPr>
          <p:cNvSpPr/>
          <p:nvPr/>
        </p:nvSpPr>
        <p:spPr>
          <a:xfrm>
            <a:off x="838200" y="1128667"/>
            <a:ext cx="10515600" cy="5227683"/>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1859308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FFD7A-2609-4076-BC5F-08C575CA66F9}"/>
              </a:ext>
            </a:extLst>
          </p:cNvPr>
          <p:cNvSpPr>
            <a:spLocks noGrp="1"/>
          </p:cNvSpPr>
          <p:nvPr>
            <p:ph type="title"/>
          </p:nvPr>
        </p:nvSpPr>
        <p:spPr>
          <a:xfrm>
            <a:off x="838200" y="174467"/>
            <a:ext cx="8702964" cy="888048"/>
          </a:xfrm>
        </p:spPr>
        <p:txBody>
          <a:bodyPr/>
          <a:lstStyle/>
          <a:p>
            <a:pPr algn="ctr"/>
            <a:r>
              <a:rPr lang="en-US" b="1" dirty="0">
                <a:latin typeface="Times New Roman" pitchFamily="18" charset="0"/>
                <a:cs typeface="Times New Roman" pitchFamily="18" charset="0"/>
              </a:rPr>
              <a:t>How Merge Sort Works?  </a:t>
            </a:r>
            <a:endParaRPr lang="en-IN"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C2DFDF9B-F3B9-4024-81A2-D93D959E55B1}"/>
              </a:ext>
            </a:extLst>
          </p:cNvPr>
          <p:cNvSpPr>
            <a:spLocks noGrp="1"/>
          </p:cNvSpPr>
          <p:nvPr>
            <p:ph idx="1"/>
          </p:nvPr>
        </p:nvSpPr>
        <p:spPr>
          <a:xfrm>
            <a:off x="838200" y="1224442"/>
            <a:ext cx="10515600" cy="4969984"/>
          </a:xfrm>
        </p:spPr>
        <p:txBody>
          <a:bodyPr>
            <a:normAutofit/>
          </a:bodyPr>
          <a:lstStyle/>
          <a:p>
            <a:pPr marL="0" indent="0">
              <a:buNone/>
            </a:pPr>
            <a:endParaRPr lang="en-US" dirty="0"/>
          </a:p>
          <a:p>
            <a:pPr marL="0" indent="0">
              <a:buNone/>
            </a:pPr>
            <a:endParaRPr lang="en-IN" dirty="0"/>
          </a:p>
        </p:txBody>
      </p:sp>
      <p:sp>
        <p:nvSpPr>
          <p:cNvPr id="4" name="Slide Number Placeholder 3">
            <a:extLst>
              <a:ext uri="{FF2B5EF4-FFF2-40B4-BE49-F238E27FC236}">
                <a16:creationId xmlns:a16="http://schemas.microsoft.com/office/drawing/2014/main" id="{1AF3079B-ADDB-4F31-B5FA-5890C3EF4ABD}"/>
              </a:ext>
            </a:extLst>
          </p:cNvPr>
          <p:cNvSpPr>
            <a:spLocks noGrp="1"/>
          </p:cNvSpPr>
          <p:nvPr>
            <p:ph type="sldNum" sz="quarter" idx="4294967295"/>
          </p:nvPr>
        </p:nvSpPr>
        <p:spPr>
          <a:xfrm>
            <a:off x="8610600" y="6356350"/>
            <a:ext cx="2743200" cy="365125"/>
          </a:xfrm>
        </p:spPr>
        <p:txBody>
          <a:bodyPr/>
          <a:lstStyle/>
          <a:p>
            <a:fld id="{BDCDBBEF-AA6C-4BA6-85B2-A17D7F280E38}" type="slidenum">
              <a:rPr lang="en-US" smtClean="0"/>
              <a:pPr/>
              <a:t>17</a:t>
            </a:fld>
            <a:endParaRPr lang="en-US"/>
          </a:p>
        </p:txBody>
      </p:sp>
      <p:sp>
        <p:nvSpPr>
          <p:cNvPr id="5" name="Rectangle 4">
            <a:extLst>
              <a:ext uri="{FF2B5EF4-FFF2-40B4-BE49-F238E27FC236}">
                <a16:creationId xmlns:a16="http://schemas.microsoft.com/office/drawing/2014/main" id="{A2E20F0E-41C3-4A3C-80AC-3DF58BABF753}"/>
              </a:ext>
            </a:extLst>
          </p:cNvPr>
          <p:cNvSpPr/>
          <p:nvPr/>
        </p:nvSpPr>
        <p:spPr>
          <a:xfrm>
            <a:off x="838200" y="174467"/>
            <a:ext cx="8702964" cy="88804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8EB25C5-4550-4FE2-9DC8-0952C9A9105D}"/>
              </a:ext>
            </a:extLst>
          </p:cNvPr>
          <p:cNvSpPr/>
          <p:nvPr/>
        </p:nvSpPr>
        <p:spPr>
          <a:xfrm>
            <a:off x="838200" y="1244599"/>
            <a:ext cx="10515600" cy="494982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12" name="TextBox 11">
            <a:extLst>
              <a:ext uri="{FF2B5EF4-FFF2-40B4-BE49-F238E27FC236}">
                <a16:creationId xmlns:a16="http://schemas.microsoft.com/office/drawing/2014/main" id="{68C0ABC6-4276-4BE6-9985-0FB57FA11C6A}"/>
              </a:ext>
            </a:extLst>
          </p:cNvPr>
          <p:cNvSpPr txBox="1"/>
          <p:nvPr/>
        </p:nvSpPr>
        <p:spPr>
          <a:xfrm>
            <a:off x="8191500" y="4501956"/>
            <a:ext cx="297180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Figure1: Example of Merge sort</a:t>
            </a:r>
            <a:endParaRPr lang="en-IN" sz="1600" dirty="0">
              <a:latin typeface="Times New Roman" panose="02020603050405020304" pitchFamily="18" charset="0"/>
              <a:cs typeface="Times New Roman" panose="02020603050405020304" pitchFamily="18" charset="0"/>
            </a:endParaRPr>
          </a:p>
        </p:txBody>
      </p:sp>
      <p:pic>
        <p:nvPicPr>
          <p:cNvPr id="10242" name="Picture 2" descr="Merge-Sort-Tutorial">
            <a:extLst>
              <a:ext uri="{FF2B5EF4-FFF2-40B4-BE49-F238E27FC236}">
                <a16:creationId xmlns:a16="http://schemas.microsoft.com/office/drawing/2014/main" id="{587A6D17-6882-496C-BAC3-DC920BCD8B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4975" y="1224440"/>
            <a:ext cx="5619750" cy="49699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29592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37050-3A56-4B7D-B555-125115C4D487}"/>
              </a:ext>
            </a:extLst>
          </p:cNvPr>
          <p:cNvSpPr>
            <a:spLocks noGrp="1"/>
          </p:cNvSpPr>
          <p:nvPr>
            <p:ph type="title"/>
          </p:nvPr>
        </p:nvSpPr>
        <p:spPr>
          <a:xfrm>
            <a:off x="838200" y="129598"/>
            <a:ext cx="8721436" cy="828629"/>
          </a:xfrm>
        </p:spPr>
        <p:txBody>
          <a:bodyPr/>
          <a:lstStyle/>
          <a:p>
            <a:pPr algn="r"/>
            <a:r>
              <a:rPr lang="en-IN" b="1" dirty="0" err="1">
                <a:latin typeface="Times New Roman" pitchFamily="18" charset="0"/>
                <a:cs typeface="Times New Roman" pitchFamily="18" charset="0"/>
              </a:rPr>
              <a:t>Contd</a:t>
            </a:r>
            <a:r>
              <a:rPr lang="en-IN" b="1" dirty="0">
                <a:latin typeface="Times New Roman" pitchFamily="18" charset="0"/>
                <a:cs typeface="Times New Roman" pitchFamily="18" charset="0"/>
              </a:rPr>
              <a:t>…</a:t>
            </a:r>
          </a:p>
        </p:txBody>
      </p:sp>
      <p:sp>
        <p:nvSpPr>
          <p:cNvPr id="3" name="Content Placeholder 2">
            <a:extLst>
              <a:ext uri="{FF2B5EF4-FFF2-40B4-BE49-F238E27FC236}">
                <a16:creationId xmlns:a16="http://schemas.microsoft.com/office/drawing/2014/main" id="{A4D4E468-C154-48F4-A143-CEE8669075D7}"/>
              </a:ext>
            </a:extLst>
          </p:cNvPr>
          <p:cNvSpPr>
            <a:spLocks noGrp="1"/>
          </p:cNvSpPr>
          <p:nvPr>
            <p:ph idx="1"/>
          </p:nvPr>
        </p:nvSpPr>
        <p:spPr>
          <a:xfrm>
            <a:off x="838200" y="1137614"/>
            <a:ext cx="10515600" cy="5034586"/>
          </a:xfrm>
        </p:spPr>
        <p:txBody>
          <a:bodyPr>
            <a:normAutofit/>
          </a:bodyPr>
          <a:lstStyle/>
          <a:p>
            <a:r>
              <a:rPr lang="en-US" sz="2400" dirty="0">
                <a:latin typeface="Times New Roman" panose="02020603050405020304" pitchFamily="18" charset="0"/>
                <a:cs typeface="Times New Roman" panose="02020603050405020304" pitchFamily="18" charset="0"/>
              </a:rPr>
              <a:t>Merge sort is a sorting technique based on divide and conquer technique. With worst-case time complexity being Ο(n log n), it is one of the most respected algorithms.</a:t>
            </a:r>
          </a:p>
          <a:p>
            <a:r>
              <a:rPr lang="en-US" sz="2400" dirty="0">
                <a:latin typeface="Times New Roman" panose="02020603050405020304" pitchFamily="18" charset="0"/>
                <a:cs typeface="Times New Roman" panose="02020603050405020304" pitchFamily="18" charset="0"/>
              </a:rPr>
              <a:t>Merge sort first divides the array into equal halves and then combines them in a sorted manner.</a:t>
            </a: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CDA4577-444D-46E5-B1EE-E4E35943C47C}"/>
              </a:ext>
            </a:extLst>
          </p:cNvPr>
          <p:cNvSpPr>
            <a:spLocks noGrp="1"/>
          </p:cNvSpPr>
          <p:nvPr>
            <p:ph type="sldNum" sz="quarter" idx="4294967295"/>
          </p:nvPr>
        </p:nvSpPr>
        <p:spPr>
          <a:xfrm>
            <a:off x="8610600" y="6356350"/>
            <a:ext cx="2743200" cy="365125"/>
          </a:xfrm>
        </p:spPr>
        <p:txBody>
          <a:bodyPr/>
          <a:lstStyle/>
          <a:p>
            <a:fld id="{BDCDBBEF-AA6C-4BA6-85B2-A17D7F280E38}" type="slidenum">
              <a:rPr lang="en-US" smtClean="0"/>
              <a:pPr/>
              <a:t>18</a:t>
            </a:fld>
            <a:endParaRPr lang="en-US"/>
          </a:p>
        </p:txBody>
      </p:sp>
      <p:sp>
        <p:nvSpPr>
          <p:cNvPr id="5" name="Rectangle 4">
            <a:extLst>
              <a:ext uri="{FF2B5EF4-FFF2-40B4-BE49-F238E27FC236}">
                <a16:creationId xmlns:a16="http://schemas.microsoft.com/office/drawing/2014/main" id="{4037BCAF-976F-4E4A-AEDB-8C8A4B413AC4}"/>
              </a:ext>
            </a:extLst>
          </p:cNvPr>
          <p:cNvSpPr/>
          <p:nvPr/>
        </p:nvSpPr>
        <p:spPr>
          <a:xfrm>
            <a:off x="838200" y="120218"/>
            <a:ext cx="8721436" cy="82862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F36084F-98FF-4245-8302-5353FA545260}"/>
              </a:ext>
            </a:extLst>
          </p:cNvPr>
          <p:cNvSpPr/>
          <p:nvPr/>
        </p:nvSpPr>
        <p:spPr>
          <a:xfrm>
            <a:off x="838200" y="1128234"/>
            <a:ext cx="10515600" cy="504396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8994896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37050-3A56-4B7D-B555-125115C4D487}"/>
              </a:ext>
            </a:extLst>
          </p:cNvPr>
          <p:cNvSpPr>
            <a:spLocks noGrp="1"/>
          </p:cNvSpPr>
          <p:nvPr>
            <p:ph type="title"/>
          </p:nvPr>
        </p:nvSpPr>
        <p:spPr>
          <a:xfrm>
            <a:off x="838200" y="136525"/>
            <a:ext cx="8758382" cy="808309"/>
          </a:xfrm>
        </p:spPr>
        <p:txBody>
          <a:bodyPr/>
          <a:lstStyle/>
          <a:p>
            <a:pPr algn="ctr"/>
            <a:r>
              <a:rPr lang="en-IN" b="1" dirty="0" err="1">
                <a:latin typeface="Times New Roman" pitchFamily="18" charset="0"/>
                <a:cs typeface="Times New Roman" pitchFamily="18" charset="0"/>
              </a:rPr>
              <a:t>Contd</a:t>
            </a:r>
            <a:r>
              <a:rPr lang="en-IN" b="1" dirty="0">
                <a:latin typeface="Times New Roman" pitchFamily="18" charset="0"/>
                <a:cs typeface="Times New Roman" pitchFamily="18" charset="0"/>
              </a:rPr>
              <a:t>…</a:t>
            </a:r>
            <a:endParaRPr lang="en-IN" dirty="0"/>
          </a:p>
        </p:txBody>
      </p:sp>
      <p:sp>
        <p:nvSpPr>
          <p:cNvPr id="3" name="Content Placeholder 2">
            <a:extLst>
              <a:ext uri="{FF2B5EF4-FFF2-40B4-BE49-F238E27FC236}">
                <a16:creationId xmlns:a16="http://schemas.microsoft.com/office/drawing/2014/main" id="{A4D4E468-C154-48F4-A143-CEE8669075D7}"/>
              </a:ext>
            </a:extLst>
          </p:cNvPr>
          <p:cNvSpPr>
            <a:spLocks noGrp="1"/>
          </p:cNvSpPr>
          <p:nvPr>
            <p:ph idx="1"/>
          </p:nvPr>
        </p:nvSpPr>
        <p:spPr>
          <a:xfrm>
            <a:off x="838200" y="1158279"/>
            <a:ext cx="10502154" cy="4751984"/>
          </a:xfrm>
        </p:spPr>
        <p:txBody>
          <a:bodyPr>
            <a:normAutofit/>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To understand merge sort, we take an unsorted array as the following −</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We know that merge sort first divides the whole array iteratively into equal halves unless the atomic values are achieved. We see here that an array of 8 items is divided into two arrays of size 4.</a:t>
            </a:r>
          </a:p>
          <a:p>
            <a:pPr marL="0" indent="0" algn="just">
              <a:lnSpc>
                <a:spcPct val="150000"/>
              </a:lnSpc>
              <a:buNone/>
            </a:pP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CDA4577-444D-46E5-B1EE-E4E35943C47C}"/>
              </a:ext>
            </a:extLst>
          </p:cNvPr>
          <p:cNvSpPr>
            <a:spLocks noGrp="1"/>
          </p:cNvSpPr>
          <p:nvPr>
            <p:ph type="sldNum" sz="quarter" idx="4294967295"/>
          </p:nvPr>
        </p:nvSpPr>
        <p:spPr>
          <a:xfrm>
            <a:off x="8610600" y="6356350"/>
            <a:ext cx="2743200" cy="365125"/>
          </a:xfrm>
        </p:spPr>
        <p:txBody>
          <a:bodyPr/>
          <a:lstStyle/>
          <a:p>
            <a:fld id="{BDCDBBEF-AA6C-4BA6-85B2-A17D7F280E38}" type="slidenum">
              <a:rPr lang="en-US" smtClean="0"/>
              <a:pPr/>
              <a:t>19</a:t>
            </a:fld>
            <a:endParaRPr lang="en-US"/>
          </a:p>
        </p:txBody>
      </p:sp>
      <p:sp>
        <p:nvSpPr>
          <p:cNvPr id="5" name="Rectangle 4">
            <a:extLst>
              <a:ext uri="{FF2B5EF4-FFF2-40B4-BE49-F238E27FC236}">
                <a16:creationId xmlns:a16="http://schemas.microsoft.com/office/drawing/2014/main" id="{DE961B66-71C9-43A4-ACDA-8775353F9044}"/>
              </a:ext>
            </a:extLst>
          </p:cNvPr>
          <p:cNvSpPr/>
          <p:nvPr/>
        </p:nvSpPr>
        <p:spPr>
          <a:xfrm>
            <a:off x="838200" y="136525"/>
            <a:ext cx="8758382" cy="80830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02C0DD4-A7DF-478D-B20D-0A6A7A561EFA}"/>
              </a:ext>
            </a:extLst>
          </p:cNvPr>
          <p:cNvSpPr/>
          <p:nvPr/>
        </p:nvSpPr>
        <p:spPr>
          <a:xfrm>
            <a:off x="838200" y="1124221"/>
            <a:ext cx="10515600" cy="504797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41060890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37050-3A56-4B7D-B555-125115C4D487}"/>
              </a:ext>
            </a:extLst>
          </p:cNvPr>
          <p:cNvSpPr>
            <a:spLocks noGrp="1"/>
          </p:cNvSpPr>
          <p:nvPr>
            <p:ph type="title"/>
          </p:nvPr>
        </p:nvSpPr>
        <p:spPr>
          <a:xfrm>
            <a:off x="838200" y="136525"/>
            <a:ext cx="8758382" cy="808309"/>
          </a:xfrm>
        </p:spPr>
        <p:txBody>
          <a:bodyPr/>
          <a:lstStyle/>
          <a:p>
            <a:pPr algn="ctr"/>
            <a:r>
              <a:rPr lang="en-IN" b="1" dirty="0" err="1">
                <a:latin typeface="Times New Roman" pitchFamily="18" charset="0"/>
                <a:cs typeface="Times New Roman" pitchFamily="18" charset="0"/>
              </a:rPr>
              <a:t>Contd</a:t>
            </a:r>
            <a:r>
              <a:rPr lang="en-IN" b="1" dirty="0">
                <a:latin typeface="Times New Roman" pitchFamily="18" charset="0"/>
                <a:cs typeface="Times New Roman" pitchFamily="18" charset="0"/>
              </a:rPr>
              <a:t>…</a:t>
            </a:r>
            <a:endParaRPr lang="en-IN" dirty="0"/>
          </a:p>
        </p:txBody>
      </p:sp>
      <p:sp>
        <p:nvSpPr>
          <p:cNvPr id="3" name="Content Placeholder 2">
            <a:extLst>
              <a:ext uri="{FF2B5EF4-FFF2-40B4-BE49-F238E27FC236}">
                <a16:creationId xmlns:a16="http://schemas.microsoft.com/office/drawing/2014/main" id="{A4D4E468-C154-48F4-A143-CEE8669075D7}"/>
              </a:ext>
            </a:extLst>
          </p:cNvPr>
          <p:cNvSpPr>
            <a:spLocks noGrp="1"/>
          </p:cNvSpPr>
          <p:nvPr>
            <p:ph idx="1"/>
          </p:nvPr>
        </p:nvSpPr>
        <p:spPr>
          <a:xfrm>
            <a:off x="838200" y="1158279"/>
            <a:ext cx="10502154" cy="4751984"/>
          </a:xfrm>
        </p:spPr>
        <p:txBody>
          <a:bodyPr>
            <a:normAutofit/>
          </a:bodyPr>
          <a:lstStyle/>
          <a:p>
            <a:pPr marL="0" indent="0" algn="just">
              <a:lnSpc>
                <a:spcPct val="150000"/>
              </a:lnSpc>
              <a:buNone/>
            </a:pP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CDA4577-444D-46E5-B1EE-E4E35943C47C}"/>
              </a:ext>
            </a:extLst>
          </p:cNvPr>
          <p:cNvSpPr>
            <a:spLocks noGrp="1"/>
          </p:cNvSpPr>
          <p:nvPr>
            <p:ph type="sldNum" sz="quarter" idx="4294967295"/>
          </p:nvPr>
        </p:nvSpPr>
        <p:spPr>
          <a:xfrm>
            <a:off x="8610600" y="6356350"/>
            <a:ext cx="2743200" cy="365125"/>
          </a:xfrm>
        </p:spPr>
        <p:txBody>
          <a:bodyPr/>
          <a:lstStyle/>
          <a:p>
            <a:fld id="{BDCDBBEF-AA6C-4BA6-85B2-A17D7F280E38}" type="slidenum">
              <a:rPr lang="en-US" smtClean="0"/>
              <a:pPr/>
              <a:t>20</a:t>
            </a:fld>
            <a:endParaRPr lang="en-US"/>
          </a:p>
        </p:txBody>
      </p:sp>
      <p:sp>
        <p:nvSpPr>
          <p:cNvPr id="5" name="Rectangle 4">
            <a:extLst>
              <a:ext uri="{FF2B5EF4-FFF2-40B4-BE49-F238E27FC236}">
                <a16:creationId xmlns:a16="http://schemas.microsoft.com/office/drawing/2014/main" id="{DE961B66-71C9-43A4-ACDA-8775353F9044}"/>
              </a:ext>
            </a:extLst>
          </p:cNvPr>
          <p:cNvSpPr/>
          <p:nvPr/>
        </p:nvSpPr>
        <p:spPr>
          <a:xfrm>
            <a:off x="838200" y="136525"/>
            <a:ext cx="8758382" cy="80830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02C0DD4-A7DF-478D-B20D-0A6A7A561EFA}"/>
              </a:ext>
            </a:extLst>
          </p:cNvPr>
          <p:cNvSpPr/>
          <p:nvPr/>
        </p:nvSpPr>
        <p:spPr>
          <a:xfrm>
            <a:off x="838200" y="1124221"/>
            <a:ext cx="10515600" cy="504797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pic>
        <p:nvPicPr>
          <p:cNvPr id="11269" name="Picture 5" descr="Unsorted Array">
            <a:extLst>
              <a:ext uri="{FF2B5EF4-FFF2-40B4-BE49-F238E27FC236}">
                <a16:creationId xmlns:a16="http://schemas.microsoft.com/office/drawing/2014/main" id="{D78E5A86-6F71-4AF9-836D-1FDC13B2C4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7634" y="2356044"/>
            <a:ext cx="5629394" cy="806256"/>
          </a:xfrm>
          <a:prstGeom prst="rect">
            <a:avLst/>
          </a:prstGeom>
          <a:noFill/>
          <a:extLst>
            <a:ext uri="{909E8E84-426E-40DD-AFC4-6F175D3DCCD1}">
              <a14:hiddenFill xmlns:a14="http://schemas.microsoft.com/office/drawing/2010/main">
                <a:solidFill>
                  <a:srgbClr val="FFFFFF"/>
                </a:solidFill>
              </a14:hiddenFill>
            </a:ext>
          </a:extLst>
        </p:spPr>
      </p:pic>
      <p:pic>
        <p:nvPicPr>
          <p:cNvPr id="11271" name="Picture 7" descr="Merge Sort Division">
            <a:extLst>
              <a:ext uri="{FF2B5EF4-FFF2-40B4-BE49-F238E27FC236}">
                <a16:creationId xmlns:a16="http://schemas.microsoft.com/office/drawing/2014/main" id="{E78B9AC9-74BB-4AB9-92DB-05485A03F5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5313" y="3689579"/>
            <a:ext cx="5548241" cy="73530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A17A300-4DE6-42CB-A5A7-12C1D27AE460}"/>
              </a:ext>
            </a:extLst>
          </p:cNvPr>
          <p:cNvSpPr txBox="1"/>
          <p:nvPr/>
        </p:nvSpPr>
        <p:spPr>
          <a:xfrm>
            <a:off x="4843533" y="4998298"/>
            <a:ext cx="297180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Figure2: Example of Merge sort</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23142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37050-3A56-4B7D-B555-125115C4D487}"/>
              </a:ext>
            </a:extLst>
          </p:cNvPr>
          <p:cNvSpPr>
            <a:spLocks noGrp="1"/>
          </p:cNvSpPr>
          <p:nvPr>
            <p:ph type="title"/>
          </p:nvPr>
        </p:nvSpPr>
        <p:spPr>
          <a:xfrm>
            <a:off x="838200" y="109797"/>
            <a:ext cx="8749145" cy="828629"/>
          </a:xfrm>
        </p:spPr>
        <p:txBody>
          <a:bodyPr/>
          <a:lstStyle/>
          <a:p>
            <a:pPr algn="ctr"/>
            <a:r>
              <a:rPr lang="en-IN" b="1" dirty="0" err="1">
                <a:latin typeface="Times New Roman" pitchFamily="18" charset="0"/>
                <a:cs typeface="Times New Roman" pitchFamily="18" charset="0"/>
              </a:rPr>
              <a:t>Contd</a:t>
            </a:r>
            <a:r>
              <a:rPr lang="en-IN" b="1" dirty="0">
                <a:latin typeface="Times New Roman" pitchFamily="18" charset="0"/>
                <a:cs typeface="Times New Roman" pitchFamily="18" charset="0"/>
              </a:rPr>
              <a:t>…</a:t>
            </a:r>
            <a:endParaRPr lang="en-IN" dirty="0"/>
          </a:p>
        </p:txBody>
      </p:sp>
      <p:sp>
        <p:nvSpPr>
          <p:cNvPr id="4" name="Slide Number Placeholder 3">
            <a:extLst>
              <a:ext uri="{FF2B5EF4-FFF2-40B4-BE49-F238E27FC236}">
                <a16:creationId xmlns:a16="http://schemas.microsoft.com/office/drawing/2014/main" id="{2CDA4577-444D-46E5-B1EE-E4E35943C47C}"/>
              </a:ext>
            </a:extLst>
          </p:cNvPr>
          <p:cNvSpPr>
            <a:spLocks noGrp="1"/>
          </p:cNvSpPr>
          <p:nvPr>
            <p:ph type="sldNum" sz="quarter" idx="4294967295"/>
          </p:nvPr>
        </p:nvSpPr>
        <p:spPr>
          <a:xfrm>
            <a:off x="8610600" y="6356350"/>
            <a:ext cx="2743200" cy="365125"/>
          </a:xfrm>
        </p:spPr>
        <p:txBody>
          <a:bodyPr/>
          <a:lstStyle/>
          <a:p>
            <a:fld id="{BDCDBBEF-AA6C-4BA6-85B2-A17D7F280E38}" type="slidenum">
              <a:rPr lang="en-US" smtClean="0"/>
              <a:pPr/>
              <a:t>21</a:t>
            </a:fld>
            <a:endParaRPr lang="en-US"/>
          </a:p>
        </p:txBody>
      </p:sp>
      <p:sp>
        <p:nvSpPr>
          <p:cNvPr id="5" name="Rectangle 4">
            <a:extLst>
              <a:ext uri="{FF2B5EF4-FFF2-40B4-BE49-F238E27FC236}">
                <a16:creationId xmlns:a16="http://schemas.microsoft.com/office/drawing/2014/main" id="{9649D13B-7226-424A-BADB-E05760C70A96}"/>
              </a:ext>
            </a:extLst>
          </p:cNvPr>
          <p:cNvSpPr/>
          <p:nvPr/>
        </p:nvSpPr>
        <p:spPr>
          <a:xfrm>
            <a:off x="838200" y="87572"/>
            <a:ext cx="8749145" cy="82862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C756C7E-1A3E-4BD5-85C3-74274EDD903D}"/>
              </a:ext>
            </a:extLst>
          </p:cNvPr>
          <p:cNvSpPr/>
          <p:nvPr/>
        </p:nvSpPr>
        <p:spPr>
          <a:xfrm>
            <a:off x="838200" y="1100350"/>
            <a:ext cx="10515600" cy="507185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5C4BBDBD-559E-44F1-801D-0A10E1B1D492}"/>
              </a:ext>
            </a:extLst>
          </p:cNvPr>
          <p:cNvSpPr>
            <a:spLocks noGrp="1"/>
          </p:cNvSpPr>
          <p:nvPr>
            <p:ph idx="1"/>
          </p:nvPr>
        </p:nvSpPr>
        <p:spPr>
          <a:xfrm>
            <a:off x="838200" y="1122575"/>
            <a:ext cx="10515600" cy="5054388"/>
          </a:xfrm>
        </p:spPr>
        <p:txBody>
          <a:bodyPr>
            <a:normAutofit/>
          </a:bodyPr>
          <a:lstStyle/>
          <a:p>
            <a:r>
              <a:rPr lang="en-US" sz="2400" dirty="0">
                <a:latin typeface="Times New Roman" panose="02020603050405020304" pitchFamily="18" charset="0"/>
                <a:cs typeface="Times New Roman" panose="02020603050405020304" pitchFamily="18" charset="0"/>
              </a:rPr>
              <a:t>This does not change the sequence of appearance of items in the original. Now we divide these two arrays into halves.</a:t>
            </a:r>
          </a:p>
          <a:p>
            <a:endParaRPr lang="en-IN" sz="2400" dirty="0">
              <a:latin typeface="Times New Roman" panose="02020603050405020304" pitchFamily="18" charset="0"/>
              <a:cs typeface="Times New Roman" panose="02020603050405020304" pitchFamily="18" charset="0"/>
            </a:endParaRPr>
          </a:p>
        </p:txBody>
      </p:sp>
      <p:pic>
        <p:nvPicPr>
          <p:cNvPr id="8" name="Picture 2" descr="Merge Sort Division">
            <a:extLst>
              <a:ext uri="{FF2B5EF4-FFF2-40B4-BE49-F238E27FC236}">
                <a16:creationId xmlns:a16="http://schemas.microsoft.com/office/drawing/2014/main" id="{43A472FE-CE8E-47A8-844A-A9450D9ACF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9488" y="2397807"/>
            <a:ext cx="4410075" cy="5334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20F77A43-0615-45A7-9280-8075FCA36FA7}"/>
              </a:ext>
            </a:extLst>
          </p:cNvPr>
          <p:cNvSpPr/>
          <p:nvPr/>
        </p:nvSpPr>
        <p:spPr>
          <a:xfrm>
            <a:off x="1066799" y="4792008"/>
            <a:ext cx="10163175" cy="1938992"/>
          </a:xfrm>
          <a:prstGeom prst="rect">
            <a:avLst/>
          </a:prstGeom>
        </p:spPr>
        <p:txBody>
          <a:bodyPr wrap="square">
            <a:spAutoFit/>
          </a:bodyPr>
          <a:lstStyle/>
          <a:p>
            <a:r>
              <a:rPr lang="en-US" sz="2400" dirty="0">
                <a:solidFill>
                  <a:srgbClr val="000000"/>
                </a:solidFill>
                <a:latin typeface="Times New Roman" panose="02020603050405020304" pitchFamily="18" charset="0"/>
                <a:cs typeface="Times New Roman" panose="02020603050405020304" pitchFamily="18" charset="0"/>
              </a:rPr>
              <a:t>We further divide these arrays and we achieve atomic value which can no more be divided.</a:t>
            </a:r>
          </a:p>
          <a:p>
            <a:endParaRPr lang="en-US" sz="2400" dirty="0">
              <a:solidFill>
                <a:srgbClr val="000000"/>
              </a:solidFill>
              <a:latin typeface="Times New Roman" panose="02020603050405020304" pitchFamily="18" charset="0"/>
              <a:cs typeface="Times New Roman" panose="02020603050405020304" pitchFamily="18" charset="0"/>
            </a:endParaRPr>
          </a:p>
          <a:p>
            <a:endParaRPr lang="en-US" sz="2400" dirty="0">
              <a:solidFill>
                <a:srgbClr val="000000"/>
              </a:solidFill>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pic>
        <p:nvPicPr>
          <p:cNvPr id="12292" name="Picture 4" descr="Merge Sort Division">
            <a:extLst>
              <a:ext uri="{FF2B5EF4-FFF2-40B4-BE49-F238E27FC236}">
                <a16:creationId xmlns:a16="http://schemas.microsoft.com/office/drawing/2014/main" id="{4817F80E-E221-4CC3-A11C-3555B3BF6E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9450" y="3347133"/>
            <a:ext cx="5391150" cy="52387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6442ED68-AD90-4C04-95CE-55AEFB4643F3}"/>
              </a:ext>
            </a:extLst>
          </p:cNvPr>
          <p:cNvSpPr txBox="1"/>
          <p:nvPr/>
        </p:nvSpPr>
        <p:spPr>
          <a:xfrm>
            <a:off x="4791075" y="4286934"/>
            <a:ext cx="297180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Figure3:  Merge sort</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05335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37050-3A56-4B7D-B555-125115C4D487}"/>
              </a:ext>
            </a:extLst>
          </p:cNvPr>
          <p:cNvSpPr>
            <a:spLocks noGrp="1"/>
          </p:cNvSpPr>
          <p:nvPr>
            <p:ph type="title"/>
          </p:nvPr>
        </p:nvSpPr>
        <p:spPr>
          <a:xfrm>
            <a:off x="838200" y="136525"/>
            <a:ext cx="8767618" cy="848083"/>
          </a:xfrm>
        </p:spPr>
        <p:txBody>
          <a:bodyPr/>
          <a:lstStyle/>
          <a:p>
            <a:pPr algn="ctr"/>
            <a:r>
              <a:rPr lang="en-IN" b="1" dirty="0" err="1">
                <a:latin typeface="Times New Roman" pitchFamily="18" charset="0"/>
                <a:cs typeface="Times New Roman" pitchFamily="18" charset="0"/>
              </a:rPr>
              <a:t>Contd</a:t>
            </a:r>
            <a:r>
              <a:rPr lang="en-IN" b="1" dirty="0">
                <a:latin typeface="Times New Roman" pitchFamily="18" charset="0"/>
                <a:cs typeface="Times New Roman" pitchFamily="18" charset="0"/>
              </a:rPr>
              <a:t>…</a:t>
            </a:r>
            <a:endParaRPr lang="en-IN" dirty="0"/>
          </a:p>
        </p:txBody>
      </p:sp>
      <p:sp>
        <p:nvSpPr>
          <p:cNvPr id="4" name="Slide Number Placeholder 3">
            <a:extLst>
              <a:ext uri="{FF2B5EF4-FFF2-40B4-BE49-F238E27FC236}">
                <a16:creationId xmlns:a16="http://schemas.microsoft.com/office/drawing/2014/main" id="{2CDA4577-444D-46E5-B1EE-E4E35943C47C}"/>
              </a:ext>
            </a:extLst>
          </p:cNvPr>
          <p:cNvSpPr>
            <a:spLocks noGrp="1"/>
          </p:cNvSpPr>
          <p:nvPr>
            <p:ph type="sldNum" sz="quarter" idx="4294967295"/>
          </p:nvPr>
        </p:nvSpPr>
        <p:spPr>
          <a:xfrm>
            <a:off x="8610600" y="6356350"/>
            <a:ext cx="2743200" cy="365125"/>
          </a:xfrm>
        </p:spPr>
        <p:txBody>
          <a:bodyPr/>
          <a:lstStyle/>
          <a:p>
            <a:fld id="{BDCDBBEF-AA6C-4BA6-85B2-A17D7F280E38}" type="slidenum">
              <a:rPr lang="en-US" smtClean="0"/>
              <a:pPr/>
              <a:t>22</a:t>
            </a:fld>
            <a:endParaRPr lang="en-US"/>
          </a:p>
        </p:txBody>
      </p:sp>
      <p:sp>
        <p:nvSpPr>
          <p:cNvPr id="5" name="Rectangle 4">
            <a:extLst>
              <a:ext uri="{FF2B5EF4-FFF2-40B4-BE49-F238E27FC236}">
                <a16:creationId xmlns:a16="http://schemas.microsoft.com/office/drawing/2014/main" id="{45783A71-48F8-4AB1-B44A-6EDF2BBD808E}"/>
              </a:ext>
            </a:extLst>
          </p:cNvPr>
          <p:cNvSpPr/>
          <p:nvPr/>
        </p:nvSpPr>
        <p:spPr>
          <a:xfrm>
            <a:off x="838200" y="113434"/>
            <a:ext cx="8767618" cy="84894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3D593F4-4C68-4B00-BB6B-6A3AC6BC800D}"/>
              </a:ext>
            </a:extLst>
          </p:cNvPr>
          <p:cNvSpPr/>
          <p:nvPr/>
        </p:nvSpPr>
        <p:spPr>
          <a:xfrm>
            <a:off x="838200" y="1141770"/>
            <a:ext cx="10515600" cy="521458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8" name="Content Placeholder 7">
            <a:extLst>
              <a:ext uri="{FF2B5EF4-FFF2-40B4-BE49-F238E27FC236}">
                <a16:creationId xmlns:a16="http://schemas.microsoft.com/office/drawing/2014/main" id="{FA932814-8B27-439E-BC38-9DE14862D1C0}"/>
              </a:ext>
            </a:extLst>
          </p:cNvPr>
          <p:cNvSpPr>
            <a:spLocks noGrp="1"/>
          </p:cNvSpPr>
          <p:nvPr>
            <p:ph idx="1"/>
          </p:nvPr>
        </p:nvSpPr>
        <p:spPr>
          <a:xfrm>
            <a:off x="838200" y="1163995"/>
            <a:ext cx="10515600" cy="5012968"/>
          </a:xfrm>
        </p:spPr>
        <p:txBody>
          <a:bodyPr>
            <a:normAutofit/>
          </a:bodyPr>
          <a:lstStyle/>
          <a:p>
            <a:r>
              <a:rPr lang="en-US" sz="2400" dirty="0">
                <a:latin typeface="Times New Roman" panose="02020603050405020304" pitchFamily="18" charset="0"/>
                <a:cs typeface="Times New Roman" panose="02020603050405020304" pitchFamily="18" charset="0"/>
              </a:rPr>
              <a:t>Now, we combine them in exactly the same manner as they were broken down. Please note the color codes given to these lists.</a:t>
            </a:r>
          </a:p>
          <a:p>
            <a:r>
              <a:rPr lang="en-US" sz="2400" dirty="0">
                <a:latin typeface="Times New Roman" panose="02020603050405020304" pitchFamily="18" charset="0"/>
                <a:cs typeface="Times New Roman" panose="02020603050405020304" pitchFamily="18" charset="0"/>
              </a:rPr>
              <a:t>We first compare the element for each list and then combine them into another list in a sorted manner. We see that 14 and 33 are in sorted positions. We compare 27 and 10 and in the target list of 2 values we put 10 first, followed by 27. We change the order of 19 and 35 whereas 42 and 44 are placed sequentially.</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60807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37050-3A56-4B7D-B555-125115C4D487}"/>
              </a:ext>
            </a:extLst>
          </p:cNvPr>
          <p:cNvSpPr>
            <a:spLocks noGrp="1"/>
          </p:cNvSpPr>
          <p:nvPr>
            <p:ph type="title"/>
          </p:nvPr>
        </p:nvSpPr>
        <p:spPr>
          <a:xfrm>
            <a:off x="838200" y="136525"/>
            <a:ext cx="8767618" cy="848083"/>
          </a:xfrm>
        </p:spPr>
        <p:txBody>
          <a:bodyPr/>
          <a:lstStyle/>
          <a:p>
            <a:pPr algn="ctr"/>
            <a:r>
              <a:rPr lang="en-IN" b="1" dirty="0" err="1">
                <a:latin typeface="Times New Roman" pitchFamily="18" charset="0"/>
                <a:cs typeface="Times New Roman" pitchFamily="18" charset="0"/>
              </a:rPr>
              <a:t>Contd</a:t>
            </a:r>
            <a:r>
              <a:rPr lang="en-IN" b="1" dirty="0">
                <a:latin typeface="Times New Roman" pitchFamily="18" charset="0"/>
                <a:cs typeface="Times New Roman" pitchFamily="18" charset="0"/>
              </a:rPr>
              <a:t>…</a:t>
            </a:r>
            <a:endParaRPr lang="en-IN" dirty="0"/>
          </a:p>
        </p:txBody>
      </p:sp>
      <p:sp>
        <p:nvSpPr>
          <p:cNvPr id="4" name="Slide Number Placeholder 3">
            <a:extLst>
              <a:ext uri="{FF2B5EF4-FFF2-40B4-BE49-F238E27FC236}">
                <a16:creationId xmlns:a16="http://schemas.microsoft.com/office/drawing/2014/main" id="{2CDA4577-444D-46E5-B1EE-E4E35943C47C}"/>
              </a:ext>
            </a:extLst>
          </p:cNvPr>
          <p:cNvSpPr>
            <a:spLocks noGrp="1"/>
          </p:cNvSpPr>
          <p:nvPr>
            <p:ph type="sldNum" sz="quarter" idx="4294967295"/>
          </p:nvPr>
        </p:nvSpPr>
        <p:spPr>
          <a:xfrm>
            <a:off x="8610600" y="6356350"/>
            <a:ext cx="2743200" cy="365125"/>
          </a:xfrm>
        </p:spPr>
        <p:txBody>
          <a:bodyPr/>
          <a:lstStyle/>
          <a:p>
            <a:fld id="{BDCDBBEF-AA6C-4BA6-85B2-A17D7F280E38}" type="slidenum">
              <a:rPr lang="en-US" smtClean="0"/>
              <a:pPr/>
              <a:t>23</a:t>
            </a:fld>
            <a:endParaRPr lang="en-US"/>
          </a:p>
        </p:txBody>
      </p:sp>
      <p:sp>
        <p:nvSpPr>
          <p:cNvPr id="5" name="Rectangle 4">
            <a:extLst>
              <a:ext uri="{FF2B5EF4-FFF2-40B4-BE49-F238E27FC236}">
                <a16:creationId xmlns:a16="http://schemas.microsoft.com/office/drawing/2014/main" id="{45783A71-48F8-4AB1-B44A-6EDF2BBD808E}"/>
              </a:ext>
            </a:extLst>
          </p:cNvPr>
          <p:cNvSpPr/>
          <p:nvPr/>
        </p:nvSpPr>
        <p:spPr>
          <a:xfrm>
            <a:off x="838200" y="113434"/>
            <a:ext cx="8767618" cy="84894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3D593F4-4C68-4B00-BB6B-6A3AC6BC800D}"/>
              </a:ext>
            </a:extLst>
          </p:cNvPr>
          <p:cNvSpPr/>
          <p:nvPr/>
        </p:nvSpPr>
        <p:spPr>
          <a:xfrm>
            <a:off x="838200" y="1141770"/>
            <a:ext cx="10515600" cy="521458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33B4476E-9F86-4E21-A053-15715A881DAD}"/>
              </a:ext>
            </a:extLst>
          </p:cNvPr>
          <p:cNvSpPr txBox="1"/>
          <p:nvPr/>
        </p:nvSpPr>
        <p:spPr>
          <a:xfrm>
            <a:off x="4732632" y="5385386"/>
            <a:ext cx="297180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Figure 4: Swapping and sorting</a:t>
            </a:r>
            <a:endParaRPr lang="en-IN" sz="1600" dirty="0">
              <a:latin typeface="Times New Roman" panose="02020603050405020304" pitchFamily="18" charset="0"/>
              <a:cs typeface="Times New Roman" panose="02020603050405020304" pitchFamily="18" charset="0"/>
            </a:endParaRPr>
          </a:p>
        </p:txBody>
      </p:sp>
      <p:pic>
        <p:nvPicPr>
          <p:cNvPr id="8" name="Picture 2" descr="Merge Sort Combine">
            <a:extLst>
              <a:ext uri="{FF2B5EF4-FFF2-40B4-BE49-F238E27FC236}">
                <a16:creationId xmlns:a16="http://schemas.microsoft.com/office/drawing/2014/main" id="{E8FD7963-25AE-428A-8743-792C59AF191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02696" y="1781532"/>
            <a:ext cx="5721068" cy="694967"/>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descr="Merge Sort Combine">
            <a:extLst>
              <a:ext uri="{FF2B5EF4-FFF2-40B4-BE49-F238E27FC236}">
                <a16:creationId xmlns:a16="http://schemas.microsoft.com/office/drawing/2014/main" id="{52CD227E-198C-4A1E-9F13-1BD23CA080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0038" y="3000733"/>
            <a:ext cx="5175022" cy="694967"/>
          </a:xfrm>
          <a:prstGeom prst="rect">
            <a:avLst/>
          </a:prstGeom>
          <a:noFill/>
          <a:extLst>
            <a:ext uri="{909E8E84-426E-40DD-AFC4-6F175D3DCCD1}">
              <a14:hiddenFill xmlns:a14="http://schemas.microsoft.com/office/drawing/2010/main">
                <a:solidFill>
                  <a:srgbClr val="FFFFFF"/>
                </a:solidFill>
              </a14:hiddenFill>
            </a:ext>
          </a:extLst>
        </p:spPr>
      </p:pic>
      <p:pic>
        <p:nvPicPr>
          <p:cNvPr id="14342" name="Picture 6" descr="Merge Sort Combine">
            <a:extLst>
              <a:ext uri="{FF2B5EF4-FFF2-40B4-BE49-F238E27FC236}">
                <a16:creationId xmlns:a16="http://schemas.microsoft.com/office/drawing/2014/main" id="{1E6D4F3F-105E-4428-934F-D2A890203A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3399" y="4094125"/>
            <a:ext cx="5881033" cy="7897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80510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37050-3A56-4B7D-B555-125115C4D487}"/>
              </a:ext>
            </a:extLst>
          </p:cNvPr>
          <p:cNvSpPr>
            <a:spLocks noGrp="1"/>
          </p:cNvSpPr>
          <p:nvPr>
            <p:ph type="title"/>
          </p:nvPr>
        </p:nvSpPr>
        <p:spPr>
          <a:xfrm>
            <a:off x="838200" y="136525"/>
            <a:ext cx="8767618" cy="848083"/>
          </a:xfrm>
        </p:spPr>
        <p:txBody>
          <a:bodyPr/>
          <a:lstStyle/>
          <a:p>
            <a:pPr algn="ctr"/>
            <a:r>
              <a:rPr lang="en-US" b="1" dirty="0">
                <a:latin typeface="Times New Roman" pitchFamily="18" charset="0"/>
                <a:cs typeface="Times New Roman" pitchFamily="18" charset="0"/>
              </a:rPr>
              <a:t>D</a:t>
            </a:r>
            <a:r>
              <a:rPr lang="en-IN" b="1" dirty="0" err="1">
                <a:latin typeface="Times New Roman" pitchFamily="18" charset="0"/>
                <a:cs typeface="Times New Roman" pitchFamily="18" charset="0"/>
              </a:rPr>
              <a:t>ivide</a:t>
            </a:r>
            <a:r>
              <a:rPr lang="en-IN" b="1" dirty="0">
                <a:latin typeface="Times New Roman" pitchFamily="18" charset="0"/>
                <a:cs typeface="Times New Roman" pitchFamily="18" charset="0"/>
              </a:rPr>
              <a:t>, Conquer and Combine</a:t>
            </a:r>
            <a:endParaRPr lang="en-IN" dirty="0"/>
          </a:p>
        </p:txBody>
      </p:sp>
      <p:sp>
        <p:nvSpPr>
          <p:cNvPr id="4" name="Slide Number Placeholder 3">
            <a:extLst>
              <a:ext uri="{FF2B5EF4-FFF2-40B4-BE49-F238E27FC236}">
                <a16:creationId xmlns:a16="http://schemas.microsoft.com/office/drawing/2014/main" id="{2CDA4577-444D-46E5-B1EE-E4E35943C47C}"/>
              </a:ext>
            </a:extLst>
          </p:cNvPr>
          <p:cNvSpPr>
            <a:spLocks noGrp="1"/>
          </p:cNvSpPr>
          <p:nvPr>
            <p:ph type="sldNum" sz="quarter" idx="4294967295"/>
          </p:nvPr>
        </p:nvSpPr>
        <p:spPr>
          <a:xfrm>
            <a:off x="8610600" y="6356350"/>
            <a:ext cx="2743200" cy="365125"/>
          </a:xfrm>
        </p:spPr>
        <p:txBody>
          <a:bodyPr/>
          <a:lstStyle/>
          <a:p>
            <a:fld id="{BDCDBBEF-AA6C-4BA6-85B2-A17D7F280E38}" type="slidenum">
              <a:rPr lang="en-US" smtClean="0"/>
              <a:pPr/>
              <a:t>24</a:t>
            </a:fld>
            <a:endParaRPr lang="en-US"/>
          </a:p>
        </p:txBody>
      </p:sp>
      <p:sp>
        <p:nvSpPr>
          <p:cNvPr id="5" name="Rectangle 4">
            <a:extLst>
              <a:ext uri="{FF2B5EF4-FFF2-40B4-BE49-F238E27FC236}">
                <a16:creationId xmlns:a16="http://schemas.microsoft.com/office/drawing/2014/main" id="{45783A71-48F8-4AB1-B44A-6EDF2BBD808E}"/>
              </a:ext>
            </a:extLst>
          </p:cNvPr>
          <p:cNvSpPr/>
          <p:nvPr/>
        </p:nvSpPr>
        <p:spPr>
          <a:xfrm>
            <a:off x="838200" y="113434"/>
            <a:ext cx="8767618" cy="84894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3D593F4-4C68-4B00-BB6B-6A3AC6BC800D}"/>
              </a:ext>
            </a:extLst>
          </p:cNvPr>
          <p:cNvSpPr/>
          <p:nvPr/>
        </p:nvSpPr>
        <p:spPr>
          <a:xfrm>
            <a:off x="838200" y="1141770"/>
            <a:ext cx="10515600" cy="521458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33B4476E-9F86-4E21-A053-15715A881DAD}"/>
              </a:ext>
            </a:extLst>
          </p:cNvPr>
          <p:cNvSpPr txBox="1"/>
          <p:nvPr/>
        </p:nvSpPr>
        <p:spPr>
          <a:xfrm>
            <a:off x="4732632" y="5385386"/>
            <a:ext cx="2971800" cy="584775"/>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Figure 5: Divide, conquer and Combine</a:t>
            </a:r>
            <a:endParaRPr lang="en-IN" sz="1600" dirty="0">
              <a:latin typeface="Times New Roman" panose="02020603050405020304" pitchFamily="18" charset="0"/>
              <a:cs typeface="Times New Roman" panose="02020603050405020304" pitchFamily="18" charset="0"/>
            </a:endParaRPr>
          </a:p>
        </p:txBody>
      </p:sp>
      <p:pic>
        <p:nvPicPr>
          <p:cNvPr id="12290" name="Picture 2" descr="Divide and Conquer algorithm">
            <a:extLst>
              <a:ext uri="{FF2B5EF4-FFF2-40B4-BE49-F238E27FC236}">
                <a16:creationId xmlns:a16="http://schemas.microsoft.com/office/drawing/2014/main" id="{BEEF424D-3E3D-480D-95A5-2E26B6E41B7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95650" y="1602251"/>
            <a:ext cx="4210050" cy="3162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95638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37050-3A56-4B7D-B555-125115C4D487}"/>
              </a:ext>
            </a:extLst>
          </p:cNvPr>
          <p:cNvSpPr>
            <a:spLocks noGrp="1"/>
          </p:cNvSpPr>
          <p:nvPr>
            <p:ph type="title"/>
          </p:nvPr>
        </p:nvSpPr>
        <p:spPr>
          <a:xfrm>
            <a:off x="838200" y="136525"/>
            <a:ext cx="8767618" cy="848083"/>
          </a:xfrm>
        </p:spPr>
        <p:txBody>
          <a:bodyPr/>
          <a:lstStyle/>
          <a:p>
            <a:pPr algn="ctr"/>
            <a:r>
              <a:rPr lang="en-US" b="1" dirty="0">
                <a:latin typeface="Times New Roman" pitchFamily="18" charset="0"/>
                <a:cs typeface="Times New Roman" pitchFamily="18" charset="0"/>
              </a:rPr>
              <a:t>Complexity Analysis</a:t>
            </a:r>
            <a:endParaRPr lang="en-IN" dirty="0"/>
          </a:p>
        </p:txBody>
      </p:sp>
      <p:sp>
        <p:nvSpPr>
          <p:cNvPr id="4" name="Slide Number Placeholder 3">
            <a:extLst>
              <a:ext uri="{FF2B5EF4-FFF2-40B4-BE49-F238E27FC236}">
                <a16:creationId xmlns:a16="http://schemas.microsoft.com/office/drawing/2014/main" id="{2CDA4577-444D-46E5-B1EE-E4E35943C47C}"/>
              </a:ext>
            </a:extLst>
          </p:cNvPr>
          <p:cNvSpPr>
            <a:spLocks noGrp="1"/>
          </p:cNvSpPr>
          <p:nvPr>
            <p:ph type="sldNum" sz="quarter" idx="4294967295"/>
          </p:nvPr>
        </p:nvSpPr>
        <p:spPr>
          <a:xfrm>
            <a:off x="8610600" y="6356350"/>
            <a:ext cx="2743200" cy="365125"/>
          </a:xfrm>
        </p:spPr>
        <p:txBody>
          <a:bodyPr/>
          <a:lstStyle/>
          <a:p>
            <a:fld id="{BDCDBBEF-AA6C-4BA6-85B2-A17D7F280E38}" type="slidenum">
              <a:rPr lang="en-US" smtClean="0"/>
              <a:pPr/>
              <a:t>25</a:t>
            </a:fld>
            <a:endParaRPr lang="en-US"/>
          </a:p>
        </p:txBody>
      </p:sp>
      <p:sp>
        <p:nvSpPr>
          <p:cNvPr id="5" name="Rectangle 4">
            <a:extLst>
              <a:ext uri="{FF2B5EF4-FFF2-40B4-BE49-F238E27FC236}">
                <a16:creationId xmlns:a16="http://schemas.microsoft.com/office/drawing/2014/main" id="{45783A71-48F8-4AB1-B44A-6EDF2BBD808E}"/>
              </a:ext>
            </a:extLst>
          </p:cNvPr>
          <p:cNvSpPr/>
          <p:nvPr/>
        </p:nvSpPr>
        <p:spPr>
          <a:xfrm>
            <a:off x="838200" y="113434"/>
            <a:ext cx="8767618" cy="84894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3D593F4-4C68-4B00-BB6B-6A3AC6BC800D}"/>
              </a:ext>
            </a:extLst>
          </p:cNvPr>
          <p:cNvSpPr/>
          <p:nvPr/>
        </p:nvSpPr>
        <p:spPr>
          <a:xfrm>
            <a:off x="838200" y="1141770"/>
            <a:ext cx="10515600" cy="521458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33B4476E-9F86-4E21-A053-15715A881DAD}"/>
              </a:ext>
            </a:extLst>
          </p:cNvPr>
          <p:cNvSpPr txBox="1"/>
          <p:nvPr/>
        </p:nvSpPr>
        <p:spPr>
          <a:xfrm>
            <a:off x="4732632" y="5385386"/>
            <a:ext cx="2971800" cy="584775"/>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Figure 5: Divide, conquer and Combine</a:t>
            </a:r>
            <a:endParaRPr lang="en-IN" sz="1600" dirty="0">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D30BC9B2-F1D0-4BCC-8700-BC73EB1A3853}"/>
              </a:ext>
            </a:extLst>
          </p:cNvPr>
          <p:cNvSpPr>
            <a:spLocks noGrp="1"/>
          </p:cNvSpPr>
          <p:nvPr>
            <p:ph idx="1"/>
          </p:nvPr>
        </p:nvSpPr>
        <p:spPr>
          <a:xfrm>
            <a:off x="838200" y="1163995"/>
            <a:ext cx="10515600" cy="5012968"/>
          </a:xfrm>
        </p:spPr>
        <p:txBody>
          <a:bodyPr>
            <a:normAutofit/>
          </a:bodyPr>
          <a:lstStyle/>
          <a:p>
            <a:r>
              <a:rPr lang="en-IN" sz="2400" dirty="0">
                <a:latin typeface="Times New Roman" panose="02020603050405020304" pitchFamily="18" charset="0"/>
                <a:cs typeface="Times New Roman" panose="02020603050405020304" pitchFamily="18" charset="0"/>
              </a:rPr>
              <a:t>Worst Case Time Complexity [ Big-O ]: </a:t>
            </a:r>
            <a:r>
              <a:rPr lang="en-IN" sz="2400" b="1" dirty="0">
                <a:latin typeface="Times New Roman" panose="02020603050405020304" pitchFamily="18" charset="0"/>
                <a:cs typeface="Times New Roman" panose="02020603050405020304" pitchFamily="18" charset="0"/>
              </a:rPr>
              <a:t>O(n*log n)</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Best Case Time Complexity [Big-omega]: </a:t>
            </a:r>
            <a:r>
              <a:rPr lang="en-IN" sz="2400" b="1" dirty="0">
                <a:latin typeface="Times New Roman" panose="02020603050405020304" pitchFamily="18" charset="0"/>
                <a:cs typeface="Times New Roman" panose="02020603050405020304" pitchFamily="18" charset="0"/>
              </a:rPr>
              <a:t>O(n*log n)</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Average Time Complexity [Big-theta]: </a:t>
            </a:r>
            <a:r>
              <a:rPr lang="en-IN" sz="2400" b="1" dirty="0">
                <a:latin typeface="Times New Roman" panose="02020603050405020304" pitchFamily="18" charset="0"/>
                <a:cs typeface="Times New Roman" panose="02020603050405020304" pitchFamily="18" charset="0"/>
              </a:rPr>
              <a:t>O(n*log n)</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Space Complexity: </a:t>
            </a:r>
            <a:r>
              <a:rPr lang="en-IN" sz="2400" b="1" dirty="0">
                <a:latin typeface="Times New Roman" panose="02020603050405020304" pitchFamily="18" charset="0"/>
                <a:cs typeface="Times New Roman" panose="02020603050405020304" pitchFamily="18" charset="0"/>
              </a:rPr>
              <a:t>O(n)</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04025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1BEB5-F583-4D72-9F0B-7AA16704337A}"/>
              </a:ext>
            </a:extLst>
          </p:cNvPr>
          <p:cNvSpPr>
            <a:spLocks noGrp="1"/>
          </p:cNvSpPr>
          <p:nvPr>
            <p:ph type="title"/>
          </p:nvPr>
        </p:nvSpPr>
        <p:spPr>
          <a:xfrm>
            <a:off x="838200" y="133673"/>
            <a:ext cx="8749145" cy="882281"/>
          </a:xfrm>
        </p:spPr>
        <p:txBody>
          <a:bodyPr/>
          <a:lstStyle/>
          <a:p>
            <a:pPr algn="ctr"/>
            <a:r>
              <a:rPr lang="en-US" b="1" dirty="0">
                <a:latin typeface="Times New Roman" pitchFamily="18" charset="0"/>
                <a:cs typeface="Times New Roman" pitchFamily="18" charset="0"/>
              </a:rPr>
              <a:t>Q</a:t>
            </a:r>
            <a:r>
              <a:rPr lang="en-IN" b="1" dirty="0" err="1">
                <a:latin typeface="Times New Roman" pitchFamily="18" charset="0"/>
                <a:cs typeface="Times New Roman" pitchFamily="18" charset="0"/>
              </a:rPr>
              <a:t>uick</a:t>
            </a:r>
            <a:r>
              <a:rPr lang="en-IN" b="1" dirty="0">
                <a:latin typeface="Times New Roman" pitchFamily="18" charset="0"/>
                <a:cs typeface="Times New Roman" pitchFamily="18" charset="0"/>
              </a:rPr>
              <a:t> Sort</a:t>
            </a:r>
          </a:p>
        </p:txBody>
      </p:sp>
      <p:sp>
        <p:nvSpPr>
          <p:cNvPr id="4" name="Slide Number Placeholder 3">
            <a:extLst>
              <a:ext uri="{FF2B5EF4-FFF2-40B4-BE49-F238E27FC236}">
                <a16:creationId xmlns:a16="http://schemas.microsoft.com/office/drawing/2014/main" id="{B7EAAF0E-9175-4595-843F-5D00585CAE37}"/>
              </a:ext>
            </a:extLst>
          </p:cNvPr>
          <p:cNvSpPr>
            <a:spLocks noGrp="1"/>
          </p:cNvSpPr>
          <p:nvPr>
            <p:ph type="sldNum" sz="quarter" idx="4294967295"/>
          </p:nvPr>
        </p:nvSpPr>
        <p:spPr>
          <a:xfrm>
            <a:off x="8610600" y="6356350"/>
            <a:ext cx="2743200" cy="365125"/>
          </a:xfrm>
        </p:spPr>
        <p:txBody>
          <a:bodyPr/>
          <a:lstStyle/>
          <a:p>
            <a:fld id="{BDCDBBEF-AA6C-4BA6-85B2-A17D7F280E38}" type="slidenum">
              <a:rPr lang="en-US" smtClean="0"/>
              <a:pPr/>
              <a:t>26</a:t>
            </a:fld>
            <a:endParaRPr lang="en-US"/>
          </a:p>
        </p:txBody>
      </p:sp>
      <p:sp>
        <p:nvSpPr>
          <p:cNvPr id="6" name="TextBox 5">
            <a:extLst>
              <a:ext uri="{FF2B5EF4-FFF2-40B4-BE49-F238E27FC236}">
                <a16:creationId xmlns:a16="http://schemas.microsoft.com/office/drawing/2014/main" id="{C29D01AD-D0B5-4205-9907-5626FDA21D22}"/>
              </a:ext>
            </a:extLst>
          </p:cNvPr>
          <p:cNvSpPr txBox="1"/>
          <p:nvPr/>
        </p:nvSpPr>
        <p:spPr>
          <a:xfrm>
            <a:off x="838199" y="1142566"/>
            <a:ext cx="10515599" cy="3785652"/>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Quick sort is a highly efficient sorting algorithm and is based on partitioning of array of data into smaller arrays.</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 large array is partitioned into two arrays one of which holds values smaller than the specified value, say pivot, based on which the partition is made and another array holds values greater than the pivot value.</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Quicksort partitions an array and then calls itself recursively twice to sort the two resulting subarrays. </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algorithm is quite efficient for large-sized data sets as its average and worst-case complexity are O(</a:t>
            </a:r>
            <a:r>
              <a:rPr lang="en-US" sz="2400" dirty="0" err="1">
                <a:latin typeface="Times New Roman" panose="02020603050405020304" pitchFamily="18" charset="0"/>
                <a:cs typeface="Times New Roman" panose="02020603050405020304" pitchFamily="18" charset="0"/>
              </a:rPr>
              <a:t>nLogn</a:t>
            </a:r>
            <a:r>
              <a:rPr lang="en-US" sz="2400" dirty="0">
                <a:latin typeface="Times New Roman" panose="02020603050405020304" pitchFamily="18" charset="0"/>
                <a:cs typeface="Times New Roman" panose="02020603050405020304" pitchFamily="18" charset="0"/>
              </a:rPr>
              <a:t>) and O(n</a:t>
            </a:r>
            <a:r>
              <a:rPr lang="en-US" sz="2400" baseline="30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respectively.</a:t>
            </a:r>
          </a:p>
          <a:p>
            <a:pPr marL="342900" indent="-342900"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B9A0E8EF-728F-45C7-97B0-0E51CF6BA0C8}"/>
              </a:ext>
            </a:extLst>
          </p:cNvPr>
          <p:cNvSpPr/>
          <p:nvPr/>
        </p:nvSpPr>
        <p:spPr>
          <a:xfrm>
            <a:off x="838200" y="136525"/>
            <a:ext cx="8749145" cy="87942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DD87FE2-0622-4E0C-BC50-1AEEA2CCAEC8}"/>
              </a:ext>
            </a:extLst>
          </p:cNvPr>
          <p:cNvSpPr/>
          <p:nvPr/>
        </p:nvSpPr>
        <p:spPr>
          <a:xfrm>
            <a:off x="838200" y="1128667"/>
            <a:ext cx="10515600" cy="5227683"/>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5304001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1BEB5-F583-4D72-9F0B-7AA16704337A}"/>
              </a:ext>
            </a:extLst>
          </p:cNvPr>
          <p:cNvSpPr>
            <a:spLocks noGrp="1"/>
          </p:cNvSpPr>
          <p:nvPr>
            <p:ph type="title"/>
          </p:nvPr>
        </p:nvSpPr>
        <p:spPr>
          <a:xfrm>
            <a:off x="838200" y="133673"/>
            <a:ext cx="8749145" cy="882281"/>
          </a:xfrm>
        </p:spPr>
        <p:txBody>
          <a:bodyPr/>
          <a:lstStyle/>
          <a:p>
            <a:pPr algn="ctr"/>
            <a:r>
              <a:rPr lang="en-US" b="1" dirty="0">
                <a:latin typeface="Times New Roman" pitchFamily="18" charset="0"/>
                <a:cs typeface="Times New Roman" pitchFamily="18" charset="0"/>
              </a:rPr>
              <a:t>How Q</a:t>
            </a:r>
            <a:r>
              <a:rPr lang="en-IN" b="1" dirty="0" err="1">
                <a:latin typeface="Times New Roman" pitchFamily="18" charset="0"/>
                <a:cs typeface="Times New Roman" pitchFamily="18" charset="0"/>
              </a:rPr>
              <a:t>uick</a:t>
            </a:r>
            <a:r>
              <a:rPr lang="en-IN" b="1" dirty="0">
                <a:latin typeface="Times New Roman" pitchFamily="18" charset="0"/>
                <a:cs typeface="Times New Roman" pitchFamily="18" charset="0"/>
              </a:rPr>
              <a:t> Sort Works?</a:t>
            </a:r>
          </a:p>
        </p:txBody>
      </p:sp>
      <p:sp>
        <p:nvSpPr>
          <p:cNvPr id="4" name="Slide Number Placeholder 3">
            <a:extLst>
              <a:ext uri="{FF2B5EF4-FFF2-40B4-BE49-F238E27FC236}">
                <a16:creationId xmlns:a16="http://schemas.microsoft.com/office/drawing/2014/main" id="{B7EAAF0E-9175-4595-843F-5D00585CAE37}"/>
              </a:ext>
            </a:extLst>
          </p:cNvPr>
          <p:cNvSpPr>
            <a:spLocks noGrp="1"/>
          </p:cNvSpPr>
          <p:nvPr>
            <p:ph type="sldNum" sz="quarter" idx="4294967295"/>
          </p:nvPr>
        </p:nvSpPr>
        <p:spPr>
          <a:xfrm>
            <a:off x="8610600" y="6356350"/>
            <a:ext cx="2743200" cy="365125"/>
          </a:xfrm>
        </p:spPr>
        <p:txBody>
          <a:bodyPr/>
          <a:lstStyle/>
          <a:p>
            <a:fld id="{BDCDBBEF-AA6C-4BA6-85B2-A17D7F280E38}" type="slidenum">
              <a:rPr lang="en-US" smtClean="0"/>
              <a:pPr/>
              <a:t>27</a:t>
            </a:fld>
            <a:endParaRPr lang="en-US"/>
          </a:p>
        </p:txBody>
      </p:sp>
      <p:sp>
        <p:nvSpPr>
          <p:cNvPr id="6" name="TextBox 5">
            <a:extLst>
              <a:ext uri="{FF2B5EF4-FFF2-40B4-BE49-F238E27FC236}">
                <a16:creationId xmlns:a16="http://schemas.microsoft.com/office/drawing/2014/main" id="{C29D01AD-D0B5-4205-9907-5626FDA21D22}"/>
              </a:ext>
            </a:extLst>
          </p:cNvPr>
          <p:cNvSpPr txBox="1"/>
          <p:nvPr/>
        </p:nvSpPr>
        <p:spPr>
          <a:xfrm>
            <a:off x="838199" y="1015954"/>
            <a:ext cx="10515599" cy="452431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Following are the steps involved in quick sort algorithm:</a:t>
            </a:r>
          </a:p>
          <a:p>
            <a:r>
              <a:rPr lang="en-US" sz="2400" dirty="0">
                <a:latin typeface="Times New Roman" panose="02020603050405020304" pitchFamily="18" charset="0"/>
                <a:cs typeface="Times New Roman" panose="02020603050405020304" pitchFamily="18" charset="0"/>
              </a:rPr>
              <a:t>1. After selecting an element as </a:t>
            </a:r>
            <a:r>
              <a:rPr lang="en-US" sz="2400" b="1" dirty="0">
                <a:latin typeface="Times New Roman" panose="02020603050405020304" pitchFamily="18" charset="0"/>
                <a:cs typeface="Times New Roman" panose="02020603050405020304" pitchFamily="18" charset="0"/>
              </a:rPr>
              <a:t>pivot</a:t>
            </a:r>
            <a:r>
              <a:rPr lang="en-US" sz="2400" dirty="0">
                <a:latin typeface="Times New Roman" panose="02020603050405020304" pitchFamily="18" charset="0"/>
                <a:cs typeface="Times New Roman" panose="02020603050405020304" pitchFamily="18" charset="0"/>
              </a:rPr>
              <a:t>, which is the last index of the array in our case, we divide the array for the first time.</a:t>
            </a:r>
          </a:p>
          <a:p>
            <a:r>
              <a:rPr lang="en-US" sz="2400" dirty="0">
                <a:latin typeface="Times New Roman" panose="02020603050405020304" pitchFamily="18" charset="0"/>
                <a:cs typeface="Times New Roman" panose="02020603050405020304" pitchFamily="18" charset="0"/>
              </a:rPr>
              <a:t>2. In quick sort, we call this </a:t>
            </a:r>
            <a:r>
              <a:rPr lang="en-US" sz="2400" b="1" dirty="0">
                <a:latin typeface="Times New Roman" panose="02020603050405020304" pitchFamily="18" charset="0"/>
                <a:cs typeface="Times New Roman" panose="02020603050405020304" pitchFamily="18" charset="0"/>
              </a:rPr>
              <a:t>partitioning</a:t>
            </a:r>
            <a:r>
              <a:rPr lang="en-US" sz="2400" dirty="0">
                <a:latin typeface="Times New Roman" panose="02020603050405020304" pitchFamily="18" charset="0"/>
                <a:cs typeface="Times New Roman" panose="02020603050405020304" pitchFamily="18" charset="0"/>
              </a:rPr>
              <a:t>. It is not simple breaking down of array into 2 subarrays, but in case of partitioning, the array elements are so positioned that all the elements smaller than the </a:t>
            </a:r>
            <a:r>
              <a:rPr lang="en-US" sz="2400" b="1" dirty="0">
                <a:latin typeface="Times New Roman" panose="02020603050405020304" pitchFamily="18" charset="0"/>
                <a:cs typeface="Times New Roman" panose="02020603050405020304" pitchFamily="18" charset="0"/>
              </a:rPr>
              <a:t>pivot</a:t>
            </a:r>
            <a:r>
              <a:rPr lang="en-US" sz="2400" dirty="0">
                <a:latin typeface="Times New Roman" panose="02020603050405020304" pitchFamily="18" charset="0"/>
                <a:cs typeface="Times New Roman" panose="02020603050405020304" pitchFamily="18" charset="0"/>
              </a:rPr>
              <a:t> will be on the left side of the pivot and all the elements greater than the pivot will be on the right side of it.</a:t>
            </a:r>
          </a:p>
          <a:p>
            <a:r>
              <a:rPr lang="en-US" sz="2400" dirty="0">
                <a:latin typeface="Times New Roman" panose="02020603050405020304" pitchFamily="18" charset="0"/>
                <a:cs typeface="Times New Roman" panose="02020603050405020304" pitchFamily="18" charset="0"/>
              </a:rPr>
              <a:t>3. And the </a:t>
            </a:r>
            <a:r>
              <a:rPr lang="en-US" sz="2400" b="1" dirty="0">
                <a:latin typeface="Times New Roman" panose="02020603050405020304" pitchFamily="18" charset="0"/>
                <a:cs typeface="Times New Roman" panose="02020603050405020304" pitchFamily="18" charset="0"/>
              </a:rPr>
              <a:t>pivot</a:t>
            </a:r>
            <a:r>
              <a:rPr lang="en-US" sz="2400" dirty="0">
                <a:latin typeface="Times New Roman" panose="02020603050405020304" pitchFamily="18" charset="0"/>
                <a:cs typeface="Times New Roman" panose="02020603050405020304" pitchFamily="18" charset="0"/>
              </a:rPr>
              <a:t> element will be at its final </a:t>
            </a:r>
            <a:r>
              <a:rPr lang="en-US" sz="2400" b="1" dirty="0">
                <a:latin typeface="Times New Roman" panose="02020603050405020304" pitchFamily="18" charset="0"/>
                <a:cs typeface="Times New Roman" panose="02020603050405020304" pitchFamily="18" charset="0"/>
              </a:rPr>
              <a:t>sorted</a:t>
            </a:r>
            <a:r>
              <a:rPr lang="en-US" sz="2400" dirty="0">
                <a:latin typeface="Times New Roman" panose="02020603050405020304" pitchFamily="18" charset="0"/>
                <a:cs typeface="Times New Roman" panose="02020603050405020304" pitchFamily="18" charset="0"/>
              </a:rPr>
              <a:t> position.</a:t>
            </a:r>
          </a:p>
          <a:p>
            <a:r>
              <a:rPr lang="en-US" sz="2400" dirty="0">
                <a:latin typeface="Times New Roman" panose="02020603050405020304" pitchFamily="18" charset="0"/>
                <a:cs typeface="Times New Roman" panose="02020603050405020304" pitchFamily="18" charset="0"/>
              </a:rPr>
              <a:t>4. The elements to the left and right, may not be sorted.</a:t>
            </a:r>
          </a:p>
          <a:p>
            <a:r>
              <a:rPr lang="en-US" sz="2400" dirty="0">
                <a:latin typeface="Times New Roman" panose="02020603050405020304" pitchFamily="18" charset="0"/>
                <a:cs typeface="Times New Roman" panose="02020603050405020304" pitchFamily="18" charset="0"/>
              </a:rPr>
              <a:t>5. Then we pick subarrays, elements on the left of </a:t>
            </a:r>
            <a:r>
              <a:rPr lang="en-US" sz="2400" b="1" dirty="0">
                <a:latin typeface="Times New Roman" panose="02020603050405020304" pitchFamily="18" charset="0"/>
                <a:cs typeface="Times New Roman" panose="02020603050405020304" pitchFamily="18" charset="0"/>
              </a:rPr>
              <a:t>pivot</a:t>
            </a:r>
            <a:r>
              <a:rPr lang="en-US" sz="2400" dirty="0">
                <a:latin typeface="Times New Roman" panose="02020603050405020304" pitchFamily="18" charset="0"/>
                <a:cs typeface="Times New Roman" panose="02020603050405020304" pitchFamily="18" charset="0"/>
              </a:rPr>
              <a:t> and elements on the right of </a:t>
            </a:r>
            <a:r>
              <a:rPr lang="en-US" sz="2400" b="1" dirty="0">
                <a:latin typeface="Times New Roman" panose="02020603050405020304" pitchFamily="18" charset="0"/>
                <a:cs typeface="Times New Roman" panose="02020603050405020304" pitchFamily="18" charset="0"/>
              </a:rPr>
              <a:t>pivot</a:t>
            </a:r>
            <a:r>
              <a:rPr lang="en-US" sz="2400" dirty="0">
                <a:latin typeface="Times New Roman" panose="02020603050405020304" pitchFamily="18" charset="0"/>
                <a:cs typeface="Times New Roman" panose="02020603050405020304" pitchFamily="18" charset="0"/>
              </a:rPr>
              <a:t>, and we perform </a:t>
            </a:r>
            <a:r>
              <a:rPr lang="en-US" sz="2400" b="1" dirty="0">
                <a:latin typeface="Times New Roman" panose="02020603050405020304" pitchFamily="18" charset="0"/>
                <a:cs typeface="Times New Roman" panose="02020603050405020304" pitchFamily="18" charset="0"/>
              </a:rPr>
              <a:t>partitioning</a:t>
            </a:r>
            <a:r>
              <a:rPr lang="en-US" sz="2400" dirty="0">
                <a:latin typeface="Times New Roman" panose="02020603050405020304" pitchFamily="18" charset="0"/>
                <a:cs typeface="Times New Roman" panose="02020603050405020304" pitchFamily="18" charset="0"/>
              </a:rPr>
              <a:t> on them by choosing a </a:t>
            </a:r>
            <a:r>
              <a:rPr lang="en-US" sz="2400" b="1" dirty="0">
                <a:latin typeface="Times New Roman" panose="02020603050405020304" pitchFamily="18" charset="0"/>
                <a:cs typeface="Times New Roman" panose="02020603050405020304" pitchFamily="18" charset="0"/>
              </a:rPr>
              <a:t>pivot</a:t>
            </a:r>
            <a:r>
              <a:rPr lang="en-US" sz="2400" dirty="0">
                <a:latin typeface="Times New Roman" panose="02020603050405020304" pitchFamily="18" charset="0"/>
                <a:cs typeface="Times New Roman" panose="02020603050405020304" pitchFamily="18" charset="0"/>
              </a:rPr>
              <a:t> in the subarrays.</a:t>
            </a:r>
          </a:p>
        </p:txBody>
      </p:sp>
      <p:sp>
        <p:nvSpPr>
          <p:cNvPr id="7" name="Rectangle 6">
            <a:extLst>
              <a:ext uri="{FF2B5EF4-FFF2-40B4-BE49-F238E27FC236}">
                <a16:creationId xmlns:a16="http://schemas.microsoft.com/office/drawing/2014/main" id="{B9A0E8EF-728F-45C7-97B0-0E51CF6BA0C8}"/>
              </a:ext>
            </a:extLst>
          </p:cNvPr>
          <p:cNvSpPr/>
          <p:nvPr/>
        </p:nvSpPr>
        <p:spPr>
          <a:xfrm>
            <a:off x="838200" y="136525"/>
            <a:ext cx="8749145" cy="87942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DD87FE2-0622-4E0C-BC50-1AEEA2CCAEC8}"/>
              </a:ext>
            </a:extLst>
          </p:cNvPr>
          <p:cNvSpPr/>
          <p:nvPr/>
        </p:nvSpPr>
        <p:spPr>
          <a:xfrm>
            <a:off x="838200" y="1128667"/>
            <a:ext cx="10515600" cy="5227683"/>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7561769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FFD7A-2609-4076-BC5F-08C575CA66F9}"/>
              </a:ext>
            </a:extLst>
          </p:cNvPr>
          <p:cNvSpPr>
            <a:spLocks noGrp="1"/>
          </p:cNvSpPr>
          <p:nvPr>
            <p:ph type="title"/>
          </p:nvPr>
        </p:nvSpPr>
        <p:spPr>
          <a:xfrm>
            <a:off x="838200" y="174467"/>
            <a:ext cx="8702964" cy="888048"/>
          </a:xfrm>
        </p:spPr>
        <p:txBody>
          <a:bodyPr/>
          <a:lstStyle/>
          <a:p>
            <a:pPr algn="ctr"/>
            <a:r>
              <a:rPr lang="en-US" b="1" dirty="0">
                <a:latin typeface="Times New Roman" pitchFamily="18" charset="0"/>
                <a:cs typeface="Times New Roman" pitchFamily="18" charset="0"/>
              </a:rPr>
              <a:t>How Quick Sort Works?  </a:t>
            </a:r>
            <a:endParaRPr lang="en-IN"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C2DFDF9B-F3B9-4024-81A2-D93D959E55B1}"/>
              </a:ext>
            </a:extLst>
          </p:cNvPr>
          <p:cNvSpPr>
            <a:spLocks noGrp="1"/>
          </p:cNvSpPr>
          <p:nvPr>
            <p:ph idx="1"/>
          </p:nvPr>
        </p:nvSpPr>
        <p:spPr>
          <a:xfrm>
            <a:off x="838200" y="1224442"/>
            <a:ext cx="10515600" cy="4969984"/>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1. A pivot element is chosen from the array. You can choose any element from the array as the pivot element.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Here, we have taken the rightmost (</a:t>
            </a:r>
            <a:r>
              <a:rPr lang="en-US" sz="2400" dirty="0" err="1">
                <a:latin typeface="Times New Roman" panose="02020603050405020304" pitchFamily="18" charset="0"/>
                <a:cs typeface="Times New Roman" panose="02020603050405020304" pitchFamily="18" charset="0"/>
              </a:rPr>
              <a:t>ie</a:t>
            </a:r>
            <a:r>
              <a:rPr lang="en-US" sz="2400" dirty="0">
                <a:latin typeface="Times New Roman" panose="02020603050405020304" pitchFamily="18" charset="0"/>
                <a:cs typeface="Times New Roman" panose="02020603050405020304" pitchFamily="18" charset="0"/>
              </a:rPr>
              <a:t>. the last element) of the array as the pivot element.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AF3079B-ADDB-4F31-B5FA-5890C3EF4ABD}"/>
              </a:ext>
            </a:extLst>
          </p:cNvPr>
          <p:cNvSpPr>
            <a:spLocks noGrp="1"/>
          </p:cNvSpPr>
          <p:nvPr>
            <p:ph type="sldNum" sz="quarter" idx="4294967295"/>
          </p:nvPr>
        </p:nvSpPr>
        <p:spPr>
          <a:xfrm>
            <a:off x="8610600" y="6356350"/>
            <a:ext cx="2743200" cy="365125"/>
          </a:xfrm>
        </p:spPr>
        <p:txBody>
          <a:bodyPr/>
          <a:lstStyle/>
          <a:p>
            <a:fld id="{BDCDBBEF-AA6C-4BA6-85B2-A17D7F280E38}" type="slidenum">
              <a:rPr lang="en-US" smtClean="0"/>
              <a:pPr/>
              <a:t>28</a:t>
            </a:fld>
            <a:endParaRPr lang="en-US"/>
          </a:p>
        </p:txBody>
      </p:sp>
      <p:sp>
        <p:nvSpPr>
          <p:cNvPr id="5" name="Rectangle 4">
            <a:extLst>
              <a:ext uri="{FF2B5EF4-FFF2-40B4-BE49-F238E27FC236}">
                <a16:creationId xmlns:a16="http://schemas.microsoft.com/office/drawing/2014/main" id="{A2E20F0E-41C3-4A3C-80AC-3DF58BABF753}"/>
              </a:ext>
            </a:extLst>
          </p:cNvPr>
          <p:cNvSpPr/>
          <p:nvPr/>
        </p:nvSpPr>
        <p:spPr>
          <a:xfrm>
            <a:off x="838200" y="174467"/>
            <a:ext cx="8702964" cy="88804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8EB25C5-4550-4FE2-9DC8-0952C9A9105D}"/>
              </a:ext>
            </a:extLst>
          </p:cNvPr>
          <p:cNvSpPr/>
          <p:nvPr/>
        </p:nvSpPr>
        <p:spPr>
          <a:xfrm>
            <a:off x="838200" y="1244599"/>
            <a:ext cx="10515600" cy="494982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pic>
        <p:nvPicPr>
          <p:cNvPr id="10250" name="Picture 10" descr="Quick Sort Steps">
            <a:extLst>
              <a:ext uri="{FF2B5EF4-FFF2-40B4-BE49-F238E27FC236}">
                <a16:creationId xmlns:a16="http://schemas.microsoft.com/office/drawing/2014/main" id="{1443A9BA-1DE3-41BB-8BB3-0506B403BB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5850" y="3238500"/>
            <a:ext cx="9715500" cy="186690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68C0ABC6-4276-4BE6-9985-0FB57FA11C6A}"/>
              </a:ext>
            </a:extLst>
          </p:cNvPr>
          <p:cNvSpPr txBox="1"/>
          <p:nvPr/>
        </p:nvSpPr>
        <p:spPr>
          <a:xfrm>
            <a:off x="4162425" y="5410200"/>
            <a:ext cx="297180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Figure1: Choosing Pivot element</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042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37050-3A56-4B7D-B555-125115C4D487}"/>
              </a:ext>
            </a:extLst>
          </p:cNvPr>
          <p:cNvSpPr>
            <a:spLocks noGrp="1"/>
          </p:cNvSpPr>
          <p:nvPr>
            <p:ph type="title"/>
          </p:nvPr>
        </p:nvSpPr>
        <p:spPr>
          <a:xfrm>
            <a:off x="838200" y="129598"/>
            <a:ext cx="8721436" cy="828629"/>
          </a:xfrm>
        </p:spPr>
        <p:txBody>
          <a:bodyPr/>
          <a:lstStyle/>
          <a:p>
            <a:pPr algn="r"/>
            <a:r>
              <a:rPr lang="en-IN" b="1" dirty="0" err="1">
                <a:latin typeface="Times New Roman" pitchFamily="18" charset="0"/>
                <a:cs typeface="Times New Roman" pitchFamily="18" charset="0"/>
              </a:rPr>
              <a:t>Contd</a:t>
            </a:r>
            <a:r>
              <a:rPr lang="en-IN" b="1" dirty="0">
                <a:latin typeface="Times New Roman" pitchFamily="18" charset="0"/>
                <a:cs typeface="Times New Roman" pitchFamily="18" charset="0"/>
              </a:rPr>
              <a:t>…</a:t>
            </a:r>
          </a:p>
        </p:txBody>
      </p:sp>
      <p:sp>
        <p:nvSpPr>
          <p:cNvPr id="3" name="Content Placeholder 2">
            <a:extLst>
              <a:ext uri="{FF2B5EF4-FFF2-40B4-BE49-F238E27FC236}">
                <a16:creationId xmlns:a16="http://schemas.microsoft.com/office/drawing/2014/main" id="{A4D4E468-C154-48F4-A143-CEE8669075D7}"/>
              </a:ext>
            </a:extLst>
          </p:cNvPr>
          <p:cNvSpPr>
            <a:spLocks noGrp="1"/>
          </p:cNvSpPr>
          <p:nvPr>
            <p:ph idx="1"/>
          </p:nvPr>
        </p:nvSpPr>
        <p:spPr>
          <a:xfrm>
            <a:off x="838200" y="1137614"/>
            <a:ext cx="10515600" cy="5034586"/>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2. The elements smaller than the pivot element are put on the left and the elements greater than the pivot element are put on the right.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CDA4577-444D-46E5-B1EE-E4E35943C47C}"/>
              </a:ext>
            </a:extLst>
          </p:cNvPr>
          <p:cNvSpPr>
            <a:spLocks noGrp="1"/>
          </p:cNvSpPr>
          <p:nvPr>
            <p:ph type="sldNum" sz="quarter" idx="4294967295"/>
          </p:nvPr>
        </p:nvSpPr>
        <p:spPr>
          <a:xfrm>
            <a:off x="8610600" y="6356350"/>
            <a:ext cx="2743200" cy="365125"/>
          </a:xfrm>
        </p:spPr>
        <p:txBody>
          <a:bodyPr/>
          <a:lstStyle/>
          <a:p>
            <a:fld id="{BDCDBBEF-AA6C-4BA6-85B2-A17D7F280E38}" type="slidenum">
              <a:rPr lang="en-US" smtClean="0"/>
              <a:pPr/>
              <a:t>29</a:t>
            </a:fld>
            <a:endParaRPr lang="en-US"/>
          </a:p>
        </p:txBody>
      </p:sp>
      <p:sp>
        <p:nvSpPr>
          <p:cNvPr id="5" name="Rectangle 4">
            <a:extLst>
              <a:ext uri="{FF2B5EF4-FFF2-40B4-BE49-F238E27FC236}">
                <a16:creationId xmlns:a16="http://schemas.microsoft.com/office/drawing/2014/main" id="{4037BCAF-976F-4E4A-AEDB-8C8A4B413AC4}"/>
              </a:ext>
            </a:extLst>
          </p:cNvPr>
          <p:cNvSpPr/>
          <p:nvPr/>
        </p:nvSpPr>
        <p:spPr>
          <a:xfrm>
            <a:off x="838200" y="120218"/>
            <a:ext cx="8721436" cy="82862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F36084F-98FF-4245-8302-5353FA545260}"/>
              </a:ext>
            </a:extLst>
          </p:cNvPr>
          <p:cNvSpPr/>
          <p:nvPr/>
        </p:nvSpPr>
        <p:spPr>
          <a:xfrm>
            <a:off x="838200" y="1128234"/>
            <a:ext cx="10515600" cy="504396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pic>
        <p:nvPicPr>
          <p:cNvPr id="11266" name="Picture 2" descr="Quick Sort Steps">
            <a:extLst>
              <a:ext uri="{FF2B5EF4-FFF2-40B4-BE49-F238E27FC236}">
                <a16:creationId xmlns:a16="http://schemas.microsoft.com/office/drawing/2014/main" id="{CBF068BE-BA81-4246-BCB6-5863140A8E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8250" y="2495550"/>
            <a:ext cx="9715500" cy="18669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FFBB0599-7990-4038-AFA5-630D712507E8}"/>
              </a:ext>
            </a:extLst>
          </p:cNvPr>
          <p:cNvSpPr txBox="1"/>
          <p:nvPr/>
        </p:nvSpPr>
        <p:spPr>
          <a:xfrm>
            <a:off x="4162425" y="5410200"/>
            <a:ext cx="297180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Figure 2: Setting pivot element</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96935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37050-3A56-4B7D-B555-125115C4D487}"/>
              </a:ext>
            </a:extLst>
          </p:cNvPr>
          <p:cNvSpPr>
            <a:spLocks noGrp="1"/>
          </p:cNvSpPr>
          <p:nvPr>
            <p:ph type="title"/>
          </p:nvPr>
        </p:nvSpPr>
        <p:spPr>
          <a:xfrm>
            <a:off x="838200" y="136525"/>
            <a:ext cx="8758382" cy="808309"/>
          </a:xfrm>
        </p:spPr>
        <p:txBody>
          <a:bodyPr/>
          <a:lstStyle/>
          <a:p>
            <a:pPr algn="ctr"/>
            <a:r>
              <a:rPr lang="en-IN" b="1" dirty="0" err="1">
                <a:latin typeface="Times New Roman" pitchFamily="18" charset="0"/>
                <a:cs typeface="Times New Roman" pitchFamily="18" charset="0"/>
              </a:rPr>
              <a:t>Contd</a:t>
            </a:r>
            <a:r>
              <a:rPr lang="en-IN" b="1" dirty="0">
                <a:latin typeface="Times New Roman" pitchFamily="18" charset="0"/>
                <a:cs typeface="Times New Roman" pitchFamily="18" charset="0"/>
              </a:rPr>
              <a:t>…</a:t>
            </a:r>
            <a:endParaRPr lang="en-IN" dirty="0"/>
          </a:p>
        </p:txBody>
      </p:sp>
      <p:sp>
        <p:nvSpPr>
          <p:cNvPr id="3" name="Content Placeholder 2">
            <a:extLst>
              <a:ext uri="{FF2B5EF4-FFF2-40B4-BE49-F238E27FC236}">
                <a16:creationId xmlns:a16="http://schemas.microsoft.com/office/drawing/2014/main" id="{A4D4E468-C154-48F4-A143-CEE8669075D7}"/>
              </a:ext>
            </a:extLst>
          </p:cNvPr>
          <p:cNvSpPr>
            <a:spLocks noGrp="1"/>
          </p:cNvSpPr>
          <p:nvPr>
            <p:ph idx="1"/>
          </p:nvPr>
        </p:nvSpPr>
        <p:spPr>
          <a:xfrm>
            <a:off x="838200" y="1124221"/>
            <a:ext cx="10515600" cy="5052742"/>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   The above arrangement is achieved by the following steps.</a:t>
            </a:r>
          </a:p>
          <a:p>
            <a:r>
              <a:rPr lang="en-US" sz="2400" dirty="0">
                <a:latin typeface="Times New Roman" panose="02020603050405020304" pitchFamily="18" charset="0"/>
                <a:cs typeface="Times New Roman" panose="02020603050405020304" pitchFamily="18" charset="0"/>
              </a:rPr>
              <a:t>A pointer is fixed at the pivot element. The pivot element is compared with the elements beginning from the first index. If the element greater than the pivot element is reached, a second pointer is set for that element.</a:t>
            </a:r>
          </a:p>
          <a:p>
            <a:r>
              <a:rPr lang="en-US" sz="2400" dirty="0">
                <a:latin typeface="Times New Roman" panose="02020603050405020304" pitchFamily="18" charset="0"/>
                <a:cs typeface="Times New Roman" panose="02020603050405020304" pitchFamily="18" charset="0"/>
              </a:rPr>
              <a:t>Now, the pivot element is compared with the other elements (a third pointer). If an element smaller than the pivot element is reached, the smaller element is swapped with the greater element found earlier.</a:t>
            </a:r>
          </a:p>
          <a:p>
            <a:pPr marL="0" indent="0" algn="just">
              <a:lnSpc>
                <a:spcPct val="150000"/>
              </a:lnSpc>
              <a:buNone/>
            </a:pP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CDA4577-444D-46E5-B1EE-E4E35943C47C}"/>
              </a:ext>
            </a:extLst>
          </p:cNvPr>
          <p:cNvSpPr>
            <a:spLocks noGrp="1"/>
          </p:cNvSpPr>
          <p:nvPr>
            <p:ph type="sldNum" sz="quarter" idx="4294967295"/>
          </p:nvPr>
        </p:nvSpPr>
        <p:spPr>
          <a:xfrm>
            <a:off x="8610600" y="6356350"/>
            <a:ext cx="2743200" cy="365125"/>
          </a:xfrm>
        </p:spPr>
        <p:txBody>
          <a:bodyPr/>
          <a:lstStyle/>
          <a:p>
            <a:fld id="{BDCDBBEF-AA6C-4BA6-85B2-A17D7F280E38}" type="slidenum">
              <a:rPr lang="en-US" smtClean="0"/>
              <a:pPr/>
              <a:t>30</a:t>
            </a:fld>
            <a:endParaRPr lang="en-US"/>
          </a:p>
        </p:txBody>
      </p:sp>
      <p:sp>
        <p:nvSpPr>
          <p:cNvPr id="5" name="Rectangle 4">
            <a:extLst>
              <a:ext uri="{FF2B5EF4-FFF2-40B4-BE49-F238E27FC236}">
                <a16:creationId xmlns:a16="http://schemas.microsoft.com/office/drawing/2014/main" id="{DE961B66-71C9-43A4-ACDA-8775353F9044}"/>
              </a:ext>
            </a:extLst>
          </p:cNvPr>
          <p:cNvSpPr/>
          <p:nvPr/>
        </p:nvSpPr>
        <p:spPr>
          <a:xfrm>
            <a:off x="838200" y="136525"/>
            <a:ext cx="8758382" cy="80830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02C0DD4-A7DF-478D-B20D-0A6A7A561EFA}"/>
              </a:ext>
            </a:extLst>
          </p:cNvPr>
          <p:cNvSpPr/>
          <p:nvPr/>
        </p:nvSpPr>
        <p:spPr>
          <a:xfrm>
            <a:off x="838200" y="1124221"/>
            <a:ext cx="10515600" cy="504797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17352995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37050-3A56-4B7D-B555-125115C4D487}"/>
              </a:ext>
            </a:extLst>
          </p:cNvPr>
          <p:cNvSpPr>
            <a:spLocks noGrp="1"/>
          </p:cNvSpPr>
          <p:nvPr>
            <p:ph type="title"/>
          </p:nvPr>
        </p:nvSpPr>
        <p:spPr>
          <a:xfrm>
            <a:off x="838200" y="109797"/>
            <a:ext cx="8749145" cy="828629"/>
          </a:xfrm>
        </p:spPr>
        <p:txBody>
          <a:bodyPr/>
          <a:lstStyle/>
          <a:p>
            <a:pPr algn="ctr"/>
            <a:r>
              <a:rPr lang="en-IN" b="1" dirty="0" err="1">
                <a:latin typeface="Times New Roman" pitchFamily="18" charset="0"/>
                <a:cs typeface="Times New Roman" pitchFamily="18" charset="0"/>
              </a:rPr>
              <a:t>Contd</a:t>
            </a:r>
            <a:r>
              <a:rPr lang="en-IN" b="1" dirty="0">
                <a:latin typeface="Times New Roman" pitchFamily="18" charset="0"/>
                <a:cs typeface="Times New Roman" pitchFamily="18" charset="0"/>
              </a:rPr>
              <a:t>…</a:t>
            </a:r>
            <a:endParaRPr lang="en-IN" dirty="0"/>
          </a:p>
        </p:txBody>
      </p:sp>
      <p:sp>
        <p:nvSpPr>
          <p:cNvPr id="4" name="Slide Number Placeholder 3">
            <a:extLst>
              <a:ext uri="{FF2B5EF4-FFF2-40B4-BE49-F238E27FC236}">
                <a16:creationId xmlns:a16="http://schemas.microsoft.com/office/drawing/2014/main" id="{2CDA4577-444D-46E5-B1EE-E4E35943C47C}"/>
              </a:ext>
            </a:extLst>
          </p:cNvPr>
          <p:cNvSpPr>
            <a:spLocks noGrp="1"/>
          </p:cNvSpPr>
          <p:nvPr>
            <p:ph type="sldNum" sz="quarter" idx="4294967295"/>
          </p:nvPr>
        </p:nvSpPr>
        <p:spPr>
          <a:xfrm>
            <a:off x="8610600" y="6356350"/>
            <a:ext cx="2743200" cy="365125"/>
          </a:xfrm>
        </p:spPr>
        <p:txBody>
          <a:bodyPr/>
          <a:lstStyle/>
          <a:p>
            <a:fld id="{BDCDBBEF-AA6C-4BA6-85B2-A17D7F280E38}" type="slidenum">
              <a:rPr lang="en-US" smtClean="0"/>
              <a:pPr/>
              <a:t>31</a:t>
            </a:fld>
            <a:endParaRPr lang="en-US"/>
          </a:p>
        </p:txBody>
      </p:sp>
      <p:sp>
        <p:nvSpPr>
          <p:cNvPr id="5" name="Rectangle 4">
            <a:extLst>
              <a:ext uri="{FF2B5EF4-FFF2-40B4-BE49-F238E27FC236}">
                <a16:creationId xmlns:a16="http://schemas.microsoft.com/office/drawing/2014/main" id="{9649D13B-7226-424A-BADB-E05760C70A96}"/>
              </a:ext>
            </a:extLst>
          </p:cNvPr>
          <p:cNvSpPr/>
          <p:nvPr/>
        </p:nvSpPr>
        <p:spPr>
          <a:xfrm>
            <a:off x="838200" y="87572"/>
            <a:ext cx="8749145" cy="82862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C756C7E-1A3E-4BD5-85C3-74274EDD903D}"/>
              </a:ext>
            </a:extLst>
          </p:cNvPr>
          <p:cNvSpPr/>
          <p:nvPr/>
        </p:nvSpPr>
        <p:spPr>
          <a:xfrm>
            <a:off x="838200" y="1100350"/>
            <a:ext cx="10515600" cy="507185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pic>
        <p:nvPicPr>
          <p:cNvPr id="12290" name="Picture 2" descr="Quick Sort Steps">
            <a:extLst>
              <a:ext uri="{FF2B5EF4-FFF2-40B4-BE49-F238E27FC236}">
                <a16:creationId xmlns:a16="http://schemas.microsoft.com/office/drawing/2014/main" id="{022A7A67-CCF3-4F60-A760-DF8B61E0F5DD}"/>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873915" y="1100138"/>
            <a:ext cx="4444170" cy="507206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3A70147-85B3-4817-BFE0-1487E85A3AB9}"/>
              </a:ext>
            </a:extLst>
          </p:cNvPr>
          <p:cNvSpPr txBox="1"/>
          <p:nvPr/>
        </p:nvSpPr>
        <p:spPr>
          <a:xfrm>
            <a:off x="8413957" y="4181475"/>
            <a:ext cx="297180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Figure3: Swapping</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44544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37050-3A56-4B7D-B555-125115C4D487}"/>
              </a:ext>
            </a:extLst>
          </p:cNvPr>
          <p:cNvSpPr>
            <a:spLocks noGrp="1"/>
          </p:cNvSpPr>
          <p:nvPr>
            <p:ph type="title"/>
          </p:nvPr>
        </p:nvSpPr>
        <p:spPr>
          <a:xfrm>
            <a:off x="838200" y="136525"/>
            <a:ext cx="8767618" cy="848083"/>
          </a:xfrm>
        </p:spPr>
        <p:txBody>
          <a:bodyPr/>
          <a:lstStyle/>
          <a:p>
            <a:pPr algn="ctr"/>
            <a:r>
              <a:rPr lang="en-IN" b="1" dirty="0" err="1">
                <a:latin typeface="Times New Roman" pitchFamily="18" charset="0"/>
                <a:cs typeface="Times New Roman" pitchFamily="18" charset="0"/>
              </a:rPr>
              <a:t>Contd</a:t>
            </a:r>
            <a:r>
              <a:rPr lang="en-IN" b="1" dirty="0">
                <a:latin typeface="Times New Roman" pitchFamily="18" charset="0"/>
                <a:cs typeface="Times New Roman" pitchFamily="18" charset="0"/>
              </a:rPr>
              <a:t>…</a:t>
            </a:r>
            <a:endParaRPr lang="en-IN" dirty="0"/>
          </a:p>
        </p:txBody>
      </p:sp>
      <p:sp>
        <p:nvSpPr>
          <p:cNvPr id="4" name="Slide Number Placeholder 3">
            <a:extLst>
              <a:ext uri="{FF2B5EF4-FFF2-40B4-BE49-F238E27FC236}">
                <a16:creationId xmlns:a16="http://schemas.microsoft.com/office/drawing/2014/main" id="{2CDA4577-444D-46E5-B1EE-E4E35943C47C}"/>
              </a:ext>
            </a:extLst>
          </p:cNvPr>
          <p:cNvSpPr>
            <a:spLocks noGrp="1"/>
          </p:cNvSpPr>
          <p:nvPr>
            <p:ph type="sldNum" sz="quarter" idx="4294967295"/>
          </p:nvPr>
        </p:nvSpPr>
        <p:spPr>
          <a:xfrm>
            <a:off x="8610600" y="6356350"/>
            <a:ext cx="2743200" cy="365125"/>
          </a:xfrm>
        </p:spPr>
        <p:txBody>
          <a:bodyPr/>
          <a:lstStyle/>
          <a:p>
            <a:fld id="{BDCDBBEF-AA6C-4BA6-85B2-A17D7F280E38}" type="slidenum">
              <a:rPr lang="en-US" smtClean="0"/>
              <a:pPr/>
              <a:t>32</a:t>
            </a:fld>
            <a:endParaRPr lang="en-US"/>
          </a:p>
        </p:txBody>
      </p:sp>
      <p:sp>
        <p:nvSpPr>
          <p:cNvPr id="5" name="Rectangle 4">
            <a:extLst>
              <a:ext uri="{FF2B5EF4-FFF2-40B4-BE49-F238E27FC236}">
                <a16:creationId xmlns:a16="http://schemas.microsoft.com/office/drawing/2014/main" id="{45783A71-48F8-4AB1-B44A-6EDF2BBD808E}"/>
              </a:ext>
            </a:extLst>
          </p:cNvPr>
          <p:cNvSpPr/>
          <p:nvPr/>
        </p:nvSpPr>
        <p:spPr>
          <a:xfrm>
            <a:off x="838200" y="113434"/>
            <a:ext cx="8767618" cy="84894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3D593F4-4C68-4B00-BB6B-6A3AC6BC800D}"/>
              </a:ext>
            </a:extLst>
          </p:cNvPr>
          <p:cNvSpPr/>
          <p:nvPr/>
        </p:nvSpPr>
        <p:spPr>
          <a:xfrm>
            <a:off x="838200" y="1141770"/>
            <a:ext cx="10515600" cy="521458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7" name="Content Placeholder 6">
            <a:extLst>
              <a:ext uri="{FF2B5EF4-FFF2-40B4-BE49-F238E27FC236}">
                <a16:creationId xmlns:a16="http://schemas.microsoft.com/office/drawing/2014/main" id="{382892CA-D0A9-4EBB-AE5E-326D9C5FE8B5}"/>
              </a:ext>
            </a:extLst>
          </p:cNvPr>
          <p:cNvSpPr>
            <a:spLocks noGrp="1"/>
          </p:cNvSpPr>
          <p:nvPr>
            <p:ph idx="1"/>
          </p:nvPr>
        </p:nvSpPr>
        <p:spPr>
          <a:xfrm>
            <a:off x="838200" y="1163995"/>
            <a:ext cx="10515600" cy="5012968"/>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The process goes on until the second last element is reached.</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Finally, the pivot element is swapped with the second pointer.</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37227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37050-3A56-4B7D-B555-125115C4D487}"/>
              </a:ext>
            </a:extLst>
          </p:cNvPr>
          <p:cNvSpPr>
            <a:spLocks noGrp="1"/>
          </p:cNvSpPr>
          <p:nvPr>
            <p:ph type="title"/>
          </p:nvPr>
        </p:nvSpPr>
        <p:spPr>
          <a:xfrm>
            <a:off x="838200" y="136525"/>
            <a:ext cx="8767618" cy="848083"/>
          </a:xfrm>
        </p:spPr>
        <p:txBody>
          <a:bodyPr/>
          <a:lstStyle/>
          <a:p>
            <a:pPr algn="ctr"/>
            <a:r>
              <a:rPr lang="en-IN" b="1" dirty="0" err="1">
                <a:latin typeface="Times New Roman" pitchFamily="18" charset="0"/>
                <a:cs typeface="Times New Roman" pitchFamily="18" charset="0"/>
              </a:rPr>
              <a:t>Contd</a:t>
            </a:r>
            <a:r>
              <a:rPr lang="en-IN" b="1" dirty="0">
                <a:latin typeface="Times New Roman" pitchFamily="18" charset="0"/>
                <a:cs typeface="Times New Roman" pitchFamily="18" charset="0"/>
              </a:rPr>
              <a:t>…</a:t>
            </a:r>
            <a:endParaRPr lang="en-IN" dirty="0"/>
          </a:p>
        </p:txBody>
      </p:sp>
      <p:sp>
        <p:nvSpPr>
          <p:cNvPr id="4" name="Slide Number Placeholder 3">
            <a:extLst>
              <a:ext uri="{FF2B5EF4-FFF2-40B4-BE49-F238E27FC236}">
                <a16:creationId xmlns:a16="http://schemas.microsoft.com/office/drawing/2014/main" id="{2CDA4577-444D-46E5-B1EE-E4E35943C47C}"/>
              </a:ext>
            </a:extLst>
          </p:cNvPr>
          <p:cNvSpPr>
            <a:spLocks noGrp="1"/>
          </p:cNvSpPr>
          <p:nvPr>
            <p:ph type="sldNum" sz="quarter" idx="4294967295"/>
          </p:nvPr>
        </p:nvSpPr>
        <p:spPr>
          <a:xfrm>
            <a:off x="8610600" y="6356350"/>
            <a:ext cx="2743200" cy="365125"/>
          </a:xfrm>
        </p:spPr>
        <p:txBody>
          <a:bodyPr/>
          <a:lstStyle/>
          <a:p>
            <a:fld id="{BDCDBBEF-AA6C-4BA6-85B2-A17D7F280E38}" type="slidenum">
              <a:rPr lang="en-US" smtClean="0"/>
              <a:pPr/>
              <a:t>33</a:t>
            </a:fld>
            <a:endParaRPr lang="en-US"/>
          </a:p>
        </p:txBody>
      </p:sp>
      <p:sp>
        <p:nvSpPr>
          <p:cNvPr id="5" name="Rectangle 4">
            <a:extLst>
              <a:ext uri="{FF2B5EF4-FFF2-40B4-BE49-F238E27FC236}">
                <a16:creationId xmlns:a16="http://schemas.microsoft.com/office/drawing/2014/main" id="{45783A71-48F8-4AB1-B44A-6EDF2BBD808E}"/>
              </a:ext>
            </a:extLst>
          </p:cNvPr>
          <p:cNvSpPr/>
          <p:nvPr/>
        </p:nvSpPr>
        <p:spPr>
          <a:xfrm>
            <a:off x="838200" y="113434"/>
            <a:ext cx="8767618" cy="84894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3D593F4-4C68-4B00-BB6B-6A3AC6BC800D}"/>
              </a:ext>
            </a:extLst>
          </p:cNvPr>
          <p:cNvSpPr/>
          <p:nvPr/>
        </p:nvSpPr>
        <p:spPr>
          <a:xfrm>
            <a:off x="838200" y="1141770"/>
            <a:ext cx="10515600" cy="521458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pic>
        <p:nvPicPr>
          <p:cNvPr id="14338" name="Picture 2" descr="Quick Sort Steps">
            <a:extLst>
              <a:ext uri="{FF2B5EF4-FFF2-40B4-BE49-F238E27FC236}">
                <a16:creationId xmlns:a16="http://schemas.microsoft.com/office/drawing/2014/main" id="{FABCB4F4-D291-4E7F-8EF1-B1D90C60716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93415" y="1242397"/>
            <a:ext cx="4657187" cy="50133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3B4476E-9F86-4E21-A053-15715A881DAD}"/>
              </a:ext>
            </a:extLst>
          </p:cNvPr>
          <p:cNvSpPr txBox="1"/>
          <p:nvPr/>
        </p:nvSpPr>
        <p:spPr>
          <a:xfrm>
            <a:off x="7966301" y="3667125"/>
            <a:ext cx="297180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Figure 4: Swapping</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11753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37050-3A56-4B7D-B555-125115C4D487}"/>
              </a:ext>
            </a:extLst>
          </p:cNvPr>
          <p:cNvSpPr>
            <a:spLocks noGrp="1"/>
          </p:cNvSpPr>
          <p:nvPr>
            <p:ph type="title"/>
          </p:nvPr>
        </p:nvSpPr>
        <p:spPr>
          <a:xfrm>
            <a:off x="838200" y="136525"/>
            <a:ext cx="8767618" cy="848083"/>
          </a:xfrm>
        </p:spPr>
        <p:txBody>
          <a:bodyPr/>
          <a:lstStyle/>
          <a:p>
            <a:pPr algn="ctr"/>
            <a:r>
              <a:rPr lang="en-IN" b="1" dirty="0" err="1">
                <a:latin typeface="Times New Roman" pitchFamily="18" charset="0"/>
                <a:cs typeface="Times New Roman" pitchFamily="18" charset="0"/>
              </a:rPr>
              <a:t>Contd</a:t>
            </a:r>
            <a:r>
              <a:rPr lang="en-IN" b="1" dirty="0">
                <a:latin typeface="Times New Roman" pitchFamily="18" charset="0"/>
                <a:cs typeface="Times New Roman" pitchFamily="18" charset="0"/>
              </a:rPr>
              <a:t>…</a:t>
            </a:r>
            <a:endParaRPr lang="en-IN" dirty="0"/>
          </a:p>
        </p:txBody>
      </p:sp>
      <p:sp>
        <p:nvSpPr>
          <p:cNvPr id="4" name="Slide Number Placeholder 3">
            <a:extLst>
              <a:ext uri="{FF2B5EF4-FFF2-40B4-BE49-F238E27FC236}">
                <a16:creationId xmlns:a16="http://schemas.microsoft.com/office/drawing/2014/main" id="{2CDA4577-444D-46E5-B1EE-E4E35943C47C}"/>
              </a:ext>
            </a:extLst>
          </p:cNvPr>
          <p:cNvSpPr>
            <a:spLocks noGrp="1"/>
          </p:cNvSpPr>
          <p:nvPr>
            <p:ph type="sldNum" sz="quarter" idx="4294967295"/>
          </p:nvPr>
        </p:nvSpPr>
        <p:spPr>
          <a:xfrm>
            <a:off x="8610600" y="6356350"/>
            <a:ext cx="2743200" cy="365125"/>
          </a:xfrm>
        </p:spPr>
        <p:txBody>
          <a:bodyPr/>
          <a:lstStyle/>
          <a:p>
            <a:fld id="{BDCDBBEF-AA6C-4BA6-85B2-A17D7F280E38}" type="slidenum">
              <a:rPr lang="en-US" smtClean="0"/>
              <a:pPr/>
              <a:t>34</a:t>
            </a:fld>
            <a:endParaRPr lang="en-US"/>
          </a:p>
        </p:txBody>
      </p:sp>
      <p:sp>
        <p:nvSpPr>
          <p:cNvPr id="5" name="Rectangle 4">
            <a:extLst>
              <a:ext uri="{FF2B5EF4-FFF2-40B4-BE49-F238E27FC236}">
                <a16:creationId xmlns:a16="http://schemas.microsoft.com/office/drawing/2014/main" id="{45783A71-48F8-4AB1-B44A-6EDF2BBD808E}"/>
              </a:ext>
            </a:extLst>
          </p:cNvPr>
          <p:cNvSpPr/>
          <p:nvPr/>
        </p:nvSpPr>
        <p:spPr>
          <a:xfrm>
            <a:off x="838200" y="113434"/>
            <a:ext cx="8767618" cy="84894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3D593F4-4C68-4B00-BB6B-6A3AC6BC800D}"/>
              </a:ext>
            </a:extLst>
          </p:cNvPr>
          <p:cNvSpPr/>
          <p:nvPr/>
        </p:nvSpPr>
        <p:spPr>
          <a:xfrm>
            <a:off x="838200" y="1141770"/>
            <a:ext cx="10515600" cy="521458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9E1870CD-F471-4726-9354-F837988E95BB}"/>
              </a:ext>
            </a:extLst>
          </p:cNvPr>
          <p:cNvSpPr>
            <a:spLocks noGrp="1"/>
          </p:cNvSpPr>
          <p:nvPr>
            <p:ph idx="1"/>
          </p:nvPr>
        </p:nvSpPr>
        <p:spPr>
          <a:xfrm>
            <a:off x="838200" y="1163995"/>
            <a:ext cx="10515600" cy="5012968"/>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3. Pivot elements are again chosen for the left and the right sub-parts separately. Within these sub-parts, the pivot elements are placed at their right position. Then, step 2 is repeated.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51107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37050-3A56-4B7D-B555-125115C4D487}"/>
              </a:ext>
            </a:extLst>
          </p:cNvPr>
          <p:cNvSpPr>
            <a:spLocks noGrp="1"/>
          </p:cNvSpPr>
          <p:nvPr>
            <p:ph type="title"/>
          </p:nvPr>
        </p:nvSpPr>
        <p:spPr>
          <a:xfrm>
            <a:off x="838200" y="136525"/>
            <a:ext cx="8767618" cy="848083"/>
          </a:xfrm>
        </p:spPr>
        <p:txBody>
          <a:bodyPr/>
          <a:lstStyle/>
          <a:p>
            <a:pPr algn="ctr"/>
            <a:r>
              <a:rPr lang="en-IN" b="1" dirty="0" err="1">
                <a:latin typeface="Times New Roman" pitchFamily="18" charset="0"/>
                <a:cs typeface="Times New Roman" pitchFamily="18" charset="0"/>
              </a:rPr>
              <a:t>Contd</a:t>
            </a:r>
            <a:r>
              <a:rPr lang="en-IN" b="1" dirty="0">
                <a:latin typeface="Times New Roman" pitchFamily="18" charset="0"/>
                <a:cs typeface="Times New Roman" pitchFamily="18" charset="0"/>
              </a:rPr>
              <a:t>…</a:t>
            </a:r>
            <a:endParaRPr lang="en-IN" dirty="0"/>
          </a:p>
        </p:txBody>
      </p:sp>
      <p:sp>
        <p:nvSpPr>
          <p:cNvPr id="4" name="Slide Number Placeholder 3">
            <a:extLst>
              <a:ext uri="{FF2B5EF4-FFF2-40B4-BE49-F238E27FC236}">
                <a16:creationId xmlns:a16="http://schemas.microsoft.com/office/drawing/2014/main" id="{2CDA4577-444D-46E5-B1EE-E4E35943C47C}"/>
              </a:ext>
            </a:extLst>
          </p:cNvPr>
          <p:cNvSpPr>
            <a:spLocks noGrp="1"/>
          </p:cNvSpPr>
          <p:nvPr>
            <p:ph type="sldNum" sz="quarter" idx="4294967295"/>
          </p:nvPr>
        </p:nvSpPr>
        <p:spPr>
          <a:xfrm>
            <a:off x="8610600" y="6356350"/>
            <a:ext cx="2743200" cy="365125"/>
          </a:xfrm>
        </p:spPr>
        <p:txBody>
          <a:bodyPr/>
          <a:lstStyle/>
          <a:p>
            <a:fld id="{BDCDBBEF-AA6C-4BA6-85B2-A17D7F280E38}" type="slidenum">
              <a:rPr lang="en-US" smtClean="0"/>
              <a:pPr/>
              <a:t>35</a:t>
            </a:fld>
            <a:endParaRPr lang="en-US"/>
          </a:p>
        </p:txBody>
      </p:sp>
      <p:sp>
        <p:nvSpPr>
          <p:cNvPr id="5" name="Rectangle 4">
            <a:extLst>
              <a:ext uri="{FF2B5EF4-FFF2-40B4-BE49-F238E27FC236}">
                <a16:creationId xmlns:a16="http://schemas.microsoft.com/office/drawing/2014/main" id="{45783A71-48F8-4AB1-B44A-6EDF2BBD808E}"/>
              </a:ext>
            </a:extLst>
          </p:cNvPr>
          <p:cNvSpPr/>
          <p:nvPr/>
        </p:nvSpPr>
        <p:spPr>
          <a:xfrm>
            <a:off x="838200" y="113434"/>
            <a:ext cx="8767618" cy="84894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3D593F4-4C68-4B00-BB6B-6A3AC6BC800D}"/>
              </a:ext>
            </a:extLst>
          </p:cNvPr>
          <p:cNvSpPr/>
          <p:nvPr/>
        </p:nvSpPr>
        <p:spPr>
          <a:xfrm>
            <a:off x="838200" y="1141770"/>
            <a:ext cx="10515600" cy="521458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pic>
        <p:nvPicPr>
          <p:cNvPr id="15362" name="Picture 2" descr="Quick Sort Steps">
            <a:extLst>
              <a:ext uri="{FF2B5EF4-FFF2-40B4-BE49-F238E27FC236}">
                <a16:creationId xmlns:a16="http://schemas.microsoft.com/office/drawing/2014/main" id="{6A9B20DB-7A74-49B2-9B5E-F2D0C363352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24125" y="1196376"/>
            <a:ext cx="5632610" cy="451985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F88C405-63A3-4B6D-99FD-35232132BBF3}"/>
              </a:ext>
            </a:extLst>
          </p:cNvPr>
          <p:cNvSpPr txBox="1"/>
          <p:nvPr/>
        </p:nvSpPr>
        <p:spPr>
          <a:xfrm>
            <a:off x="8356760" y="4505325"/>
            <a:ext cx="297180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Figure 5: Partitioning</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58722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37050-3A56-4B7D-B555-125115C4D487}"/>
              </a:ext>
            </a:extLst>
          </p:cNvPr>
          <p:cNvSpPr>
            <a:spLocks noGrp="1"/>
          </p:cNvSpPr>
          <p:nvPr>
            <p:ph type="title"/>
          </p:nvPr>
        </p:nvSpPr>
        <p:spPr>
          <a:xfrm>
            <a:off x="838200" y="136525"/>
            <a:ext cx="8767618" cy="848083"/>
          </a:xfrm>
        </p:spPr>
        <p:txBody>
          <a:bodyPr/>
          <a:lstStyle/>
          <a:p>
            <a:pPr algn="ctr"/>
            <a:r>
              <a:rPr lang="en-IN" b="1" dirty="0" err="1">
                <a:latin typeface="Times New Roman" pitchFamily="18" charset="0"/>
                <a:cs typeface="Times New Roman" pitchFamily="18" charset="0"/>
              </a:rPr>
              <a:t>Contd</a:t>
            </a:r>
            <a:r>
              <a:rPr lang="en-IN" b="1" dirty="0">
                <a:latin typeface="Times New Roman" pitchFamily="18" charset="0"/>
                <a:cs typeface="Times New Roman" pitchFamily="18" charset="0"/>
              </a:rPr>
              <a:t>…</a:t>
            </a:r>
            <a:endParaRPr lang="en-IN" dirty="0"/>
          </a:p>
        </p:txBody>
      </p:sp>
      <p:sp>
        <p:nvSpPr>
          <p:cNvPr id="4" name="Slide Number Placeholder 3">
            <a:extLst>
              <a:ext uri="{FF2B5EF4-FFF2-40B4-BE49-F238E27FC236}">
                <a16:creationId xmlns:a16="http://schemas.microsoft.com/office/drawing/2014/main" id="{2CDA4577-444D-46E5-B1EE-E4E35943C47C}"/>
              </a:ext>
            </a:extLst>
          </p:cNvPr>
          <p:cNvSpPr>
            <a:spLocks noGrp="1"/>
          </p:cNvSpPr>
          <p:nvPr>
            <p:ph type="sldNum" sz="quarter" idx="4294967295"/>
          </p:nvPr>
        </p:nvSpPr>
        <p:spPr>
          <a:xfrm>
            <a:off x="8610600" y="6356350"/>
            <a:ext cx="2743200" cy="365125"/>
          </a:xfrm>
        </p:spPr>
        <p:txBody>
          <a:bodyPr/>
          <a:lstStyle/>
          <a:p>
            <a:fld id="{BDCDBBEF-AA6C-4BA6-85B2-A17D7F280E38}" type="slidenum">
              <a:rPr lang="en-US" smtClean="0"/>
              <a:pPr/>
              <a:t>36</a:t>
            </a:fld>
            <a:endParaRPr lang="en-US"/>
          </a:p>
        </p:txBody>
      </p:sp>
      <p:sp>
        <p:nvSpPr>
          <p:cNvPr id="5" name="Rectangle 4">
            <a:extLst>
              <a:ext uri="{FF2B5EF4-FFF2-40B4-BE49-F238E27FC236}">
                <a16:creationId xmlns:a16="http://schemas.microsoft.com/office/drawing/2014/main" id="{45783A71-48F8-4AB1-B44A-6EDF2BBD808E}"/>
              </a:ext>
            </a:extLst>
          </p:cNvPr>
          <p:cNvSpPr/>
          <p:nvPr/>
        </p:nvSpPr>
        <p:spPr>
          <a:xfrm>
            <a:off x="838200" y="113434"/>
            <a:ext cx="8767618" cy="84894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3D593F4-4C68-4B00-BB6B-6A3AC6BC800D}"/>
              </a:ext>
            </a:extLst>
          </p:cNvPr>
          <p:cNvSpPr/>
          <p:nvPr/>
        </p:nvSpPr>
        <p:spPr>
          <a:xfrm>
            <a:off x="838200" y="1141770"/>
            <a:ext cx="10515600" cy="521458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D28405E1-146D-4227-B84D-DA848154B079}"/>
              </a:ext>
            </a:extLst>
          </p:cNvPr>
          <p:cNvSpPr>
            <a:spLocks noGrp="1"/>
          </p:cNvSpPr>
          <p:nvPr>
            <p:ph idx="1"/>
          </p:nvPr>
        </p:nvSpPr>
        <p:spPr>
          <a:xfrm>
            <a:off x="838200" y="1163995"/>
            <a:ext cx="10515600" cy="5012968"/>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4. The sub-parts are again divided into smaller sub-parts until each subpart is formed of a single element.</a:t>
            </a:r>
          </a:p>
          <a:p>
            <a:pPr marL="0" indent="0">
              <a:buNone/>
            </a:pPr>
            <a:r>
              <a:rPr lang="en-US" sz="2400" dirty="0">
                <a:latin typeface="Times New Roman" panose="02020603050405020304" pitchFamily="18" charset="0"/>
                <a:cs typeface="Times New Roman" panose="02020603050405020304" pitchFamily="18" charset="0"/>
              </a:rPr>
              <a:t>5. At this point, the array is already sorted.</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89707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37050-3A56-4B7D-B555-125115C4D487}"/>
              </a:ext>
            </a:extLst>
          </p:cNvPr>
          <p:cNvSpPr>
            <a:spLocks noGrp="1"/>
          </p:cNvSpPr>
          <p:nvPr>
            <p:ph type="title"/>
          </p:nvPr>
        </p:nvSpPr>
        <p:spPr>
          <a:xfrm>
            <a:off x="838200" y="136525"/>
            <a:ext cx="8767618" cy="848083"/>
          </a:xfrm>
        </p:spPr>
        <p:txBody>
          <a:bodyPr/>
          <a:lstStyle/>
          <a:p>
            <a:pPr algn="ctr"/>
            <a:r>
              <a:rPr lang="en-US" b="1" dirty="0">
                <a:latin typeface="Times New Roman" pitchFamily="18" charset="0"/>
                <a:cs typeface="Times New Roman" pitchFamily="18" charset="0"/>
              </a:rPr>
              <a:t>P</a:t>
            </a:r>
            <a:r>
              <a:rPr lang="en-IN" b="1" dirty="0" err="1">
                <a:latin typeface="Times New Roman" pitchFamily="18" charset="0"/>
                <a:cs typeface="Times New Roman" pitchFamily="18" charset="0"/>
              </a:rPr>
              <a:t>icking</a:t>
            </a:r>
            <a:r>
              <a:rPr lang="en-IN" b="1" dirty="0">
                <a:latin typeface="Times New Roman" pitchFamily="18" charset="0"/>
                <a:cs typeface="Times New Roman" pitchFamily="18" charset="0"/>
              </a:rPr>
              <a:t> Pivot Element</a:t>
            </a:r>
            <a:endParaRPr lang="en-IN" dirty="0"/>
          </a:p>
        </p:txBody>
      </p:sp>
      <p:sp>
        <p:nvSpPr>
          <p:cNvPr id="4" name="Slide Number Placeholder 3">
            <a:extLst>
              <a:ext uri="{FF2B5EF4-FFF2-40B4-BE49-F238E27FC236}">
                <a16:creationId xmlns:a16="http://schemas.microsoft.com/office/drawing/2014/main" id="{2CDA4577-444D-46E5-B1EE-E4E35943C47C}"/>
              </a:ext>
            </a:extLst>
          </p:cNvPr>
          <p:cNvSpPr>
            <a:spLocks noGrp="1"/>
          </p:cNvSpPr>
          <p:nvPr>
            <p:ph type="sldNum" sz="quarter" idx="4294967295"/>
          </p:nvPr>
        </p:nvSpPr>
        <p:spPr>
          <a:xfrm>
            <a:off x="8610600" y="6356350"/>
            <a:ext cx="2743200" cy="365125"/>
          </a:xfrm>
        </p:spPr>
        <p:txBody>
          <a:bodyPr/>
          <a:lstStyle/>
          <a:p>
            <a:fld id="{BDCDBBEF-AA6C-4BA6-85B2-A17D7F280E38}" type="slidenum">
              <a:rPr lang="en-US" smtClean="0"/>
              <a:pPr/>
              <a:t>37</a:t>
            </a:fld>
            <a:endParaRPr lang="en-US"/>
          </a:p>
        </p:txBody>
      </p:sp>
      <p:sp>
        <p:nvSpPr>
          <p:cNvPr id="5" name="Rectangle 4">
            <a:extLst>
              <a:ext uri="{FF2B5EF4-FFF2-40B4-BE49-F238E27FC236}">
                <a16:creationId xmlns:a16="http://schemas.microsoft.com/office/drawing/2014/main" id="{45783A71-48F8-4AB1-B44A-6EDF2BBD808E}"/>
              </a:ext>
            </a:extLst>
          </p:cNvPr>
          <p:cNvSpPr/>
          <p:nvPr/>
        </p:nvSpPr>
        <p:spPr>
          <a:xfrm>
            <a:off x="838200" y="113434"/>
            <a:ext cx="8767618" cy="84894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3D593F4-4C68-4B00-BB6B-6A3AC6BC800D}"/>
              </a:ext>
            </a:extLst>
          </p:cNvPr>
          <p:cNvSpPr/>
          <p:nvPr/>
        </p:nvSpPr>
        <p:spPr>
          <a:xfrm>
            <a:off x="838200" y="1141770"/>
            <a:ext cx="10515600" cy="521458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D28405E1-146D-4227-B84D-DA848154B079}"/>
              </a:ext>
            </a:extLst>
          </p:cNvPr>
          <p:cNvSpPr>
            <a:spLocks noGrp="1"/>
          </p:cNvSpPr>
          <p:nvPr>
            <p:ph idx="1"/>
          </p:nvPr>
        </p:nvSpPr>
        <p:spPr>
          <a:xfrm>
            <a:off x="838200" y="1163995"/>
            <a:ext cx="10515600" cy="5012968"/>
          </a:xfrm>
        </p:spPr>
        <p:txBody>
          <a:bodyPr>
            <a:normAutofit/>
          </a:bodyPr>
          <a:lstStyle/>
          <a:p>
            <a:pPr algn="just" fontAlgn="base"/>
            <a:r>
              <a:rPr lang="en-US" sz="2400" dirty="0">
                <a:latin typeface="Times New Roman" panose="02020603050405020304" pitchFamily="18" charset="0"/>
                <a:cs typeface="Times New Roman" panose="02020603050405020304" pitchFamily="18" charset="0"/>
              </a:rPr>
              <a:t>Like Merge sort, </a:t>
            </a:r>
            <a:r>
              <a:rPr lang="en-US" sz="2400" dirty="0" err="1">
                <a:latin typeface="Times New Roman" panose="02020603050405020304" pitchFamily="18" charset="0"/>
                <a:cs typeface="Times New Roman" panose="02020603050405020304" pitchFamily="18" charset="0"/>
              </a:rPr>
              <a:t>QuickSort</a:t>
            </a:r>
            <a:r>
              <a:rPr lang="en-US" sz="2400" dirty="0">
                <a:latin typeface="Times New Roman" panose="02020603050405020304" pitchFamily="18" charset="0"/>
                <a:cs typeface="Times New Roman" panose="02020603050405020304" pitchFamily="18" charset="0"/>
              </a:rPr>
              <a:t> is a Divide and Conquer algorithm. It picks an element as pivot and partitions the given array around the picked pivot. There are many different versions of </a:t>
            </a:r>
            <a:r>
              <a:rPr lang="en-US" sz="2400" dirty="0" err="1">
                <a:latin typeface="Times New Roman" panose="02020603050405020304" pitchFamily="18" charset="0"/>
                <a:cs typeface="Times New Roman" panose="02020603050405020304" pitchFamily="18" charset="0"/>
              </a:rPr>
              <a:t>quickSort</a:t>
            </a:r>
            <a:r>
              <a:rPr lang="en-US" sz="2400" dirty="0">
                <a:latin typeface="Times New Roman" panose="02020603050405020304" pitchFamily="18" charset="0"/>
                <a:cs typeface="Times New Roman" panose="02020603050405020304" pitchFamily="18" charset="0"/>
              </a:rPr>
              <a:t> that pick pivot in different ways.</a:t>
            </a:r>
          </a:p>
          <a:p>
            <a:pPr algn="just" fontAlgn="base"/>
            <a:r>
              <a:rPr lang="en-US" sz="2400" dirty="0">
                <a:latin typeface="Times New Roman" panose="02020603050405020304" pitchFamily="18" charset="0"/>
                <a:cs typeface="Times New Roman" panose="02020603050405020304" pitchFamily="18" charset="0"/>
              </a:rPr>
              <a:t>Always pick first element as pivot.</a:t>
            </a:r>
          </a:p>
          <a:p>
            <a:pPr algn="just" fontAlgn="base"/>
            <a:r>
              <a:rPr lang="en-US" sz="2400" dirty="0">
                <a:latin typeface="Times New Roman" panose="02020603050405020304" pitchFamily="18" charset="0"/>
                <a:cs typeface="Times New Roman" panose="02020603050405020304" pitchFamily="18" charset="0"/>
              </a:rPr>
              <a:t>Always pick last element as pivot (implemented below).</a:t>
            </a:r>
          </a:p>
          <a:p>
            <a:pPr algn="just" fontAlgn="base"/>
            <a:r>
              <a:rPr lang="en-US" sz="2400" dirty="0">
                <a:latin typeface="Times New Roman" panose="02020603050405020304" pitchFamily="18" charset="0"/>
                <a:cs typeface="Times New Roman" panose="02020603050405020304" pitchFamily="18" charset="0"/>
              </a:rPr>
              <a:t>Pick a random element as pivot.</a:t>
            </a:r>
          </a:p>
          <a:p>
            <a:pPr algn="just" fontAlgn="base"/>
            <a:r>
              <a:rPr lang="en-US" sz="2400" dirty="0">
                <a:latin typeface="Times New Roman" panose="02020603050405020304" pitchFamily="18" charset="0"/>
                <a:cs typeface="Times New Roman" panose="02020603050405020304" pitchFamily="18" charset="0"/>
              </a:rPr>
              <a:t>Pick median as pivot.</a:t>
            </a:r>
          </a:p>
        </p:txBody>
      </p:sp>
    </p:spTree>
    <p:extLst>
      <p:ext uri="{BB962C8B-B14F-4D97-AF65-F5344CB8AC3E}">
        <p14:creationId xmlns:p14="http://schemas.microsoft.com/office/powerpoint/2010/main" val="18738599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DA324E-DF48-4753-9565-B5E706C7AB1C}"/>
              </a:ext>
            </a:extLst>
          </p:cNvPr>
          <p:cNvSpPr>
            <a:spLocks noGrp="1"/>
          </p:cNvSpPr>
          <p:nvPr>
            <p:ph idx="1"/>
          </p:nvPr>
        </p:nvSpPr>
        <p:spPr>
          <a:xfrm>
            <a:off x="838200" y="1107577"/>
            <a:ext cx="10515600" cy="5069385"/>
          </a:xfrm>
        </p:spPr>
        <p:txBody>
          <a:bodyPr>
            <a:normAutofit/>
          </a:bodyPr>
          <a:lstStyle/>
          <a:p>
            <a:pPr marL="457200" indent="-457200" algn="just">
              <a:lnSpc>
                <a:spcPct val="150000"/>
              </a:lnSpc>
              <a:buFont typeface="Monotype Sorts" pitchFamily="2" charset="2"/>
              <a:buAutoNum type="arabicPeriod"/>
            </a:pPr>
            <a:r>
              <a:rPr lang="en-US" altLang="en-US" sz="2400" dirty="0">
                <a:latin typeface="Times New Roman" panose="02020603050405020304" pitchFamily="18" charset="0"/>
                <a:cs typeface="Times New Roman" panose="02020603050405020304" pitchFamily="18" charset="0"/>
              </a:rPr>
              <a:t>Reduce problem instance to smaller instance of the same problem</a:t>
            </a:r>
          </a:p>
          <a:p>
            <a:pPr marL="457200" indent="-457200" algn="just">
              <a:lnSpc>
                <a:spcPct val="150000"/>
              </a:lnSpc>
              <a:buFont typeface="Monotype Sorts" pitchFamily="2" charset="2"/>
              <a:buAutoNum type="arabicPeriod"/>
            </a:pPr>
            <a:r>
              <a:rPr lang="en-US" altLang="en-US" sz="2400" dirty="0">
                <a:latin typeface="Times New Roman" panose="02020603050405020304" pitchFamily="18" charset="0"/>
                <a:cs typeface="Times New Roman" panose="02020603050405020304" pitchFamily="18" charset="0"/>
              </a:rPr>
              <a:t>Solve smaller instance</a:t>
            </a:r>
          </a:p>
          <a:p>
            <a:pPr marL="457200" indent="-457200" algn="just">
              <a:lnSpc>
                <a:spcPct val="150000"/>
              </a:lnSpc>
              <a:buFont typeface="Monotype Sorts" pitchFamily="2" charset="2"/>
              <a:buAutoNum type="arabicPeriod"/>
            </a:pPr>
            <a:r>
              <a:rPr lang="en-US" altLang="en-US" sz="2400" dirty="0">
                <a:latin typeface="Times New Roman" panose="02020603050405020304" pitchFamily="18" charset="0"/>
                <a:cs typeface="Times New Roman" panose="02020603050405020304" pitchFamily="18" charset="0"/>
              </a:rPr>
              <a:t>Extend solution of smaller instance to obtain solution to original instance</a:t>
            </a:r>
          </a:p>
          <a:p>
            <a:pPr marL="457200" indent="-457200" algn="just">
              <a:lnSpc>
                <a:spcPct val="150000"/>
              </a:lnSpc>
            </a:pPr>
            <a:r>
              <a:rPr lang="en-US" altLang="en-US" sz="2400" dirty="0">
                <a:latin typeface="Times New Roman" panose="02020603050405020304" pitchFamily="18" charset="0"/>
                <a:cs typeface="Times New Roman" panose="02020603050405020304" pitchFamily="18" charset="0"/>
              </a:rPr>
              <a:t>Can be implemented either top-down or bottom-up</a:t>
            </a:r>
          </a:p>
          <a:p>
            <a:pPr marL="457200" indent="-457200" algn="just">
              <a:lnSpc>
                <a:spcPct val="150000"/>
              </a:lnSpc>
            </a:pPr>
            <a:r>
              <a:rPr lang="en-US" altLang="en-US" sz="2400" dirty="0">
                <a:latin typeface="Times New Roman" panose="02020603050405020304" pitchFamily="18" charset="0"/>
                <a:cs typeface="Times New Roman" panose="02020603050405020304" pitchFamily="18" charset="0"/>
              </a:rPr>
              <a:t>Also referred to as </a:t>
            </a:r>
            <a:r>
              <a:rPr lang="en-US" altLang="en-US" sz="2400" i="1" dirty="0">
                <a:latin typeface="Times New Roman" panose="02020603050405020304" pitchFamily="18" charset="0"/>
                <a:cs typeface="Times New Roman" panose="02020603050405020304" pitchFamily="18" charset="0"/>
              </a:rPr>
              <a:t>inductive</a:t>
            </a:r>
            <a:r>
              <a:rPr lang="en-US" altLang="en-US" sz="2400" dirty="0">
                <a:latin typeface="Times New Roman" panose="02020603050405020304" pitchFamily="18" charset="0"/>
                <a:cs typeface="Times New Roman" panose="02020603050405020304" pitchFamily="18" charset="0"/>
              </a:rPr>
              <a:t> or</a:t>
            </a:r>
            <a:r>
              <a:rPr lang="en-US" altLang="en-US" sz="2400" i="1" dirty="0">
                <a:latin typeface="Times New Roman" panose="02020603050405020304" pitchFamily="18" charset="0"/>
                <a:cs typeface="Times New Roman" panose="02020603050405020304" pitchFamily="18" charset="0"/>
              </a:rPr>
              <a:t> incremental</a:t>
            </a:r>
            <a:r>
              <a:rPr lang="en-US" altLang="en-US" sz="2400" dirty="0">
                <a:latin typeface="Times New Roman" panose="02020603050405020304" pitchFamily="18" charset="0"/>
                <a:cs typeface="Times New Roman" panose="02020603050405020304" pitchFamily="18" charset="0"/>
              </a:rPr>
              <a:t> approach</a:t>
            </a:r>
          </a:p>
        </p:txBody>
      </p:sp>
      <p:sp>
        <p:nvSpPr>
          <p:cNvPr id="4" name="Slide Number Placeholder 3"/>
          <p:cNvSpPr>
            <a:spLocks noGrp="1"/>
          </p:cNvSpPr>
          <p:nvPr>
            <p:ph type="sldNum" sz="quarter" idx="12"/>
          </p:nvPr>
        </p:nvSpPr>
        <p:spPr/>
        <p:txBody>
          <a:bodyPr/>
          <a:lstStyle/>
          <a:p>
            <a:fld id="{68E95BDB-EE7F-43F5-BD69-3B4091AE3092}" type="slidenum">
              <a:rPr lang="en-IN" smtClean="0"/>
              <a:pPr/>
              <a:t>38</a:t>
            </a:fld>
            <a:endParaRPr lang="en-IN" dirty="0"/>
          </a:p>
        </p:txBody>
      </p:sp>
      <p:sp>
        <p:nvSpPr>
          <p:cNvPr id="5" name="Rectangle 4">
            <a:extLst>
              <a:ext uri="{FF2B5EF4-FFF2-40B4-BE49-F238E27FC236}">
                <a16:creationId xmlns:a16="http://schemas.microsoft.com/office/drawing/2014/main" id="{592F9C6B-84FE-4477-96BD-056EAA1B6416}"/>
              </a:ext>
            </a:extLst>
          </p:cNvPr>
          <p:cNvSpPr/>
          <p:nvPr/>
        </p:nvSpPr>
        <p:spPr>
          <a:xfrm>
            <a:off x="838200" y="158750"/>
            <a:ext cx="8786091" cy="769441"/>
          </a:xfrm>
          <a:prstGeom prst="rect">
            <a:avLst/>
          </a:prstGeom>
        </p:spPr>
        <p:txBody>
          <a:bodyPr wrap="square">
            <a:spAutoFit/>
          </a:bodyPr>
          <a:lstStyle/>
          <a:p>
            <a:pPr algn="ctr"/>
            <a:r>
              <a:rPr lang="en-US" sz="4400" b="1" dirty="0">
                <a:latin typeface="Times New Roman" panose="02020603050405020304" pitchFamily="18" charset="0"/>
                <a:cs typeface="Times New Roman" panose="02020603050405020304" pitchFamily="18" charset="0"/>
              </a:rPr>
              <a:t>    Decrease &amp; Conquer</a:t>
            </a:r>
            <a:endParaRPr lang="en-IN" sz="4400" dirty="0">
              <a:latin typeface="Times New Roman" panose="02020603050405020304" pitchFamily="18" charset="0"/>
              <a:cs typeface="Times New Roman" panose="02020603050405020304" pitchFamily="18" charset="0"/>
            </a:endParaRPr>
          </a:p>
        </p:txBody>
      </p:sp>
      <p:sp>
        <p:nvSpPr>
          <p:cNvPr id="9" name="Rectangle 3">
            <a:extLst>
              <a:ext uri="{FF2B5EF4-FFF2-40B4-BE49-F238E27FC236}">
                <a16:creationId xmlns:a16="http://schemas.microsoft.com/office/drawing/2014/main" id="{068B10FD-0768-4475-934C-1E863B8458A5}"/>
              </a:ext>
            </a:extLst>
          </p:cNvPr>
          <p:cNvSpPr>
            <a:spLocks noChangeArrowheads="1"/>
          </p:cNvSpPr>
          <p:nvPr/>
        </p:nvSpPr>
        <p:spPr bwMode="auto">
          <a:xfrm>
            <a:off x="0" y="-184666"/>
            <a:ext cx="264816"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7">
            <a:extLst>
              <a:ext uri="{FF2B5EF4-FFF2-40B4-BE49-F238E27FC236}">
                <a16:creationId xmlns:a16="http://schemas.microsoft.com/office/drawing/2014/main" id="{CC87F129-1760-41C6-9AA2-7145D6426A56}"/>
              </a:ext>
            </a:extLst>
          </p:cNvPr>
          <p:cNvSpPr/>
          <p:nvPr/>
        </p:nvSpPr>
        <p:spPr>
          <a:xfrm>
            <a:off x="838200" y="1085353"/>
            <a:ext cx="10515600" cy="50916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A52C848E-E775-410D-9350-AAB1713CDEC1}"/>
              </a:ext>
            </a:extLst>
          </p:cNvPr>
          <p:cNvSpPr/>
          <p:nvPr/>
        </p:nvSpPr>
        <p:spPr>
          <a:xfrm>
            <a:off x="838200" y="136525"/>
            <a:ext cx="8786091" cy="76944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2308890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8E95BDB-EE7F-43F5-BD69-3B4091AE3092}" type="slidenum">
              <a:rPr lang="en-IN" smtClean="0"/>
              <a:pPr/>
              <a:t>39</a:t>
            </a:fld>
            <a:endParaRPr lang="en-IN" dirty="0"/>
          </a:p>
        </p:txBody>
      </p:sp>
      <p:sp>
        <p:nvSpPr>
          <p:cNvPr id="5" name="Rectangle 4">
            <a:extLst>
              <a:ext uri="{FF2B5EF4-FFF2-40B4-BE49-F238E27FC236}">
                <a16:creationId xmlns:a16="http://schemas.microsoft.com/office/drawing/2014/main" id="{592F9C6B-84FE-4477-96BD-056EAA1B6416}"/>
              </a:ext>
            </a:extLst>
          </p:cNvPr>
          <p:cNvSpPr/>
          <p:nvPr/>
        </p:nvSpPr>
        <p:spPr>
          <a:xfrm>
            <a:off x="838200" y="158750"/>
            <a:ext cx="8786091" cy="769441"/>
          </a:xfrm>
          <a:prstGeom prst="rect">
            <a:avLst/>
          </a:prstGeom>
        </p:spPr>
        <p:txBody>
          <a:bodyPr wrap="square">
            <a:spAutoFit/>
          </a:bodyPr>
          <a:lstStyle/>
          <a:p>
            <a:pPr algn="ctr"/>
            <a:r>
              <a:rPr lang="en-US" sz="4400" b="1" dirty="0">
                <a:latin typeface="Times New Roman" panose="02020603050405020304" pitchFamily="18" charset="0"/>
                <a:cs typeface="Times New Roman" panose="02020603050405020304" pitchFamily="18" charset="0"/>
              </a:rPr>
              <a:t> </a:t>
            </a:r>
            <a:r>
              <a:rPr lang="en-US" sz="4400" b="1" dirty="0">
                <a:latin typeface="Calibri" panose="020F0502020204030204" pitchFamily="34" charset="0"/>
                <a:cs typeface="Calibri" panose="020F0502020204030204" pitchFamily="34" charset="0"/>
              </a:rPr>
              <a:t>Decrease &amp; Conquer (contd.)</a:t>
            </a:r>
            <a:endParaRPr lang="en-IN" sz="4400" dirty="0">
              <a:latin typeface="Calibri" panose="020F0502020204030204" pitchFamily="34" charset="0"/>
              <a:cs typeface="Calibri" panose="020F0502020204030204" pitchFamily="34" charset="0"/>
            </a:endParaRPr>
          </a:p>
        </p:txBody>
      </p:sp>
      <p:sp>
        <p:nvSpPr>
          <p:cNvPr id="9" name="Rectangle 3">
            <a:extLst>
              <a:ext uri="{FF2B5EF4-FFF2-40B4-BE49-F238E27FC236}">
                <a16:creationId xmlns:a16="http://schemas.microsoft.com/office/drawing/2014/main" id="{068B10FD-0768-4475-934C-1E863B8458A5}"/>
              </a:ext>
            </a:extLst>
          </p:cNvPr>
          <p:cNvSpPr>
            <a:spLocks noChangeArrowheads="1"/>
          </p:cNvSpPr>
          <p:nvPr/>
        </p:nvSpPr>
        <p:spPr bwMode="auto">
          <a:xfrm>
            <a:off x="0" y="-184666"/>
            <a:ext cx="264816"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7">
            <a:extLst>
              <a:ext uri="{FF2B5EF4-FFF2-40B4-BE49-F238E27FC236}">
                <a16:creationId xmlns:a16="http://schemas.microsoft.com/office/drawing/2014/main" id="{CC87F129-1760-41C6-9AA2-7145D6426A56}"/>
              </a:ext>
            </a:extLst>
          </p:cNvPr>
          <p:cNvSpPr/>
          <p:nvPr/>
        </p:nvSpPr>
        <p:spPr>
          <a:xfrm>
            <a:off x="838200" y="1085353"/>
            <a:ext cx="10515600" cy="509161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A52C848E-E775-410D-9350-AAB1713CDEC1}"/>
              </a:ext>
            </a:extLst>
          </p:cNvPr>
          <p:cNvSpPr/>
          <p:nvPr/>
        </p:nvSpPr>
        <p:spPr>
          <a:xfrm>
            <a:off x="838200" y="136525"/>
            <a:ext cx="8786091" cy="76944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2054" name="Picture 6">
            <a:extLst>
              <a:ext uri="{FF2B5EF4-FFF2-40B4-BE49-F238E27FC236}">
                <a16:creationId xmlns:a16="http://schemas.microsoft.com/office/drawing/2014/main" id="{7405C671-FCE2-47B6-B6A8-2706C95DFEF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374" t="809" r="13880" b="7729"/>
          <a:stretch/>
        </p:blipFill>
        <p:spPr bwMode="auto">
          <a:xfrm>
            <a:off x="5641986" y="1245420"/>
            <a:ext cx="2842534" cy="460488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F7187858-BD1B-4712-85E4-AB64A25E2F0E}"/>
              </a:ext>
            </a:extLst>
          </p:cNvPr>
          <p:cNvPicPr>
            <a:picLocks noChangeAspect="1"/>
          </p:cNvPicPr>
          <p:nvPr/>
        </p:nvPicPr>
        <p:blipFill rotWithShape="1">
          <a:blip r:embed="rId3"/>
          <a:srcRect l="11542" r="11542" b="10637"/>
          <a:stretch/>
        </p:blipFill>
        <p:spPr>
          <a:xfrm>
            <a:off x="8475656" y="1167763"/>
            <a:ext cx="2878144" cy="4444817"/>
          </a:xfrm>
          <a:prstGeom prst="rect">
            <a:avLst/>
          </a:prstGeom>
        </p:spPr>
      </p:pic>
      <p:sp>
        <p:nvSpPr>
          <p:cNvPr id="3" name="Content Placeholder 2">
            <a:extLst>
              <a:ext uri="{FF2B5EF4-FFF2-40B4-BE49-F238E27FC236}">
                <a16:creationId xmlns:a16="http://schemas.microsoft.com/office/drawing/2014/main" id="{65DA324E-DF48-4753-9565-B5E706C7AB1C}"/>
              </a:ext>
            </a:extLst>
          </p:cNvPr>
          <p:cNvSpPr>
            <a:spLocks noGrp="1"/>
          </p:cNvSpPr>
          <p:nvPr>
            <p:ph idx="1"/>
          </p:nvPr>
        </p:nvSpPr>
        <p:spPr>
          <a:xfrm>
            <a:off x="838200" y="1107577"/>
            <a:ext cx="5156200" cy="5069385"/>
          </a:xfrm>
        </p:spPr>
        <p:txBody>
          <a:bodyPr>
            <a:normAutofit/>
          </a:bodyPr>
          <a:lstStyle/>
          <a:p>
            <a:pPr>
              <a:lnSpc>
                <a:spcPct val="80000"/>
              </a:lnSpc>
            </a:pPr>
            <a:r>
              <a:rPr lang="en-US" altLang="en-US" sz="2400" i="1" u="sng" dirty="0">
                <a:latin typeface="Times New Roman" panose="02020603050405020304" pitchFamily="18" charset="0"/>
                <a:cs typeface="Times New Roman" panose="02020603050405020304" pitchFamily="18" charset="0"/>
              </a:rPr>
              <a:t>Decrease by a constant </a:t>
            </a:r>
            <a:r>
              <a:rPr lang="en-US" altLang="en-US" sz="2400" dirty="0">
                <a:latin typeface="Times New Roman" panose="02020603050405020304" pitchFamily="18" charset="0"/>
                <a:cs typeface="Times New Roman" panose="02020603050405020304" pitchFamily="18" charset="0"/>
              </a:rPr>
              <a:t>(usually by 1):</a:t>
            </a:r>
          </a:p>
          <a:p>
            <a:pPr lvl="1">
              <a:lnSpc>
                <a:spcPct val="80000"/>
              </a:lnSpc>
            </a:pPr>
            <a:r>
              <a:rPr lang="en-US" altLang="en-US" dirty="0">
                <a:latin typeface="Times New Roman" panose="02020603050405020304" pitchFamily="18" charset="0"/>
                <a:cs typeface="Times New Roman" panose="02020603050405020304" pitchFamily="18" charset="0"/>
              </a:rPr>
              <a:t>insertion sort</a:t>
            </a:r>
          </a:p>
          <a:p>
            <a:pPr lvl="1">
              <a:lnSpc>
                <a:spcPct val="80000"/>
              </a:lnSpc>
            </a:pPr>
            <a:r>
              <a:rPr lang="en-US" altLang="en-US" dirty="0">
                <a:latin typeface="Times New Roman" panose="02020603050405020304" pitchFamily="18" charset="0"/>
                <a:cs typeface="Times New Roman" panose="02020603050405020304" pitchFamily="18" charset="0"/>
              </a:rPr>
              <a:t>graph traversal algorithms (DFS and BFS)</a:t>
            </a:r>
          </a:p>
          <a:p>
            <a:pPr lvl="1">
              <a:lnSpc>
                <a:spcPct val="80000"/>
              </a:lnSpc>
            </a:pPr>
            <a:r>
              <a:rPr lang="en-US" altLang="en-US" dirty="0">
                <a:latin typeface="Times New Roman" panose="02020603050405020304" pitchFamily="18" charset="0"/>
                <a:cs typeface="Times New Roman" panose="02020603050405020304" pitchFamily="18" charset="0"/>
              </a:rPr>
              <a:t>topological sorting</a:t>
            </a:r>
          </a:p>
          <a:p>
            <a:pPr lvl="1">
              <a:lnSpc>
                <a:spcPct val="80000"/>
              </a:lnSpc>
            </a:pPr>
            <a:r>
              <a:rPr lang="en-US" altLang="en-US" dirty="0">
                <a:latin typeface="Times New Roman" panose="02020603050405020304" pitchFamily="18" charset="0"/>
                <a:cs typeface="Times New Roman" panose="02020603050405020304" pitchFamily="18" charset="0"/>
              </a:rPr>
              <a:t>algorithms for generating permutations, subsets	</a:t>
            </a:r>
          </a:p>
          <a:p>
            <a:pPr>
              <a:lnSpc>
                <a:spcPct val="80000"/>
              </a:lnSpc>
            </a:pPr>
            <a:endParaRPr lang="en-US" altLang="en-US" sz="2400" dirty="0">
              <a:latin typeface="Times New Roman" panose="02020603050405020304" pitchFamily="18" charset="0"/>
              <a:cs typeface="Times New Roman" panose="02020603050405020304" pitchFamily="18" charset="0"/>
            </a:endParaRPr>
          </a:p>
          <a:p>
            <a:pPr>
              <a:lnSpc>
                <a:spcPct val="80000"/>
              </a:lnSpc>
            </a:pPr>
            <a:r>
              <a:rPr lang="en-US" altLang="en-US" sz="2400" i="1" u="sng" dirty="0">
                <a:latin typeface="Times New Roman" panose="02020603050405020304" pitchFamily="18" charset="0"/>
                <a:cs typeface="Times New Roman" panose="02020603050405020304" pitchFamily="18" charset="0"/>
              </a:rPr>
              <a:t>Decrease by a constant factor</a:t>
            </a:r>
            <a:r>
              <a:rPr lang="en-US" altLang="en-US" sz="2400" dirty="0">
                <a:latin typeface="Times New Roman" panose="02020603050405020304" pitchFamily="18" charset="0"/>
                <a:cs typeface="Times New Roman" panose="02020603050405020304" pitchFamily="18" charset="0"/>
              </a:rPr>
              <a:t> (usually by half)</a:t>
            </a:r>
            <a:endParaRPr lang="en-US" altLang="en-US" sz="2400" i="1" u="sng" dirty="0">
              <a:latin typeface="Times New Roman" panose="02020603050405020304" pitchFamily="18" charset="0"/>
              <a:cs typeface="Times New Roman" panose="02020603050405020304" pitchFamily="18" charset="0"/>
            </a:endParaRPr>
          </a:p>
          <a:p>
            <a:pPr lvl="1">
              <a:lnSpc>
                <a:spcPct val="80000"/>
              </a:lnSpc>
            </a:pPr>
            <a:r>
              <a:rPr lang="en-US" altLang="en-US" dirty="0">
                <a:latin typeface="Times New Roman" panose="02020603050405020304" pitchFamily="18" charset="0"/>
                <a:cs typeface="Times New Roman" panose="02020603050405020304" pitchFamily="18" charset="0"/>
              </a:rPr>
              <a:t>binary search and bisection method</a:t>
            </a:r>
          </a:p>
          <a:p>
            <a:pPr lvl="1">
              <a:lnSpc>
                <a:spcPct val="80000"/>
              </a:lnSpc>
            </a:pPr>
            <a:r>
              <a:rPr lang="en-US" altLang="en-US" dirty="0">
                <a:latin typeface="Times New Roman" panose="02020603050405020304" pitchFamily="18" charset="0"/>
                <a:cs typeface="Times New Roman" panose="02020603050405020304" pitchFamily="18" charset="0"/>
              </a:rPr>
              <a:t>exponentiation by squaring</a:t>
            </a:r>
          </a:p>
          <a:p>
            <a:pPr lvl="1">
              <a:lnSpc>
                <a:spcPct val="80000"/>
              </a:lnSpc>
            </a:pPr>
            <a:r>
              <a:rPr lang="en-US" altLang="en-US" dirty="0">
                <a:latin typeface="Times New Roman" panose="02020603050405020304" pitchFamily="18" charset="0"/>
                <a:cs typeface="Times New Roman" panose="02020603050405020304" pitchFamily="18" charset="0"/>
              </a:rPr>
              <a:t>multiplication</a:t>
            </a:r>
            <a:endParaRPr lang="en-US" b="0" i="0" dirty="0">
              <a:solidFill>
                <a:srgbClr val="3D3D4E"/>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06313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0997C-CCA3-4B18-AA08-734446DF014F}"/>
              </a:ext>
            </a:extLst>
          </p:cNvPr>
          <p:cNvSpPr>
            <a:spLocks noGrp="1"/>
          </p:cNvSpPr>
          <p:nvPr>
            <p:ph type="title"/>
          </p:nvPr>
        </p:nvSpPr>
        <p:spPr>
          <a:xfrm>
            <a:off x="838200" y="136526"/>
            <a:ext cx="8749145" cy="897948"/>
          </a:xfrm>
          <a:ln>
            <a:solidFill>
              <a:schemeClr val="tx1"/>
            </a:solidFill>
          </a:ln>
        </p:spPr>
        <p:txBody>
          <a:bodyPr/>
          <a:lstStyle/>
          <a:p>
            <a:pPr algn="ctr"/>
            <a:r>
              <a:rPr lang="en-US" sz="4400" b="1" dirty="0">
                <a:latin typeface="Times New Roman" panose="02020603050405020304" pitchFamily="18" charset="0"/>
                <a:cs typeface="Times New Roman" panose="02020603050405020304" pitchFamily="18" charset="0"/>
              </a:rPr>
              <a:t>Directed Acyclic Graph</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04465C7-F825-47AD-81B9-7258A6A9F476}"/>
              </a:ext>
            </a:extLst>
          </p:cNvPr>
          <p:cNvSpPr>
            <a:spLocks noGrp="1"/>
          </p:cNvSpPr>
          <p:nvPr>
            <p:ph idx="1"/>
          </p:nvPr>
        </p:nvSpPr>
        <p:spPr>
          <a:xfrm>
            <a:off x="838200" y="1163782"/>
            <a:ext cx="10515600" cy="5013181"/>
          </a:xfrm>
          <a:ln>
            <a:solidFill>
              <a:schemeClr val="tx1"/>
            </a:solidFill>
          </a:ln>
        </p:spPr>
        <p:txBody>
          <a:bodyPr>
            <a:normAutofit/>
          </a:bodyPr>
          <a:lstStyle/>
          <a:p>
            <a:pPr marL="0" indent="0" algn="just">
              <a:lnSpc>
                <a:spcPct val="150000"/>
              </a:lnSpc>
              <a:buNone/>
            </a:pPr>
            <a:r>
              <a:rPr lang="en-US" altLang="en-US" sz="2400" dirty="0">
                <a:latin typeface="Times New Roman" panose="02020603050405020304" pitchFamily="18" charset="0"/>
                <a:cs typeface="Times New Roman" panose="02020603050405020304" pitchFamily="18" charset="0"/>
              </a:rPr>
              <a:t>A directed acyclic graph, i.e. a directed graph with no (directed) cycles.</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AC8AC89-446D-4C53-AEA9-E7CA810295BC}"/>
              </a:ext>
            </a:extLst>
          </p:cNvPr>
          <p:cNvSpPr>
            <a:spLocks noGrp="1"/>
          </p:cNvSpPr>
          <p:nvPr>
            <p:ph type="sldNum" sz="quarter" idx="12"/>
          </p:nvPr>
        </p:nvSpPr>
        <p:spPr/>
        <p:txBody>
          <a:bodyPr/>
          <a:lstStyle/>
          <a:p>
            <a:fld id="{BDCDBBEF-AA6C-4BA6-85B2-A17D7F280E38}" type="slidenum">
              <a:rPr lang="en-US" smtClean="0"/>
              <a:pPr/>
              <a:t>40</a:t>
            </a:fld>
            <a:endParaRPr lang="en-US"/>
          </a:p>
        </p:txBody>
      </p:sp>
      <p:sp>
        <p:nvSpPr>
          <p:cNvPr id="5" name="Oval 4">
            <a:extLst>
              <a:ext uri="{FF2B5EF4-FFF2-40B4-BE49-F238E27FC236}">
                <a16:creationId xmlns:a16="http://schemas.microsoft.com/office/drawing/2014/main" id="{38EF70DA-D6BF-44B1-B73E-1416781643DA}"/>
              </a:ext>
            </a:extLst>
          </p:cNvPr>
          <p:cNvSpPr>
            <a:spLocks noChangeArrowheads="1"/>
          </p:cNvSpPr>
          <p:nvPr/>
        </p:nvSpPr>
        <p:spPr bwMode="auto">
          <a:xfrm>
            <a:off x="3392055" y="2705100"/>
            <a:ext cx="533400" cy="533400"/>
          </a:xfrm>
          <a:prstGeom prst="ellipse">
            <a:avLst/>
          </a:prstGeom>
          <a:solidFill>
            <a:schemeClr val="accent1"/>
          </a:solid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solidFill>
                  <a:schemeClr val="bg2"/>
                </a:solidFill>
              </a:rPr>
              <a:t>a</a:t>
            </a:r>
          </a:p>
        </p:txBody>
      </p:sp>
      <p:sp>
        <p:nvSpPr>
          <p:cNvPr id="6" name="Oval 5">
            <a:extLst>
              <a:ext uri="{FF2B5EF4-FFF2-40B4-BE49-F238E27FC236}">
                <a16:creationId xmlns:a16="http://schemas.microsoft.com/office/drawing/2014/main" id="{CE46F269-2052-4FAD-AEC1-26CB6F5AE074}"/>
              </a:ext>
            </a:extLst>
          </p:cNvPr>
          <p:cNvSpPr>
            <a:spLocks noChangeArrowheads="1"/>
          </p:cNvSpPr>
          <p:nvPr/>
        </p:nvSpPr>
        <p:spPr bwMode="auto">
          <a:xfrm>
            <a:off x="4992255" y="2705100"/>
            <a:ext cx="533400" cy="533400"/>
          </a:xfrm>
          <a:prstGeom prst="ellipse">
            <a:avLst/>
          </a:prstGeom>
          <a:solidFill>
            <a:schemeClr val="accent1"/>
          </a:solid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solidFill>
                  <a:schemeClr val="bg2"/>
                </a:solidFill>
              </a:rPr>
              <a:t>b</a:t>
            </a:r>
          </a:p>
        </p:txBody>
      </p:sp>
      <p:sp>
        <p:nvSpPr>
          <p:cNvPr id="7" name="Oval 6">
            <a:extLst>
              <a:ext uri="{FF2B5EF4-FFF2-40B4-BE49-F238E27FC236}">
                <a16:creationId xmlns:a16="http://schemas.microsoft.com/office/drawing/2014/main" id="{498C58E5-CCBD-4434-9AB3-770055ED2E1E}"/>
              </a:ext>
            </a:extLst>
          </p:cNvPr>
          <p:cNvSpPr>
            <a:spLocks noChangeArrowheads="1"/>
          </p:cNvSpPr>
          <p:nvPr/>
        </p:nvSpPr>
        <p:spPr bwMode="auto">
          <a:xfrm>
            <a:off x="3386933" y="4076700"/>
            <a:ext cx="533400" cy="533400"/>
          </a:xfrm>
          <a:prstGeom prst="ellipse">
            <a:avLst/>
          </a:prstGeom>
          <a:solidFill>
            <a:schemeClr val="accent1"/>
          </a:solid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solidFill>
                  <a:schemeClr val="bg2"/>
                </a:solidFill>
              </a:rPr>
              <a:t>c</a:t>
            </a:r>
          </a:p>
        </p:txBody>
      </p:sp>
      <p:sp>
        <p:nvSpPr>
          <p:cNvPr id="8" name="Oval 7">
            <a:extLst>
              <a:ext uri="{FF2B5EF4-FFF2-40B4-BE49-F238E27FC236}">
                <a16:creationId xmlns:a16="http://schemas.microsoft.com/office/drawing/2014/main" id="{B94A4D22-0F96-43C2-87C6-99CB95A7F6BB}"/>
              </a:ext>
            </a:extLst>
          </p:cNvPr>
          <p:cNvSpPr>
            <a:spLocks noChangeArrowheads="1"/>
          </p:cNvSpPr>
          <p:nvPr/>
        </p:nvSpPr>
        <p:spPr bwMode="auto">
          <a:xfrm>
            <a:off x="4954155" y="4076700"/>
            <a:ext cx="533400" cy="533400"/>
          </a:xfrm>
          <a:prstGeom prst="ellipse">
            <a:avLst/>
          </a:prstGeom>
          <a:solidFill>
            <a:schemeClr val="accent1"/>
          </a:solid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solidFill>
                  <a:schemeClr val="bg2"/>
                </a:solidFill>
              </a:rPr>
              <a:t>d</a:t>
            </a:r>
          </a:p>
        </p:txBody>
      </p:sp>
      <p:sp>
        <p:nvSpPr>
          <p:cNvPr id="9" name="Line 8">
            <a:extLst>
              <a:ext uri="{FF2B5EF4-FFF2-40B4-BE49-F238E27FC236}">
                <a16:creationId xmlns:a16="http://schemas.microsoft.com/office/drawing/2014/main" id="{B204F730-CC09-442A-8600-557EFCD7148B}"/>
              </a:ext>
            </a:extLst>
          </p:cNvPr>
          <p:cNvSpPr>
            <a:spLocks noChangeShapeType="1"/>
          </p:cNvSpPr>
          <p:nvPr/>
        </p:nvSpPr>
        <p:spPr bwMode="auto">
          <a:xfrm>
            <a:off x="3925455" y="2933700"/>
            <a:ext cx="1066800" cy="0"/>
          </a:xfrm>
          <a:prstGeom prst="line">
            <a:avLst/>
          </a:prstGeom>
          <a:noFill/>
          <a:ln w="127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 name="Line 10">
            <a:extLst>
              <a:ext uri="{FF2B5EF4-FFF2-40B4-BE49-F238E27FC236}">
                <a16:creationId xmlns:a16="http://schemas.microsoft.com/office/drawing/2014/main" id="{26452A5A-D5EF-4D2D-A090-CD18A8536123}"/>
              </a:ext>
            </a:extLst>
          </p:cNvPr>
          <p:cNvSpPr>
            <a:spLocks noChangeShapeType="1"/>
          </p:cNvSpPr>
          <p:nvPr/>
        </p:nvSpPr>
        <p:spPr bwMode="auto">
          <a:xfrm>
            <a:off x="3925455" y="4305300"/>
            <a:ext cx="1066800" cy="0"/>
          </a:xfrm>
          <a:prstGeom prst="line">
            <a:avLst/>
          </a:prstGeom>
          <a:noFill/>
          <a:ln w="127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 name="Line 11">
            <a:extLst>
              <a:ext uri="{FF2B5EF4-FFF2-40B4-BE49-F238E27FC236}">
                <a16:creationId xmlns:a16="http://schemas.microsoft.com/office/drawing/2014/main" id="{36D9A774-2B37-45AC-858C-3715B45B9218}"/>
              </a:ext>
            </a:extLst>
          </p:cNvPr>
          <p:cNvSpPr>
            <a:spLocks noChangeShapeType="1"/>
          </p:cNvSpPr>
          <p:nvPr/>
        </p:nvSpPr>
        <p:spPr bwMode="auto">
          <a:xfrm>
            <a:off x="5220855" y="3238500"/>
            <a:ext cx="0" cy="838200"/>
          </a:xfrm>
          <a:prstGeom prst="line">
            <a:avLst/>
          </a:prstGeom>
          <a:noFill/>
          <a:ln w="127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 name="Oval 17">
            <a:extLst>
              <a:ext uri="{FF2B5EF4-FFF2-40B4-BE49-F238E27FC236}">
                <a16:creationId xmlns:a16="http://schemas.microsoft.com/office/drawing/2014/main" id="{A9F54143-D1C1-4928-BEB6-C1BC78444FDB}"/>
              </a:ext>
            </a:extLst>
          </p:cNvPr>
          <p:cNvSpPr>
            <a:spLocks noChangeArrowheads="1"/>
          </p:cNvSpPr>
          <p:nvPr/>
        </p:nvSpPr>
        <p:spPr bwMode="auto">
          <a:xfrm>
            <a:off x="6668655" y="2705100"/>
            <a:ext cx="533400" cy="533400"/>
          </a:xfrm>
          <a:prstGeom prst="ellipse">
            <a:avLst/>
          </a:prstGeom>
          <a:solidFill>
            <a:schemeClr val="accent1"/>
          </a:solid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solidFill>
                  <a:schemeClr val="bg2"/>
                </a:solidFill>
              </a:rPr>
              <a:t>a</a:t>
            </a:r>
          </a:p>
        </p:txBody>
      </p:sp>
      <p:sp>
        <p:nvSpPr>
          <p:cNvPr id="14" name="Oval 18">
            <a:extLst>
              <a:ext uri="{FF2B5EF4-FFF2-40B4-BE49-F238E27FC236}">
                <a16:creationId xmlns:a16="http://schemas.microsoft.com/office/drawing/2014/main" id="{770D4A6C-3A1A-4E80-89EE-6CF6C39D73CB}"/>
              </a:ext>
            </a:extLst>
          </p:cNvPr>
          <p:cNvSpPr>
            <a:spLocks noChangeArrowheads="1"/>
          </p:cNvSpPr>
          <p:nvPr/>
        </p:nvSpPr>
        <p:spPr bwMode="auto">
          <a:xfrm>
            <a:off x="8268855" y="2705100"/>
            <a:ext cx="533400" cy="533400"/>
          </a:xfrm>
          <a:prstGeom prst="ellipse">
            <a:avLst/>
          </a:prstGeom>
          <a:solidFill>
            <a:schemeClr val="accent1"/>
          </a:solid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solidFill>
                  <a:schemeClr val="bg2"/>
                </a:solidFill>
              </a:rPr>
              <a:t>b</a:t>
            </a:r>
          </a:p>
        </p:txBody>
      </p:sp>
      <p:sp>
        <p:nvSpPr>
          <p:cNvPr id="15" name="Oval 19">
            <a:extLst>
              <a:ext uri="{FF2B5EF4-FFF2-40B4-BE49-F238E27FC236}">
                <a16:creationId xmlns:a16="http://schemas.microsoft.com/office/drawing/2014/main" id="{B10D589F-33B4-4CA7-9A91-F8B34A1E9211}"/>
              </a:ext>
            </a:extLst>
          </p:cNvPr>
          <p:cNvSpPr>
            <a:spLocks noChangeArrowheads="1"/>
          </p:cNvSpPr>
          <p:nvPr/>
        </p:nvSpPr>
        <p:spPr bwMode="auto">
          <a:xfrm>
            <a:off x="6668655" y="4076700"/>
            <a:ext cx="533400" cy="533400"/>
          </a:xfrm>
          <a:prstGeom prst="ellipse">
            <a:avLst/>
          </a:prstGeom>
          <a:solidFill>
            <a:schemeClr val="accent1"/>
          </a:solid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solidFill>
                  <a:schemeClr val="bg2"/>
                </a:solidFill>
              </a:rPr>
              <a:t>c</a:t>
            </a:r>
          </a:p>
        </p:txBody>
      </p:sp>
      <p:sp>
        <p:nvSpPr>
          <p:cNvPr id="16" name="Oval 20">
            <a:extLst>
              <a:ext uri="{FF2B5EF4-FFF2-40B4-BE49-F238E27FC236}">
                <a16:creationId xmlns:a16="http://schemas.microsoft.com/office/drawing/2014/main" id="{29E9FBA7-9F74-4AA6-A3C2-3617977BA20C}"/>
              </a:ext>
            </a:extLst>
          </p:cNvPr>
          <p:cNvSpPr>
            <a:spLocks noChangeArrowheads="1"/>
          </p:cNvSpPr>
          <p:nvPr/>
        </p:nvSpPr>
        <p:spPr bwMode="auto">
          <a:xfrm>
            <a:off x="8230755" y="4065587"/>
            <a:ext cx="533400" cy="533400"/>
          </a:xfrm>
          <a:prstGeom prst="ellipse">
            <a:avLst/>
          </a:prstGeom>
          <a:solidFill>
            <a:schemeClr val="accent1"/>
          </a:solidFill>
          <a:ln w="1270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solidFill>
                  <a:schemeClr val="bg2"/>
                </a:solidFill>
              </a:rPr>
              <a:t>d</a:t>
            </a:r>
          </a:p>
        </p:txBody>
      </p:sp>
      <p:sp>
        <p:nvSpPr>
          <p:cNvPr id="17" name="Line 22">
            <a:extLst>
              <a:ext uri="{FF2B5EF4-FFF2-40B4-BE49-F238E27FC236}">
                <a16:creationId xmlns:a16="http://schemas.microsoft.com/office/drawing/2014/main" id="{24C33635-36B7-458B-9081-BF9FC4154AA7}"/>
              </a:ext>
            </a:extLst>
          </p:cNvPr>
          <p:cNvSpPr>
            <a:spLocks noChangeShapeType="1"/>
          </p:cNvSpPr>
          <p:nvPr/>
        </p:nvSpPr>
        <p:spPr bwMode="auto">
          <a:xfrm>
            <a:off x="7202055" y="4305300"/>
            <a:ext cx="1066800" cy="0"/>
          </a:xfrm>
          <a:prstGeom prst="line">
            <a:avLst/>
          </a:prstGeom>
          <a:noFill/>
          <a:ln w="127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 name="Line 23">
            <a:extLst>
              <a:ext uri="{FF2B5EF4-FFF2-40B4-BE49-F238E27FC236}">
                <a16:creationId xmlns:a16="http://schemas.microsoft.com/office/drawing/2014/main" id="{AF397EE5-13FA-465E-AE60-7D3955BD4453}"/>
              </a:ext>
            </a:extLst>
          </p:cNvPr>
          <p:cNvSpPr>
            <a:spLocks noChangeShapeType="1"/>
          </p:cNvSpPr>
          <p:nvPr/>
        </p:nvSpPr>
        <p:spPr bwMode="auto">
          <a:xfrm>
            <a:off x="8497455" y="3238500"/>
            <a:ext cx="0" cy="838200"/>
          </a:xfrm>
          <a:prstGeom prst="line">
            <a:avLst/>
          </a:prstGeom>
          <a:noFill/>
          <a:ln w="127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 name="Line 24">
            <a:extLst>
              <a:ext uri="{FF2B5EF4-FFF2-40B4-BE49-F238E27FC236}">
                <a16:creationId xmlns:a16="http://schemas.microsoft.com/office/drawing/2014/main" id="{4EC638F1-366A-4E6C-96AB-EAE595D08E0F}"/>
              </a:ext>
            </a:extLst>
          </p:cNvPr>
          <p:cNvSpPr>
            <a:spLocks noChangeShapeType="1"/>
          </p:cNvSpPr>
          <p:nvPr/>
        </p:nvSpPr>
        <p:spPr bwMode="auto">
          <a:xfrm flipV="1">
            <a:off x="7202055" y="3009900"/>
            <a:ext cx="1066800" cy="0"/>
          </a:xfrm>
          <a:prstGeom prst="line">
            <a:avLst/>
          </a:prstGeom>
          <a:noFill/>
          <a:ln w="127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0" name="Text Box 25">
            <a:extLst>
              <a:ext uri="{FF2B5EF4-FFF2-40B4-BE49-F238E27FC236}">
                <a16:creationId xmlns:a16="http://schemas.microsoft.com/office/drawing/2014/main" id="{EE741B95-8E47-4956-920C-460D5C57B7B1}"/>
              </a:ext>
            </a:extLst>
          </p:cNvPr>
          <p:cNvSpPr txBox="1">
            <a:spLocks noChangeArrowheads="1"/>
          </p:cNvSpPr>
          <p:nvPr/>
        </p:nvSpPr>
        <p:spPr bwMode="auto">
          <a:xfrm>
            <a:off x="6728980" y="3429000"/>
            <a:ext cx="184150" cy="37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1800"/>
          </a:p>
        </p:txBody>
      </p:sp>
      <p:sp>
        <p:nvSpPr>
          <p:cNvPr id="21" name="Line 12">
            <a:extLst>
              <a:ext uri="{FF2B5EF4-FFF2-40B4-BE49-F238E27FC236}">
                <a16:creationId xmlns:a16="http://schemas.microsoft.com/office/drawing/2014/main" id="{F79AA1C0-2D05-4342-BF83-D075353AEDDD}"/>
              </a:ext>
            </a:extLst>
          </p:cNvPr>
          <p:cNvSpPr>
            <a:spLocks noChangeShapeType="1"/>
          </p:cNvSpPr>
          <p:nvPr/>
        </p:nvSpPr>
        <p:spPr bwMode="auto">
          <a:xfrm>
            <a:off x="3841319" y="3162300"/>
            <a:ext cx="1143000" cy="990600"/>
          </a:xfrm>
          <a:prstGeom prst="line">
            <a:avLst/>
          </a:prstGeom>
          <a:noFill/>
          <a:ln w="127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4" name="Line 11">
            <a:extLst>
              <a:ext uri="{FF2B5EF4-FFF2-40B4-BE49-F238E27FC236}">
                <a16:creationId xmlns:a16="http://schemas.microsoft.com/office/drawing/2014/main" id="{F6E03812-A114-42D0-ACF2-932F5AD14093}"/>
              </a:ext>
            </a:extLst>
          </p:cNvPr>
          <p:cNvSpPr>
            <a:spLocks noChangeShapeType="1"/>
          </p:cNvSpPr>
          <p:nvPr/>
        </p:nvSpPr>
        <p:spPr bwMode="auto">
          <a:xfrm>
            <a:off x="3653633" y="3251272"/>
            <a:ext cx="0" cy="838200"/>
          </a:xfrm>
          <a:prstGeom prst="line">
            <a:avLst/>
          </a:prstGeom>
          <a:noFill/>
          <a:ln w="127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 name="Line 12">
            <a:extLst>
              <a:ext uri="{FF2B5EF4-FFF2-40B4-BE49-F238E27FC236}">
                <a16:creationId xmlns:a16="http://schemas.microsoft.com/office/drawing/2014/main" id="{2023999C-5576-407F-9882-5EFE16AC8234}"/>
              </a:ext>
            </a:extLst>
          </p:cNvPr>
          <p:cNvSpPr>
            <a:spLocks noChangeShapeType="1"/>
          </p:cNvSpPr>
          <p:nvPr/>
        </p:nvSpPr>
        <p:spPr bwMode="auto">
          <a:xfrm>
            <a:off x="7101108" y="3162300"/>
            <a:ext cx="1143000" cy="990600"/>
          </a:xfrm>
          <a:prstGeom prst="line">
            <a:avLst/>
          </a:prstGeom>
          <a:noFill/>
          <a:ln w="127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7" name="Line 21">
            <a:extLst>
              <a:ext uri="{FF2B5EF4-FFF2-40B4-BE49-F238E27FC236}">
                <a16:creationId xmlns:a16="http://schemas.microsoft.com/office/drawing/2014/main" id="{06616D87-D74E-4368-8AB8-9F51BA7193D0}"/>
              </a:ext>
            </a:extLst>
          </p:cNvPr>
          <p:cNvSpPr>
            <a:spLocks noChangeShapeType="1"/>
          </p:cNvSpPr>
          <p:nvPr/>
        </p:nvSpPr>
        <p:spPr bwMode="auto">
          <a:xfrm>
            <a:off x="6913130" y="3227387"/>
            <a:ext cx="0" cy="838200"/>
          </a:xfrm>
          <a:prstGeom prst="line">
            <a:avLst/>
          </a:prstGeom>
          <a:noFill/>
          <a:ln w="127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8" name="Text Box 31">
            <a:extLst>
              <a:ext uri="{FF2B5EF4-FFF2-40B4-BE49-F238E27FC236}">
                <a16:creationId xmlns:a16="http://schemas.microsoft.com/office/drawing/2014/main" id="{7F8AAA63-E8C3-4920-B572-24DD9397BE0D}"/>
              </a:ext>
            </a:extLst>
          </p:cNvPr>
          <p:cNvSpPr txBox="1">
            <a:spLocks noChangeArrowheads="1"/>
          </p:cNvSpPr>
          <p:nvPr/>
        </p:nvSpPr>
        <p:spPr bwMode="auto">
          <a:xfrm>
            <a:off x="4028210" y="4852193"/>
            <a:ext cx="1192645" cy="369332"/>
          </a:xfrm>
          <a:prstGeom prst="rect">
            <a:avLst/>
          </a:prstGeom>
          <a:noFill/>
          <a:ln w="12700">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en-US" b="1" dirty="0">
                <a:solidFill>
                  <a:schemeClr val="hlink"/>
                </a:solidFill>
                <a:effectLst>
                  <a:outerShdw blurRad="38100" dist="38100" dir="2700000" algn="tl">
                    <a:srgbClr val="000000"/>
                  </a:outerShdw>
                </a:effectLst>
              </a:rPr>
              <a:t>a </a:t>
            </a:r>
            <a:r>
              <a:rPr lang="en-US" altLang="en-US" b="1" dirty="0" err="1">
                <a:solidFill>
                  <a:schemeClr val="hlink"/>
                </a:solidFill>
                <a:effectLst>
                  <a:outerShdw blurRad="38100" dist="38100" dir="2700000" algn="tl">
                    <a:srgbClr val="000000"/>
                  </a:outerShdw>
                </a:effectLst>
              </a:rPr>
              <a:t>dag</a:t>
            </a:r>
            <a:endParaRPr lang="en-US" altLang="en-US" b="1" dirty="0">
              <a:solidFill>
                <a:schemeClr val="hlink"/>
              </a:solidFill>
              <a:effectLst>
                <a:outerShdw blurRad="38100" dist="38100" dir="2700000" algn="tl">
                  <a:srgbClr val="000000"/>
                </a:outerShdw>
              </a:effectLst>
            </a:endParaRPr>
          </a:p>
        </p:txBody>
      </p:sp>
      <p:sp>
        <p:nvSpPr>
          <p:cNvPr id="29" name="Text Box 31">
            <a:extLst>
              <a:ext uri="{FF2B5EF4-FFF2-40B4-BE49-F238E27FC236}">
                <a16:creationId xmlns:a16="http://schemas.microsoft.com/office/drawing/2014/main" id="{A60648BE-3BEF-4CF9-9B74-74E0D8021AAD}"/>
              </a:ext>
            </a:extLst>
          </p:cNvPr>
          <p:cNvSpPr txBox="1">
            <a:spLocks noChangeArrowheads="1"/>
          </p:cNvSpPr>
          <p:nvPr/>
        </p:nvSpPr>
        <p:spPr bwMode="auto">
          <a:xfrm>
            <a:off x="7240154" y="4838700"/>
            <a:ext cx="1192645" cy="369332"/>
          </a:xfrm>
          <a:prstGeom prst="rect">
            <a:avLst/>
          </a:prstGeom>
          <a:noFill/>
          <a:ln w="12700">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b="1" dirty="0">
                <a:solidFill>
                  <a:schemeClr val="hlink"/>
                </a:solidFill>
                <a:effectLst>
                  <a:outerShdw blurRad="38100" dist="38100" dir="2700000" algn="tl">
                    <a:srgbClr val="000000"/>
                  </a:outerShdw>
                </a:effectLst>
              </a:rPr>
              <a:t>Not a </a:t>
            </a:r>
            <a:r>
              <a:rPr lang="en-US" altLang="en-US" b="1" dirty="0" err="1">
                <a:solidFill>
                  <a:schemeClr val="hlink"/>
                </a:solidFill>
                <a:effectLst>
                  <a:outerShdw blurRad="38100" dist="38100" dir="2700000" algn="tl">
                    <a:srgbClr val="000000"/>
                  </a:outerShdw>
                </a:effectLst>
              </a:rPr>
              <a:t>dag</a:t>
            </a:r>
            <a:endParaRPr lang="en-US" altLang="en-US" b="1" dirty="0">
              <a:solidFill>
                <a:schemeClr val="hlink"/>
              </a:solidFill>
              <a:effectLst>
                <a:outerShdw blurRad="38100" dist="38100" dir="2700000" algn="tl">
                  <a:srgbClr val="000000"/>
                </a:outerShdw>
              </a:effectLst>
            </a:endParaRPr>
          </a:p>
        </p:txBody>
      </p:sp>
    </p:spTree>
    <p:extLst>
      <p:ext uri="{BB962C8B-B14F-4D97-AF65-F5344CB8AC3E}">
        <p14:creationId xmlns:p14="http://schemas.microsoft.com/office/powerpoint/2010/main" val="27515412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815B9-8EA1-492A-BEEF-216831F2D237}"/>
              </a:ext>
            </a:extLst>
          </p:cNvPr>
          <p:cNvSpPr>
            <a:spLocks noGrp="1"/>
          </p:cNvSpPr>
          <p:nvPr>
            <p:ph type="title"/>
          </p:nvPr>
        </p:nvSpPr>
        <p:spPr>
          <a:xfrm>
            <a:off x="838200" y="136526"/>
            <a:ext cx="8749145" cy="907184"/>
          </a:xfrm>
          <a:ln>
            <a:solidFill>
              <a:schemeClr val="tx1"/>
            </a:solidFill>
          </a:ln>
        </p:spPr>
        <p:txBody>
          <a:bodyPr/>
          <a:lstStyle/>
          <a:p>
            <a:pPr algn="ctr"/>
            <a:r>
              <a:rPr lang="en-US" sz="4400" b="1" dirty="0">
                <a:latin typeface="Times New Roman" panose="02020603050405020304" pitchFamily="18" charset="0"/>
                <a:cs typeface="Times New Roman" panose="02020603050405020304" pitchFamily="18" charset="0"/>
              </a:rPr>
              <a:t>Directed Acyclic Graph (contd.)</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D7E5283-1B8F-43E2-A475-9FD122D1E155}"/>
              </a:ext>
            </a:extLst>
          </p:cNvPr>
          <p:cNvSpPr>
            <a:spLocks noGrp="1"/>
          </p:cNvSpPr>
          <p:nvPr>
            <p:ph idx="1"/>
          </p:nvPr>
        </p:nvSpPr>
        <p:spPr>
          <a:xfrm>
            <a:off x="838200" y="1173018"/>
            <a:ext cx="10515600" cy="4950691"/>
          </a:xfrm>
          <a:ln>
            <a:solidFill>
              <a:schemeClr val="tx1"/>
            </a:solidFill>
          </a:ln>
        </p:spPr>
        <p:txBody>
          <a:bodyPr/>
          <a:lstStyle/>
          <a:p>
            <a:pPr algn="just">
              <a:lnSpc>
                <a:spcPct val="150000"/>
              </a:lnSpc>
            </a:pPr>
            <a:r>
              <a:rPr lang="en-US" altLang="en-US" sz="2400" dirty="0">
                <a:latin typeface="Times New Roman" panose="02020603050405020304" pitchFamily="18" charset="0"/>
                <a:cs typeface="Times New Roman" panose="02020603050405020304" pitchFamily="18" charset="0"/>
              </a:rPr>
              <a:t>Arise in modeling many problems that involve prerequisite constraints (construction projects, document version control)</a:t>
            </a:r>
          </a:p>
          <a:p>
            <a:pPr marL="0" indent="0" algn="just">
              <a:lnSpc>
                <a:spcPct val="150000"/>
              </a:lnSpc>
            </a:pPr>
            <a:endParaRPr lang="en-US" altLang="en-US" sz="2400" dirty="0">
              <a:latin typeface="Times New Roman" panose="02020603050405020304" pitchFamily="18" charset="0"/>
              <a:cs typeface="Times New Roman" panose="02020603050405020304" pitchFamily="18" charset="0"/>
            </a:endParaRPr>
          </a:p>
          <a:p>
            <a:pPr algn="just">
              <a:lnSpc>
                <a:spcPct val="150000"/>
              </a:lnSpc>
            </a:pPr>
            <a:r>
              <a:rPr lang="en-US" altLang="en-US" sz="2400" dirty="0">
                <a:latin typeface="Times New Roman" panose="02020603050405020304" pitchFamily="18" charset="0"/>
                <a:cs typeface="Times New Roman" panose="02020603050405020304" pitchFamily="18" charset="0"/>
              </a:rPr>
              <a:t>Vertices of a </a:t>
            </a:r>
            <a:r>
              <a:rPr lang="en-US" altLang="en-US" sz="2400" dirty="0" err="1">
                <a:latin typeface="Times New Roman" panose="02020603050405020304" pitchFamily="18" charset="0"/>
                <a:cs typeface="Times New Roman" panose="02020603050405020304" pitchFamily="18" charset="0"/>
              </a:rPr>
              <a:t>dag</a:t>
            </a:r>
            <a:r>
              <a:rPr lang="en-US" altLang="en-US" sz="2400" dirty="0">
                <a:latin typeface="Times New Roman" panose="02020603050405020304" pitchFamily="18" charset="0"/>
                <a:cs typeface="Times New Roman" panose="02020603050405020304" pitchFamily="18" charset="0"/>
              </a:rPr>
              <a:t> can be linearly ordered so that for every edge its starting vertex is listed before its ending vertex (</a:t>
            </a:r>
            <a:r>
              <a:rPr lang="en-US" altLang="en-US" sz="2400" i="1" dirty="0">
                <a:latin typeface="Times New Roman" panose="02020603050405020304" pitchFamily="18" charset="0"/>
                <a:cs typeface="Times New Roman" panose="02020603050405020304" pitchFamily="18" charset="0"/>
              </a:rPr>
              <a:t>topological sorting</a:t>
            </a:r>
            <a:r>
              <a:rPr lang="en-US" altLang="en-US" sz="2400" dirty="0">
                <a:latin typeface="Times New Roman" panose="02020603050405020304" pitchFamily="18" charset="0"/>
                <a:cs typeface="Times New Roman" panose="02020603050405020304" pitchFamily="18" charset="0"/>
              </a:rPr>
              <a:t>).  Being a </a:t>
            </a:r>
            <a:r>
              <a:rPr lang="en-US" altLang="en-US" sz="2400" dirty="0" err="1">
                <a:latin typeface="Times New Roman" panose="02020603050405020304" pitchFamily="18" charset="0"/>
                <a:cs typeface="Times New Roman" panose="02020603050405020304" pitchFamily="18" charset="0"/>
              </a:rPr>
              <a:t>dag</a:t>
            </a:r>
            <a:r>
              <a:rPr lang="en-US" altLang="en-US" sz="2400" dirty="0">
                <a:latin typeface="Times New Roman" panose="02020603050405020304" pitchFamily="18" charset="0"/>
                <a:cs typeface="Times New Roman" panose="02020603050405020304" pitchFamily="18" charset="0"/>
              </a:rPr>
              <a:t> is also a necessary condition for topological sorting to be possible. </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9196CF2-A32D-4230-B676-6A86FBF89EDB}"/>
              </a:ext>
            </a:extLst>
          </p:cNvPr>
          <p:cNvSpPr>
            <a:spLocks noGrp="1"/>
          </p:cNvSpPr>
          <p:nvPr>
            <p:ph type="sldNum" sz="quarter" idx="12"/>
          </p:nvPr>
        </p:nvSpPr>
        <p:spPr/>
        <p:txBody>
          <a:bodyPr/>
          <a:lstStyle/>
          <a:p>
            <a:fld id="{BDCDBBEF-AA6C-4BA6-85B2-A17D7F280E38}" type="slidenum">
              <a:rPr lang="en-US" smtClean="0"/>
              <a:pPr/>
              <a:t>41</a:t>
            </a:fld>
            <a:endParaRPr lang="en-US"/>
          </a:p>
        </p:txBody>
      </p:sp>
    </p:spTree>
    <p:extLst>
      <p:ext uri="{BB962C8B-B14F-4D97-AF65-F5344CB8AC3E}">
        <p14:creationId xmlns:p14="http://schemas.microsoft.com/office/powerpoint/2010/main" val="15858180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815B9-8EA1-492A-BEEF-216831F2D237}"/>
              </a:ext>
            </a:extLst>
          </p:cNvPr>
          <p:cNvSpPr>
            <a:spLocks noGrp="1"/>
          </p:cNvSpPr>
          <p:nvPr>
            <p:ph type="title"/>
          </p:nvPr>
        </p:nvSpPr>
        <p:spPr>
          <a:xfrm>
            <a:off x="838200" y="136526"/>
            <a:ext cx="8749145" cy="907184"/>
          </a:xfrm>
          <a:ln>
            <a:solidFill>
              <a:schemeClr val="tx1"/>
            </a:solidFill>
          </a:ln>
        </p:spPr>
        <p:txBody>
          <a:bodyPr/>
          <a:lstStyle/>
          <a:p>
            <a:pPr algn="ctr"/>
            <a:r>
              <a:rPr lang="en-US" sz="4400" b="1" dirty="0">
                <a:latin typeface="Times New Roman" panose="02020603050405020304" pitchFamily="18" charset="0"/>
                <a:cs typeface="Times New Roman" panose="02020603050405020304" pitchFamily="18" charset="0"/>
              </a:rPr>
              <a:t>Topological Sorting</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D7E5283-1B8F-43E2-A475-9FD122D1E155}"/>
              </a:ext>
            </a:extLst>
          </p:cNvPr>
          <p:cNvSpPr>
            <a:spLocks noGrp="1"/>
          </p:cNvSpPr>
          <p:nvPr>
            <p:ph idx="1"/>
          </p:nvPr>
        </p:nvSpPr>
        <p:spPr>
          <a:xfrm>
            <a:off x="838200" y="1173018"/>
            <a:ext cx="10686143" cy="4950691"/>
          </a:xfrm>
          <a:ln>
            <a:solidFill>
              <a:schemeClr val="tx1"/>
            </a:solidFill>
          </a:ln>
        </p:spPr>
        <p:txBody>
          <a:bodyPr>
            <a:normAutofit/>
          </a:bodyPr>
          <a:lstStyle/>
          <a:p>
            <a:pPr algn="just" fontAlgn="base">
              <a:lnSpc>
                <a:spcPct val="100000"/>
              </a:lnSpc>
            </a:pPr>
            <a:r>
              <a:rPr lang="en-US" sz="2400" b="0" i="0" dirty="0">
                <a:effectLst/>
                <a:latin typeface="Times New Roman" panose="02020603050405020304" pitchFamily="18" charset="0"/>
                <a:cs typeface="Times New Roman" panose="02020603050405020304" pitchFamily="18" charset="0"/>
              </a:rPr>
              <a:t>Topological sorting for Directed Acyclic Graph (DAG) is a linear ordering of vertices such that for every directed edge </a:t>
            </a:r>
            <a:r>
              <a:rPr lang="en-US" sz="2400" b="0" i="0" dirty="0" err="1">
                <a:effectLst/>
                <a:latin typeface="Times New Roman" panose="02020603050405020304" pitchFamily="18" charset="0"/>
                <a:cs typeface="Times New Roman" panose="02020603050405020304" pitchFamily="18" charset="0"/>
              </a:rPr>
              <a:t>uv</a:t>
            </a:r>
            <a:r>
              <a:rPr lang="en-US" sz="2400" b="0" i="0" dirty="0">
                <a:effectLst/>
                <a:latin typeface="Times New Roman" panose="02020603050405020304" pitchFamily="18" charset="0"/>
                <a:cs typeface="Times New Roman" panose="02020603050405020304" pitchFamily="18" charset="0"/>
              </a:rPr>
              <a:t>, vertex u comes before v in the ordering. Topological Sorting for a graph is not possible if the graph is not a DAG.</a:t>
            </a:r>
          </a:p>
          <a:p>
            <a:pPr algn="just" fontAlgn="base">
              <a:lnSpc>
                <a:spcPct val="100000"/>
              </a:lnSpc>
            </a:pPr>
            <a:r>
              <a:rPr lang="en-US" sz="2400" b="0" i="0" dirty="0">
                <a:effectLst/>
                <a:latin typeface="Times New Roman" panose="02020603050405020304" pitchFamily="18" charset="0"/>
                <a:cs typeface="Times New Roman" panose="02020603050405020304" pitchFamily="18" charset="0"/>
              </a:rPr>
              <a:t>There can be more than one topological sorting for a graph. The first vertex in topological sorting is always a vertex with in-degree as 0 (a vertex with no incoming edges).</a:t>
            </a:r>
          </a:p>
          <a:p>
            <a:pPr algn="just" fontAlgn="base">
              <a:lnSpc>
                <a:spcPct val="150000"/>
              </a:lnSpc>
            </a:pPr>
            <a:endParaRPr lang="en-US" sz="2000" b="0" i="0" dirty="0">
              <a:effectLst/>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9196CF2-A32D-4230-B676-6A86FBF89EDB}"/>
              </a:ext>
            </a:extLst>
          </p:cNvPr>
          <p:cNvSpPr>
            <a:spLocks noGrp="1"/>
          </p:cNvSpPr>
          <p:nvPr>
            <p:ph type="sldNum" sz="quarter" idx="12"/>
          </p:nvPr>
        </p:nvSpPr>
        <p:spPr/>
        <p:txBody>
          <a:bodyPr/>
          <a:lstStyle/>
          <a:p>
            <a:fld id="{BDCDBBEF-AA6C-4BA6-85B2-A17D7F280E38}" type="slidenum">
              <a:rPr lang="en-US" smtClean="0"/>
              <a:pPr/>
              <a:t>42</a:t>
            </a:fld>
            <a:endParaRPr lang="en-US"/>
          </a:p>
        </p:txBody>
      </p:sp>
      <p:pic>
        <p:nvPicPr>
          <p:cNvPr id="1026" name="Picture 2">
            <a:extLst>
              <a:ext uri="{FF2B5EF4-FFF2-40B4-BE49-F238E27FC236}">
                <a16:creationId xmlns:a16="http://schemas.microsoft.com/office/drawing/2014/main" id="{5621999E-48AF-4CDF-9913-1C0242EEDA4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7093"/>
          <a:stretch/>
        </p:blipFill>
        <p:spPr bwMode="auto">
          <a:xfrm>
            <a:off x="8117058" y="3798277"/>
            <a:ext cx="2686050" cy="199792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05CEDB9-EB97-4749-8541-44485C855B80}"/>
              </a:ext>
            </a:extLst>
          </p:cNvPr>
          <p:cNvSpPr txBox="1"/>
          <p:nvPr/>
        </p:nvSpPr>
        <p:spPr>
          <a:xfrm>
            <a:off x="1153551" y="3798277"/>
            <a:ext cx="6963507" cy="2123658"/>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rPr>
              <a:t>For this graph, following 4 different topological orderings are possible-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rgbClr val="303030"/>
                </a:solidFill>
                <a:effectLst/>
                <a:latin typeface="Times New Roman" panose="02020603050405020304" pitchFamily="18" charset="0"/>
                <a:cs typeface="Times New Roman" panose="02020603050405020304" pitchFamily="18" charset="0"/>
              </a:rPr>
              <a:t>1 2 3 4 5 6</a:t>
            </a:r>
            <a:endParaRPr kumimoji="0" lang="en-US" altLang="en-US" sz="2200" b="0" i="0" u="none" strike="noStrike" cap="none" normalizeH="0" baseline="0" dirty="0">
              <a:ln>
                <a:noFill/>
              </a:ln>
              <a:solidFill>
                <a:srgbClr val="30303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rgbClr val="303030"/>
                </a:solidFill>
                <a:effectLst/>
                <a:latin typeface="Times New Roman" panose="02020603050405020304" pitchFamily="18" charset="0"/>
                <a:cs typeface="Times New Roman" panose="02020603050405020304" pitchFamily="18" charset="0"/>
              </a:rPr>
              <a:t>1 2 3 4 6 5</a:t>
            </a:r>
            <a:endParaRPr kumimoji="0" lang="en-US" altLang="en-US" sz="2200" b="0" i="0" u="none" strike="noStrike" cap="none" normalizeH="0" baseline="0" dirty="0">
              <a:ln>
                <a:noFill/>
              </a:ln>
              <a:solidFill>
                <a:srgbClr val="30303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rgbClr val="303030"/>
                </a:solidFill>
                <a:effectLst/>
                <a:latin typeface="Times New Roman" panose="02020603050405020304" pitchFamily="18" charset="0"/>
                <a:cs typeface="Times New Roman" panose="02020603050405020304" pitchFamily="18" charset="0"/>
              </a:rPr>
              <a:t>1 3 2 4 5 6</a:t>
            </a:r>
            <a:endParaRPr kumimoji="0" lang="en-US" altLang="en-US" sz="2200" b="0" i="0" u="none" strike="noStrike" cap="none" normalizeH="0" baseline="0" dirty="0">
              <a:ln>
                <a:noFill/>
              </a:ln>
              <a:solidFill>
                <a:srgbClr val="30303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rgbClr val="303030"/>
                </a:solidFill>
                <a:effectLst/>
                <a:latin typeface="Times New Roman" panose="02020603050405020304" pitchFamily="18" charset="0"/>
                <a:cs typeface="Times New Roman" panose="02020603050405020304" pitchFamily="18" charset="0"/>
              </a:rPr>
              <a:t>1 3 2 4 6 5</a:t>
            </a:r>
            <a:endParaRPr kumimoji="0" lang="en-US" altLang="en-US" sz="2200" b="0" i="0" u="none" strike="noStrike" cap="none" normalizeH="0" baseline="0" dirty="0">
              <a:ln>
                <a:noFill/>
              </a:ln>
              <a:solidFill>
                <a:srgbClr val="303030"/>
              </a:solidFill>
              <a:effectLst/>
              <a:latin typeface="Times New Roman" panose="02020603050405020304" pitchFamily="18" charset="0"/>
              <a:cs typeface="Times New Roman" panose="02020603050405020304" pitchFamily="18" charset="0"/>
            </a:endParaRPr>
          </a:p>
        </p:txBody>
      </p:sp>
      <p:sp>
        <p:nvSpPr>
          <p:cNvPr id="7" name="Rectangle 4">
            <a:extLst>
              <a:ext uri="{FF2B5EF4-FFF2-40B4-BE49-F238E27FC236}">
                <a16:creationId xmlns:a16="http://schemas.microsoft.com/office/drawing/2014/main" id="{49173A43-74A5-49F2-8D77-A2B87A23FAAE}"/>
              </a:ext>
            </a:extLst>
          </p:cNvPr>
          <p:cNvSpPr>
            <a:spLocks noChangeArrowheads="1"/>
          </p:cNvSpPr>
          <p:nvPr/>
        </p:nvSpPr>
        <p:spPr bwMode="auto">
          <a:xfrm>
            <a:off x="0" y="-49023"/>
            <a:ext cx="65" cy="55524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36501" rIns="0" bIns="7141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100" b="0" i="0" u="none" strike="noStrike" cap="none" normalizeH="0" baseline="0" dirty="0">
                <a:ln>
                  <a:noFill/>
                </a:ln>
                <a:solidFill>
                  <a:schemeClr val="tx1"/>
                </a:solidFill>
                <a:effectLst/>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179275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815B9-8EA1-492A-BEEF-216831F2D237}"/>
              </a:ext>
            </a:extLst>
          </p:cNvPr>
          <p:cNvSpPr>
            <a:spLocks noGrp="1"/>
          </p:cNvSpPr>
          <p:nvPr>
            <p:ph type="title"/>
          </p:nvPr>
        </p:nvSpPr>
        <p:spPr>
          <a:xfrm>
            <a:off x="838200" y="136526"/>
            <a:ext cx="8749145" cy="907184"/>
          </a:xfrm>
          <a:ln>
            <a:solidFill>
              <a:schemeClr val="tx1"/>
            </a:solidFill>
          </a:ln>
        </p:spPr>
        <p:txBody>
          <a:bodyPr>
            <a:normAutofit fontScale="90000"/>
          </a:bodyPr>
          <a:lstStyle/>
          <a:p>
            <a:pPr algn="ctr"/>
            <a:r>
              <a:rPr lang="en-US" sz="4400" b="1" dirty="0">
                <a:latin typeface="Times New Roman" panose="02020603050405020304" pitchFamily="18" charset="0"/>
                <a:cs typeface="Times New Roman" panose="02020603050405020304" pitchFamily="18" charset="0"/>
              </a:rPr>
              <a:t>Topological Sorting Example (contd.)</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D7E5283-1B8F-43E2-A475-9FD122D1E155}"/>
              </a:ext>
            </a:extLst>
          </p:cNvPr>
          <p:cNvSpPr>
            <a:spLocks noGrp="1"/>
          </p:cNvSpPr>
          <p:nvPr>
            <p:ph idx="1"/>
          </p:nvPr>
        </p:nvSpPr>
        <p:spPr>
          <a:xfrm>
            <a:off x="838200" y="1173018"/>
            <a:ext cx="10515600" cy="4950691"/>
          </a:xfrm>
          <a:ln>
            <a:solidFill>
              <a:schemeClr val="tx1"/>
            </a:solidFill>
          </a:ln>
        </p:spPr>
        <p:txBody>
          <a:bodyPr>
            <a:normAutofit/>
          </a:bodyPr>
          <a:lstStyle/>
          <a:p>
            <a:pPr marL="0" indent="0">
              <a:buNone/>
            </a:pPr>
            <a:r>
              <a:rPr lang="en-US" sz="2400" b="0" i="0" dirty="0">
                <a:solidFill>
                  <a:srgbClr val="303030"/>
                </a:solidFill>
                <a:effectLst/>
                <a:latin typeface="Times New Roman" panose="02020603050405020304" pitchFamily="18" charset="0"/>
                <a:cs typeface="Times New Roman" panose="02020603050405020304" pitchFamily="18" charset="0"/>
              </a:rPr>
              <a:t>Find the number of different topological orderings possible for the given graph-</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9196CF2-A32D-4230-B676-6A86FBF89EDB}"/>
              </a:ext>
            </a:extLst>
          </p:cNvPr>
          <p:cNvSpPr>
            <a:spLocks noGrp="1"/>
          </p:cNvSpPr>
          <p:nvPr>
            <p:ph type="sldNum" sz="quarter" idx="12"/>
          </p:nvPr>
        </p:nvSpPr>
        <p:spPr/>
        <p:txBody>
          <a:bodyPr/>
          <a:lstStyle/>
          <a:p>
            <a:fld id="{BDCDBBEF-AA6C-4BA6-85B2-A17D7F280E38}" type="slidenum">
              <a:rPr lang="en-US" smtClean="0"/>
              <a:pPr/>
              <a:t>43</a:t>
            </a:fld>
            <a:endParaRPr lang="en-US"/>
          </a:p>
        </p:txBody>
      </p:sp>
      <p:pic>
        <p:nvPicPr>
          <p:cNvPr id="6" name="Picture 5">
            <a:extLst>
              <a:ext uri="{FF2B5EF4-FFF2-40B4-BE49-F238E27FC236}">
                <a16:creationId xmlns:a16="http://schemas.microsoft.com/office/drawing/2014/main" id="{1E95AD59-A3AE-442C-8125-D57BA05ECB4E}"/>
              </a:ext>
            </a:extLst>
          </p:cNvPr>
          <p:cNvPicPr>
            <a:picLocks noChangeAspect="1"/>
          </p:cNvPicPr>
          <p:nvPr/>
        </p:nvPicPr>
        <p:blipFill>
          <a:blip r:embed="rId2"/>
          <a:stretch>
            <a:fillRect/>
          </a:stretch>
        </p:blipFill>
        <p:spPr>
          <a:xfrm>
            <a:off x="4547063" y="1928522"/>
            <a:ext cx="2965083" cy="3678062"/>
          </a:xfrm>
          <a:prstGeom prst="rect">
            <a:avLst/>
          </a:prstGeom>
        </p:spPr>
      </p:pic>
    </p:spTree>
    <p:extLst>
      <p:ext uri="{BB962C8B-B14F-4D97-AF65-F5344CB8AC3E}">
        <p14:creationId xmlns:p14="http://schemas.microsoft.com/office/powerpoint/2010/main" val="20700050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815B9-8EA1-492A-BEEF-216831F2D237}"/>
              </a:ext>
            </a:extLst>
          </p:cNvPr>
          <p:cNvSpPr>
            <a:spLocks noGrp="1"/>
          </p:cNvSpPr>
          <p:nvPr>
            <p:ph type="title"/>
          </p:nvPr>
        </p:nvSpPr>
        <p:spPr>
          <a:xfrm>
            <a:off x="838200" y="136526"/>
            <a:ext cx="8749145" cy="907184"/>
          </a:xfrm>
          <a:ln>
            <a:solidFill>
              <a:schemeClr val="tx1"/>
            </a:solidFill>
          </a:ln>
        </p:spPr>
        <p:txBody>
          <a:bodyPr>
            <a:normAutofit fontScale="90000"/>
          </a:bodyPr>
          <a:lstStyle/>
          <a:p>
            <a:pPr algn="ctr"/>
            <a:r>
              <a:rPr lang="en-US" sz="4400" b="1" dirty="0">
                <a:latin typeface="Times New Roman" panose="02020603050405020304" pitchFamily="18" charset="0"/>
                <a:cs typeface="Times New Roman" panose="02020603050405020304" pitchFamily="18" charset="0"/>
              </a:rPr>
              <a:t>Topological Sorting Example (contd.)</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D7E5283-1B8F-43E2-A475-9FD122D1E155}"/>
              </a:ext>
            </a:extLst>
          </p:cNvPr>
          <p:cNvSpPr>
            <a:spLocks noGrp="1"/>
          </p:cNvSpPr>
          <p:nvPr>
            <p:ph idx="1"/>
          </p:nvPr>
        </p:nvSpPr>
        <p:spPr>
          <a:xfrm>
            <a:off x="838200" y="1173018"/>
            <a:ext cx="10515600" cy="4950691"/>
          </a:xfrm>
          <a:ln>
            <a:solidFill>
              <a:schemeClr val="tx1"/>
            </a:solidFill>
          </a:ln>
        </p:spPr>
        <p:txBody>
          <a:bodyPr>
            <a:normAutofit/>
          </a:bodyPr>
          <a:lstStyle/>
          <a:p>
            <a:pPr marL="0" indent="0" algn="l" fontAlgn="base">
              <a:buNone/>
            </a:pPr>
            <a:r>
              <a:rPr lang="en-US" sz="2400" b="1" i="0" u="sng" dirty="0">
                <a:solidFill>
                  <a:srgbClr val="303030"/>
                </a:solidFill>
                <a:effectLst/>
                <a:latin typeface="Times New Roman" panose="02020603050405020304" pitchFamily="18" charset="0"/>
                <a:cs typeface="Times New Roman" panose="02020603050405020304" pitchFamily="18" charset="0"/>
              </a:rPr>
              <a:t>Step-01:</a:t>
            </a:r>
            <a:r>
              <a:rPr lang="en-US" sz="2400" b="0" i="0" dirty="0">
                <a:solidFill>
                  <a:srgbClr val="303030"/>
                </a:solidFill>
                <a:effectLst/>
                <a:latin typeface="Times New Roman" panose="02020603050405020304" pitchFamily="18" charset="0"/>
                <a:cs typeface="Times New Roman" panose="02020603050405020304" pitchFamily="18" charset="0"/>
              </a:rPr>
              <a:t> </a:t>
            </a:r>
          </a:p>
          <a:p>
            <a:pPr fontAlgn="base"/>
            <a:r>
              <a:rPr lang="en-US" sz="2400" b="0" i="0" dirty="0">
                <a:solidFill>
                  <a:srgbClr val="303030"/>
                </a:solidFill>
                <a:effectLst/>
                <a:latin typeface="Times New Roman" panose="02020603050405020304" pitchFamily="18" charset="0"/>
                <a:cs typeface="Times New Roman" panose="02020603050405020304" pitchFamily="18" charset="0"/>
              </a:rPr>
              <a:t>Write in-degree of each vertex-</a:t>
            </a:r>
          </a:p>
        </p:txBody>
      </p:sp>
      <p:sp>
        <p:nvSpPr>
          <p:cNvPr id="4" name="Slide Number Placeholder 3">
            <a:extLst>
              <a:ext uri="{FF2B5EF4-FFF2-40B4-BE49-F238E27FC236}">
                <a16:creationId xmlns:a16="http://schemas.microsoft.com/office/drawing/2014/main" id="{89196CF2-A32D-4230-B676-6A86FBF89EDB}"/>
              </a:ext>
            </a:extLst>
          </p:cNvPr>
          <p:cNvSpPr>
            <a:spLocks noGrp="1"/>
          </p:cNvSpPr>
          <p:nvPr>
            <p:ph type="sldNum" sz="quarter" idx="12"/>
          </p:nvPr>
        </p:nvSpPr>
        <p:spPr/>
        <p:txBody>
          <a:bodyPr/>
          <a:lstStyle/>
          <a:p>
            <a:fld id="{BDCDBBEF-AA6C-4BA6-85B2-A17D7F280E38}" type="slidenum">
              <a:rPr lang="en-US" smtClean="0"/>
              <a:pPr/>
              <a:t>44</a:t>
            </a:fld>
            <a:endParaRPr lang="en-US"/>
          </a:p>
        </p:txBody>
      </p:sp>
      <p:pic>
        <p:nvPicPr>
          <p:cNvPr id="2050" name="Picture 2">
            <a:extLst>
              <a:ext uri="{FF2B5EF4-FFF2-40B4-BE49-F238E27FC236}">
                <a16:creationId xmlns:a16="http://schemas.microsoft.com/office/drawing/2014/main" id="{A4EA123C-3BD9-4BAB-8AC0-690B2A8314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1157" y="2244031"/>
            <a:ext cx="3344669" cy="36754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22739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815B9-8EA1-492A-BEEF-216831F2D237}"/>
              </a:ext>
            </a:extLst>
          </p:cNvPr>
          <p:cNvSpPr>
            <a:spLocks noGrp="1"/>
          </p:cNvSpPr>
          <p:nvPr>
            <p:ph type="title"/>
          </p:nvPr>
        </p:nvSpPr>
        <p:spPr>
          <a:xfrm>
            <a:off x="838200" y="136526"/>
            <a:ext cx="8749145" cy="907184"/>
          </a:xfrm>
          <a:ln>
            <a:solidFill>
              <a:schemeClr val="tx1"/>
            </a:solidFill>
          </a:ln>
        </p:spPr>
        <p:txBody>
          <a:bodyPr>
            <a:normAutofit fontScale="90000"/>
          </a:bodyPr>
          <a:lstStyle/>
          <a:p>
            <a:pPr algn="ctr"/>
            <a:r>
              <a:rPr lang="en-US" sz="4400" b="1" dirty="0">
                <a:latin typeface="Times New Roman" panose="02020603050405020304" pitchFamily="18" charset="0"/>
                <a:cs typeface="Times New Roman" panose="02020603050405020304" pitchFamily="18" charset="0"/>
              </a:rPr>
              <a:t>Topological Sorting Example (contd.)</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D7E5283-1B8F-43E2-A475-9FD122D1E155}"/>
              </a:ext>
            </a:extLst>
          </p:cNvPr>
          <p:cNvSpPr>
            <a:spLocks noGrp="1"/>
          </p:cNvSpPr>
          <p:nvPr>
            <p:ph idx="1"/>
          </p:nvPr>
        </p:nvSpPr>
        <p:spPr>
          <a:xfrm>
            <a:off x="838200" y="1224684"/>
            <a:ext cx="10439400" cy="4950691"/>
          </a:xfrm>
          <a:ln>
            <a:solidFill>
              <a:schemeClr val="tx1"/>
            </a:solidFill>
          </a:ln>
        </p:spPr>
        <p:txBody>
          <a:bodyPr>
            <a:normAutofit/>
          </a:bodyPr>
          <a:lstStyle/>
          <a:p>
            <a:pPr marL="0" indent="0" algn="l" fontAlgn="base">
              <a:buNone/>
            </a:pPr>
            <a:r>
              <a:rPr lang="en-US" sz="2400" b="1" i="0" u="sng" dirty="0">
                <a:solidFill>
                  <a:srgbClr val="303030"/>
                </a:solidFill>
                <a:effectLst/>
                <a:latin typeface="Times New Roman" panose="02020603050405020304" pitchFamily="18" charset="0"/>
                <a:cs typeface="Times New Roman" panose="02020603050405020304" pitchFamily="18" charset="0"/>
              </a:rPr>
              <a:t>Step-02:</a:t>
            </a:r>
            <a:endParaRPr lang="en-US" sz="2400" b="1" i="0" dirty="0">
              <a:solidFill>
                <a:srgbClr val="303030"/>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Vertex-A has the least in-degree.</a:t>
            </a:r>
          </a:p>
          <a:p>
            <a:pPr algn="l" fontAlgn="base">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So, remove vertex-A and its associated edges.</a:t>
            </a:r>
          </a:p>
          <a:p>
            <a:pPr algn="l" fontAlgn="base">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Now, update the in-degree of other vertices.</a:t>
            </a: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9196CF2-A32D-4230-B676-6A86FBF89EDB}"/>
              </a:ext>
            </a:extLst>
          </p:cNvPr>
          <p:cNvSpPr>
            <a:spLocks noGrp="1"/>
          </p:cNvSpPr>
          <p:nvPr>
            <p:ph type="sldNum" sz="quarter" idx="12"/>
          </p:nvPr>
        </p:nvSpPr>
        <p:spPr/>
        <p:txBody>
          <a:bodyPr/>
          <a:lstStyle/>
          <a:p>
            <a:fld id="{BDCDBBEF-AA6C-4BA6-85B2-A17D7F280E38}" type="slidenum">
              <a:rPr lang="en-US" smtClean="0"/>
              <a:pPr/>
              <a:t>45</a:t>
            </a:fld>
            <a:endParaRPr lang="en-US"/>
          </a:p>
        </p:txBody>
      </p:sp>
      <p:pic>
        <p:nvPicPr>
          <p:cNvPr id="11" name="Picture 10">
            <a:extLst>
              <a:ext uri="{FF2B5EF4-FFF2-40B4-BE49-F238E27FC236}">
                <a16:creationId xmlns:a16="http://schemas.microsoft.com/office/drawing/2014/main" id="{2BFF3EAB-273C-4F04-8ECA-100B71A7111E}"/>
              </a:ext>
            </a:extLst>
          </p:cNvPr>
          <p:cNvPicPr>
            <a:picLocks noChangeAspect="1"/>
          </p:cNvPicPr>
          <p:nvPr/>
        </p:nvPicPr>
        <p:blipFill>
          <a:blip r:embed="rId2"/>
          <a:stretch>
            <a:fillRect/>
          </a:stretch>
        </p:blipFill>
        <p:spPr>
          <a:xfrm>
            <a:off x="3808938" y="3052372"/>
            <a:ext cx="3170195" cy="3025402"/>
          </a:xfrm>
          <a:prstGeom prst="rect">
            <a:avLst/>
          </a:prstGeom>
        </p:spPr>
      </p:pic>
    </p:spTree>
    <p:extLst>
      <p:ext uri="{BB962C8B-B14F-4D97-AF65-F5344CB8AC3E}">
        <p14:creationId xmlns:p14="http://schemas.microsoft.com/office/powerpoint/2010/main" val="3168648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3E1CB32-338A-4321-ABC8-9569B690EF7E}"/>
              </a:ext>
            </a:extLst>
          </p:cNvPr>
          <p:cNvSpPr txBox="1"/>
          <p:nvPr/>
        </p:nvSpPr>
        <p:spPr>
          <a:xfrm>
            <a:off x="838200" y="1160030"/>
            <a:ext cx="10439399" cy="5262979"/>
          </a:xfrm>
          <a:prstGeom prst="rect">
            <a:avLst/>
          </a:prstGeom>
          <a:noFill/>
          <a:ln>
            <a:solidFill>
              <a:schemeClr val="tx1"/>
            </a:solidFill>
          </a:ln>
        </p:spPr>
        <p:txBody>
          <a:bodyPr wrap="square">
            <a:spAutoFit/>
          </a:bodyPr>
          <a:lstStyle/>
          <a:p>
            <a:pPr algn="l" fontAlgn="base"/>
            <a:r>
              <a:rPr lang="en-US" sz="2400" b="1" i="0" u="sng" dirty="0">
                <a:solidFill>
                  <a:srgbClr val="303030"/>
                </a:solidFill>
                <a:effectLst/>
                <a:latin typeface="Times New Roman" panose="02020603050405020304" pitchFamily="18" charset="0"/>
                <a:cs typeface="Times New Roman" panose="02020603050405020304" pitchFamily="18" charset="0"/>
              </a:rPr>
              <a:t>Step-03:</a:t>
            </a:r>
            <a:endParaRPr lang="en-US" sz="2400" b="1" i="0" dirty="0">
              <a:solidFill>
                <a:srgbClr val="303030"/>
              </a:solidFill>
              <a:effectLst/>
              <a:latin typeface="Times New Roman" panose="02020603050405020304" pitchFamily="18" charset="0"/>
              <a:cs typeface="Times New Roman" panose="02020603050405020304" pitchFamily="18" charset="0"/>
            </a:endParaRPr>
          </a:p>
          <a:p>
            <a:pPr algn="l" fontAlgn="base"/>
            <a:r>
              <a:rPr lang="en-US" sz="2400" b="0" i="0" dirty="0">
                <a:solidFill>
                  <a:srgbClr val="303030"/>
                </a:solidFill>
                <a:effectLst/>
                <a:latin typeface="Times New Roman" panose="02020603050405020304" pitchFamily="18" charset="0"/>
                <a:cs typeface="Times New Roman" panose="02020603050405020304" pitchFamily="18" charset="0"/>
              </a:rPr>
              <a:t> </a:t>
            </a:r>
          </a:p>
          <a:p>
            <a:pPr algn="l" fontAlgn="base">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Vertex-B has the least in-degree.</a:t>
            </a:r>
          </a:p>
          <a:p>
            <a:pPr algn="l" fontAlgn="base">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So, remove vertex-B and its associated edges.</a:t>
            </a:r>
          </a:p>
          <a:p>
            <a:pPr algn="l" fontAlgn="base">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Now, update the in-degree of other vertices.</a:t>
            </a:r>
          </a:p>
          <a:p>
            <a:pPr algn="l" fontAlgn="base">
              <a:buFont typeface="Arial" panose="020B0604020202020204" pitchFamily="34" charset="0"/>
              <a:buChar char="•"/>
            </a:pPr>
            <a:endParaRPr lang="en-US" sz="2400" dirty="0">
              <a:solidFill>
                <a:srgbClr val="303030"/>
              </a:solidFill>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endParaRPr lang="en-US" sz="2400" b="0" i="0" dirty="0">
              <a:solidFill>
                <a:srgbClr val="303030"/>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endParaRPr lang="en-US" sz="2400" dirty="0">
              <a:solidFill>
                <a:srgbClr val="303030"/>
              </a:solidFill>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endParaRPr lang="en-US" sz="2400" b="0" i="0" dirty="0">
              <a:solidFill>
                <a:srgbClr val="303030"/>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endParaRPr lang="en-US" sz="2400" dirty="0">
              <a:solidFill>
                <a:srgbClr val="303030"/>
              </a:solidFill>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endParaRPr lang="en-US" sz="2400" b="0" i="0" dirty="0">
              <a:solidFill>
                <a:srgbClr val="303030"/>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endParaRPr lang="en-US" sz="2400" dirty="0">
              <a:solidFill>
                <a:srgbClr val="303030"/>
              </a:solidFill>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endParaRPr lang="en-US" sz="2400" b="0" i="0" dirty="0">
              <a:solidFill>
                <a:srgbClr val="303030"/>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endParaRPr lang="en-US" sz="2400" b="0" i="0" dirty="0">
              <a:solidFill>
                <a:srgbClr val="303030"/>
              </a:solidFill>
              <a:effectLst/>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D02815B9-8EA1-492A-BEEF-216831F2D237}"/>
              </a:ext>
            </a:extLst>
          </p:cNvPr>
          <p:cNvSpPr>
            <a:spLocks noGrp="1"/>
          </p:cNvSpPr>
          <p:nvPr>
            <p:ph type="title"/>
          </p:nvPr>
        </p:nvSpPr>
        <p:spPr>
          <a:xfrm>
            <a:off x="838200" y="136526"/>
            <a:ext cx="8749145" cy="907184"/>
          </a:xfrm>
          <a:ln>
            <a:solidFill>
              <a:schemeClr val="tx1"/>
            </a:solidFill>
          </a:ln>
        </p:spPr>
        <p:txBody>
          <a:bodyPr>
            <a:normAutofit fontScale="90000"/>
          </a:bodyPr>
          <a:lstStyle/>
          <a:p>
            <a:pPr algn="ctr"/>
            <a:r>
              <a:rPr lang="en-US" sz="4400" b="1" dirty="0">
                <a:latin typeface="Times New Roman" panose="02020603050405020304" pitchFamily="18" charset="0"/>
                <a:cs typeface="Times New Roman" panose="02020603050405020304" pitchFamily="18" charset="0"/>
              </a:rPr>
              <a:t>Topological Sorting Example (contd.)</a:t>
            </a:r>
            <a:endParaRPr lang="en-IN" b="1" dirty="0">
              <a:latin typeface="Times New Roman" panose="02020603050405020304" pitchFamily="18" charset="0"/>
              <a:cs typeface="Times New Roman" panose="02020603050405020304" pitchFamily="18" charset="0"/>
            </a:endParaRPr>
          </a:p>
        </p:txBody>
      </p:sp>
      <p:pic>
        <p:nvPicPr>
          <p:cNvPr id="8" name="Content Placeholder 7">
            <a:extLst>
              <a:ext uri="{FF2B5EF4-FFF2-40B4-BE49-F238E27FC236}">
                <a16:creationId xmlns:a16="http://schemas.microsoft.com/office/drawing/2014/main" id="{B42BD622-CC55-468A-82AC-95BA60CF9542}"/>
              </a:ext>
            </a:extLst>
          </p:cNvPr>
          <p:cNvPicPr>
            <a:picLocks noGrp="1" noChangeAspect="1"/>
          </p:cNvPicPr>
          <p:nvPr>
            <p:ph idx="1"/>
          </p:nvPr>
        </p:nvPicPr>
        <p:blipFill>
          <a:blip r:embed="rId2"/>
          <a:stretch>
            <a:fillRect/>
          </a:stretch>
        </p:blipFill>
        <p:spPr>
          <a:xfrm>
            <a:off x="3143568" y="3316458"/>
            <a:ext cx="4959422" cy="2749576"/>
          </a:xfrm>
          <a:ln>
            <a:solidFill>
              <a:schemeClr val="tx1"/>
            </a:solidFill>
          </a:ln>
        </p:spPr>
      </p:pic>
      <p:sp>
        <p:nvSpPr>
          <p:cNvPr id="4" name="Slide Number Placeholder 3">
            <a:extLst>
              <a:ext uri="{FF2B5EF4-FFF2-40B4-BE49-F238E27FC236}">
                <a16:creationId xmlns:a16="http://schemas.microsoft.com/office/drawing/2014/main" id="{89196CF2-A32D-4230-B676-6A86FBF89EDB}"/>
              </a:ext>
            </a:extLst>
          </p:cNvPr>
          <p:cNvSpPr>
            <a:spLocks noGrp="1"/>
          </p:cNvSpPr>
          <p:nvPr>
            <p:ph type="sldNum" sz="quarter" idx="12"/>
          </p:nvPr>
        </p:nvSpPr>
        <p:spPr/>
        <p:txBody>
          <a:bodyPr/>
          <a:lstStyle/>
          <a:p>
            <a:fld id="{BDCDBBEF-AA6C-4BA6-85B2-A17D7F280E38}" type="slidenum">
              <a:rPr lang="en-US" smtClean="0"/>
              <a:pPr/>
              <a:t>46</a:t>
            </a:fld>
            <a:endParaRPr lang="en-US"/>
          </a:p>
        </p:txBody>
      </p:sp>
    </p:spTree>
    <p:extLst>
      <p:ext uri="{BB962C8B-B14F-4D97-AF65-F5344CB8AC3E}">
        <p14:creationId xmlns:p14="http://schemas.microsoft.com/office/powerpoint/2010/main" val="22937419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815B9-8EA1-492A-BEEF-216831F2D237}"/>
              </a:ext>
            </a:extLst>
          </p:cNvPr>
          <p:cNvSpPr>
            <a:spLocks noGrp="1"/>
          </p:cNvSpPr>
          <p:nvPr>
            <p:ph type="title"/>
          </p:nvPr>
        </p:nvSpPr>
        <p:spPr>
          <a:xfrm>
            <a:off x="838200" y="136526"/>
            <a:ext cx="8749145" cy="907184"/>
          </a:xfrm>
          <a:ln>
            <a:solidFill>
              <a:schemeClr val="tx1"/>
            </a:solidFill>
          </a:ln>
        </p:spPr>
        <p:txBody>
          <a:bodyPr>
            <a:normAutofit fontScale="90000"/>
          </a:bodyPr>
          <a:lstStyle/>
          <a:p>
            <a:pPr algn="ctr"/>
            <a:r>
              <a:rPr lang="en-US" sz="4400" b="1" dirty="0">
                <a:latin typeface="Times New Roman" panose="02020603050405020304" pitchFamily="18" charset="0"/>
                <a:cs typeface="Times New Roman" panose="02020603050405020304" pitchFamily="18" charset="0"/>
              </a:rPr>
              <a:t>Topological Sorting Example (contd.)</a:t>
            </a:r>
            <a:endParaRPr lang="en-IN"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9196CF2-A32D-4230-B676-6A86FBF89EDB}"/>
              </a:ext>
            </a:extLst>
          </p:cNvPr>
          <p:cNvSpPr>
            <a:spLocks noGrp="1"/>
          </p:cNvSpPr>
          <p:nvPr>
            <p:ph type="sldNum" sz="quarter" idx="12"/>
          </p:nvPr>
        </p:nvSpPr>
        <p:spPr/>
        <p:txBody>
          <a:bodyPr/>
          <a:lstStyle/>
          <a:p>
            <a:fld id="{BDCDBBEF-AA6C-4BA6-85B2-A17D7F280E38}" type="slidenum">
              <a:rPr lang="en-US" smtClean="0"/>
              <a:pPr/>
              <a:t>47</a:t>
            </a:fld>
            <a:endParaRPr lang="en-US"/>
          </a:p>
        </p:txBody>
      </p:sp>
      <p:sp>
        <p:nvSpPr>
          <p:cNvPr id="5" name="Rectangle 1">
            <a:extLst>
              <a:ext uri="{FF2B5EF4-FFF2-40B4-BE49-F238E27FC236}">
                <a16:creationId xmlns:a16="http://schemas.microsoft.com/office/drawing/2014/main" id="{6597F520-D3B7-49B9-BFB3-4AC25D7F5173}"/>
              </a:ext>
            </a:extLst>
          </p:cNvPr>
          <p:cNvSpPr>
            <a:spLocks noGrp="1" noChangeArrowheads="1"/>
          </p:cNvSpPr>
          <p:nvPr>
            <p:ph idx="1"/>
          </p:nvPr>
        </p:nvSpPr>
        <p:spPr bwMode="auto">
          <a:xfrm>
            <a:off x="838200" y="1163477"/>
            <a:ext cx="10256334" cy="5447645"/>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sng" strike="noStrike" cap="none" normalizeH="0" baseline="0" dirty="0">
                <a:ln>
                  <a:noFill/>
                </a:ln>
                <a:solidFill>
                  <a:srgbClr val="303030"/>
                </a:solidFill>
                <a:effectLst/>
                <a:latin typeface="Times New Roman" panose="02020603050405020304" pitchFamily="18" charset="0"/>
                <a:cs typeface="Times New Roman" panose="02020603050405020304" pitchFamily="18" charset="0"/>
              </a:rPr>
              <a:t>Step-04:</a:t>
            </a:r>
            <a:endParaRPr kumimoji="0" lang="en-US" altLang="en-US" sz="2400" b="1" i="0" u="none" strike="noStrike" cap="none" normalizeH="0" baseline="0" dirty="0">
              <a:ln>
                <a:noFill/>
              </a:ln>
              <a:solidFill>
                <a:srgbClr val="30303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03030"/>
                </a:solidFill>
                <a:effectLst/>
                <a:latin typeface="Times New Roman" panose="02020603050405020304" pitchFamily="18" charset="0"/>
                <a:cs typeface="Times New Roman" panose="02020603050405020304" pitchFamily="18" charset="0"/>
              </a:rPr>
              <a:t> There are two vertices with the least in-degree. So, following 2 cases are possible-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0303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solidFill>
                <a:srgbClr val="303030"/>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30303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solidFill>
                <a:srgbClr val="303030"/>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30303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solidFill>
                <a:srgbClr val="303030"/>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30303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solidFill>
                <a:srgbClr val="303030"/>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30303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solidFill>
                <a:srgbClr val="303030"/>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30303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solidFill>
                <a:srgbClr val="303030"/>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19FA256D-07BE-4D91-AFE9-1A55E99432C4}"/>
              </a:ext>
            </a:extLst>
          </p:cNvPr>
          <p:cNvPicPr>
            <a:picLocks noChangeAspect="1"/>
          </p:cNvPicPr>
          <p:nvPr/>
        </p:nvPicPr>
        <p:blipFill>
          <a:blip r:embed="rId2"/>
          <a:stretch>
            <a:fillRect/>
          </a:stretch>
        </p:blipFill>
        <p:spPr>
          <a:xfrm>
            <a:off x="2164981" y="3307534"/>
            <a:ext cx="2125662" cy="2852680"/>
          </a:xfrm>
          <a:prstGeom prst="rect">
            <a:avLst/>
          </a:prstGeom>
        </p:spPr>
      </p:pic>
      <p:sp>
        <p:nvSpPr>
          <p:cNvPr id="8" name="TextBox 7">
            <a:extLst>
              <a:ext uri="{FF2B5EF4-FFF2-40B4-BE49-F238E27FC236}">
                <a16:creationId xmlns:a16="http://schemas.microsoft.com/office/drawing/2014/main" id="{1134680C-2E66-4D9D-9C8A-BE9EEC48AD4E}"/>
              </a:ext>
            </a:extLst>
          </p:cNvPr>
          <p:cNvSpPr txBox="1"/>
          <p:nvPr/>
        </p:nvSpPr>
        <p:spPr>
          <a:xfrm>
            <a:off x="838200" y="1986256"/>
            <a:ext cx="5042095" cy="1785104"/>
          </a:xfrm>
          <a:prstGeom prst="rect">
            <a:avLst/>
          </a:prstGeom>
          <a:noFill/>
        </p:spPr>
        <p:txBody>
          <a:bodyPr wrap="square" rtlCol="0">
            <a:spAutoFit/>
          </a:bodyPr>
          <a:lstStyle/>
          <a:p>
            <a:r>
              <a:rPr kumimoji="0" lang="en-US" altLang="en-US" sz="2200" b="1" i="0" u="none" strike="noStrike" cap="none" normalizeH="0" baseline="0" dirty="0">
                <a:ln>
                  <a:noFill/>
                </a:ln>
                <a:solidFill>
                  <a:srgbClr val="303030"/>
                </a:solidFill>
                <a:effectLst/>
                <a:latin typeface="Times New Roman" panose="02020603050405020304" pitchFamily="18" charset="0"/>
                <a:cs typeface="Times New Roman" panose="02020603050405020304" pitchFamily="18" charset="0"/>
              </a:rPr>
              <a:t>In case-01, </a:t>
            </a:r>
          </a:p>
          <a:p>
            <a:r>
              <a:rPr lang="en-US" sz="2200" dirty="0">
                <a:latin typeface="Times New Roman" panose="02020603050405020304" pitchFamily="18" charset="0"/>
                <a:cs typeface="Times New Roman" panose="02020603050405020304" pitchFamily="18" charset="0"/>
              </a:rPr>
              <a:t>Remove vertex-C and its associated edges.</a:t>
            </a:r>
          </a:p>
          <a:p>
            <a:r>
              <a:rPr lang="en-US" sz="2200" dirty="0">
                <a:latin typeface="Times New Roman" panose="02020603050405020304" pitchFamily="18" charset="0"/>
                <a:cs typeface="Times New Roman" panose="02020603050405020304" pitchFamily="18" charset="0"/>
              </a:rPr>
              <a:t>Then, update the in-degree of other vertices.</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rgbClr val="303030"/>
              </a:solidFill>
              <a:effectLst/>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44A05963-C47F-42AE-BF3E-8FDAA483ED45}"/>
              </a:ext>
            </a:extLst>
          </p:cNvPr>
          <p:cNvSpPr txBox="1"/>
          <p:nvPr/>
        </p:nvSpPr>
        <p:spPr>
          <a:xfrm>
            <a:off x="5880295" y="2056596"/>
            <a:ext cx="5176911" cy="1446550"/>
          </a:xfrm>
          <a:prstGeom prst="rect">
            <a:avLst/>
          </a:prstGeom>
          <a:noFill/>
        </p:spPr>
        <p:txBody>
          <a:bodyPr wrap="square" rtlCol="0">
            <a:spAutoFit/>
          </a:bodyPr>
          <a:lstStyle/>
          <a:p>
            <a:pPr marL="0" indent="0" algn="l" fontAlgn="base">
              <a:buNone/>
            </a:pPr>
            <a:r>
              <a:rPr lang="en-US" sz="2200" b="1" i="0" dirty="0">
                <a:solidFill>
                  <a:srgbClr val="303030"/>
                </a:solidFill>
                <a:effectLst/>
                <a:latin typeface="Times New Roman" panose="02020603050405020304" pitchFamily="18" charset="0"/>
                <a:cs typeface="Times New Roman" panose="02020603050405020304" pitchFamily="18" charset="0"/>
              </a:rPr>
              <a:t>In case-02</a:t>
            </a:r>
            <a:r>
              <a:rPr lang="en-US" sz="2200" b="0" i="0" dirty="0">
                <a:solidFill>
                  <a:srgbClr val="303030"/>
                </a:solidFill>
                <a:effectLst/>
                <a:latin typeface="Times New Roman" panose="02020603050405020304" pitchFamily="18" charset="0"/>
                <a:cs typeface="Times New Roman" panose="02020603050405020304" pitchFamily="18" charset="0"/>
              </a:rPr>
              <a:t>,</a:t>
            </a:r>
          </a:p>
          <a:p>
            <a:pPr algn="l" fontAlgn="base">
              <a:buFont typeface="Arial" panose="020B0604020202020204" pitchFamily="34" charset="0"/>
              <a:buChar char="•"/>
            </a:pPr>
            <a:r>
              <a:rPr lang="en-US" sz="2200" b="0" i="0" dirty="0">
                <a:solidFill>
                  <a:srgbClr val="303030"/>
                </a:solidFill>
                <a:effectLst/>
                <a:latin typeface="Times New Roman" panose="02020603050405020304" pitchFamily="18" charset="0"/>
                <a:cs typeface="Times New Roman" panose="02020603050405020304" pitchFamily="18" charset="0"/>
              </a:rPr>
              <a:t>Remove vertex-D and its associated edges.</a:t>
            </a:r>
          </a:p>
          <a:p>
            <a:pPr algn="l" fontAlgn="base">
              <a:buFont typeface="Arial" panose="020B0604020202020204" pitchFamily="34" charset="0"/>
              <a:buChar char="•"/>
            </a:pPr>
            <a:r>
              <a:rPr lang="en-US" sz="2200" b="0" i="0" dirty="0">
                <a:solidFill>
                  <a:srgbClr val="303030"/>
                </a:solidFill>
                <a:effectLst/>
                <a:latin typeface="Times New Roman" panose="02020603050405020304" pitchFamily="18" charset="0"/>
                <a:cs typeface="Times New Roman" panose="02020603050405020304" pitchFamily="18" charset="0"/>
              </a:rPr>
              <a:t>Then, update the in-degree of other vertices.</a:t>
            </a:r>
            <a:endParaRPr lang="en-IN" sz="22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90679A55-AB5C-4AE6-9E1F-7B15988B1B16}"/>
              </a:ext>
            </a:extLst>
          </p:cNvPr>
          <p:cNvPicPr>
            <a:picLocks noChangeAspect="1"/>
          </p:cNvPicPr>
          <p:nvPr/>
        </p:nvPicPr>
        <p:blipFill>
          <a:blip r:embed="rId3"/>
          <a:stretch>
            <a:fillRect/>
          </a:stretch>
        </p:blipFill>
        <p:spPr>
          <a:xfrm>
            <a:off x="7356319" y="3237194"/>
            <a:ext cx="2304936" cy="2668345"/>
          </a:xfrm>
          <a:prstGeom prst="rect">
            <a:avLst/>
          </a:prstGeom>
        </p:spPr>
      </p:pic>
    </p:spTree>
    <p:extLst>
      <p:ext uri="{BB962C8B-B14F-4D97-AF65-F5344CB8AC3E}">
        <p14:creationId xmlns:p14="http://schemas.microsoft.com/office/powerpoint/2010/main" val="4504722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815B9-8EA1-492A-BEEF-216831F2D237}"/>
              </a:ext>
            </a:extLst>
          </p:cNvPr>
          <p:cNvSpPr>
            <a:spLocks noGrp="1"/>
          </p:cNvSpPr>
          <p:nvPr>
            <p:ph type="title"/>
          </p:nvPr>
        </p:nvSpPr>
        <p:spPr>
          <a:xfrm>
            <a:off x="838200" y="136526"/>
            <a:ext cx="8749145" cy="907184"/>
          </a:xfrm>
          <a:ln>
            <a:solidFill>
              <a:schemeClr val="tx1"/>
            </a:solidFill>
          </a:ln>
        </p:spPr>
        <p:txBody>
          <a:bodyPr>
            <a:normAutofit fontScale="90000"/>
          </a:bodyPr>
          <a:lstStyle/>
          <a:p>
            <a:pPr algn="ctr"/>
            <a:r>
              <a:rPr lang="en-US" sz="4400" b="1" dirty="0">
                <a:latin typeface="Times New Roman" panose="02020603050405020304" pitchFamily="18" charset="0"/>
                <a:cs typeface="Times New Roman" panose="02020603050405020304" pitchFamily="18" charset="0"/>
              </a:rPr>
              <a:t>Topological Sorting Example (contd.)</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D7E5283-1B8F-43E2-A475-9FD122D1E155}"/>
              </a:ext>
            </a:extLst>
          </p:cNvPr>
          <p:cNvSpPr>
            <a:spLocks noGrp="1"/>
          </p:cNvSpPr>
          <p:nvPr>
            <p:ph idx="1"/>
          </p:nvPr>
        </p:nvSpPr>
        <p:spPr>
          <a:xfrm>
            <a:off x="838200" y="1141557"/>
            <a:ext cx="10439400" cy="4950691"/>
          </a:xfrm>
          <a:ln>
            <a:solidFill>
              <a:schemeClr val="tx1"/>
            </a:solidFill>
          </a:ln>
        </p:spPr>
        <p:txBody>
          <a:bodyPr>
            <a:normAutofit/>
          </a:bodyPr>
          <a:lstStyle/>
          <a:p>
            <a:pPr algn="l" fontAlgn="base"/>
            <a:r>
              <a:rPr lang="en-US" sz="2400" b="1" i="0" u="sng" dirty="0">
                <a:solidFill>
                  <a:srgbClr val="303030"/>
                </a:solidFill>
                <a:effectLst/>
                <a:latin typeface="Times New Roman" panose="02020603050405020304" pitchFamily="18" charset="0"/>
                <a:cs typeface="Times New Roman" panose="02020603050405020304" pitchFamily="18" charset="0"/>
              </a:rPr>
              <a:t>Step-05:</a:t>
            </a:r>
            <a:endParaRPr lang="en-US" sz="2400" b="0" i="0" dirty="0">
              <a:solidFill>
                <a:srgbClr val="303030"/>
              </a:solidFill>
              <a:effectLst/>
              <a:latin typeface="Times New Roman" panose="02020603050405020304" pitchFamily="18" charset="0"/>
              <a:cs typeface="Times New Roman" panose="02020603050405020304" pitchFamily="18" charset="0"/>
            </a:endParaRPr>
          </a:p>
          <a:p>
            <a:pPr algn="l" fontAlgn="base"/>
            <a:r>
              <a:rPr lang="en-US" sz="2400" b="0" i="0" dirty="0">
                <a:solidFill>
                  <a:srgbClr val="303030"/>
                </a:solidFill>
                <a:effectLst/>
                <a:latin typeface="Times New Roman" panose="02020603050405020304" pitchFamily="18" charset="0"/>
                <a:cs typeface="Times New Roman" panose="02020603050405020304" pitchFamily="18" charset="0"/>
              </a:rPr>
              <a:t>Now, the above two cases are continued separately in the similar manner.</a:t>
            </a:r>
          </a:p>
          <a:p>
            <a:pPr marL="0" indent="0" algn="l" fontAlgn="base">
              <a:buNone/>
            </a:pPr>
            <a:r>
              <a:rPr lang="en-US" sz="2400" b="1" dirty="0">
                <a:solidFill>
                  <a:srgbClr val="303030"/>
                </a:solidFill>
                <a:latin typeface="Times New Roman" panose="02020603050405020304" pitchFamily="18" charset="0"/>
                <a:cs typeface="Times New Roman" panose="02020603050405020304" pitchFamily="18" charset="0"/>
              </a:rPr>
              <a:t> </a:t>
            </a:r>
            <a:r>
              <a:rPr lang="en-US" sz="2400" b="1" i="0" dirty="0">
                <a:solidFill>
                  <a:srgbClr val="303030"/>
                </a:solidFill>
                <a:effectLst/>
                <a:latin typeface="Times New Roman" panose="02020603050405020304" pitchFamily="18" charset="0"/>
                <a:cs typeface="Times New Roman" panose="02020603050405020304" pitchFamily="18" charset="0"/>
              </a:rPr>
              <a:t>In case-01</a:t>
            </a:r>
            <a:r>
              <a:rPr lang="en-US" sz="2400" b="0" i="0" dirty="0">
                <a:solidFill>
                  <a:srgbClr val="303030"/>
                </a:solidFill>
                <a:effectLst/>
                <a:latin typeface="Times New Roman" panose="02020603050405020304" pitchFamily="18" charset="0"/>
                <a:cs typeface="Times New Roman" panose="02020603050405020304" pitchFamily="18" charset="0"/>
              </a:rPr>
              <a:t>,</a:t>
            </a:r>
          </a:p>
          <a:p>
            <a:pPr lvl="1" fontAlgn="base"/>
            <a:r>
              <a:rPr lang="en-US" b="0" i="0" dirty="0">
                <a:solidFill>
                  <a:srgbClr val="303030"/>
                </a:solidFill>
                <a:effectLst/>
                <a:latin typeface="Times New Roman" panose="02020603050405020304" pitchFamily="18" charset="0"/>
                <a:cs typeface="Times New Roman" panose="02020603050405020304" pitchFamily="18" charset="0"/>
              </a:rPr>
              <a:t>Remove vertex-D since it has the least in-degree.</a:t>
            </a:r>
          </a:p>
          <a:p>
            <a:pPr lvl="1" fontAlgn="base"/>
            <a:r>
              <a:rPr lang="en-US" b="0" i="0" dirty="0">
                <a:solidFill>
                  <a:srgbClr val="303030"/>
                </a:solidFill>
                <a:effectLst/>
                <a:latin typeface="Times New Roman" panose="02020603050405020304" pitchFamily="18" charset="0"/>
                <a:cs typeface="Times New Roman" panose="02020603050405020304" pitchFamily="18" charset="0"/>
              </a:rPr>
              <a:t>Then, remove the remaining vertex-E.</a:t>
            </a: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9196CF2-A32D-4230-B676-6A86FBF89EDB}"/>
              </a:ext>
            </a:extLst>
          </p:cNvPr>
          <p:cNvSpPr>
            <a:spLocks noGrp="1"/>
          </p:cNvSpPr>
          <p:nvPr>
            <p:ph type="sldNum" sz="quarter" idx="12"/>
          </p:nvPr>
        </p:nvSpPr>
        <p:spPr/>
        <p:txBody>
          <a:bodyPr/>
          <a:lstStyle/>
          <a:p>
            <a:fld id="{BDCDBBEF-AA6C-4BA6-85B2-A17D7F280E38}" type="slidenum">
              <a:rPr lang="en-US" smtClean="0"/>
              <a:pPr/>
              <a:t>48</a:t>
            </a:fld>
            <a:endParaRPr lang="en-US"/>
          </a:p>
        </p:txBody>
      </p:sp>
      <p:pic>
        <p:nvPicPr>
          <p:cNvPr id="6" name="Picture 5">
            <a:extLst>
              <a:ext uri="{FF2B5EF4-FFF2-40B4-BE49-F238E27FC236}">
                <a16:creationId xmlns:a16="http://schemas.microsoft.com/office/drawing/2014/main" id="{C7DCC19E-8137-4FA8-8515-3731DC4F8BD1}"/>
              </a:ext>
            </a:extLst>
          </p:cNvPr>
          <p:cNvPicPr>
            <a:picLocks noChangeAspect="1"/>
          </p:cNvPicPr>
          <p:nvPr/>
        </p:nvPicPr>
        <p:blipFill>
          <a:blip r:embed="rId2"/>
          <a:stretch>
            <a:fillRect/>
          </a:stretch>
        </p:blipFill>
        <p:spPr>
          <a:xfrm>
            <a:off x="4507081" y="5228402"/>
            <a:ext cx="3406435" cy="617273"/>
          </a:xfrm>
          <a:prstGeom prst="rect">
            <a:avLst/>
          </a:prstGeom>
        </p:spPr>
      </p:pic>
      <p:sp>
        <p:nvSpPr>
          <p:cNvPr id="8" name="TextBox 7">
            <a:extLst>
              <a:ext uri="{FF2B5EF4-FFF2-40B4-BE49-F238E27FC236}">
                <a16:creationId xmlns:a16="http://schemas.microsoft.com/office/drawing/2014/main" id="{2EF22B48-813D-40E8-B4C3-96F891E70EC9}"/>
              </a:ext>
            </a:extLst>
          </p:cNvPr>
          <p:cNvSpPr txBox="1"/>
          <p:nvPr/>
        </p:nvSpPr>
        <p:spPr>
          <a:xfrm>
            <a:off x="914400" y="3930226"/>
            <a:ext cx="10261599" cy="1200329"/>
          </a:xfrm>
          <a:prstGeom prst="rect">
            <a:avLst/>
          </a:prstGeom>
          <a:noFill/>
        </p:spPr>
        <p:txBody>
          <a:bodyPr wrap="square">
            <a:spAutoFit/>
          </a:bodyPr>
          <a:lstStyle/>
          <a:p>
            <a:pPr algn="l" fontAlgn="base"/>
            <a:r>
              <a:rPr lang="en-US" sz="2400" b="1" i="0" dirty="0">
                <a:solidFill>
                  <a:srgbClr val="303030"/>
                </a:solidFill>
                <a:effectLst/>
                <a:latin typeface="Times New Roman" panose="02020603050405020304" pitchFamily="18" charset="0"/>
                <a:cs typeface="Times New Roman" panose="02020603050405020304" pitchFamily="18" charset="0"/>
              </a:rPr>
              <a:t>In case-02,</a:t>
            </a:r>
          </a:p>
          <a:p>
            <a:pPr algn="l" fontAlgn="base">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Remove vertex-C since it has the least in-degree.</a:t>
            </a:r>
          </a:p>
          <a:p>
            <a:pPr algn="l" fontAlgn="base">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Then, remove the remaining vertex-E.</a:t>
            </a:r>
          </a:p>
        </p:txBody>
      </p:sp>
      <p:pic>
        <p:nvPicPr>
          <p:cNvPr id="10" name="Picture 9">
            <a:extLst>
              <a:ext uri="{FF2B5EF4-FFF2-40B4-BE49-F238E27FC236}">
                <a16:creationId xmlns:a16="http://schemas.microsoft.com/office/drawing/2014/main" id="{2F2AF788-0AD1-434B-817C-5CDBFFB0E709}"/>
              </a:ext>
            </a:extLst>
          </p:cNvPr>
          <p:cNvPicPr>
            <a:picLocks noChangeAspect="1"/>
          </p:cNvPicPr>
          <p:nvPr/>
        </p:nvPicPr>
        <p:blipFill>
          <a:blip r:embed="rId3"/>
          <a:stretch>
            <a:fillRect/>
          </a:stretch>
        </p:blipFill>
        <p:spPr>
          <a:xfrm>
            <a:off x="4411834" y="3267490"/>
            <a:ext cx="3368332" cy="632515"/>
          </a:xfrm>
          <a:prstGeom prst="rect">
            <a:avLst/>
          </a:prstGeom>
        </p:spPr>
      </p:pic>
    </p:spTree>
    <p:extLst>
      <p:ext uri="{BB962C8B-B14F-4D97-AF65-F5344CB8AC3E}">
        <p14:creationId xmlns:p14="http://schemas.microsoft.com/office/powerpoint/2010/main" val="27634689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815B9-8EA1-492A-BEEF-216831F2D237}"/>
              </a:ext>
            </a:extLst>
          </p:cNvPr>
          <p:cNvSpPr>
            <a:spLocks noGrp="1"/>
          </p:cNvSpPr>
          <p:nvPr>
            <p:ph type="title"/>
          </p:nvPr>
        </p:nvSpPr>
        <p:spPr>
          <a:xfrm>
            <a:off x="838200" y="136526"/>
            <a:ext cx="8749145" cy="907184"/>
          </a:xfrm>
          <a:ln>
            <a:solidFill>
              <a:schemeClr val="tx1"/>
            </a:solidFill>
          </a:ln>
        </p:spPr>
        <p:txBody>
          <a:bodyPr>
            <a:normAutofit fontScale="90000"/>
          </a:bodyPr>
          <a:lstStyle/>
          <a:p>
            <a:pPr algn="ctr"/>
            <a:r>
              <a:rPr lang="en-US" sz="4400" b="1" dirty="0">
                <a:latin typeface="Times New Roman" panose="02020603050405020304" pitchFamily="18" charset="0"/>
                <a:cs typeface="Times New Roman" panose="02020603050405020304" pitchFamily="18" charset="0"/>
              </a:rPr>
              <a:t>Topological Sorting Example (contd.)</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D7E5283-1B8F-43E2-A475-9FD122D1E155}"/>
              </a:ext>
            </a:extLst>
          </p:cNvPr>
          <p:cNvSpPr>
            <a:spLocks noGrp="1"/>
          </p:cNvSpPr>
          <p:nvPr>
            <p:ph idx="1"/>
          </p:nvPr>
        </p:nvSpPr>
        <p:spPr>
          <a:xfrm>
            <a:off x="838200" y="1224684"/>
            <a:ext cx="10439400" cy="4950691"/>
          </a:xfrm>
          <a:ln>
            <a:solidFill>
              <a:schemeClr val="tx1"/>
            </a:solidFill>
          </a:ln>
        </p:spPr>
        <p:txBody>
          <a:bodyPr>
            <a:normAutofit/>
          </a:bodyPr>
          <a:lstStyle/>
          <a:p>
            <a:pPr marL="0" indent="0" algn="l" fontAlgn="base">
              <a:lnSpc>
                <a:spcPct val="150000"/>
              </a:lnSpc>
              <a:buNone/>
            </a:pPr>
            <a:r>
              <a:rPr lang="en-US" sz="2400" b="0" i="0" dirty="0">
                <a:solidFill>
                  <a:srgbClr val="303030"/>
                </a:solidFill>
                <a:effectLst/>
                <a:latin typeface="Times New Roman" panose="02020603050405020304" pitchFamily="18" charset="0"/>
                <a:cs typeface="Times New Roman" panose="02020603050405020304" pitchFamily="18" charset="0"/>
              </a:rPr>
              <a:t>For the given graph, following </a:t>
            </a:r>
            <a:r>
              <a:rPr lang="en-US" sz="2400" b="1" i="0" dirty="0">
                <a:solidFill>
                  <a:srgbClr val="303030"/>
                </a:solidFill>
                <a:effectLst/>
                <a:latin typeface="Times New Roman" panose="02020603050405020304" pitchFamily="18" charset="0"/>
                <a:cs typeface="Times New Roman" panose="02020603050405020304" pitchFamily="18" charset="0"/>
              </a:rPr>
              <a:t>2</a:t>
            </a:r>
            <a:r>
              <a:rPr lang="en-US" sz="2400" b="0" i="0" dirty="0">
                <a:solidFill>
                  <a:srgbClr val="303030"/>
                </a:solidFill>
                <a:effectLst/>
                <a:latin typeface="Times New Roman" panose="02020603050405020304" pitchFamily="18" charset="0"/>
                <a:cs typeface="Times New Roman" panose="02020603050405020304" pitchFamily="18" charset="0"/>
              </a:rPr>
              <a:t> different topological orderings are possible-</a:t>
            </a:r>
          </a:p>
          <a:p>
            <a:pPr algn="l" fontAlgn="base">
              <a:lnSpc>
                <a:spcPct val="150000"/>
              </a:lnSpc>
              <a:buFont typeface="Arial" panose="020B0604020202020204" pitchFamily="34" charset="0"/>
              <a:buChar char="•"/>
            </a:pPr>
            <a:r>
              <a:rPr lang="en-US" sz="2400" b="1" i="0" dirty="0">
                <a:solidFill>
                  <a:srgbClr val="303030"/>
                </a:solidFill>
                <a:effectLst/>
                <a:latin typeface="Times New Roman" panose="02020603050405020304" pitchFamily="18" charset="0"/>
                <a:cs typeface="Times New Roman" panose="02020603050405020304" pitchFamily="18" charset="0"/>
              </a:rPr>
              <a:t>A B C D E</a:t>
            </a:r>
            <a:endParaRPr lang="en-US" sz="2400" b="0" i="0" dirty="0">
              <a:solidFill>
                <a:srgbClr val="303030"/>
              </a:solidFill>
              <a:effectLst/>
              <a:latin typeface="Times New Roman" panose="02020603050405020304" pitchFamily="18" charset="0"/>
              <a:cs typeface="Times New Roman" panose="02020603050405020304" pitchFamily="18" charset="0"/>
            </a:endParaRPr>
          </a:p>
          <a:p>
            <a:pPr algn="l" fontAlgn="base">
              <a:lnSpc>
                <a:spcPct val="150000"/>
              </a:lnSpc>
              <a:buFont typeface="Arial" panose="020B0604020202020204" pitchFamily="34" charset="0"/>
              <a:buChar char="•"/>
            </a:pPr>
            <a:r>
              <a:rPr lang="en-US" sz="2400" b="1" i="0" dirty="0">
                <a:solidFill>
                  <a:srgbClr val="303030"/>
                </a:solidFill>
                <a:effectLst/>
                <a:latin typeface="Times New Roman" panose="02020603050405020304" pitchFamily="18" charset="0"/>
                <a:cs typeface="Times New Roman" panose="02020603050405020304" pitchFamily="18" charset="0"/>
              </a:rPr>
              <a:t>A B D C E</a:t>
            </a:r>
            <a:endParaRPr lang="en-US" sz="2400" b="0" i="0" dirty="0">
              <a:solidFill>
                <a:srgbClr val="303030"/>
              </a:solidFill>
              <a:effectLst/>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9196CF2-A32D-4230-B676-6A86FBF89EDB}"/>
              </a:ext>
            </a:extLst>
          </p:cNvPr>
          <p:cNvSpPr>
            <a:spLocks noGrp="1"/>
          </p:cNvSpPr>
          <p:nvPr>
            <p:ph type="sldNum" sz="quarter" idx="12"/>
          </p:nvPr>
        </p:nvSpPr>
        <p:spPr/>
        <p:txBody>
          <a:bodyPr/>
          <a:lstStyle/>
          <a:p>
            <a:fld id="{BDCDBBEF-AA6C-4BA6-85B2-A17D7F280E38}" type="slidenum">
              <a:rPr lang="en-US" smtClean="0"/>
              <a:pPr/>
              <a:t>49</a:t>
            </a:fld>
            <a:endParaRPr lang="en-US"/>
          </a:p>
        </p:txBody>
      </p:sp>
    </p:spTree>
    <p:extLst>
      <p:ext uri="{BB962C8B-B14F-4D97-AF65-F5344CB8AC3E}">
        <p14:creationId xmlns:p14="http://schemas.microsoft.com/office/powerpoint/2010/main" val="611639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815B9-8EA1-492A-BEEF-216831F2D237}"/>
              </a:ext>
            </a:extLst>
          </p:cNvPr>
          <p:cNvSpPr>
            <a:spLocks noGrp="1"/>
          </p:cNvSpPr>
          <p:nvPr>
            <p:ph type="title"/>
          </p:nvPr>
        </p:nvSpPr>
        <p:spPr>
          <a:xfrm>
            <a:off x="838200" y="136526"/>
            <a:ext cx="8749145" cy="907184"/>
          </a:xfrm>
          <a:ln>
            <a:solidFill>
              <a:schemeClr val="tx1"/>
            </a:solidFill>
          </a:ln>
        </p:spPr>
        <p:txBody>
          <a:bodyPr>
            <a:normAutofit/>
          </a:bodyPr>
          <a:lstStyle/>
          <a:p>
            <a:pPr algn="ctr"/>
            <a:r>
              <a:rPr lang="en-US" sz="4400" b="1" dirty="0">
                <a:latin typeface="Times New Roman" panose="02020603050405020304" pitchFamily="18" charset="0"/>
                <a:cs typeface="Times New Roman" panose="02020603050405020304" pitchFamily="18" charset="0"/>
              </a:rPr>
              <a:t>Algorithm of Topological Sorting</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D7E5283-1B8F-43E2-A475-9FD122D1E155}"/>
              </a:ext>
            </a:extLst>
          </p:cNvPr>
          <p:cNvSpPr>
            <a:spLocks noGrp="1"/>
          </p:cNvSpPr>
          <p:nvPr>
            <p:ph idx="1"/>
          </p:nvPr>
        </p:nvSpPr>
        <p:spPr>
          <a:xfrm>
            <a:off x="838200" y="1173018"/>
            <a:ext cx="10515600" cy="4950691"/>
          </a:xfrm>
          <a:ln>
            <a:solidFill>
              <a:schemeClr val="tx1"/>
            </a:solidFill>
          </a:ln>
        </p:spPr>
        <p:txBody>
          <a:bodyPr/>
          <a:lstStyle/>
          <a:p>
            <a:pPr marL="0" indent="0" algn="just">
              <a:buNone/>
            </a:pPr>
            <a:r>
              <a:rPr lang="en-US" sz="2400" b="1" i="0" dirty="0" err="1">
                <a:solidFill>
                  <a:srgbClr val="000000"/>
                </a:solidFill>
                <a:effectLst/>
                <a:latin typeface="Times New Roman" panose="02020603050405020304" pitchFamily="18" charset="0"/>
                <a:cs typeface="Times New Roman" panose="02020603050405020304" pitchFamily="18" charset="0"/>
              </a:rPr>
              <a:t>topoSort</a:t>
            </a:r>
            <a:r>
              <a:rPr lang="en-US" sz="2400" b="1" i="0" dirty="0">
                <a:solidFill>
                  <a:srgbClr val="000000"/>
                </a:solidFill>
                <a:effectLst/>
                <a:latin typeface="Times New Roman" panose="02020603050405020304" pitchFamily="18" charset="0"/>
                <a:cs typeface="Times New Roman" panose="02020603050405020304" pitchFamily="18" charset="0"/>
              </a:rPr>
              <a:t>(u, visited, stack)</a:t>
            </a:r>
            <a:endParaRPr lang="en-US" sz="2400" dirty="0">
              <a:solidFill>
                <a:srgbClr val="000000"/>
              </a:solidFill>
              <a:latin typeface="Times New Roman" panose="02020603050405020304" pitchFamily="18" charset="0"/>
              <a:cs typeface="Times New Roman" panose="02020603050405020304" pitchFamily="18" charset="0"/>
            </a:endParaRPr>
          </a:p>
          <a:p>
            <a:pPr marL="0" indent="0" algn="just">
              <a:buNone/>
            </a:pPr>
            <a:r>
              <a:rPr lang="en-US" sz="2400" b="1" i="0" dirty="0">
                <a:solidFill>
                  <a:srgbClr val="000000"/>
                </a:solidFill>
                <a:effectLst/>
                <a:latin typeface="Times New Roman" panose="02020603050405020304" pitchFamily="18" charset="0"/>
                <a:cs typeface="Times New Roman" panose="02020603050405020304" pitchFamily="18" charset="0"/>
              </a:rPr>
              <a:t>Input −</a:t>
            </a:r>
            <a:r>
              <a:rPr lang="en-US" sz="2400" b="0" i="0" dirty="0">
                <a:solidFill>
                  <a:srgbClr val="000000"/>
                </a:solidFill>
                <a:effectLst/>
                <a:latin typeface="Times New Roman" panose="02020603050405020304" pitchFamily="18" charset="0"/>
                <a:cs typeface="Times New Roman" panose="02020603050405020304" pitchFamily="18" charset="0"/>
              </a:rPr>
              <a:t> The start vertex u, An array to keep track of which node is visited or not. </a:t>
            </a:r>
          </a:p>
          <a:p>
            <a:pPr marL="0" indent="0" algn="just">
              <a:lnSpc>
                <a:spcPct val="100000"/>
              </a:lnSpc>
              <a:buNone/>
            </a:pPr>
            <a:r>
              <a:rPr lang="en-US" sz="2400" b="0" i="0" dirty="0">
                <a:solidFill>
                  <a:srgbClr val="000000"/>
                </a:solidFill>
                <a:effectLst/>
                <a:latin typeface="Times New Roman" panose="02020603050405020304" pitchFamily="18" charset="0"/>
                <a:cs typeface="Times New Roman" panose="02020603050405020304" pitchFamily="18" charset="0"/>
              </a:rPr>
              <a:t>	      A stack to store nodes.</a:t>
            </a:r>
          </a:p>
          <a:p>
            <a:pPr marL="0" indent="0" algn="just">
              <a:lnSpc>
                <a:spcPct val="100000"/>
              </a:lnSpc>
              <a:buNone/>
            </a:pPr>
            <a:r>
              <a:rPr lang="en-US" sz="2400" b="1" i="0" dirty="0">
                <a:solidFill>
                  <a:srgbClr val="000000"/>
                </a:solidFill>
                <a:effectLst/>
                <a:latin typeface="Times New Roman" panose="02020603050405020304" pitchFamily="18" charset="0"/>
                <a:cs typeface="Times New Roman" panose="02020603050405020304" pitchFamily="18" charset="0"/>
              </a:rPr>
              <a:t>Output −</a:t>
            </a:r>
            <a:r>
              <a:rPr lang="en-US" sz="2400" b="0" i="0" dirty="0">
                <a:solidFill>
                  <a:srgbClr val="000000"/>
                </a:solidFill>
                <a:effectLst/>
                <a:latin typeface="Times New Roman" panose="02020603050405020304" pitchFamily="18" charset="0"/>
                <a:cs typeface="Times New Roman" panose="02020603050405020304" pitchFamily="18" charset="0"/>
              </a:rPr>
              <a:t> Sorting the vertices in topological sequence in the stack.</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9196CF2-A32D-4230-B676-6A86FBF89EDB}"/>
              </a:ext>
            </a:extLst>
          </p:cNvPr>
          <p:cNvSpPr>
            <a:spLocks noGrp="1"/>
          </p:cNvSpPr>
          <p:nvPr>
            <p:ph type="sldNum" sz="quarter" idx="12"/>
          </p:nvPr>
        </p:nvSpPr>
        <p:spPr/>
        <p:txBody>
          <a:bodyPr/>
          <a:lstStyle/>
          <a:p>
            <a:fld id="{BDCDBBEF-AA6C-4BA6-85B2-A17D7F280E38}" type="slidenum">
              <a:rPr lang="en-US" smtClean="0"/>
              <a:pPr/>
              <a:t>50</a:t>
            </a:fld>
            <a:endParaRPr lang="en-US"/>
          </a:p>
        </p:txBody>
      </p:sp>
      <p:sp>
        <p:nvSpPr>
          <p:cNvPr id="5" name="Rectangle 1">
            <a:extLst>
              <a:ext uri="{FF2B5EF4-FFF2-40B4-BE49-F238E27FC236}">
                <a16:creationId xmlns:a16="http://schemas.microsoft.com/office/drawing/2014/main" id="{F237D1AD-3CA7-41D0-9FBB-BEF0902C8F5A}"/>
              </a:ext>
            </a:extLst>
          </p:cNvPr>
          <p:cNvSpPr>
            <a:spLocks noChangeArrowheads="1"/>
          </p:cNvSpPr>
          <p:nvPr/>
        </p:nvSpPr>
        <p:spPr bwMode="auto">
          <a:xfrm>
            <a:off x="1034472" y="3169054"/>
            <a:ext cx="9988699" cy="2954655"/>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Begin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mark u as visited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all vertices v which is adjacent with u,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v is not visited, then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topoSort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 visited, stack)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done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push u into a stack End </a:t>
            </a:r>
          </a:p>
        </p:txBody>
      </p:sp>
    </p:spTree>
    <p:extLst>
      <p:ext uri="{BB962C8B-B14F-4D97-AF65-F5344CB8AC3E}">
        <p14:creationId xmlns:p14="http://schemas.microsoft.com/office/powerpoint/2010/main" val="22772326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815B9-8EA1-492A-BEEF-216831F2D237}"/>
              </a:ext>
            </a:extLst>
          </p:cNvPr>
          <p:cNvSpPr>
            <a:spLocks noGrp="1"/>
          </p:cNvSpPr>
          <p:nvPr>
            <p:ph type="title"/>
          </p:nvPr>
        </p:nvSpPr>
        <p:spPr>
          <a:xfrm>
            <a:off x="838200" y="136526"/>
            <a:ext cx="8749145" cy="1059228"/>
          </a:xfrm>
          <a:ln>
            <a:solidFill>
              <a:schemeClr val="tx1"/>
            </a:solidFill>
          </a:ln>
        </p:spPr>
        <p:txBody>
          <a:bodyPr>
            <a:normAutofit fontScale="90000"/>
          </a:bodyPr>
          <a:lstStyle/>
          <a:p>
            <a:pPr algn="ctr"/>
            <a:r>
              <a:rPr lang="en-US" sz="4400" b="1" dirty="0">
                <a:latin typeface="Times New Roman" panose="02020603050405020304" pitchFamily="18" charset="0"/>
                <a:cs typeface="Times New Roman" panose="02020603050405020304" pitchFamily="18" charset="0"/>
              </a:rPr>
              <a:t>Algorithm of Topological Sorting (contd.)</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D7E5283-1B8F-43E2-A475-9FD122D1E155}"/>
              </a:ext>
            </a:extLst>
          </p:cNvPr>
          <p:cNvSpPr>
            <a:spLocks noGrp="1"/>
          </p:cNvSpPr>
          <p:nvPr>
            <p:ph idx="1"/>
          </p:nvPr>
        </p:nvSpPr>
        <p:spPr>
          <a:xfrm>
            <a:off x="838200" y="1369970"/>
            <a:ext cx="10515600" cy="4950691"/>
          </a:xfrm>
          <a:ln>
            <a:solidFill>
              <a:schemeClr val="tx1"/>
            </a:solidFill>
          </a:ln>
        </p:spPr>
        <p:txBody>
          <a:bodyPr/>
          <a:lstStyle/>
          <a:p>
            <a:pPr marL="0" indent="0" algn="just">
              <a:buNone/>
            </a:pPr>
            <a:r>
              <a:rPr lang="en-US" sz="2400" b="1" i="0" dirty="0">
                <a:solidFill>
                  <a:srgbClr val="000000"/>
                </a:solidFill>
                <a:effectLst/>
                <a:latin typeface="Times New Roman" panose="02020603050405020304" pitchFamily="18" charset="0"/>
                <a:cs typeface="Times New Roman" panose="02020603050405020304" pitchFamily="18" charset="0"/>
              </a:rPr>
              <a:t>Perform Topological Sorting(Graph)</a:t>
            </a:r>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just"/>
            <a:r>
              <a:rPr lang="en-US" sz="2400" b="1" i="0" dirty="0">
                <a:solidFill>
                  <a:srgbClr val="000000"/>
                </a:solidFill>
                <a:effectLst/>
                <a:latin typeface="Times New Roman" panose="02020603050405020304" pitchFamily="18" charset="0"/>
                <a:cs typeface="Times New Roman" panose="02020603050405020304" pitchFamily="18" charset="0"/>
              </a:rPr>
              <a:t>Input −</a:t>
            </a:r>
            <a:r>
              <a:rPr lang="en-US" sz="2400" b="0" i="0" dirty="0">
                <a:solidFill>
                  <a:srgbClr val="000000"/>
                </a:solidFill>
                <a:effectLst/>
                <a:latin typeface="Times New Roman" panose="02020603050405020304" pitchFamily="18" charset="0"/>
                <a:cs typeface="Times New Roman" panose="02020603050405020304" pitchFamily="18" charset="0"/>
              </a:rPr>
              <a:t> The given directed acyclic graph.</a:t>
            </a:r>
          </a:p>
          <a:p>
            <a:pPr algn="just"/>
            <a:r>
              <a:rPr lang="en-US" sz="2400" b="1" i="0" dirty="0">
                <a:solidFill>
                  <a:srgbClr val="000000"/>
                </a:solidFill>
                <a:effectLst/>
                <a:latin typeface="Times New Roman" panose="02020603050405020304" pitchFamily="18" charset="0"/>
                <a:cs typeface="Times New Roman" panose="02020603050405020304" pitchFamily="18" charset="0"/>
              </a:rPr>
              <a:t>Output −</a:t>
            </a:r>
            <a:r>
              <a:rPr lang="en-US" sz="2400" b="0" i="0" dirty="0">
                <a:solidFill>
                  <a:srgbClr val="000000"/>
                </a:solidFill>
                <a:effectLst/>
                <a:latin typeface="Times New Roman" panose="02020603050405020304" pitchFamily="18" charset="0"/>
                <a:cs typeface="Times New Roman" panose="02020603050405020304" pitchFamily="18" charset="0"/>
              </a:rPr>
              <a:t> Sequence of nodes.</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9196CF2-A32D-4230-B676-6A86FBF89EDB}"/>
              </a:ext>
            </a:extLst>
          </p:cNvPr>
          <p:cNvSpPr>
            <a:spLocks noGrp="1"/>
          </p:cNvSpPr>
          <p:nvPr>
            <p:ph type="sldNum" sz="quarter" idx="12"/>
          </p:nvPr>
        </p:nvSpPr>
        <p:spPr/>
        <p:txBody>
          <a:bodyPr/>
          <a:lstStyle/>
          <a:p>
            <a:fld id="{BDCDBBEF-AA6C-4BA6-85B2-A17D7F280E38}" type="slidenum">
              <a:rPr lang="en-US" smtClean="0"/>
              <a:pPr/>
              <a:t>51</a:t>
            </a:fld>
            <a:endParaRPr lang="en-US"/>
          </a:p>
        </p:txBody>
      </p:sp>
      <p:sp>
        <p:nvSpPr>
          <p:cNvPr id="6" name="Rectangle 2">
            <a:extLst>
              <a:ext uri="{FF2B5EF4-FFF2-40B4-BE49-F238E27FC236}">
                <a16:creationId xmlns:a16="http://schemas.microsoft.com/office/drawing/2014/main" id="{EF1078C8-3015-4B26-B289-34961D83149A}"/>
              </a:ext>
            </a:extLst>
          </p:cNvPr>
          <p:cNvSpPr>
            <a:spLocks noChangeArrowheads="1"/>
          </p:cNvSpPr>
          <p:nvPr/>
        </p:nvSpPr>
        <p:spPr bwMode="auto">
          <a:xfrm>
            <a:off x="1097889" y="2583474"/>
            <a:ext cx="10180949" cy="3323987"/>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Begin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initially mark all nodes as unvisited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all nodes v of the graph,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v is not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visited,then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topoSort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visited, stack)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done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pop and print all elements from the stack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End. </a:t>
            </a:r>
          </a:p>
        </p:txBody>
      </p:sp>
    </p:spTree>
    <p:extLst>
      <p:ext uri="{BB962C8B-B14F-4D97-AF65-F5344CB8AC3E}">
        <p14:creationId xmlns:p14="http://schemas.microsoft.com/office/powerpoint/2010/main" val="364838180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815B9-8EA1-492A-BEEF-216831F2D237}"/>
              </a:ext>
            </a:extLst>
          </p:cNvPr>
          <p:cNvSpPr>
            <a:spLocks noGrp="1"/>
          </p:cNvSpPr>
          <p:nvPr>
            <p:ph type="title"/>
          </p:nvPr>
        </p:nvSpPr>
        <p:spPr>
          <a:xfrm>
            <a:off x="838200" y="136526"/>
            <a:ext cx="8749145" cy="907184"/>
          </a:xfrm>
          <a:ln>
            <a:solidFill>
              <a:schemeClr val="tx1"/>
            </a:solidFill>
          </a:ln>
        </p:spPr>
        <p:txBody>
          <a:bodyPr>
            <a:normAutofit/>
          </a:bodyPr>
          <a:lstStyle/>
          <a:p>
            <a:pPr algn="ctr"/>
            <a:r>
              <a:rPr lang="en-US" sz="4400" b="1" dirty="0">
                <a:latin typeface="Times New Roman" panose="02020603050405020304" pitchFamily="18" charset="0"/>
                <a:cs typeface="Times New Roman" panose="02020603050405020304" pitchFamily="18" charset="0"/>
              </a:rPr>
              <a:t>Application of Topological Sorting</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D7E5283-1B8F-43E2-A475-9FD122D1E155}"/>
              </a:ext>
            </a:extLst>
          </p:cNvPr>
          <p:cNvSpPr>
            <a:spLocks noGrp="1"/>
          </p:cNvSpPr>
          <p:nvPr>
            <p:ph idx="1"/>
          </p:nvPr>
        </p:nvSpPr>
        <p:spPr>
          <a:xfrm>
            <a:off x="838200" y="1173018"/>
            <a:ext cx="10515600" cy="4950691"/>
          </a:xfrm>
          <a:ln>
            <a:solidFill>
              <a:schemeClr val="tx1"/>
            </a:solidFill>
          </a:ln>
        </p:spPr>
        <p:txBody>
          <a:bodyPr>
            <a:normAutofit/>
          </a:bodyPr>
          <a:lstStyle/>
          <a:p>
            <a:pPr algn="just" fontAlgn="base">
              <a:lnSpc>
                <a:spcPct val="150000"/>
              </a:lnSpc>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Scheduling jobs from the given dependencies among jobs</a:t>
            </a:r>
          </a:p>
          <a:p>
            <a:pPr algn="just" fontAlgn="base">
              <a:lnSpc>
                <a:spcPct val="150000"/>
              </a:lnSpc>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Instruction Scheduling</a:t>
            </a:r>
          </a:p>
          <a:p>
            <a:pPr algn="just" fontAlgn="base">
              <a:lnSpc>
                <a:spcPct val="150000"/>
              </a:lnSpc>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Determining the order of compilation tasks to perform in </a:t>
            </a:r>
            <a:r>
              <a:rPr lang="en-US" sz="2400" b="0" i="0" dirty="0" err="1">
                <a:solidFill>
                  <a:srgbClr val="303030"/>
                </a:solidFill>
                <a:effectLst/>
                <a:latin typeface="Times New Roman" panose="02020603050405020304" pitchFamily="18" charset="0"/>
                <a:cs typeface="Times New Roman" panose="02020603050405020304" pitchFamily="18" charset="0"/>
              </a:rPr>
              <a:t>makefiles</a:t>
            </a:r>
            <a:endParaRPr lang="en-US" sz="2400" b="0" i="0" dirty="0">
              <a:solidFill>
                <a:srgbClr val="303030"/>
              </a:solidFill>
              <a:effectLst/>
              <a:latin typeface="Times New Roman" panose="02020603050405020304" pitchFamily="18" charset="0"/>
              <a:cs typeface="Times New Roman" panose="02020603050405020304" pitchFamily="18" charset="0"/>
            </a:endParaRPr>
          </a:p>
          <a:p>
            <a:pPr algn="just" fontAlgn="base">
              <a:lnSpc>
                <a:spcPct val="150000"/>
              </a:lnSpc>
              <a:buFont typeface="Arial" panose="020B0604020202020204" pitchFamily="34" charset="0"/>
              <a:buChar char="•"/>
            </a:pPr>
            <a:r>
              <a:rPr lang="en-US" sz="2400" b="0" i="0" dirty="0">
                <a:solidFill>
                  <a:srgbClr val="303030"/>
                </a:solidFill>
                <a:effectLst/>
                <a:latin typeface="Times New Roman" panose="02020603050405020304" pitchFamily="18" charset="0"/>
                <a:cs typeface="Times New Roman" panose="02020603050405020304" pitchFamily="18" charset="0"/>
              </a:rPr>
              <a:t>Data Serialization</a:t>
            </a:r>
          </a:p>
        </p:txBody>
      </p:sp>
      <p:sp>
        <p:nvSpPr>
          <p:cNvPr id="4" name="Slide Number Placeholder 3">
            <a:extLst>
              <a:ext uri="{FF2B5EF4-FFF2-40B4-BE49-F238E27FC236}">
                <a16:creationId xmlns:a16="http://schemas.microsoft.com/office/drawing/2014/main" id="{89196CF2-A32D-4230-B676-6A86FBF89EDB}"/>
              </a:ext>
            </a:extLst>
          </p:cNvPr>
          <p:cNvSpPr>
            <a:spLocks noGrp="1"/>
          </p:cNvSpPr>
          <p:nvPr>
            <p:ph type="sldNum" sz="quarter" idx="12"/>
          </p:nvPr>
        </p:nvSpPr>
        <p:spPr/>
        <p:txBody>
          <a:bodyPr/>
          <a:lstStyle/>
          <a:p>
            <a:fld id="{BDCDBBEF-AA6C-4BA6-85B2-A17D7F280E38}" type="slidenum">
              <a:rPr lang="en-US" smtClean="0"/>
              <a:pPr/>
              <a:t>52</a:t>
            </a:fld>
            <a:endParaRPr lang="en-US"/>
          </a:p>
        </p:txBody>
      </p:sp>
    </p:spTree>
    <p:extLst>
      <p:ext uri="{BB962C8B-B14F-4D97-AF65-F5344CB8AC3E}">
        <p14:creationId xmlns:p14="http://schemas.microsoft.com/office/powerpoint/2010/main" val="17804906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6"/>
            <a:ext cx="10515600" cy="953366"/>
          </a:xfrm>
        </p:spPr>
        <p:txBody>
          <a:bodyPr anchor="t">
            <a:normAutofit fontScale="90000"/>
          </a:bodyPr>
          <a:lstStyle/>
          <a:p>
            <a:pPr algn="l"/>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br>
              <a:rPr lang="en-US" sz="1600" dirty="0">
                <a:latin typeface="Casper"/>
                <a:cs typeface="Times New Roman" panose="02020603050405020304" pitchFamily="18" charset="0"/>
              </a:rPr>
            </a:br>
            <a:br>
              <a:rPr lang="en-US" sz="1600" dirty="0">
                <a:latin typeface="Casper"/>
                <a:cs typeface="Times New Roman" panose="02020603050405020304" pitchFamily="18" charset="0"/>
              </a:rPr>
            </a:br>
            <a:r>
              <a:rPr lang="en-US" sz="1600" dirty="0">
                <a:latin typeface="Casper"/>
                <a:cs typeface="Times New Roman" panose="02020603050405020304" pitchFamily="18" charset="0"/>
              </a:rPr>
              <a:t>1)  https://www.tutorialspoint.com/data_structures_algorithms/divide_and_conquer.htm</a:t>
            </a:r>
            <a:br>
              <a:rPr lang="en-US" sz="1600" dirty="0">
                <a:latin typeface="Casper"/>
                <a:cs typeface="Times New Roman" panose="02020603050405020304" pitchFamily="18" charset="0"/>
              </a:rPr>
            </a:br>
            <a:br>
              <a:rPr lang="en-US" sz="1600" dirty="0">
                <a:latin typeface="Casper"/>
                <a:cs typeface="Times New Roman" panose="02020603050405020304" pitchFamily="18" charset="0"/>
              </a:rPr>
            </a:br>
            <a:r>
              <a:rPr lang="en-US" sz="1600" dirty="0">
                <a:latin typeface="Casper"/>
                <a:cs typeface="Times New Roman" panose="02020603050405020304" pitchFamily="18" charset="0"/>
              </a:rPr>
              <a:t>2)  </a:t>
            </a:r>
            <a:r>
              <a:rPr lang="en-US" sz="1600" b="1" dirty="0">
                <a:latin typeface="Casper"/>
                <a:cs typeface="Times New Roman" panose="02020603050405020304" pitchFamily="18" charset="0"/>
              </a:rPr>
              <a:t>Data Structures and Algorithms made easy</a:t>
            </a:r>
            <a:r>
              <a:rPr lang="en-US" sz="1600" dirty="0">
                <a:latin typeface="Casper"/>
                <a:cs typeface="Times New Roman" panose="02020603050405020304" pitchFamily="18" charset="0"/>
              </a:rPr>
              <a:t> By Narasimha </a:t>
            </a:r>
            <a:r>
              <a:rPr lang="en-US" sz="1600" dirty="0" err="1">
                <a:latin typeface="Casper"/>
                <a:cs typeface="Times New Roman" panose="02020603050405020304" pitchFamily="18" charset="0"/>
              </a:rPr>
              <a:t>Karumanchi</a:t>
            </a:r>
            <a:r>
              <a:rPr lang="en-US" sz="1600" dirty="0">
                <a:latin typeface="Casper"/>
                <a:cs typeface="Times New Roman" panose="02020603050405020304" pitchFamily="18" charset="0"/>
              </a:rPr>
              <a:t>.</a:t>
            </a:r>
            <a:br>
              <a:rPr lang="en-US" sz="1600" dirty="0">
                <a:latin typeface="Casper"/>
                <a:cs typeface="Times New Roman" panose="02020603050405020304" pitchFamily="18" charset="0"/>
              </a:rPr>
            </a:br>
            <a:br>
              <a:rPr lang="en-US" sz="1600" dirty="0">
                <a:latin typeface="Casper"/>
                <a:cs typeface="Times New Roman" panose="02020603050405020304" pitchFamily="18" charset="0"/>
              </a:rPr>
            </a:br>
            <a:r>
              <a:rPr lang="en-US" sz="1600" dirty="0">
                <a:latin typeface="Casper"/>
                <a:cs typeface="Times New Roman" panose="02020603050405020304" pitchFamily="18" charset="0"/>
              </a:rPr>
              <a:t>3)  The Algorithm Design Manual, 2nd Edition by Steven S </a:t>
            </a:r>
            <a:r>
              <a:rPr lang="en-US" sz="1600" dirty="0" err="1">
                <a:latin typeface="Casper"/>
                <a:cs typeface="Times New Roman" panose="02020603050405020304" pitchFamily="18" charset="0"/>
              </a:rPr>
              <a:t>Skiena</a:t>
            </a:r>
            <a:br>
              <a:rPr lang="en-US" sz="1600" dirty="0">
                <a:latin typeface="Casper"/>
                <a:cs typeface="Times New Roman" panose="02020603050405020304" pitchFamily="18" charset="0"/>
              </a:rPr>
            </a:br>
            <a:br>
              <a:rPr lang="en-US" sz="1600" dirty="0">
                <a:latin typeface="Casper"/>
                <a:cs typeface="Times New Roman" panose="02020603050405020304" pitchFamily="18" charset="0"/>
              </a:rPr>
            </a:br>
            <a:r>
              <a:rPr lang="en-US" sz="1600" dirty="0">
                <a:latin typeface="Casper"/>
                <a:cs typeface="Times New Roman" panose="02020603050405020304" pitchFamily="18" charset="0"/>
              </a:rPr>
              <a:t>4) </a:t>
            </a:r>
            <a:r>
              <a:rPr lang="en-US" sz="1600" b="1" dirty="0">
                <a:latin typeface="Casper"/>
                <a:cs typeface="Times New Roman" panose="02020603050405020304" pitchFamily="18" charset="0"/>
              </a:rPr>
              <a:t>Fundamentals of Computer Algorithms - Horowitz and </a:t>
            </a:r>
            <a:r>
              <a:rPr lang="en-US" sz="1600" b="1" dirty="0" err="1">
                <a:latin typeface="Casper"/>
                <a:cs typeface="Times New Roman" panose="02020603050405020304" pitchFamily="18" charset="0"/>
              </a:rPr>
              <a:t>Sahani</a:t>
            </a:r>
            <a:r>
              <a:rPr lang="en-US" sz="1600" dirty="0">
                <a:latin typeface="Casper"/>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p:txBody>
      </p:sp>
      <p:sp>
        <p:nvSpPr>
          <p:cNvPr id="3" name="Rectangle 2"/>
          <p:cNvSpPr/>
          <p:nvPr/>
        </p:nvSpPr>
        <p:spPr>
          <a:xfrm>
            <a:off x="838200" y="192881"/>
            <a:ext cx="8693727" cy="769441"/>
          </a:xfrm>
          <a:prstGeom prst="rect">
            <a:avLst/>
          </a:prstGeom>
        </p:spPr>
        <p:txBody>
          <a:bodyPr wrap="square">
            <a:spAutoFit/>
          </a:bodyPr>
          <a:lstStyle/>
          <a:p>
            <a:pPr algn="ctr"/>
            <a:r>
              <a:rPr lang="en-US" sz="4400" b="1" dirty="0">
                <a:latin typeface="Calibri" panose="020F0502020204030204" pitchFamily="34" charset="0"/>
                <a:cs typeface="Calibri" panose="020F0502020204030204" pitchFamily="34" charset="0"/>
              </a:rPr>
              <a:t>References</a:t>
            </a:r>
            <a:endParaRPr lang="en-IN" sz="4400" b="1" dirty="0">
              <a:latin typeface="Calibri" panose="020F0502020204030204" pitchFamily="34" charset="0"/>
              <a:cs typeface="Calibri" panose="020F0502020204030204" pitchFamily="34" charset="0"/>
            </a:endParaRPr>
          </a:p>
        </p:txBody>
      </p:sp>
      <p:sp>
        <p:nvSpPr>
          <p:cNvPr id="5" name="Rectangle 4">
            <a:extLst>
              <a:ext uri="{FF2B5EF4-FFF2-40B4-BE49-F238E27FC236}">
                <a16:creationId xmlns:a16="http://schemas.microsoft.com/office/drawing/2014/main" id="{097571AD-EF65-4378-86D6-3AF0DD73CA0C}"/>
              </a:ext>
            </a:extLst>
          </p:cNvPr>
          <p:cNvSpPr/>
          <p:nvPr/>
        </p:nvSpPr>
        <p:spPr>
          <a:xfrm>
            <a:off x="838200" y="1089891"/>
            <a:ext cx="10515600" cy="508230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B5855C06-9819-4A06-9C49-58CDAD8CD94B}"/>
              </a:ext>
            </a:extLst>
          </p:cNvPr>
          <p:cNvSpPr/>
          <p:nvPr/>
        </p:nvSpPr>
        <p:spPr>
          <a:xfrm>
            <a:off x="838200" y="136525"/>
            <a:ext cx="8758382" cy="76944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Slide Number Placeholder 6">
            <a:extLst>
              <a:ext uri="{FF2B5EF4-FFF2-40B4-BE49-F238E27FC236}">
                <a16:creationId xmlns:a16="http://schemas.microsoft.com/office/drawing/2014/main" id="{1DD8B716-3EDB-4874-B04B-3AC9D49BCFFE}"/>
              </a:ext>
            </a:extLst>
          </p:cNvPr>
          <p:cNvSpPr>
            <a:spLocks noGrp="1"/>
          </p:cNvSpPr>
          <p:nvPr>
            <p:ph type="sldNum" sz="quarter" idx="12"/>
          </p:nvPr>
        </p:nvSpPr>
        <p:spPr/>
        <p:txBody>
          <a:bodyPr/>
          <a:lstStyle/>
          <a:p>
            <a:fld id="{BDCDBBEF-AA6C-4BA6-85B2-A17D7F280E38}" type="slidenum">
              <a:rPr lang="en-US" smtClean="0"/>
              <a:pPr/>
              <a:t>53</a:t>
            </a:fld>
            <a:endParaRPr lang="en-US"/>
          </a:p>
        </p:txBody>
      </p:sp>
    </p:spTree>
    <p:extLst>
      <p:ext uri="{BB962C8B-B14F-4D97-AF65-F5344CB8AC3E}">
        <p14:creationId xmlns:p14="http://schemas.microsoft.com/office/powerpoint/2010/main" val="6804761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pic>
        <p:nvPicPr>
          <p:cNvPr id="9409" name="Picture 193">
            <a:extLst>
              <a:ext uri="{FF2B5EF4-FFF2-40B4-BE49-F238E27FC236}">
                <a16:creationId xmlns:a16="http://schemas.microsoft.com/office/drawing/2014/main" id="{D510A736-A7AC-45EC-AD0B-05F7D0648E8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700" y="571500"/>
            <a:ext cx="3429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653AEC38-806D-42D5-A2BC-256726B17AAF}"/>
              </a:ext>
            </a:extLst>
          </p:cNvPr>
          <p:cNvSpPr>
            <a:spLocks noGrp="1"/>
          </p:cNvSpPr>
          <p:nvPr>
            <p:ph type="sldNum" sz="quarter" idx="12"/>
          </p:nvPr>
        </p:nvSpPr>
        <p:spPr/>
        <p:txBody>
          <a:bodyPr/>
          <a:lstStyle/>
          <a:p>
            <a:fld id="{FC9A48AB-23F1-45F1-98E5-D2CDC7A5261D}" type="slidenum">
              <a:rPr lang="en-US" smtClean="0">
                <a:solidFill>
                  <a:prstClr val="black">
                    <a:tint val="75000"/>
                  </a:prstClr>
                </a:solidFill>
              </a:rPr>
              <a:pPr/>
              <a:t>54</a:t>
            </a:fld>
            <a:endParaRPr lang="en-US">
              <a:solidFill>
                <a:prstClr val="black">
                  <a:tint val="75000"/>
                </a:prstClr>
              </a:solidFill>
            </a:endParaRPr>
          </a:p>
        </p:txBody>
      </p:sp>
      <p:sp>
        <p:nvSpPr>
          <p:cNvPr id="10" name="TextBox 9">
            <a:extLst>
              <a:ext uri="{FF2B5EF4-FFF2-40B4-BE49-F238E27FC236}">
                <a16:creationId xmlns:a16="http://schemas.microsoft.com/office/drawing/2014/main" id="{73CB6E69-21CA-4E98-BE32-503C2380F0E4}"/>
              </a:ext>
            </a:extLst>
          </p:cNvPr>
          <p:cNvSpPr txBox="1"/>
          <p:nvPr/>
        </p:nvSpPr>
        <p:spPr>
          <a:xfrm>
            <a:off x="3306619" y="5490886"/>
            <a:ext cx="3234858" cy="584775"/>
          </a:xfrm>
          <a:prstGeom prst="rect">
            <a:avLst/>
          </a:prstGeom>
          <a:noFill/>
          <a:ln>
            <a:solidFill>
              <a:schemeClr val="tx1"/>
            </a:solidFill>
          </a:ln>
        </p:spPr>
        <p:txBody>
          <a:bodyPr wrap="square" rtlCol="0">
            <a:spAutoFit/>
          </a:bodyPr>
          <a:lstStyle/>
          <a:p>
            <a:r>
              <a:rPr lang="en-IN" sz="1600" b="1" dirty="0">
                <a:latin typeface="Times New Roman" panose="02020603050405020304" pitchFamily="18" charset="0"/>
                <a:cs typeface="Times New Roman" panose="02020603050405020304" pitchFamily="18" charset="0"/>
              </a:rPr>
              <a:t>For any Queries-</a:t>
            </a:r>
          </a:p>
          <a:p>
            <a:r>
              <a:rPr lang="en-IN" sz="1600" b="1" dirty="0">
                <a:latin typeface="Times New Roman" panose="02020603050405020304" pitchFamily="18" charset="0"/>
                <a:cs typeface="Times New Roman" panose="02020603050405020304" pitchFamily="18" charset="0"/>
              </a:rPr>
              <a:t>E-Mail: </a:t>
            </a:r>
            <a:r>
              <a:rPr lang="en-IN" sz="1600" dirty="0">
                <a:latin typeface="Times New Roman" panose="02020603050405020304" pitchFamily="18" charset="0"/>
                <a:cs typeface="Times New Roman" panose="02020603050405020304" pitchFamily="18" charset="0"/>
              </a:rPr>
              <a:t>gurpreetkaur.uic@cumail.in</a:t>
            </a: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1395</TotalTime>
  <Words>3006</Words>
  <Application>Microsoft Office PowerPoint</Application>
  <PresentationFormat>Widescreen</PresentationFormat>
  <Paragraphs>372</Paragraphs>
  <Slides>54</Slides>
  <Notes>0</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54</vt:i4>
      </vt:variant>
    </vt:vector>
  </HeadingPairs>
  <TitlesOfParts>
    <vt:vector size="66" baseType="lpstr">
      <vt:lpstr>Arial</vt:lpstr>
      <vt:lpstr>Calibri</vt:lpstr>
      <vt:lpstr>Calibri Light</vt:lpstr>
      <vt:lpstr>Casper</vt:lpstr>
      <vt:lpstr>Courier</vt:lpstr>
      <vt:lpstr>Helvetica Neue</vt:lpstr>
      <vt:lpstr>Monotype Sorts</vt:lpstr>
      <vt:lpstr>Raleway ExtraBold</vt:lpstr>
      <vt:lpstr>Times New Roman</vt:lpstr>
      <vt:lpstr>Zapf Dingbats</vt:lpstr>
      <vt:lpstr>Office Theme</vt:lpstr>
      <vt:lpstr>1_Office Theme</vt:lpstr>
      <vt:lpstr>PowerPoint Presentation</vt:lpstr>
      <vt:lpstr>PowerPoint Presentation</vt:lpstr>
      <vt:lpstr>PowerPoint Presentation</vt:lpstr>
      <vt:lpstr>Divide-and-Conquer Technique (cont.)</vt:lpstr>
      <vt:lpstr>Divide-and-Conquer Examples</vt:lpstr>
      <vt:lpstr>Binary Search</vt:lpstr>
      <vt:lpstr>Binary Search (contd.)</vt:lpstr>
      <vt:lpstr>Binary Search (contd.)</vt:lpstr>
      <vt:lpstr>Binary Search (contd.)</vt:lpstr>
      <vt:lpstr>Binary Search (contd.)</vt:lpstr>
      <vt:lpstr>Binary Search (contd.)</vt:lpstr>
      <vt:lpstr>Binary Search (contd.)</vt:lpstr>
      <vt:lpstr>Divide-and-Conquer - Advantages</vt:lpstr>
      <vt:lpstr>Divide and Conquer - Disadvantages</vt:lpstr>
      <vt:lpstr>Complexity</vt:lpstr>
      <vt:lpstr>Merge Sort</vt:lpstr>
      <vt:lpstr>How Merge Sort Works?  </vt:lpstr>
      <vt:lpstr>Contd…</vt:lpstr>
      <vt:lpstr>Contd…</vt:lpstr>
      <vt:lpstr>Contd…</vt:lpstr>
      <vt:lpstr>Contd…</vt:lpstr>
      <vt:lpstr>Contd…</vt:lpstr>
      <vt:lpstr>Contd…</vt:lpstr>
      <vt:lpstr>Divide, Conquer and Combine</vt:lpstr>
      <vt:lpstr>Complexity Analysis</vt:lpstr>
      <vt:lpstr>Quick Sort</vt:lpstr>
      <vt:lpstr>How Quick Sort Works?</vt:lpstr>
      <vt:lpstr>How Quick Sort Works?  </vt:lpstr>
      <vt:lpstr>Contd…</vt:lpstr>
      <vt:lpstr>Contd…</vt:lpstr>
      <vt:lpstr>Contd…</vt:lpstr>
      <vt:lpstr>Contd…</vt:lpstr>
      <vt:lpstr>Contd…</vt:lpstr>
      <vt:lpstr>Contd…</vt:lpstr>
      <vt:lpstr>Contd…</vt:lpstr>
      <vt:lpstr>Contd…</vt:lpstr>
      <vt:lpstr>Picking Pivot Element</vt:lpstr>
      <vt:lpstr>PowerPoint Presentation</vt:lpstr>
      <vt:lpstr>PowerPoint Presentation</vt:lpstr>
      <vt:lpstr>Directed Acyclic Graph</vt:lpstr>
      <vt:lpstr>Directed Acyclic Graph (contd.)</vt:lpstr>
      <vt:lpstr>Topological Sorting</vt:lpstr>
      <vt:lpstr>Topological Sorting Example (contd.)</vt:lpstr>
      <vt:lpstr>Topological Sorting Example (contd.)</vt:lpstr>
      <vt:lpstr>Topological Sorting Example (contd.)</vt:lpstr>
      <vt:lpstr>Topological Sorting Example (contd.)</vt:lpstr>
      <vt:lpstr>Topological Sorting Example (contd.)</vt:lpstr>
      <vt:lpstr>Topological Sorting Example (contd.)</vt:lpstr>
      <vt:lpstr>Topological Sorting Example (contd.)</vt:lpstr>
      <vt:lpstr>Algorithm of Topological Sorting</vt:lpstr>
      <vt:lpstr>Algorithm of Topological Sorting (contd.)</vt:lpstr>
      <vt:lpstr>Application of Topological Sorting</vt:lpstr>
      <vt:lpstr>     1)  https://www.tutorialspoint.com/data_structures_algorithms/divide_and_conquer.htm  2)  Data Structures and Algorithms made easy By Narasimha Karumanchi.  3)  The Algorithm Design Manual, 2nd Edition by Steven S Skiena  4) Fundamentals of Computer Algorithms - Horowitz and Sahani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Uttama Garg</dc:creator>
  <cp:lastModifiedBy>Ramesh Tiwary</cp:lastModifiedBy>
  <cp:revision>151</cp:revision>
  <dcterms:created xsi:type="dcterms:W3CDTF">2020-06-19T07:16:36Z</dcterms:created>
  <dcterms:modified xsi:type="dcterms:W3CDTF">2025-09-13T13:10:02Z</dcterms:modified>
</cp:coreProperties>
</file>