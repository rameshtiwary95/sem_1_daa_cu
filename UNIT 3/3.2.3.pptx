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26"/>
  </p:notesMasterIdLst>
  <p:sldIdLst>
    <p:sldId id="256" r:id="rId3"/>
    <p:sldId id="389" r:id="rId4"/>
    <p:sldId id="409" r:id="rId5"/>
    <p:sldId id="410" r:id="rId6"/>
    <p:sldId id="411" r:id="rId7"/>
    <p:sldId id="412" r:id="rId8"/>
    <p:sldId id="413" r:id="rId9"/>
    <p:sldId id="414" r:id="rId10"/>
    <p:sldId id="415" r:id="rId11"/>
    <p:sldId id="423" r:id="rId12"/>
    <p:sldId id="424" r:id="rId13"/>
    <p:sldId id="427" r:id="rId14"/>
    <p:sldId id="428" r:id="rId15"/>
    <p:sldId id="429" r:id="rId16"/>
    <p:sldId id="430" r:id="rId17"/>
    <p:sldId id="431" r:id="rId18"/>
    <p:sldId id="432" r:id="rId19"/>
    <p:sldId id="433" r:id="rId20"/>
    <p:sldId id="434" r:id="rId21"/>
    <p:sldId id="435" r:id="rId22"/>
    <p:sldId id="436" r:id="rId23"/>
    <p:sldId id="426" r:id="rId24"/>
    <p:sldId id="408" r:id="rId25"/>
  </p:sldIdLst>
  <p:sldSz cx="12192000" cy="6858000"/>
  <p:notesSz cx="6858000" cy="9144000"/>
  <p:custDataLst>
    <p:tags r:id="rId27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BBC4"/>
    <a:srgbClr val="0D8BC3"/>
    <a:srgbClr val="2ED9FA"/>
    <a:srgbClr val="0BDEE3"/>
    <a:srgbClr val="07D3D3"/>
    <a:srgbClr val="07DDF3"/>
    <a:srgbClr val="57ACF3"/>
    <a:srgbClr val="3399FF"/>
    <a:srgbClr val="33CCFF"/>
    <a:srgbClr val="EFF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2" autoAdjust="0"/>
    <p:restoredTop sz="94660"/>
  </p:normalViewPr>
  <p:slideViewPr>
    <p:cSldViewPr snapToGrid="0">
      <p:cViewPr varScale="1">
        <p:scale>
          <a:sx n="82" d="100"/>
          <a:sy n="82" d="100"/>
        </p:scale>
        <p:origin x="581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F08BD66-0090-4264-A614-918E999BC416}" type="datetimeFigureOut">
              <a:rPr lang="en-US"/>
              <a:pPr>
                <a:defRPr/>
              </a:pPr>
              <a:t>7/3/2025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F5D7673-01F9-4197-813B-D3D5701B07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03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27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016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36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188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078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33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33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8970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910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6273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7357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8785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4789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795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16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5463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917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605DDE71-BC80-4F4D-B385-5050999CD606}" type="datetime1">
              <a:rPr lang="en-US"/>
              <a:pPr>
                <a:defRPr/>
              </a:pPr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922338" y="115888"/>
            <a:ext cx="835814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4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 cstate="print"/>
          <a:srcRect b="23807"/>
          <a:stretch>
            <a:fillRect/>
          </a:stretch>
        </p:blipFill>
        <p:spPr bwMode="auto">
          <a:xfrm>
            <a:off x="9662615" y="40945"/>
            <a:ext cx="2515736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1660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1219200" y="1752600"/>
            <a:ext cx="10668000" cy="4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marR="0" lvl="0" indent="-507987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219170" marR="0" lvl="1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57189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57189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7412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7412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74121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09" y="29379"/>
            <a:ext cx="869748" cy="139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999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972600" y="1763267"/>
            <a:ext cx="10250800" cy="2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972836" y="4230533"/>
            <a:ext cx="10250800" cy="7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23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65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972600" y="1763267"/>
            <a:ext cx="10251200" cy="20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30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562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200" cy="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972433" y="2771833"/>
            <a:ext cx="5032400" cy="30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6191472" y="2771833"/>
            <a:ext cx="5032400" cy="30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89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200" cy="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58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200" cy="18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961633" y="3708967"/>
            <a:ext cx="4401200" cy="21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26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1107190" y="5558840"/>
            <a:ext cx="994351" cy="61101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972600" y="1152400"/>
            <a:ext cx="9361600" cy="39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52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200" cy="2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966600" y="4215367"/>
            <a:ext cx="4401200" cy="10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6898967" y="1803500"/>
            <a:ext cx="4499200" cy="40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79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966600" y="5830068"/>
            <a:ext cx="10263200" cy="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267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1107190" y="5558840"/>
            <a:ext cx="994351" cy="61101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972600" y="978600"/>
            <a:ext cx="10251200" cy="16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972600" y="3030517"/>
            <a:ext cx="10251200" cy="21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76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058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676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88986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tevidyalay.com/tag/0-1-knapsack-problem-ppt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17" y="1623357"/>
            <a:ext cx="3710644" cy="3710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8763000" y="65087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sz="2400" kern="0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10395517" y="5716751"/>
            <a:ext cx="1291200" cy="11572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sz="2400" kern="0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7046399" y="-65087"/>
            <a:ext cx="5145600" cy="58532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sz="2400" kern="0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2124075" y="2025527"/>
            <a:ext cx="6829600" cy="1580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endParaRPr sz="2400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9814000" y="5239000"/>
            <a:ext cx="2366400" cy="16004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sz="2400" kern="0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029195" y="1268779"/>
            <a:ext cx="10951200" cy="442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 defTabSz="121917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9988"/>
              </a:buClr>
              <a:buSzPts val="3200"/>
            </a:pPr>
            <a:r>
              <a:rPr lang="en-US" sz="4267" b="1" kern="0" dirty="0">
                <a:solidFill>
                  <a:srgbClr val="1A1A1A"/>
                </a:solidFill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COMPUTING</a:t>
            </a:r>
            <a:endParaRPr sz="1400" kern="0" dirty="0">
              <a:solidFill>
                <a:srgbClr val="1A1A1A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1219170" eaLnBrk="1" fontAlgn="auto" hangingPunct="1">
              <a:lnSpc>
                <a:spcPct val="90000"/>
              </a:lnSpc>
              <a:spcBef>
                <a:spcPts val="1493"/>
              </a:spcBef>
              <a:spcAft>
                <a:spcPts val="0"/>
              </a:spcAft>
              <a:buClr>
                <a:srgbClr val="1A9988"/>
              </a:buClr>
              <a:buSzPts val="3200"/>
            </a:pPr>
            <a:r>
              <a:rPr lang="en-IN" sz="4267" b="1" kern="0" dirty="0">
                <a:solidFill>
                  <a:srgbClr val="1A1A1A"/>
                </a:solidFill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MASTER OF COMPUTER APPLICATIONS</a:t>
            </a:r>
            <a:endParaRPr sz="1400" kern="0" dirty="0">
              <a:solidFill>
                <a:srgbClr val="1A1A1A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1219170" eaLnBrk="1" fontAlgn="auto" hangingPunct="1">
              <a:lnSpc>
                <a:spcPct val="90000"/>
              </a:lnSpc>
              <a:spcBef>
                <a:spcPts val="1493"/>
              </a:spcBef>
              <a:spcAft>
                <a:spcPts val="0"/>
              </a:spcAft>
              <a:buClr>
                <a:srgbClr val="1A9988"/>
              </a:buClr>
              <a:buSzPts val="2800"/>
            </a:pPr>
            <a:r>
              <a:rPr lang="en-IN" sz="2667" kern="0" dirty="0">
                <a:solidFill>
                  <a:srgbClr val="1A1A1A"/>
                </a:solidFill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DESIGN AND ANALYSIS OF ALGORITHMS</a:t>
            </a:r>
            <a:endParaRPr sz="1867" kern="0" dirty="0">
              <a:solidFill>
                <a:srgbClr val="1A1A1A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1219170" eaLnBrk="1" fontAlgn="auto" hangingPunct="1">
              <a:lnSpc>
                <a:spcPct val="90000"/>
              </a:lnSpc>
              <a:spcBef>
                <a:spcPts val="1493"/>
              </a:spcBef>
              <a:spcAft>
                <a:spcPts val="0"/>
              </a:spcAft>
              <a:buClr>
                <a:srgbClr val="1A9988"/>
              </a:buClr>
              <a:buSzPts val="2800"/>
            </a:pPr>
            <a:r>
              <a:rPr lang="en-IN" sz="2667" kern="0" dirty="0">
                <a:solidFill>
                  <a:srgbClr val="1A1A1A"/>
                </a:solidFill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25 CAT 611</a:t>
            </a:r>
            <a:endParaRPr sz="2133" kern="0" dirty="0">
              <a:solidFill>
                <a:srgbClr val="1A1A1A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1219170" eaLnBrk="1" fontAlgn="auto" hangingPunct="1">
              <a:spcBef>
                <a:spcPts val="1493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2400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Unit No.  3                    Chapter No.  3.2.3                  </a:t>
            </a:r>
          </a:p>
          <a:p>
            <a:pPr defTabSz="1219170" eaLnBrk="1" fontAlgn="auto" hangingPunct="1">
              <a:spcBef>
                <a:spcPts val="1493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2400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Topic : </a:t>
            </a:r>
            <a:r>
              <a:rPr lang="en-IN" sz="2400" dirty="0">
                <a:solidFill>
                  <a:schemeClr val="bg2"/>
                </a:solidFill>
              </a:rPr>
              <a:t>0/1 Knapsack Problem</a:t>
            </a:r>
            <a:endParaRPr lang="en-US" sz="2400" b="1" kern="0" dirty="0">
              <a:solidFill>
                <a:schemeClr val="bg2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defTabSz="1219170" eaLnBrk="1" fontAlgn="auto" hangingPunct="1">
              <a:spcBef>
                <a:spcPts val="1493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2400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Faculty Name and </a:t>
            </a:r>
            <a:r>
              <a:rPr lang="en-US" sz="2400" b="1" kern="0" dirty="0" err="1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E_Code</a:t>
            </a:r>
            <a:r>
              <a:rPr lang="en-US" sz="2400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 Dr. Sameera(17674)                 Designation: Asst. Professor</a:t>
            </a:r>
            <a:endParaRPr lang="en-US" sz="4267" b="1" kern="0" dirty="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7046401" y="0"/>
            <a:ext cx="5145599" cy="789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en-IN" sz="2400" b="1" kern="0" dirty="0">
                <a:solidFill>
                  <a:srgbClr val="FFFFFF">
                    <a:lumMod val="65000"/>
                  </a:srgbClr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Academic Session 2025-26 </a:t>
            </a:r>
          </a:p>
          <a:p>
            <a:pPr algn="r"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en-IN" sz="2133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ODD Semester Jul-Dec 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6413F7-BEED-D318-84B7-D0102BF1A0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7" y="319"/>
            <a:ext cx="1647825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608" y="1248212"/>
            <a:ext cx="11223516" cy="4900339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/>
            <a:r>
              <a:rPr lang="en-US" sz="2400" dirty="0"/>
              <a:t> </a:t>
            </a:r>
          </a:p>
          <a:p>
            <a:endParaRPr lang="en-IN" sz="2400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07720" y="134938"/>
            <a:ext cx="8730418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 fontAlgn="base"/>
            <a:r>
              <a:rPr lang="en-IN" sz="3200" dirty="0"/>
              <a:t>0/1 Knapsack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</a:t>
            </a:fld>
            <a:endParaRPr lang="en-I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90914E-647F-0D78-A9F4-CE717F143E0D}"/>
              </a:ext>
            </a:extLst>
          </p:cNvPr>
          <p:cNvSpPr txBox="1"/>
          <p:nvPr/>
        </p:nvSpPr>
        <p:spPr>
          <a:xfrm>
            <a:off x="452761" y="2554055"/>
            <a:ext cx="101915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In 0/1 Knapsack Problem,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As the name suggests, items are indivisible here.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can not take the fraction of any item.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have to either take an item completely or leave it completely.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It is solved using dynamic programming approach.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DF6B5C-216B-FA87-2CEA-3D80D2041586}"/>
              </a:ext>
            </a:extLst>
          </p:cNvPr>
          <p:cNvSpPr txBox="1"/>
          <p:nvPr/>
        </p:nvSpPr>
        <p:spPr>
          <a:xfrm>
            <a:off x="9647853" y="0"/>
            <a:ext cx="2544147" cy="10398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09D258-C635-F563-2502-C533949CEF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0" y="28816"/>
            <a:ext cx="1330732" cy="124821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07720" y="134938"/>
            <a:ext cx="8730418" cy="90487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fontAlgn="base"/>
            <a:r>
              <a:rPr lang="en-US" sz="36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0/1 Knapsack Problem Using Dynamic Programming</a:t>
            </a:r>
            <a:br>
              <a:rPr lang="en-US" sz="3600" b="1" i="0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</a:br>
            <a:endParaRPr lang="en-IN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3</a:t>
            </a:fld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7D84A-7675-4320-0A73-08E89E8F1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456" y="1130222"/>
            <a:ext cx="10972800" cy="4525963"/>
          </a:xfrm>
        </p:spPr>
        <p:txBody>
          <a:bodyPr/>
          <a:lstStyle/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Consider-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Knapsack weight capacity = w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Number of items each having some weight and value = n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0/1 knapsack problem is solved using dynamic programming in the following steps-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Step-01: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Draw a table say ‘T’ with (n+1) number of rows and (w+1) number of columns.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Fill all the boxes of 0</a:t>
            </a:r>
            <a:r>
              <a:rPr lang="en-US" b="0" i="0" baseline="30000" dirty="0">
                <a:solidFill>
                  <a:srgbClr val="303030"/>
                </a:solidFill>
                <a:effectLst/>
                <a:latin typeface="Arimo"/>
              </a:rPr>
              <a:t>th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row and 0</a:t>
            </a:r>
            <a:r>
              <a:rPr lang="en-US" b="0" i="0" baseline="30000" dirty="0">
                <a:solidFill>
                  <a:srgbClr val="303030"/>
                </a:solidFill>
                <a:effectLst/>
                <a:latin typeface="Arimo"/>
              </a:rPr>
              <a:t>th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column with zeroes as shown-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520EC1-5DD3-15B6-C7C9-BDD1C08B33E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412855" y="3602638"/>
            <a:ext cx="3561444" cy="24036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DEA7AF-4CD6-2EAF-D0FF-8C85352758F8}"/>
              </a:ext>
            </a:extLst>
          </p:cNvPr>
          <p:cNvSpPr txBox="1"/>
          <p:nvPr/>
        </p:nvSpPr>
        <p:spPr>
          <a:xfrm>
            <a:off x="9629192" y="0"/>
            <a:ext cx="2562808" cy="10398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6DADAF-2732-78C7-B1CF-F7C87120EA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533"/>
            <a:ext cx="830425" cy="120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9975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4</a:t>
            </a:fld>
            <a:endParaRPr lang="en-IN" alt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19C5FF-F69C-1AF9-439A-552E28DD7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Step-02:</a:t>
            </a:r>
          </a:p>
          <a:p>
            <a:pPr algn="l"/>
            <a:endParaRPr lang="en-IN" b="1" u="sng" dirty="0">
              <a:solidFill>
                <a:srgbClr val="303030"/>
              </a:solidFill>
              <a:latin typeface="roboto condensed" panose="02000000000000000000" pitchFamily="2" charset="0"/>
            </a:endParaRPr>
          </a:p>
          <a:p>
            <a:pPr algn="l"/>
            <a:endParaRPr lang="en-IN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Start filling the table row wise top to bottom from left to right.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Use the following formula-</a:t>
            </a:r>
          </a:p>
          <a:p>
            <a:pPr algn="ctr" fontAlgn="base"/>
            <a:r>
              <a:rPr lang="en-US" sz="1800" b="1" i="0" dirty="0">
                <a:solidFill>
                  <a:srgbClr val="303030"/>
                </a:solidFill>
                <a:effectLst/>
                <a:latin typeface="Arimo"/>
              </a:rPr>
              <a:t>T (</a:t>
            </a:r>
            <a:r>
              <a:rPr lang="en-US" sz="1800" b="1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sz="1800" b="1" i="0" dirty="0">
                <a:solidFill>
                  <a:srgbClr val="303030"/>
                </a:solidFill>
                <a:effectLst/>
                <a:latin typeface="Arimo"/>
              </a:rPr>
              <a:t> , j) = max { T ( i-1 , j ) , </a:t>
            </a:r>
            <a:r>
              <a:rPr lang="en-US" sz="1800" b="1" i="0" dirty="0" err="1">
                <a:solidFill>
                  <a:srgbClr val="303030"/>
                </a:solidFill>
                <a:effectLst/>
                <a:latin typeface="Arimo"/>
              </a:rPr>
              <a:t>value</a:t>
            </a:r>
            <a:r>
              <a:rPr lang="en-US" sz="1800" b="1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sz="1800" b="1" i="0" dirty="0">
                <a:solidFill>
                  <a:srgbClr val="303030"/>
                </a:solidFill>
                <a:effectLst/>
                <a:latin typeface="Arimo"/>
              </a:rPr>
              <a:t> + T( i-1 , j – </a:t>
            </a:r>
            <a:r>
              <a:rPr lang="en-US" sz="1800" b="1" i="0" dirty="0" err="1">
                <a:solidFill>
                  <a:srgbClr val="303030"/>
                </a:solidFill>
                <a:effectLst/>
                <a:latin typeface="Arimo"/>
              </a:rPr>
              <a:t>weight</a:t>
            </a:r>
            <a:r>
              <a:rPr lang="en-US" sz="1800" b="1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sz="1800" b="1" i="0" baseline="-25000" dirty="0">
                <a:solidFill>
                  <a:srgbClr val="303030"/>
                </a:solidFill>
                <a:effectLst/>
                <a:latin typeface="Arimo"/>
              </a:rPr>
              <a:t> </a:t>
            </a:r>
            <a:r>
              <a:rPr lang="en-US" sz="1800" b="1" i="0" dirty="0">
                <a:solidFill>
                  <a:srgbClr val="303030"/>
                </a:solidFill>
                <a:effectLst/>
                <a:latin typeface="Arimo"/>
              </a:rPr>
              <a:t>)</a:t>
            </a:r>
            <a:r>
              <a:rPr lang="en-US" b="1" i="0" dirty="0">
                <a:solidFill>
                  <a:srgbClr val="303030"/>
                </a:solidFill>
                <a:effectLst/>
                <a:latin typeface="Arimo"/>
              </a:rPr>
              <a:t> }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Here, T(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, j) = maximum value of the selected items if we can take items 1 to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and have weight restrictions of j.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This step leads to completely filling the table.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Then, value of the last box represents the maximum possible value that can be put into the knapsack.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7A7BA5-EB97-7750-BD03-0AFA67A16F98}"/>
              </a:ext>
            </a:extLst>
          </p:cNvPr>
          <p:cNvSpPr txBox="1"/>
          <p:nvPr/>
        </p:nvSpPr>
        <p:spPr>
          <a:xfrm>
            <a:off x="9554546" y="0"/>
            <a:ext cx="2637454" cy="97038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ABA53A-BDA0-4604-B429-405A6E4D4E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782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6201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07720" y="134938"/>
            <a:ext cx="8730418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l" fontAlgn="base"/>
            <a:r>
              <a:rPr lang="en-IN" sz="36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Step-03:</a:t>
            </a:r>
            <a:endParaRPr lang="en-IN" sz="36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5</a:t>
            </a:fld>
            <a:endParaRPr lang="en-I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C5023E-B3E8-A5DD-2DC1-7E2B67370CED}"/>
              </a:ext>
            </a:extLst>
          </p:cNvPr>
          <p:cNvSpPr txBox="1"/>
          <p:nvPr/>
        </p:nvSpPr>
        <p:spPr>
          <a:xfrm>
            <a:off x="1376039" y="2138558"/>
            <a:ext cx="777239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To identify the items that must be put into the knapsack to obtain that maximum profit,</a:t>
            </a:r>
          </a:p>
          <a:p>
            <a:pPr algn="l" fontAlgn="base"/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Consider the last column of the table.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Start scanning the entries from bottom to top.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On encountering an entry whose value is not same as the value stored in the entry immediately above it, mark the row label of that entry.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After all the entries are scanned, the marked labels represent the items that must be put into the knapsack.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702D1-C3F6-AFFF-1AE8-130DE0129FCD}"/>
              </a:ext>
            </a:extLst>
          </p:cNvPr>
          <p:cNvSpPr txBox="1"/>
          <p:nvPr/>
        </p:nvSpPr>
        <p:spPr>
          <a:xfrm>
            <a:off x="9657184" y="0"/>
            <a:ext cx="2534816" cy="904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98AEDE-3A18-E349-D3C6-BF5349AB1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07720" cy="134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54032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07720" y="134938"/>
            <a:ext cx="8730418" cy="90487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l" fontAlgn="base"/>
            <a:r>
              <a:rPr lang="en-IN" sz="28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Time Complexity-</a:t>
            </a:r>
            <a:br>
              <a:rPr lang="en-IN" sz="2800" b="1" i="0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</a:br>
            <a:endParaRPr lang="en-IN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6</a:t>
            </a:fld>
            <a:endParaRPr lang="en-I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4B889D-C141-F8A8-F634-5B2C35CEAA63}"/>
              </a:ext>
            </a:extLst>
          </p:cNvPr>
          <p:cNvSpPr txBox="1"/>
          <p:nvPr/>
        </p:nvSpPr>
        <p:spPr>
          <a:xfrm>
            <a:off x="497150" y="2277057"/>
            <a:ext cx="865128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Each entry of the table requires constant time θ(1) for its computation.</a:t>
            </a:r>
          </a:p>
          <a:p>
            <a:pPr algn="l" fontAlgn="base"/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It takes θ(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nw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) time to fill (n+1)(w+1) table entries.</a:t>
            </a:r>
          </a:p>
          <a:p>
            <a:pPr algn="l" fontAlgn="base"/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It takes θ(n) time for tracing the solution since tracing process traces the n rows.</a:t>
            </a:r>
          </a:p>
          <a:p>
            <a:pPr algn="l" fontAlgn="base"/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Thus, overall θ(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nw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) time is taken to solve 0/1 knapsack problem using dynamic programming.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0654C0-9D4D-C490-1260-387EF6B8B836}"/>
              </a:ext>
            </a:extLst>
          </p:cNvPr>
          <p:cNvSpPr txBox="1"/>
          <p:nvPr/>
        </p:nvSpPr>
        <p:spPr>
          <a:xfrm>
            <a:off x="9619860" y="0"/>
            <a:ext cx="2572139" cy="117565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D5BF4E-0085-DB5A-50E6-6F0855859F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42392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08242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07720" y="134938"/>
            <a:ext cx="8730418" cy="904875"/>
          </a:xfrm>
          <a:ln>
            <a:solidFill>
              <a:schemeClr val="tx1"/>
            </a:solidFill>
          </a:ln>
        </p:spPr>
        <p:txBody>
          <a:bodyPr/>
          <a:lstStyle/>
          <a:p>
            <a:pPr fontAlgn="base"/>
            <a:r>
              <a:rPr lang="en-IN" sz="3600" b="1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7</a:t>
            </a:fld>
            <a:endParaRPr lang="en-IN" alt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DB7BA58-ACD6-EFEC-1A12-EBFF2550DC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9553940"/>
              </p:ext>
            </p:extLst>
          </p:nvPr>
        </p:nvGraphicFramePr>
        <p:xfrm>
          <a:off x="3252945" y="2484120"/>
          <a:ext cx="2259329" cy="1889760"/>
        </p:xfrm>
        <a:graphic>
          <a:graphicData uri="http://schemas.openxmlformats.org/drawingml/2006/table">
            <a:tbl>
              <a:tblPr/>
              <a:tblGrid>
                <a:gridCol w="706936">
                  <a:extLst>
                    <a:ext uri="{9D8B030D-6E8A-4147-A177-3AD203B41FA5}">
                      <a16:colId xmlns:a16="http://schemas.microsoft.com/office/drawing/2014/main" val="860835086"/>
                    </a:ext>
                  </a:extLst>
                </a:gridCol>
                <a:gridCol w="764255">
                  <a:extLst>
                    <a:ext uri="{9D8B030D-6E8A-4147-A177-3AD203B41FA5}">
                      <a16:colId xmlns:a16="http://schemas.microsoft.com/office/drawing/2014/main" val="3466431958"/>
                    </a:ext>
                  </a:extLst>
                </a:gridCol>
                <a:gridCol w="788138">
                  <a:extLst>
                    <a:ext uri="{9D8B030D-6E8A-4147-A177-3AD203B41FA5}">
                      <a16:colId xmlns:a16="http://schemas.microsoft.com/office/drawing/2014/main" val="16400862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200" b="1">
                          <a:effectLst/>
                        </a:rPr>
                        <a:t>Item</a:t>
                      </a:r>
                      <a:endParaRPr lang="en-IN">
                        <a:effectLst/>
                      </a:endParaRP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>
                          <a:effectLst/>
                        </a:rPr>
                        <a:t>Weight</a:t>
                      </a:r>
                      <a:endParaRPr lang="en-IN">
                        <a:effectLst/>
                      </a:endParaRP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>
                          <a:effectLst/>
                        </a:rPr>
                        <a:t>Value</a:t>
                      </a:r>
                      <a:endParaRPr lang="en-IN">
                        <a:effectLst/>
                      </a:endParaRP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651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2</a:t>
                      </a: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3</a:t>
                      </a: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161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3</a:t>
                      </a: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4</a:t>
                      </a: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657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3</a:t>
                      </a: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4</a:t>
                      </a: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5</a:t>
                      </a: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731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4</a:t>
                      </a: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5</a:t>
                      </a: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6</a:t>
                      </a: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104144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D84CE10B-9C53-0321-1D6C-A0998B01D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04" y="1244761"/>
            <a:ext cx="1091382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mo"/>
              </a:rPr>
              <a:t>For the given set of items and knapsack capacity = 5 kg,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mo"/>
              </a:rPr>
              <a:t>find the optimal solution for the 0/1 knapsack problem making use of dynamic programming approach.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mo"/>
              </a:rPr>
              <a:t> 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mo"/>
              </a:rPr>
              <a:t> 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5853B2-DD12-5163-279E-97DCC70FDF14}"/>
              </a:ext>
            </a:extLst>
          </p:cNvPr>
          <p:cNvSpPr txBox="1"/>
          <p:nvPr/>
        </p:nvSpPr>
        <p:spPr>
          <a:xfrm>
            <a:off x="9629192" y="0"/>
            <a:ext cx="2562808" cy="10398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E574A6-A996-2FB2-C884-2C4A44451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8300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51378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07720" y="134938"/>
            <a:ext cx="8730418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/>
            <a:r>
              <a:rPr lang="en-IN" sz="3600" b="1" dirty="0"/>
              <a:t>Example </a:t>
            </a: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8</a:t>
            </a:fld>
            <a:endParaRPr lang="en-I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6F8DB0-CD73-6A19-3E09-2CE787A9A70E}"/>
              </a:ext>
            </a:extLst>
          </p:cNvPr>
          <p:cNvSpPr txBox="1"/>
          <p:nvPr/>
        </p:nvSpPr>
        <p:spPr>
          <a:xfrm>
            <a:off x="985421" y="2554056"/>
            <a:ext cx="81630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Find the optimal solution for the 0/1 knapsack problem making use of dynamic programming approach. Consider-</a:t>
            </a:r>
          </a:p>
          <a:p>
            <a:pPr algn="ctr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n = 4</a:t>
            </a:r>
          </a:p>
          <a:p>
            <a:pPr algn="ctr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 = 5 kg</a:t>
            </a:r>
          </a:p>
          <a:p>
            <a:pPr algn="ctr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(w1, w2, w3, w4) = (2, 3, 4, 5)</a:t>
            </a:r>
          </a:p>
          <a:p>
            <a:pPr algn="ctr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(b1, b2, b3, b4) = (3, 4, 5, 6)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442A6F-9850-406A-4034-90DCDB79E604}"/>
              </a:ext>
            </a:extLst>
          </p:cNvPr>
          <p:cNvSpPr txBox="1"/>
          <p:nvPr/>
        </p:nvSpPr>
        <p:spPr>
          <a:xfrm>
            <a:off x="9675844" y="0"/>
            <a:ext cx="2516155" cy="904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FF36D0-B579-8D85-5F22-1811D86806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6" y="0"/>
            <a:ext cx="89211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34427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07720" y="134938"/>
            <a:ext cx="8730418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/>
            <a:r>
              <a:rPr lang="en-US" sz="3600" dirty="0"/>
              <a:t>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9</a:t>
            </a:fld>
            <a:endParaRPr lang="en-I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80B5D0-E218-FA98-3C73-ADE0B9BD46F7}"/>
              </a:ext>
            </a:extLst>
          </p:cNvPr>
          <p:cNvSpPr txBox="1"/>
          <p:nvPr/>
        </p:nvSpPr>
        <p:spPr>
          <a:xfrm>
            <a:off x="807720" y="1124751"/>
            <a:ext cx="834071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Given-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Knapsack capacity (w) = 5 kg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Number of items (n) = 4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Step-01: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Draw a table say ‘T’ with (n+1) = 4 + 1 = 5 number of rows and (w+1) = 5 + 1 = 6 number of columns.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Fill all the boxes of 0</a:t>
            </a:r>
            <a:r>
              <a:rPr lang="en-US" b="0" i="0" baseline="30000" dirty="0">
                <a:solidFill>
                  <a:srgbClr val="303030"/>
                </a:solidFill>
                <a:effectLst/>
                <a:latin typeface="Arimo"/>
              </a:rPr>
              <a:t>th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row and 0</a:t>
            </a:r>
            <a:r>
              <a:rPr lang="en-US" b="0" i="0" baseline="30000" dirty="0">
                <a:solidFill>
                  <a:srgbClr val="303030"/>
                </a:solidFill>
                <a:effectLst/>
                <a:latin typeface="Arimo"/>
              </a:rPr>
              <a:t>th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column with 0.</a:t>
            </a:r>
          </a:p>
          <a:p>
            <a:pPr algn="ctr" fontAlgn="base"/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3B69DB-FC91-DEFD-7036-325E87DA918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56264" y="3701988"/>
            <a:ext cx="4964136" cy="2770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370D89-E86E-81CE-3887-C009185E7011}"/>
              </a:ext>
            </a:extLst>
          </p:cNvPr>
          <p:cNvSpPr txBox="1"/>
          <p:nvPr/>
        </p:nvSpPr>
        <p:spPr>
          <a:xfrm>
            <a:off x="9657184" y="0"/>
            <a:ext cx="2534816" cy="1124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B0C09F-B0E9-5596-F87E-1F48B094B6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3" y="0"/>
            <a:ext cx="743047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16814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88276" y="19800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Working Procedure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10</a:t>
            </a:fld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4A74E-53E5-9689-F183-C4F729C16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 fontAlgn="base"/>
            <a:r>
              <a:rPr lang="en-IN" sz="16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Step-02:</a:t>
            </a:r>
            <a:endParaRPr lang="en-IN" sz="16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Start filling the table row wise top to bottom from left to right using the formula-</a:t>
            </a:r>
          </a:p>
          <a:p>
            <a:pPr algn="ctr" fontAlgn="base"/>
            <a:r>
              <a:rPr lang="en-IN" sz="1600" b="1" i="0" dirty="0">
                <a:solidFill>
                  <a:srgbClr val="303030"/>
                </a:solidFill>
                <a:effectLst/>
                <a:latin typeface="Arimo"/>
              </a:rPr>
              <a:t>T (</a:t>
            </a:r>
            <a:r>
              <a:rPr lang="en-IN" sz="1600" b="1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IN" sz="1600" b="1" i="0" dirty="0">
                <a:solidFill>
                  <a:srgbClr val="303030"/>
                </a:solidFill>
                <a:effectLst/>
                <a:latin typeface="Arimo"/>
              </a:rPr>
              <a:t> , j) = max { T ( i-1 , j ) , </a:t>
            </a:r>
            <a:r>
              <a:rPr lang="en-IN" sz="1600" b="1" i="0" dirty="0" err="1">
                <a:solidFill>
                  <a:srgbClr val="303030"/>
                </a:solidFill>
                <a:effectLst/>
                <a:latin typeface="Arimo"/>
              </a:rPr>
              <a:t>value</a:t>
            </a:r>
            <a:r>
              <a:rPr lang="en-IN" sz="1600" b="1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IN" sz="1600" b="1" i="0" dirty="0">
                <a:solidFill>
                  <a:srgbClr val="303030"/>
                </a:solidFill>
                <a:effectLst/>
                <a:latin typeface="Arimo"/>
              </a:rPr>
              <a:t> + T( i-1 , j – </a:t>
            </a:r>
            <a:r>
              <a:rPr lang="en-IN" sz="1600" b="1" i="0" dirty="0" err="1">
                <a:solidFill>
                  <a:srgbClr val="303030"/>
                </a:solidFill>
                <a:effectLst/>
                <a:latin typeface="Arimo"/>
              </a:rPr>
              <a:t>weight</a:t>
            </a:r>
            <a:r>
              <a:rPr lang="en-IN" sz="1600" b="1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IN" sz="1600" b="1" i="0" baseline="-25000" dirty="0">
                <a:solidFill>
                  <a:srgbClr val="303030"/>
                </a:solidFill>
                <a:effectLst/>
                <a:latin typeface="Arimo"/>
              </a:rPr>
              <a:t> </a:t>
            </a:r>
            <a:r>
              <a:rPr lang="en-IN" sz="1600" b="1" i="0" dirty="0">
                <a:solidFill>
                  <a:srgbClr val="303030"/>
                </a:solidFill>
                <a:effectLst/>
                <a:latin typeface="Arimo"/>
              </a:rPr>
              <a:t>) }</a:t>
            </a:r>
            <a:endParaRPr lang="en-IN" sz="1600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/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IN" sz="16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Finding T(1,1)-</a:t>
            </a:r>
            <a:endParaRPr lang="en-IN" sz="16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We have,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1600" b="0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 = 1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j = 1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(value)</a:t>
            </a:r>
            <a:r>
              <a:rPr lang="en-IN" sz="1600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 = (value)</a:t>
            </a:r>
            <a:r>
              <a:rPr lang="en-IN" sz="1600" b="0" i="0" baseline="-25000" dirty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 = 3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(weight)</a:t>
            </a:r>
            <a:r>
              <a:rPr lang="en-IN" sz="1600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 = (weight)</a:t>
            </a:r>
            <a:r>
              <a:rPr lang="en-IN" sz="1600" b="0" i="0" baseline="-25000" dirty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 = 2</a:t>
            </a:r>
          </a:p>
          <a:p>
            <a:pPr algn="l" fontAlgn="base"/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Substituting the values, we get-</a:t>
            </a:r>
          </a:p>
          <a:p>
            <a:pPr algn="l" fontAlgn="base"/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T(1,1) = max { T(1-1 , 1) , 3 + T(1-1 , 1-2) }</a:t>
            </a:r>
          </a:p>
          <a:p>
            <a:pPr algn="l" fontAlgn="base"/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T(1,1) = max { T(0,1) , 3 + T(0,-1) }</a:t>
            </a:r>
          </a:p>
          <a:p>
            <a:pPr algn="l" fontAlgn="base"/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T(1,1) = T(0,1) { Ignore T(0,-1) }</a:t>
            </a:r>
          </a:p>
          <a:p>
            <a:pPr algn="l" fontAlgn="base"/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T(1,1) = 0</a:t>
            </a:r>
          </a:p>
          <a:p>
            <a:pPr algn="l" fontAlgn="base"/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5E2110-3F1C-BB28-7193-D5D57F7BACA7}"/>
              </a:ext>
            </a:extLst>
          </p:cNvPr>
          <p:cNvSpPr txBox="1"/>
          <p:nvPr/>
        </p:nvSpPr>
        <p:spPr>
          <a:xfrm>
            <a:off x="9647853" y="0"/>
            <a:ext cx="2544147" cy="1102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C98EF9-F8D6-6430-2C82-045209E17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621" y="0"/>
            <a:ext cx="768221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37792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88276" y="19800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Working procedure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11</a:t>
            </a:fld>
            <a:endParaRPr lang="en-IN" alt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A9EA99B-42F7-4364-3644-FD087FAECC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83526" cy="110287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F47E3-5C1C-8A0E-FA42-58F9FEE5B63A}"/>
              </a:ext>
            </a:extLst>
          </p:cNvPr>
          <p:cNvSpPr txBox="1"/>
          <p:nvPr/>
        </p:nvSpPr>
        <p:spPr>
          <a:xfrm>
            <a:off x="2901410" y="2008456"/>
            <a:ext cx="609895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18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Finding T(1,2)-</a:t>
            </a:r>
            <a:endParaRPr lang="en-IN" sz="1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We have,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1800" b="0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 = 1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j = 2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(value)</a:t>
            </a:r>
            <a:r>
              <a:rPr lang="en-IN" sz="1800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 = (value)</a:t>
            </a:r>
            <a:r>
              <a:rPr lang="en-IN" sz="1800" b="0" i="0" baseline="-25000" dirty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 = 3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(weight)</a:t>
            </a:r>
            <a:r>
              <a:rPr lang="en-IN" sz="1800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 = (weight)</a:t>
            </a:r>
            <a:r>
              <a:rPr lang="en-IN" sz="1800" b="0" i="0" baseline="-25000" dirty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 = 2</a:t>
            </a:r>
          </a:p>
          <a:p>
            <a:pPr algn="l" fontAlgn="base"/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Substituting the values, we get-</a:t>
            </a:r>
          </a:p>
          <a:p>
            <a:pPr algn="l" fontAlgn="base"/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T(1,2) = max { T(1-1 , 2) , 3 + T(1-1 , 2-2) }</a:t>
            </a:r>
          </a:p>
          <a:p>
            <a:pPr algn="l" fontAlgn="base"/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T(1,2) = max { T(0,2) , 3 + T(0,0) }</a:t>
            </a:r>
          </a:p>
          <a:p>
            <a:pPr algn="l" fontAlgn="base"/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T(1,2) = max {0 , 3+0}</a:t>
            </a:r>
          </a:p>
          <a:p>
            <a:pPr algn="l" fontAlgn="base"/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T(1,2) = 3</a:t>
            </a:r>
          </a:p>
          <a:p>
            <a:pPr algn="l" fontAlgn="base"/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03DEB-3F90-6644-6068-7A6B348A5BCF}"/>
              </a:ext>
            </a:extLst>
          </p:cNvPr>
          <p:cNvSpPr txBox="1"/>
          <p:nvPr/>
        </p:nvSpPr>
        <p:spPr>
          <a:xfrm>
            <a:off x="9582539" y="0"/>
            <a:ext cx="2609461" cy="904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013333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88276" y="19800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Working procedure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12</a:t>
            </a:fld>
            <a:endParaRPr lang="en-IN" alt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0DA1F93-1287-4EE3-832A-5F9D59844A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5739" cy="110287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ED2C3C-07A4-98D8-C434-F7B83694C0C7}"/>
              </a:ext>
            </a:extLst>
          </p:cNvPr>
          <p:cNvSpPr txBox="1"/>
          <p:nvPr/>
        </p:nvSpPr>
        <p:spPr>
          <a:xfrm>
            <a:off x="3349842" y="2009346"/>
            <a:ext cx="609895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Finding T(1,3)-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have,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= 1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j = 3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(value)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(value)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3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(weight)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(weight)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2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Substituting the values, we get-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T(1,3) = max { T(1-1 , 3) , 3 + T(1-1 , 3-2)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T(1,3) = max { T(0,3) , 3 + T(0,1)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T(1,3) = max {0 , 3+0}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T(1,3) = 3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3D3D69-75CA-C98B-F95D-28870ADB5884}"/>
              </a:ext>
            </a:extLst>
          </p:cNvPr>
          <p:cNvSpPr txBox="1"/>
          <p:nvPr/>
        </p:nvSpPr>
        <p:spPr>
          <a:xfrm>
            <a:off x="9619861" y="0"/>
            <a:ext cx="2572139" cy="904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567231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88276" y="19800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Working procedure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13</a:t>
            </a:fld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B454-8D6F-49F1-3219-0BF226470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Finding T(1,4)-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have,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= 1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j = 4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(value)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(value)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3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(weight)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(weight)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2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Substituting the values, we get-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T(1,4) = max { T(1-1 , 4) , 3 + T(1-1 , 4-2)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T(1,4) = max { T(0,4) , 3 + T(0,2)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T(1,4) = max {0 , 3+0}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T(1,4) = 3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73297A-12AF-DBAB-CA3D-7E2263DD8B2D}"/>
              </a:ext>
            </a:extLst>
          </p:cNvPr>
          <p:cNvSpPr txBox="1"/>
          <p:nvPr/>
        </p:nvSpPr>
        <p:spPr>
          <a:xfrm>
            <a:off x="9657184" y="0"/>
            <a:ext cx="2534816" cy="1102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CA74BB-F22B-8E86-2588-15F56409B5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5" y="26987"/>
            <a:ext cx="774881" cy="110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44796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88276" y="19800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Working procedure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14</a:t>
            </a:fld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B454-8D6F-49F1-3219-0BF226470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Finding T(1,5)-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have,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= 1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j = 5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(value)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(value)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3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(weight)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(weight)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2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Substituting the values, we get-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T(1,5) = max { T(1-1 , 5) , 3 + T(1-1 , 5-2)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T(1,5) = max { T(0,5) , 3 + T(0,3)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T(1,5) = max {0 , 3+0}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T(1,5) = 3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9352F2-8FBD-5C61-250C-871B3739F17B}"/>
              </a:ext>
            </a:extLst>
          </p:cNvPr>
          <p:cNvSpPr txBox="1"/>
          <p:nvPr/>
        </p:nvSpPr>
        <p:spPr>
          <a:xfrm>
            <a:off x="9582539" y="0"/>
            <a:ext cx="2609461" cy="12223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5FD81A-E9EC-D1B7-0000-6413BD1952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87"/>
            <a:ext cx="788276" cy="107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95758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88276" y="19800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Working procedure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15</a:t>
            </a:fld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B454-8D6F-49F1-3219-0BF226470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Finding T(2,1)-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have,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= 2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j = 1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(value)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(value)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4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(weight)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(weight)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3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Substituting the values, we get-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T(2,1) = max { T(2-1 , 1) , 4 + T(2-1 , 1-3)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T(2,1) = max { T(1,1) , 4 + T(1,-2)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T(2,1) = T(1,1) { Ignore T(1,-2)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T(2,1) = 0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B7D87A-6D3B-AD66-30F0-46C0F0CD93D8}"/>
              </a:ext>
            </a:extLst>
          </p:cNvPr>
          <p:cNvSpPr txBox="1"/>
          <p:nvPr/>
        </p:nvSpPr>
        <p:spPr>
          <a:xfrm>
            <a:off x="9638522" y="0"/>
            <a:ext cx="2553478" cy="1102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5A2236-D029-0139-E926-2CDB7D2F79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98000"/>
            <a:ext cx="788277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90070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88276" y="19800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Working procedure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16</a:t>
            </a:fld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B454-8D6F-49F1-3219-0BF226470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Finding T(2,2)-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have,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= 2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j = 2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(value)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(value)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4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(weight)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(weight)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3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Substituting the values, we get-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T(2,2) = max { T(2-1 , 2) , 4 + T(2-1 , 2-3)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T(2,2) = max { T(1,2) , 4 + T(1,-1)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T(2,2) = T(1,2) { Ignore T(1,-1)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T(2,2) = 3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6F8C63-B261-AC49-9928-02A83EE9EE52}"/>
              </a:ext>
            </a:extLst>
          </p:cNvPr>
          <p:cNvSpPr txBox="1"/>
          <p:nvPr/>
        </p:nvSpPr>
        <p:spPr>
          <a:xfrm>
            <a:off x="9582539" y="0"/>
            <a:ext cx="2609461" cy="11943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323F34-4C87-D71E-0861-AB6F7EF174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98000"/>
            <a:ext cx="67631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21139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88276" y="19800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Working procedure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17</a:t>
            </a:fld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B454-8D6F-49F1-3219-0BF226470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Finding T(2,3)-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have,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= 2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j = 3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(value)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(value)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4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(weight)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(weight)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3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Substituting the values, we get-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T(2,3) = max { T(2-1 , 3) , 4 + T(2-1 , 3-3)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T(2,3) = max { T(1,3) , 4 + T(1,0)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T(2,3) = max { 3 , 4+0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T(2,3) = 4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D4264D-88AD-1EF5-AC58-254349DA1AAE}"/>
              </a:ext>
            </a:extLst>
          </p:cNvPr>
          <p:cNvSpPr txBox="1"/>
          <p:nvPr/>
        </p:nvSpPr>
        <p:spPr>
          <a:xfrm>
            <a:off x="9601200" y="0"/>
            <a:ext cx="2590800" cy="1102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6EA4B2-3406-2F90-968B-8CDFEE2097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98000"/>
            <a:ext cx="67631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90674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88276" y="19800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Working procedure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18</a:t>
            </a:fld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B454-8D6F-49F1-3219-0BF226470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Finding T(2,4)-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have,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= 2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j = 4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(value)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(value)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4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(weight)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(weight)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3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Substituting the values, we get-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T(2,4) = max { T(2-1 , 4) , 4 + T(2-1 , 4-3)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T(2,4) = max { T(1,4) , 4 + T(1,1)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T(2,4) = max { 3 , 4+0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T(2,4) = 4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2BA88D-79ED-CF5D-C2C4-A6002A99915C}"/>
              </a:ext>
            </a:extLst>
          </p:cNvPr>
          <p:cNvSpPr txBox="1"/>
          <p:nvPr/>
        </p:nvSpPr>
        <p:spPr>
          <a:xfrm>
            <a:off x="9619861" y="0"/>
            <a:ext cx="2572139" cy="1102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4322DB-AEA0-86DE-5B8B-7AC850A28E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98000"/>
            <a:ext cx="67631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7079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88276" y="19800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Working procedure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19</a:t>
            </a:fld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B454-8D6F-49F1-3219-0BF226470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Finding T(2,5)-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have,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= 2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j = 5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(value)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(value)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4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(weight)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(weight)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3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Substituting the values, we get-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T(2,5) = max { T(2-1 , 5) , 4 + T(2-1 , 5-3)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T(2,5) = max { T(1,5) , 4 + T(1,2)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T(2,5) = max { 3 , 4+3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T(2,5) = 7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3766EC-64AC-992D-5B62-A2B89EEE0CD9}"/>
              </a:ext>
            </a:extLst>
          </p:cNvPr>
          <p:cNvSpPr txBox="1"/>
          <p:nvPr/>
        </p:nvSpPr>
        <p:spPr>
          <a:xfrm>
            <a:off x="9629192" y="0"/>
            <a:ext cx="2562808" cy="117565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6A7973-D0C8-5D88-CAAF-AB06B17188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98000"/>
            <a:ext cx="67631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57492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88276" y="19800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Working procedure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20</a:t>
            </a:fld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B454-8D6F-49F1-3219-0BF226470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Similarly, compute all the entries.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After all the entries are computed and filled in the table, we get the following table-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br>
              <a:rPr lang="en-US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ADE2EB-3AC2-2243-2CC7-7FE4C87481F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3785" y="2096300"/>
            <a:ext cx="7020905" cy="3762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94AF42-F185-7DDB-FBB9-DB650DE35A0F}"/>
              </a:ext>
            </a:extLst>
          </p:cNvPr>
          <p:cNvSpPr txBox="1"/>
          <p:nvPr/>
        </p:nvSpPr>
        <p:spPr>
          <a:xfrm>
            <a:off x="1691196" y="5616636"/>
            <a:ext cx="60989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 last entry represents the maximum possible value that can be put into the knapsack.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So, maximum possible value that can be put into the knapsack = 7.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D6AE4D-3BC2-EEF5-3EDC-EB9F9C369CB9}"/>
              </a:ext>
            </a:extLst>
          </p:cNvPr>
          <p:cNvSpPr txBox="1"/>
          <p:nvPr/>
        </p:nvSpPr>
        <p:spPr>
          <a:xfrm>
            <a:off x="9619861" y="0"/>
            <a:ext cx="2572139" cy="9890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0C3AF6-680D-3F66-16B5-7D373BA30D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98000"/>
            <a:ext cx="67631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2885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E4D5314-BF06-84DF-B10C-52FF7F0F0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Identifying Items To Be Put Into Knapsack-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Following Step-04,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mark the rows labelled “1” and “2”.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Thus, items that must be put into the knapsack to obtain the maximum value 7 are-</a:t>
            </a:r>
          </a:p>
          <a:p>
            <a:pPr algn="ctr" fontAlgn="base"/>
            <a:r>
              <a:rPr lang="en-US" b="1" i="0" dirty="0">
                <a:solidFill>
                  <a:srgbClr val="303030"/>
                </a:solidFill>
                <a:effectLst/>
                <a:latin typeface="Arimo"/>
              </a:rPr>
              <a:t>Item-1 and Item-2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34CA04-1631-0E9F-0D92-38897539CA5A}"/>
              </a:ext>
            </a:extLst>
          </p:cNvPr>
          <p:cNvSpPr txBox="1"/>
          <p:nvPr/>
        </p:nvSpPr>
        <p:spPr>
          <a:xfrm>
            <a:off x="9563878" y="0"/>
            <a:ext cx="2628122" cy="11103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84C0AC-B987-8B50-A331-F566AC2FB5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98000"/>
            <a:ext cx="67631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0730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 txBox="1">
            <a:spLocks noGrp="1"/>
          </p:cNvSpPr>
          <p:nvPr>
            <p:ph idx="1"/>
          </p:nvPr>
        </p:nvSpPr>
        <p:spPr>
          <a:xfrm>
            <a:off x="679450" y="1311275"/>
            <a:ext cx="10515600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 algn="l"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  <a:hlinkClick r:id="rId3"/>
              </a:rPr>
              <a:t>https://www.gatevidyalay.com/tag/0-1-knapsack-problem-ppt/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l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l"/>
            <a:r>
              <a:rPr lang="en-US" sz="2400">
                <a:latin typeface="Times New Roman" pitchFamily="18" charset="0"/>
                <a:cs typeface="Times New Roman" pitchFamily="18" charset="0"/>
              </a:rPr>
              <a:t>Books: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Introduction to Algorithms by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Coreman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Leiserson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Rivest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Stein.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Fundamentals of Algorithms by Ellis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Horwitz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Computer Algorithms/C++ by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Sartaj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Sahni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Sanguthevar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Rajasekaran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457200" indent="-457200" algn="l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88276" y="19800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22</a:t>
            </a:fld>
            <a:endParaRPr lang="en-I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2B5EDD-849A-DB87-8BB8-11C6F5FBA645}"/>
              </a:ext>
            </a:extLst>
          </p:cNvPr>
          <p:cNvSpPr txBox="1"/>
          <p:nvPr/>
        </p:nvSpPr>
        <p:spPr>
          <a:xfrm>
            <a:off x="9582539" y="0"/>
            <a:ext cx="2609461" cy="904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616F81-C63F-4ED8-A0DF-41CCD1A333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98000"/>
            <a:ext cx="67631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43646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-76200"/>
            <a:ext cx="12192000" cy="4686300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white"/>
                </a:solidFill>
                <a:latin typeface="Calibri Light"/>
                <a:cs typeface="+mn-cs"/>
              </a:rPr>
              <a:t> 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9347200" y="9525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cxnSpLocks/>
          </p:cNvCxnSpPr>
          <p:nvPr/>
        </p:nvCxnSpPr>
        <p:spPr>
          <a:xfrm>
            <a:off x="10169525" y="0"/>
            <a:ext cx="663575" cy="66357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cxnSpLocks/>
          </p:cNvCxnSpPr>
          <p:nvPr/>
        </p:nvCxnSpPr>
        <p:spPr>
          <a:xfrm>
            <a:off x="733425" y="6294438"/>
            <a:ext cx="558800" cy="55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/>
          </p:cNvCxnSpPr>
          <p:nvPr/>
        </p:nvCxnSpPr>
        <p:spPr>
          <a:xfrm>
            <a:off x="390525" y="5148263"/>
            <a:ext cx="1728788" cy="172878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39" name="Title 1"/>
          <p:cNvSpPr txBox="1">
            <a:spLocks/>
          </p:cNvSpPr>
          <p:nvPr/>
        </p:nvSpPr>
        <p:spPr bwMode="auto">
          <a:xfrm>
            <a:off x="1485900" y="2249488"/>
            <a:ext cx="10725150" cy="1230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en-US" sz="8000">
                <a:solidFill>
                  <a:srgbClr val="FFFFFF"/>
                </a:solidFill>
                <a:latin typeface="Casper" pitchFamily="2" charset="0"/>
                <a:cs typeface="Segoe UI" pitchFamily="34" charset="0"/>
              </a:rPr>
              <a:t>THANK YOU</a:t>
            </a:r>
          </a:p>
        </p:txBody>
      </p:sp>
      <p:sp>
        <p:nvSpPr>
          <p:cNvPr id="44040" name="Diamond 6"/>
          <p:cNvSpPr>
            <a:spLocks noChangeArrowheads="1"/>
          </p:cNvSpPr>
          <p:nvPr/>
        </p:nvSpPr>
        <p:spPr bwMode="auto">
          <a:xfrm>
            <a:off x="2641600" y="1214438"/>
            <a:ext cx="2430463" cy="3225800"/>
          </a:xfrm>
          <a:custGeom>
            <a:avLst/>
            <a:gdLst>
              <a:gd name="T0" fmla="*/ 2430463 w 2430463"/>
              <a:gd name="T1" fmla="*/ 2413000 h 3225800"/>
              <a:gd name="T2" fmla="*/ 1612919 w 2430463"/>
              <a:gd name="T3" fmla="*/ 3225800 h 3225800"/>
              <a:gd name="T4" fmla="*/ 0 w 2430463"/>
              <a:gd name="T5" fmla="*/ 1612900 h 3225800"/>
              <a:gd name="T6" fmla="*/ 1612919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30463"/>
              <a:gd name="T16" fmla="*/ 0 h 3225800"/>
              <a:gd name="T17" fmla="*/ 2430463 w 2430463"/>
              <a:gd name="T18" fmla="*/ 3225800 h 32258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algn="ctr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4041" name="Diamond 6"/>
          <p:cNvSpPr>
            <a:spLocks noChangeArrowheads="1"/>
          </p:cNvSpPr>
          <p:nvPr/>
        </p:nvSpPr>
        <p:spPr bwMode="auto">
          <a:xfrm>
            <a:off x="2898775" y="1214438"/>
            <a:ext cx="2430463" cy="3225800"/>
          </a:xfrm>
          <a:custGeom>
            <a:avLst/>
            <a:gdLst>
              <a:gd name="T0" fmla="*/ 2430463 w 2430463"/>
              <a:gd name="T1" fmla="*/ 2413000 h 3225800"/>
              <a:gd name="T2" fmla="*/ 1612919 w 2430463"/>
              <a:gd name="T3" fmla="*/ 3225800 h 3225800"/>
              <a:gd name="T4" fmla="*/ 0 w 2430463"/>
              <a:gd name="T5" fmla="*/ 1612900 h 3225800"/>
              <a:gd name="T6" fmla="*/ 1612919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30463"/>
              <a:gd name="T16" fmla="*/ 0 h 3225800"/>
              <a:gd name="T17" fmla="*/ 2430463 w 2430463"/>
              <a:gd name="T18" fmla="*/ 3225800 h 32258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algn="ctr">
            <a:solidFill>
              <a:srgbClr val="FFFFFF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4043" name="Slide Number Placeholder 2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448800" y="6356350"/>
            <a:ext cx="27432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B7962362-1F08-47BC-B5C0-8D11A861320F}" type="slidenum">
              <a:rPr lang="en-IN" altLang="en-US" smtClean="0"/>
              <a:pPr/>
              <a:t>23</a:t>
            </a:fld>
            <a:endParaRPr lang="en-I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A7FCDD-FDE1-1CA7-7098-D23F611EFA14}"/>
              </a:ext>
            </a:extLst>
          </p:cNvPr>
          <p:cNvSpPr txBox="1"/>
          <p:nvPr/>
        </p:nvSpPr>
        <p:spPr>
          <a:xfrm>
            <a:off x="9685176" y="9525"/>
            <a:ext cx="2525874" cy="99818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B495BB88-27AE-4681-99B1-1C780E828FE1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(S\u05AA{B77A30D0-7931-4982-8668-408EA18FF74A}&quot;,&quot;C:\\Users\\LENOVO\\Desktop\\Machine Learning  May-Dec2020\\PPTsNewFormat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accessibilitySettings&quot;:{&quot;enabled&quot;:&quot;T_TRUE&quot;,&quot;language&quot;:&quot;EN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}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11"/>
  <p:tag name="ISPRING_FIRST_PUBLI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20619</TotalTime>
  <Words>1960</Words>
  <Application>Microsoft Office PowerPoint</Application>
  <PresentationFormat>Widescreen</PresentationFormat>
  <Paragraphs>307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Arial</vt:lpstr>
      <vt:lpstr>Arimo</vt:lpstr>
      <vt:lpstr>Calibri</vt:lpstr>
      <vt:lpstr>Calibri Light</vt:lpstr>
      <vt:lpstr>Cambria</vt:lpstr>
      <vt:lpstr>Casper</vt:lpstr>
      <vt:lpstr>Lato</vt:lpstr>
      <vt:lpstr>roboto condensed</vt:lpstr>
      <vt:lpstr>Times New Roman</vt:lpstr>
      <vt:lpstr>Office Theme</vt:lpstr>
      <vt:lpstr>Streamline</vt:lpstr>
      <vt:lpstr>PowerPoint Presentation</vt:lpstr>
      <vt:lpstr>0/1 Knapsack Problem</vt:lpstr>
      <vt:lpstr>0/1 Knapsack Problem Using Dynamic Programming </vt:lpstr>
      <vt:lpstr>PowerPoint Presentation</vt:lpstr>
      <vt:lpstr>Step-03:</vt:lpstr>
      <vt:lpstr>Time Complexity- </vt:lpstr>
      <vt:lpstr>Example</vt:lpstr>
      <vt:lpstr>Example </vt:lpstr>
      <vt:lpstr>Solution</vt:lpstr>
      <vt:lpstr>Working Procedure</vt:lpstr>
      <vt:lpstr>Working procedure</vt:lpstr>
      <vt:lpstr>Working procedure</vt:lpstr>
      <vt:lpstr>Working procedure</vt:lpstr>
      <vt:lpstr>Working procedure</vt:lpstr>
      <vt:lpstr>Working procedure</vt:lpstr>
      <vt:lpstr>Working procedure</vt:lpstr>
      <vt:lpstr>Working procedure</vt:lpstr>
      <vt:lpstr>Working procedure</vt:lpstr>
      <vt:lpstr>Working procedure</vt:lpstr>
      <vt:lpstr>Working procedure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</dc:title>
  <dc:creator>Harmanjit Singh Gahir</dc:creator>
  <cp:lastModifiedBy>SHIVAM DEO</cp:lastModifiedBy>
  <cp:revision>993</cp:revision>
  <dcterms:created xsi:type="dcterms:W3CDTF">2019-05-03T13:26:36Z</dcterms:created>
  <dcterms:modified xsi:type="dcterms:W3CDTF">2025-07-03T07:13:03Z</dcterms:modified>
</cp:coreProperties>
</file>