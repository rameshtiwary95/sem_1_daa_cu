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media/image7.jpg" ContentType="image/jpeg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14"/>
  </p:notesMasterIdLst>
  <p:sldIdLst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2FB914-382C-4B09-995A-DBAB760BE3B9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85D15-3336-475D-8740-E496D3A1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438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28" y="104711"/>
            <a:ext cx="606425" cy="9350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293751"/>
            <a:ext cx="2392680" cy="5853430"/>
          </a:xfrm>
          <a:custGeom>
            <a:avLst/>
            <a:gdLst/>
            <a:ahLst/>
            <a:cxnLst/>
            <a:rect l="l" t="t" r="r" b="b"/>
            <a:pathLst>
              <a:path w="2392680" h="5853430">
                <a:moveTo>
                  <a:pt x="2392680" y="0"/>
                </a:moveTo>
                <a:lnTo>
                  <a:pt x="0" y="2721072"/>
                </a:lnTo>
                <a:lnTo>
                  <a:pt x="0" y="5853049"/>
                </a:lnTo>
                <a:lnTo>
                  <a:pt x="2392680" y="5853049"/>
                </a:lnTo>
                <a:lnTo>
                  <a:pt x="2392680" y="0"/>
                </a:lnTo>
                <a:close/>
              </a:path>
            </a:pathLst>
          </a:custGeom>
          <a:solidFill>
            <a:srgbClr val="D9D9D9">
              <a:alpha val="2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68125" y="5108511"/>
            <a:ext cx="409575" cy="376555"/>
          </a:xfrm>
          <a:custGeom>
            <a:avLst/>
            <a:gdLst/>
            <a:ahLst/>
            <a:cxnLst/>
            <a:rect l="l" t="t" r="r" b="b"/>
            <a:pathLst>
              <a:path w="409575" h="376554">
                <a:moveTo>
                  <a:pt x="409575" y="0"/>
                </a:moveTo>
                <a:lnTo>
                  <a:pt x="0" y="0"/>
                </a:lnTo>
                <a:lnTo>
                  <a:pt x="0" y="376237"/>
                </a:lnTo>
                <a:lnTo>
                  <a:pt x="409575" y="376237"/>
                </a:lnTo>
                <a:lnTo>
                  <a:pt x="40957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69776" y="5535052"/>
            <a:ext cx="407987" cy="118642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58781" y="231127"/>
            <a:ext cx="2500648" cy="68238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62668" y="41008"/>
            <a:ext cx="2515743" cy="682383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0" y="0"/>
            <a:ext cx="12192000" cy="4610100"/>
          </a:xfrm>
          <a:custGeom>
            <a:avLst/>
            <a:gdLst/>
            <a:ahLst/>
            <a:cxnLst/>
            <a:rect l="l" t="t" r="r" b="b"/>
            <a:pathLst>
              <a:path w="12192000" h="4610100">
                <a:moveTo>
                  <a:pt x="0" y="4610100"/>
                </a:moveTo>
                <a:lnTo>
                  <a:pt x="12192000" y="4610100"/>
                </a:lnTo>
                <a:lnTo>
                  <a:pt x="12192000" y="0"/>
                </a:lnTo>
                <a:lnTo>
                  <a:pt x="0" y="0"/>
                </a:lnTo>
                <a:lnTo>
                  <a:pt x="0" y="4610100"/>
                </a:lnTo>
                <a:close/>
              </a:path>
            </a:pathLst>
          </a:custGeom>
          <a:solidFill>
            <a:srgbClr val="385622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347200" y="9525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0" y="0"/>
                </a:moveTo>
                <a:lnTo>
                  <a:pt x="1828800" y="1828800"/>
                </a:lnTo>
              </a:path>
            </a:pathLst>
          </a:custGeom>
          <a:ln w="63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90525" y="5148198"/>
            <a:ext cx="1710055" cy="1710055"/>
          </a:xfrm>
          <a:custGeom>
            <a:avLst/>
            <a:gdLst/>
            <a:ahLst/>
            <a:cxnLst/>
            <a:rect l="l" t="t" r="r" b="b"/>
            <a:pathLst>
              <a:path w="1710055" h="1710054">
                <a:moveTo>
                  <a:pt x="342900" y="1146238"/>
                </a:moveTo>
                <a:lnTo>
                  <a:pt x="901700" y="1705038"/>
                </a:lnTo>
              </a:path>
              <a:path w="1710055" h="1710054">
                <a:moveTo>
                  <a:pt x="0" y="0"/>
                </a:moveTo>
                <a:lnTo>
                  <a:pt x="1709802" y="1709800"/>
                </a:lnTo>
              </a:path>
            </a:pathLst>
          </a:custGeom>
          <a:ln w="63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6115049"/>
            <a:ext cx="800100" cy="738505"/>
          </a:xfrm>
          <a:custGeom>
            <a:avLst/>
            <a:gdLst/>
            <a:ahLst/>
            <a:cxnLst/>
            <a:rect l="l" t="t" r="r" b="b"/>
            <a:pathLst>
              <a:path w="800100" h="738504">
                <a:moveTo>
                  <a:pt x="800100" y="0"/>
                </a:moveTo>
                <a:lnTo>
                  <a:pt x="0" y="0"/>
                </a:lnTo>
                <a:lnTo>
                  <a:pt x="0" y="738187"/>
                </a:lnTo>
                <a:lnTo>
                  <a:pt x="800100" y="738187"/>
                </a:lnTo>
                <a:lnTo>
                  <a:pt x="800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930" y="1697527"/>
            <a:ext cx="3562258" cy="356225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046341" y="0"/>
            <a:ext cx="5146040" cy="6858000"/>
          </a:xfrm>
          <a:custGeom>
            <a:avLst/>
            <a:gdLst/>
            <a:ahLst/>
            <a:cxnLst/>
            <a:rect l="l" t="t" r="r" b="b"/>
            <a:pathLst>
              <a:path w="5146040" h="6858000">
                <a:moveTo>
                  <a:pt x="5145659" y="0"/>
                </a:moveTo>
                <a:lnTo>
                  <a:pt x="5088483" y="0"/>
                </a:lnTo>
                <a:lnTo>
                  <a:pt x="0" y="5788114"/>
                </a:lnTo>
                <a:lnTo>
                  <a:pt x="3349117" y="5788114"/>
                </a:lnTo>
                <a:lnTo>
                  <a:pt x="3349117" y="6858000"/>
                </a:lnTo>
                <a:lnTo>
                  <a:pt x="3366909" y="6858000"/>
                </a:lnTo>
                <a:lnTo>
                  <a:pt x="4560697" y="5788114"/>
                </a:lnTo>
                <a:lnTo>
                  <a:pt x="5145659" y="5788114"/>
                </a:lnTo>
                <a:lnTo>
                  <a:pt x="5145659" y="0"/>
                </a:lnTo>
                <a:close/>
              </a:path>
            </a:pathLst>
          </a:custGeom>
          <a:solidFill>
            <a:srgbClr val="F1F1F1">
              <a:alpha val="1607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4075" y="2025523"/>
            <a:ext cx="6829552" cy="158076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814052" y="5239003"/>
            <a:ext cx="2366645" cy="1600835"/>
          </a:xfrm>
          <a:custGeom>
            <a:avLst/>
            <a:gdLst/>
            <a:ahLst/>
            <a:cxnLst/>
            <a:rect l="l" t="t" r="r" b="b"/>
            <a:pathLst>
              <a:path w="2366645" h="1600834">
                <a:moveTo>
                  <a:pt x="2366391" y="0"/>
                </a:moveTo>
                <a:lnTo>
                  <a:pt x="0" y="1600395"/>
                </a:lnTo>
                <a:lnTo>
                  <a:pt x="2366391" y="1600395"/>
                </a:lnTo>
                <a:lnTo>
                  <a:pt x="236639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507987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219170" marR="0" lvl="1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74121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09" y="29379"/>
            <a:ext cx="869748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3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972836" y="4230533"/>
            <a:ext cx="10250800" cy="7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3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05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1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0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45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18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200" cy="21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86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600" cy="3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76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2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2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200" cy="40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40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200" cy="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31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200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200" cy="21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9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971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543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93FAF54-20DC-4504-9D6F-5A8CDCDE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2FCCCA1-087E-48E3-B417-9B7CDA33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B72714-91A9-47D6-A443-A1C1FFFC4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3A879-0F7F-4841-9BE3-E2961026FE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07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128" y="104711"/>
            <a:ext cx="606425" cy="9350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293751"/>
            <a:ext cx="2392680" cy="5853430"/>
          </a:xfrm>
          <a:custGeom>
            <a:avLst/>
            <a:gdLst/>
            <a:ahLst/>
            <a:cxnLst/>
            <a:rect l="l" t="t" r="r" b="b"/>
            <a:pathLst>
              <a:path w="2392680" h="5853430">
                <a:moveTo>
                  <a:pt x="2392680" y="0"/>
                </a:moveTo>
                <a:lnTo>
                  <a:pt x="0" y="2721072"/>
                </a:lnTo>
                <a:lnTo>
                  <a:pt x="0" y="5853049"/>
                </a:lnTo>
                <a:lnTo>
                  <a:pt x="2392680" y="5853049"/>
                </a:lnTo>
                <a:lnTo>
                  <a:pt x="2392680" y="0"/>
                </a:lnTo>
                <a:close/>
              </a:path>
            </a:pathLst>
          </a:custGeom>
          <a:solidFill>
            <a:srgbClr val="D9D9D9">
              <a:alpha val="2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68125" y="5108511"/>
            <a:ext cx="409575" cy="376555"/>
          </a:xfrm>
          <a:custGeom>
            <a:avLst/>
            <a:gdLst/>
            <a:ahLst/>
            <a:cxnLst/>
            <a:rect l="l" t="t" r="r" b="b"/>
            <a:pathLst>
              <a:path w="409575" h="376554">
                <a:moveTo>
                  <a:pt x="409575" y="0"/>
                </a:moveTo>
                <a:lnTo>
                  <a:pt x="0" y="0"/>
                </a:lnTo>
                <a:lnTo>
                  <a:pt x="0" y="376237"/>
                </a:lnTo>
                <a:lnTo>
                  <a:pt x="409575" y="376237"/>
                </a:lnTo>
                <a:lnTo>
                  <a:pt x="40957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669776" y="5535052"/>
            <a:ext cx="407987" cy="118642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58781" y="231127"/>
            <a:ext cx="2500648" cy="6823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7054" y="2177542"/>
            <a:ext cx="4946650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184909"/>
            <a:ext cx="6704965" cy="1391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7259" y="6447704"/>
            <a:ext cx="215900" cy="19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573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data_structures_algorithms/divide_and_conquer.ht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7" y="1623357"/>
            <a:ext cx="3710644" cy="371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8763000" y="65087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l" defTabSz="1219170" rtl="0">
              <a:buClr>
                <a:srgbClr val="000000"/>
              </a:buClr>
              <a:buSzPts val="1800"/>
            </a:pPr>
            <a:endParaRPr sz="240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10395517" y="5716751"/>
            <a:ext cx="1291200" cy="1157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l" defTabSz="1219170" rtl="0">
              <a:buClr>
                <a:srgbClr val="000000"/>
              </a:buClr>
              <a:buSzPts val="1800"/>
            </a:pPr>
            <a:endParaRPr sz="240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7046399" y="-65087"/>
            <a:ext cx="5145600" cy="5853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l" defTabSz="1219170" rtl="0">
              <a:buClr>
                <a:srgbClr val="000000"/>
              </a:buClr>
              <a:buSzPts val="1800"/>
            </a:pPr>
            <a:endParaRPr sz="240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124075" y="2025527"/>
            <a:ext cx="6829600" cy="1580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 rtl="0">
              <a:buClr>
                <a:srgbClr val="FFFFFF"/>
              </a:buClr>
              <a:buSzPts val="1800"/>
            </a:pP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9814000" y="5239000"/>
            <a:ext cx="2366400" cy="16004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l" defTabSz="1219170" rtl="0">
              <a:buClr>
                <a:srgbClr val="000000"/>
              </a:buClr>
              <a:buSzPts val="1800"/>
            </a:pPr>
            <a:endParaRPr sz="240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914400" y="789896"/>
            <a:ext cx="10951200" cy="6228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919480" marR="848994" algn="ctr">
              <a:lnSpc>
                <a:spcPct val="119800"/>
              </a:lnSpc>
              <a:spcBef>
                <a:spcPts val="90"/>
              </a:spcBef>
            </a:pPr>
            <a:r>
              <a:rPr lang="en-US" sz="4400" b="1" dirty="0">
                <a:solidFill>
                  <a:srgbClr val="1A1A1A"/>
                </a:solidFill>
                <a:latin typeface="Calibri"/>
                <a:cs typeface="Calibri"/>
              </a:rPr>
              <a:t>UNIVERSITY</a:t>
            </a:r>
            <a:r>
              <a:rPr lang="en-US" sz="4400" b="1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4400" b="1" dirty="0">
                <a:solidFill>
                  <a:srgbClr val="1A1A1A"/>
                </a:solidFill>
                <a:latin typeface="Calibri"/>
                <a:cs typeface="Calibri"/>
              </a:rPr>
              <a:t>INSTITUTE</a:t>
            </a:r>
            <a:r>
              <a:rPr lang="en-US" sz="4400" b="1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4400" b="1" dirty="0">
                <a:solidFill>
                  <a:srgbClr val="1A1A1A"/>
                </a:solidFill>
                <a:latin typeface="Calibri"/>
                <a:cs typeface="Calibri"/>
              </a:rPr>
              <a:t>OF </a:t>
            </a:r>
            <a:r>
              <a:rPr lang="en-US" sz="4400" b="1" spc="-10" dirty="0">
                <a:solidFill>
                  <a:srgbClr val="1A1A1A"/>
                </a:solidFill>
                <a:latin typeface="Calibri"/>
                <a:cs typeface="Calibri"/>
              </a:rPr>
              <a:t>COMPUTING </a:t>
            </a:r>
            <a:r>
              <a:rPr lang="en-US" sz="4400" b="1" dirty="0">
                <a:solidFill>
                  <a:srgbClr val="1A1A1A"/>
                </a:solidFill>
                <a:latin typeface="Calibri"/>
                <a:cs typeface="Calibri"/>
              </a:rPr>
              <a:t>MASTER</a:t>
            </a:r>
            <a:r>
              <a:rPr lang="en-US" sz="4400" b="1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4400" b="1" dirty="0">
                <a:solidFill>
                  <a:srgbClr val="1A1A1A"/>
                </a:solidFill>
                <a:latin typeface="Calibri"/>
                <a:cs typeface="Calibri"/>
              </a:rPr>
              <a:t>OF</a:t>
            </a:r>
            <a:r>
              <a:rPr lang="en-US" sz="4400" b="1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4400" b="1" dirty="0">
                <a:solidFill>
                  <a:srgbClr val="1A1A1A"/>
                </a:solidFill>
                <a:latin typeface="Calibri"/>
                <a:cs typeface="Calibri"/>
              </a:rPr>
              <a:t>COMPUTER</a:t>
            </a:r>
            <a:r>
              <a:rPr lang="en-US" sz="4400" b="1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4400" b="1" spc="-10" dirty="0">
                <a:solidFill>
                  <a:srgbClr val="1A1A1A"/>
                </a:solidFill>
                <a:latin typeface="Calibri"/>
                <a:cs typeface="Calibri"/>
              </a:rPr>
              <a:t>APPLICATIONS</a:t>
            </a:r>
            <a:endParaRPr lang="en-US" sz="4400" b="1" spc="-10" dirty="0">
              <a:latin typeface="Calibri"/>
              <a:cs typeface="Calibri"/>
            </a:endParaRPr>
          </a:p>
          <a:p>
            <a:pPr marL="919480" marR="848994" algn="ctr">
              <a:lnSpc>
                <a:spcPct val="119800"/>
              </a:lnSpc>
              <a:spcBef>
                <a:spcPts val="90"/>
              </a:spcBef>
            </a:pPr>
            <a:r>
              <a:rPr lang="en-US" sz="2800" dirty="0">
                <a:solidFill>
                  <a:srgbClr val="1A1A1A"/>
                </a:solidFill>
                <a:latin typeface="Calibri"/>
                <a:cs typeface="Calibri"/>
              </a:rPr>
              <a:t>DESIGN</a:t>
            </a:r>
            <a:r>
              <a:rPr lang="en-US" sz="28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lang="en-US" sz="2800" spc="-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1A1A1A"/>
                </a:solidFill>
                <a:latin typeface="Calibri"/>
                <a:cs typeface="Calibri"/>
              </a:rPr>
              <a:t>ANALYSIS</a:t>
            </a:r>
            <a:r>
              <a:rPr lang="en-US" sz="2800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1A1A1A"/>
                </a:solidFill>
                <a:latin typeface="Calibri"/>
                <a:cs typeface="Calibri"/>
              </a:rPr>
              <a:t>OF </a:t>
            </a:r>
            <a:r>
              <a:rPr lang="en-US" sz="2800" spc="-10" dirty="0">
                <a:solidFill>
                  <a:srgbClr val="1A1A1A"/>
                </a:solidFill>
                <a:latin typeface="Calibri"/>
                <a:cs typeface="Calibri"/>
              </a:rPr>
              <a:t>ALGORITHMS </a:t>
            </a:r>
          </a:p>
          <a:p>
            <a:pPr marL="919480" marR="848994" algn="ctr">
              <a:lnSpc>
                <a:spcPct val="119800"/>
              </a:lnSpc>
              <a:spcBef>
                <a:spcPts val="90"/>
              </a:spcBef>
            </a:pPr>
            <a:r>
              <a:rPr lang="en-US" sz="2800" dirty="0">
                <a:solidFill>
                  <a:srgbClr val="1A1A1A"/>
                </a:solidFill>
                <a:latin typeface="Calibri"/>
                <a:cs typeface="Calibri"/>
              </a:rPr>
              <a:t>25</a:t>
            </a:r>
            <a:r>
              <a:rPr lang="en-US" sz="28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1A1A1A"/>
                </a:solidFill>
                <a:latin typeface="Calibri"/>
                <a:cs typeface="Calibri"/>
              </a:rPr>
              <a:t>CAT </a:t>
            </a:r>
            <a:r>
              <a:rPr lang="en-US" sz="2800" spc="-25" dirty="0">
                <a:solidFill>
                  <a:srgbClr val="1A1A1A"/>
                </a:solidFill>
                <a:latin typeface="Calibri"/>
                <a:cs typeface="Calibri"/>
              </a:rPr>
              <a:t>611</a:t>
            </a:r>
            <a:endParaRPr lang="en-US" sz="2800" dirty="0">
              <a:latin typeface="Calibri"/>
              <a:cs typeface="Calibri"/>
            </a:endParaRPr>
          </a:p>
          <a:p>
            <a:pPr marL="57150" algn="ctr">
              <a:lnSpc>
                <a:spcPct val="100000"/>
              </a:lnSpc>
              <a:spcBef>
                <a:spcPts val="1510"/>
              </a:spcBef>
              <a:tabLst>
                <a:tab pos="1249045" algn="l"/>
                <a:tab pos="2768600" algn="l"/>
                <a:tab pos="4427220" algn="l"/>
              </a:tabLst>
            </a:pPr>
            <a:r>
              <a:rPr lang="en-US" sz="2800" b="1" dirty="0">
                <a:latin typeface="Calibri"/>
                <a:cs typeface="Calibri"/>
              </a:rPr>
              <a:t>Unit</a:t>
            </a:r>
            <a:r>
              <a:rPr lang="en-US" sz="2800" b="1" spc="-15" dirty="0">
                <a:latin typeface="Calibri"/>
                <a:cs typeface="Calibri"/>
              </a:rPr>
              <a:t> </a:t>
            </a:r>
            <a:r>
              <a:rPr lang="en-US" sz="2800" b="1" spc="-25" dirty="0">
                <a:latin typeface="Calibri"/>
                <a:cs typeface="Calibri"/>
              </a:rPr>
              <a:t>No. </a:t>
            </a:r>
            <a:r>
              <a:rPr lang="en-US" sz="2800" b="1" spc="-50" dirty="0">
                <a:latin typeface="Calibri"/>
                <a:cs typeface="Calibri"/>
              </a:rPr>
              <a:t>3</a:t>
            </a:r>
            <a:r>
              <a:rPr lang="en-US" sz="2800" b="1" dirty="0">
                <a:latin typeface="Calibri"/>
                <a:cs typeface="Calibri"/>
              </a:rPr>
              <a:t>	Chapter</a:t>
            </a:r>
            <a:r>
              <a:rPr lang="en-US" sz="2800" b="1" spc="-80" dirty="0">
                <a:latin typeface="Calibri"/>
                <a:cs typeface="Calibri"/>
              </a:rPr>
              <a:t> </a:t>
            </a:r>
            <a:r>
              <a:rPr lang="en-US" sz="2800" b="1" spc="-25" dirty="0">
                <a:latin typeface="Calibri"/>
                <a:cs typeface="Calibri"/>
              </a:rPr>
              <a:t>No.</a:t>
            </a:r>
            <a:r>
              <a:rPr lang="en-US" sz="2800" b="1" dirty="0">
                <a:latin typeface="Calibri"/>
                <a:cs typeface="Calibri"/>
              </a:rPr>
              <a:t>	</a:t>
            </a:r>
            <a:r>
              <a:rPr lang="en-US" sz="2800" b="1" spc="-10" dirty="0">
                <a:latin typeface="Calibri"/>
                <a:cs typeface="Calibri"/>
              </a:rPr>
              <a:t>3.2.6</a:t>
            </a:r>
            <a:endParaRPr lang="en-US"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lang="en-US" sz="2400" b="1" dirty="0">
                <a:latin typeface="Calibri"/>
                <a:cs typeface="Calibri"/>
              </a:rPr>
              <a:t>Topic</a:t>
            </a:r>
            <a:r>
              <a:rPr lang="en-US" sz="2400" b="1" spc="-3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:</a:t>
            </a:r>
            <a:r>
              <a:rPr lang="en-US" sz="2400" b="1" spc="-15" dirty="0"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1A1A1A"/>
                </a:solidFill>
                <a:latin typeface="Calibri"/>
                <a:cs typeface="Calibri"/>
              </a:rPr>
              <a:t>SUM</a:t>
            </a:r>
            <a:r>
              <a:rPr lang="en-US" sz="24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1A1A1A"/>
                </a:solidFill>
                <a:latin typeface="Calibri"/>
                <a:cs typeface="Calibri"/>
              </a:rPr>
              <a:t>OF</a:t>
            </a:r>
            <a:r>
              <a:rPr lang="en-US" sz="2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1A1A1A"/>
                </a:solidFill>
                <a:latin typeface="Calibri"/>
                <a:cs typeface="Calibri"/>
              </a:rPr>
              <a:t>SUBSETS</a:t>
            </a:r>
            <a:r>
              <a:rPr lang="en-US" sz="24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1A1A1A"/>
                </a:solidFill>
                <a:latin typeface="Calibri"/>
                <a:cs typeface="Calibri"/>
              </a:rPr>
              <a:t>PROBLEM</a:t>
            </a: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lang="en-US" sz="2400" b="1" dirty="0">
                <a:latin typeface="Calibri"/>
                <a:cs typeface="Calibri"/>
              </a:rPr>
              <a:t>Faculty</a:t>
            </a:r>
            <a:r>
              <a:rPr lang="en-US" sz="2400" b="1" spc="-3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Name</a:t>
            </a:r>
            <a:r>
              <a:rPr lang="en-US" sz="2400" b="1" spc="-5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and</a:t>
            </a:r>
            <a:r>
              <a:rPr lang="en-US" sz="2400" b="1" spc="-30" dirty="0">
                <a:latin typeface="Calibri"/>
                <a:cs typeface="Calibri"/>
              </a:rPr>
              <a:t> </a:t>
            </a:r>
            <a:r>
              <a:rPr lang="en-US" sz="2400" b="1" spc="-10" dirty="0" err="1">
                <a:latin typeface="Calibri"/>
                <a:cs typeface="Calibri"/>
              </a:rPr>
              <a:t>E_Code</a:t>
            </a:r>
            <a:r>
              <a:rPr lang="en-US" sz="2400" b="1" dirty="0">
                <a:latin typeface="Calibri"/>
                <a:cs typeface="Calibri"/>
              </a:rPr>
              <a:t>	Dr.</a:t>
            </a:r>
            <a:r>
              <a:rPr lang="en-US" sz="2400" b="1" spc="-2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Sameera(17674)</a:t>
            </a:r>
            <a:r>
              <a:rPr lang="en-US" sz="2400" b="1" dirty="0">
                <a:latin typeface="Calibri"/>
                <a:cs typeface="Calibri"/>
              </a:rPr>
              <a:t>	Designation:</a:t>
            </a:r>
            <a:r>
              <a:rPr lang="en-US" sz="2400" b="1" spc="-10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Asst.</a:t>
            </a:r>
            <a:r>
              <a:rPr lang="en-US" sz="2400" b="1" spc="-100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Professor</a:t>
            </a:r>
            <a:endParaRPr lang="en-US" sz="2400" dirty="0">
              <a:latin typeface="Calibri"/>
              <a:cs typeface="Calibri"/>
            </a:endParaRPr>
          </a:p>
          <a:p>
            <a:pPr algn="l" defTabSz="1219170" rtl="0">
              <a:spcBef>
                <a:spcPts val="1493"/>
              </a:spcBef>
              <a:buClr>
                <a:srgbClr val="000000"/>
              </a:buClr>
              <a:buSzPts val="3200"/>
            </a:pPr>
            <a:endParaRPr lang="en-US" sz="4267" b="1" dirty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7046401" y="0"/>
            <a:ext cx="5145599" cy="789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 rtl="0">
              <a:buClr>
                <a:srgbClr val="000000"/>
              </a:buClr>
            </a:pPr>
            <a:r>
              <a:rPr lang="en-IN" sz="2400" b="1" dirty="0">
                <a:solidFill>
                  <a:srgbClr val="FFFFFF">
                    <a:lumMod val="6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Academic Session 2025-26 </a:t>
            </a:r>
          </a:p>
          <a:p>
            <a:pPr algn="r" defTabSz="1219170" rtl="0">
              <a:buClr>
                <a:srgbClr val="000000"/>
              </a:buClr>
            </a:pPr>
            <a:r>
              <a:rPr lang="en-IN" sz="2133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05950" y="134873"/>
            <a:ext cx="2581275" cy="904875"/>
          </a:xfrm>
          <a:custGeom>
            <a:avLst/>
            <a:gdLst/>
            <a:ahLst/>
            <a:cxnLst/>
            <a:rect l="l" t="t" r="r" b="b"/>
            <a:pathLst>
              <a:path w="2581275" h="904875">
                <a:moveTo>
                  <a:pt x="2581275" y="0"/>
                </a:moveTo>
                <a:lnTo>
                  <a:pt x="0" y="0"/>
                </a:lnTo>
                <a:lnTo>
                  <a:pt x="0" y="904875"/>
                </a:lnTo>
                <a:lnTo>
                  <a:pt x="2581275" y="904875"/>
                </a:lnTo>
                <a:lnTo>
                  <a:pt x="25812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35001"/>
            <a:ext cx="8729980" cy="9048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70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45"/>
              </a:spcBef>
            </a:pPr>
            <a:r>
              <a:rPr sz="3200" b="1" dirty="0">
                <a:solidFill>
                  <a:srgbClr val="001F5F"/>
                </a:solidFill>
                <a:latin typeface="Times New Roman"/>
                <a:cs typeface="Times New Roman"/>
              </a:rPr>
              <a:t>SUM</a:t>
            </a:r>
            <a:r>
              <a:rPr sz="32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3200" b="1" spc="-1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1F5F"/>
                </a:solidFill>
                <a:latin typeface="Times New Roman"/>
                <a:cs typeface="Times New Roman"/>
              </a:rPr>
              <a:t>SUBSETS</a:t>
            </a:r>
            <a:r>
              <a:rPr sz="32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PROBLEM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47711"/>
            <a:ext cx="11222355" cy="4900930"/>
          </a:xfrm>
          <a:custGeom>
            <a:avLst/>
            <a:gdLst/>
            <a:ahLst/>
            <a:cxnLst/>
            <a:rect l="l" t="t" r="r" b="b"/>
            <a:pathLst>
              <a:path w="11222355" h="4900930">
                <a:moveTo>
                  <a:pt x="0" y="4900676"/>
                </a:moveTo>
                <a:lnTo>
                  <a:pt x="11222101" y="4900676"/>
                </a:lnTo>
                <a:lnTo>
                  <a:pt x="11222101" y="0"/>
                </a:lnTo>
                <a:lnTo>
                  <a:pt x="0" y="0"/>
                </a:lnTo>
                <a:lnTo>
                  <a:pt x="0" y="490067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1233932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635000" y="1460957"/>
            <a:ext cx="9830435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algorithm,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demonstrates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sometimes</a:t>
            </a:r>
            <a:r>
              <a:rPr sz="2400" spc="3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previous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re-</a:t>
            </a:r>
            <a:r>
              <a:rPr sz="2400" dirty="0">
                <a:latin typeface="Times New Roman"/>
                <a:cs typeface="Times New Roman"/>
              </a:rPr>
              <a:t>evaluate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previous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order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solve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spc="-10" dirty="0">
                <a:latin typeface="Times New Roman"/>
                <a:cs typeface="Times New Roman"/>
              </a:rPr>
              <a:t>problem.</a:t>
            </a:r>
            <a:endParaRPr sz="2400">
              <a:latin typeface="Times New Roman"/>
              <a:cs typeface="Times New Roman"/>
            </a:endParaRPr>
          </a:p>
          <a:p>
            <a:pPr marL="12700" marR="6350">
              <a:lnSpc>
                <a:spcPct val="100000"/>
              </a:lnSpc>
              <a:spcBef>
                <a:spcPts val="5"/>
              </a:spcBef>
              <a:tabLst>
                <a:tab pos="572135" algn="l"/>
                <a:tab pos="1419225" algn="l"/>
                <a:tab pos="1728470" algn="l"/>
                <a:tab pos="2212975" algn="l"/>
                <a:tab pos="3216275" algn="l"/>
                <a:tab pos="3393440" algn="l"/>
                <a:tab pos="4737100" algn="l"/>
                <a:tab pos="5076190" algn="l"/>
                <a:tab pos="5449570" algn="l"/>
                <a:tab pos="5754370" algn="l"/>
                <a:tab pos="6319520" algn="l"/>
                <a:tab pos="6482715" algn="l"/>
                <a:tab pos="7633334" algn="l"/>
                <a:tab pos="8157845" algn="l"/>
                <a:tab pos="8700135" algn="l"/>
                <a:tab pos="9220200" algn="l"/>
              </a:tabLst>
            </a:pPr>
            <a:r>
              <a:rPr sz="2400" b="1" dirty="0">
                <a:latin typeface="Times New Roman"/>
                <a:cs typeface="Times New Roman"/>
              </a:rPr>
              <a:t>Backtracking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general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algorithmic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technique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considers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searching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every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combination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order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solve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optimization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problem.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Backtracking </a:t>
            </a: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depth-</a:t>
            </a:r>
            <a:r>
              <a:rPr sz="2400" b="1" dirty="0">
                <a:latin typeface="Times New Roman"/>
                <a:cs typeface="Times New Roman"/>
              </a:rPr>
              <a:t>first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search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approach.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inserting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knowledge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spc="6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problem,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search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tree</a:t>
            </a:r>
            <a:r>
              <a:rPr sz="2400" dirty="0">
                <a:latin typeface="Times New Roman"/>
                <a:cs typeface="Times New Roman"/>
              </a:rPr>
              <a:t>	can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pruned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avoid</a:t>
            </a:r>
            <a:r>
              <a:rPr sz="2400" dirty="0">
                <a:latin typeface="Times New Roman"/>
                <a:cs typeface="Times New Roman"/>
              </a:rPr>
              <a:t>	considering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cases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don't </a:t>
            </a:r>
            <a:r>
              <a:rPr sz="2400" dirty="0">
                <a:latin typeface="Times New Roman"/>
                <a:cs typeface="Times New Roman"/>
              </a:rPr>
              <a:t>look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promising.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backtracking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useful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hard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do not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know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more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efficient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spc="-10" dirty="0">
                <a:latin typeface="Times New Roman"/>
                <a:cs typeface="Times New Roman"/>
              </a:rPr>
              <a:t>solutions,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poor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spc="-10" dirty="0">
                <a:latin typeface="Times New Roman"/>
                <a:cs typeface="Times New Roman"/>
              </a:rPr>
              <a:t>solution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everyday </a:t>
            </a:r>
            <a:r>
              <a:rPr sz="2400" dirty="0">
                <a:latin typeface="Times New Roman"/>
                <a:cs typeface="Times New Roman"/>
              </a:rPr>
              <a:t>problems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techniques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much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better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solving.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44050" y="134873"/>
            <a:ext cx="2647950" cy="904875"/>
          </a:xfrm>
          <a:custGeom>
            <a:avLst/>
            <a:gdLst/>
            <a:ahLst/>
            <a:cxnLst/>
            <a:rect l="l" t="t" r="r" b="b"/>
            <a:pathLst>
              <a:path w="2647950" h="904875">
                <a:moveTo>
                  <a:pt x="2647950" y="0"/>
                </a:moveTo>
                <a:lnTo>
                  <a:pt x="0" y="0"/>
                </a:lnTo>
                <a:lnTo>
                  <a:pt x="0" y="904875"/>
                </a:lnTo>
                <a:lnTo>
                  <a:pt x="2647950" y="904875"/>
                </a:lnTo>
                <a:lnTo>
                  <a:pt x="2647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35001"/>
            <a:ext cx="8729980" cy="9048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marL="884555">
              <a:lnSpc>
                <a:spcPct val="100000"/>
              </a:lnSpc>
              <a:spcBef>
                <a:spcPts val="1065"/>
              </a:spcBef>
            </a:pPr>
            <a:r>
              <a:rPr sz="3600" b="1" dirty="0">
                <a:solidFill>
                  <a:srgbClr val="001F5F"/>
                </a:solidFill>
                <a:latin typeface="Times New Roman"/>
                <a:cs typeface="Times New Roman"/>
              </a:rPr>
              <a:t>Sum</a:t>
            </a:r>
            <a:r>
              <a:rPr sz="36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36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1F5F"/>
                </a:solidFill>
                <a:latin typeface="Times New Roman"/>
                <a:cs typeface="Times New Roman"/>
              </a:rPr>
              <a:t>Subsets</a:t>
            </a:r>
            <a:r>
              <a:rPr sz="36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1F5F"/>
                </a:solidFill>
                <a:latin typeface="Times New Roman"/>
                <a:cs typeface="Times New Roman"/>
              </a:rPr>
              <a:t>Using</a:t>
            </a:r>
            <a:r>
              <a:rPr sz="36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Backtracking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47711"/>
            <a:ext cx="11222355" cy="4900930"/>
          </a:xfrm>
          <a:custGeom>
            <a:avLst/>
            <a:gdLst/>
            <a:ahLst/>
            <a:cxnLst/>
            <a:rect l="l" t="t" r="r" b="b"/>
            <a:pathLst>
              <a:path w="11222355" h="4900930">
                <a:moveTo>
                  <a:pt x="0" y="4900676"/>
                </a:moveTo>
                <a:lnTo>
                  <a:pt x="11222101" y="4900676"/>
                </a:lnTo>
                <a:lnTo>
                  <a:pt x="11222101" y="0"/>
                </a:lnTo>
                <a:lnTo>
                  <a:pt x="0" y="0"/>
                </a:lnTo>
                <a:lnTo>
                  <a:pt x="0" y="490067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1144016"/>
            <a:ext cx="6684009" cy="458787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Subset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sum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problem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find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subset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elements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selected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from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given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whose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sum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adds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up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given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number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Ex: </a:t>
            </a:r>
            <a:r>
              <a:rPr sz="2400" b="1" spc="-10" dirty="0">
                <a:latin typeface="Times New Roman"/>
                <a:cs typeface="Times New Roman"/>
              </a:rPr>
              <a:t>let</a:t>
            </a:r>
            <a:r>
              <a:rPr sz="2400" b="1" spc="-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 a </a:t>
            </a:r>
            <a:r>
              <a:rPr sz="2400" b="1" spc="-25" dirty="0">
                <a:latin typeface="Times New Roman"/>
                <a:cs typeface="Times New Roman"/>
              </a:rPr>
              <a:t>set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A={5,7,10,12,15,18,20}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given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sum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m=35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so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have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following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subsets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add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up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35</a:t>
            </a:r>
            <a:r>
              <a:rPr sz="2400" b="1" spc="-20" dirty="0">
                <a:latin typeface="Times New Roman"/>
                <a:cs typeface="Times New Roman"/>
              </a:rPr>
              <a:t> are: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{15,20},{18,7,10},{5,10,20},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{18,12,5}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5000" y="180975"/>
            <a:ext cx="2581275" cy="895350"/>
          </a:xfrm>
          <a:custGeom>
            <a:avLst/>
            <a:gdLst/>
            <a:ahLst/>
            <a:cxnLst/>
            <a:rect l="l" t="t" r="r" b="b"/>
            <a:pathLst>
              <a:path w="2581275" h="895350">
                <a:moveTo>
                  <a:pt x="2581275" y="0"/>
                </a:moveTo>
                <a:lnTo>
                  <a:pt x="0" y="0"/>
                </a:lnTo>
                <a:lnTo>
                  <a:pt x="0" y="895350"/>
                </a:lnTo>
                <a:lnTo>
                  <a:pt x="2581275" y="895350"/>
                </a:lnTo>
                <a:lnTo>
                  <a:pt x="25812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0" y="1311211"/>
            <a:ext cx="10515600" cy="43516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8770" indent="-227329">
              <a:lnSpc>
                <a:spcPts val="3285"/>
              </a:lnSpc>
              <a:buClr>
                <a:srgbClr val="FF0000"/>
              </a:buClr>
              <a:buFont typeface="Arial MT"/>
              <a:buChar char="•"/>
              <a:tabLst>
                <a:tab pos="318770" algn="l"/>
              </a:tabLst>
            </a:pPr>
            <a:r>
              <a:rPr sz="2800" spc="-5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92707" y="450735"/>
            <a:ext cx="7280909" cy="7080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sz="4000" b="1" dirty="0">
                <a:solidFill>
                  <a:srgbClr val="000000"/>
                </a:solidFill>
                <a:latin typeface="Calibri"/>
                <a:cs typeface="Calibri"/>
              </a:rPr>
              <a:t>Assumption</a:t>
            </a:r>
            <a:r>
              <a:rPr sz="4000" b="1" spc="-1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4000" b="1" spc="-1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0000"/>
                </a:solidFill>
                <a:latin typeface="Calibri"/>
                <a:cs typeface="Calibri"/>
              </a:rPr>
              <a:t>considerations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147" y="1990725"/>
            <a:ext cx="7589774" cy="143827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6115049"/>
            <a:ext cx="1009650" cy="742950"/>
          </a:xfrm>
          <a:custGeom>
            <a:avLst/>
            <a:gdLst/>
            <a:ahLst/>
            <a:cxnLst/>
            <a:rect l="l" t="t" r="r" b="b"/>
            <a:pathLst>
              <a:path w="1009650" h="742950">
                <a:moveTo>
                  <a:pt x="1009650" y="0"/>
                </a:moveTo>
                <a:lnTo>
                  <a:pt x="0" y="0"/>
                </a:lnTo>
                <a:lnTo>
                  <a:pt x="0" y="742949"/>
                </a:lnTo>
                <a:lnTo>
                  <a:pt x="1009650" y="742949"/>
                </a:lnTo>
                <a:lnTo>
                  <a:pt x="10096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5000" y="219138"/>
            <a:ext cx="2533650" cy="821055"/>
          </a:xfrm>
          <a:custGeom>
            <a:avLst/>
            <a:gdLst/>
            <a:ahLst/>
            <a:cxnLst/>
            <a:rect l="l" t="t" r="r" b="b"/>
            <a:pathLst>
              <a:path w="2533650" h="821055">
                <a:moveTo>
                  <a:pt x="2533650" y="0"/>
                </a:moveTo>
                <a:lnTo>
                  <a:pt x="0" y="0"/>
                </a:lnTo>
                <a:lnTo>
                  <a:pt x="0" y="820737"/>
                </a:lnTo>
                <a:lnTo>
                  <a:pt x="2533650" y="820737"/>
                </a:lnTo>
                <a:lnTo>
                  <a:pt x="25336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3033" y="135001"/>
            <a:ext cx="7976870" cy="9048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marL="425450">
              <a:lnSpc>
                <a:spcPct val="100000"/>
              </a:lnSpc>
              <a:spcBef>
                <a:spcPts val="1065"/>
              </a:spcBef>
            </a:pPr>
            <a:r>
              <a:rPr sz="3600" b="1" dirty="0">
                <a:solidFill>
                  <a:srgbClr val="001F5F"/>
                </a:solidFill>
                <a:latin typeface="Times New Roman"/>
                <a:cs typeface="Times New Roman"/>
              </a:rPr>
              <a:t>Solution</a:t>
            </a:r>
            <a:r>
              <a:rPr sz="36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1F5F"/>
                </a:solidFill>
                <a:latin typeface="Times New Roman"/>
                <a:cs typeface="Times New Roman"/>
              </a:rPr>
              <a:t>Using </a:t>
            </a:r>
            <a:r>
              <a:rPr sz="36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NAÏVE</a:t>
            </a:r>
            <a:r>
              <a:rPr sz="3600" b="1" spc="-2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APPROACH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2277" y="1307388"/>
            <a:ext cx="7305167" cy="480783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6115227"/>
            <a:ext cx="838200" cy="742950"/>
          </a:xfrm>
          <a:custGeom>
            <a:avLst/>
            <a:gdLst/>
            <a:ahLst/>
            <a:cxnLst/>
            <a:rect l="l" t="t" r="r" b="b"/>
            <a:pathLst>
              <a:path w="838200" h="742950">
                <a:moveTo>
                  <a:pt x="838200" y="0"/>
                </a:moveTo>
                <a:lnTo>
                  <a:pt x="0" y="0"/>
                </a:lnTo>
                <a:lnTo>
                  <a:pt x="0" y="742772"/>
                </a:lnTo>
                <a:lnTo>
                  <a:pt x="838200" y="742772"/>
                </a:lnTo>
                <a:lnTo>
                  <a:pt x="838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20225" y="134886"/>
            <a:ext cx="2743200" cy="1139190"/>
          </a:xfrm>
          <a:custGeom>
            <a:avLst/>
            <a:gdLst/>
            <a:ahLst/>
            <a:cxnLst/>
            <a:rect l="l" t="t" r="r" b="b"/>
            <a:pathLst>
              <a:path w="2743200" h="1139190">
                <a:moveTo>
                  <a:pt x="2743200" y="0"/>
                </a:moveTo>
                <a:lnTo>
                  <a:pt x="0" y="0"/>
                </a:lnTo>
                <a:lnTo>
                  <a:pt x="0" y="1138923"/>
                </a:lnTo>
                <a:lnTo>
                  <a:pt x="2743200" y="1138923"/>
                </a:lnTo>
                <a:lnTo>
                  <a:pt x="2743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7501" y="135001"/>
            <a:ext cx="7842250" cy="9048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70815" rIns="0" bIns="0" rtlCol="0">
            <a:spAutoFit/>
          </a:bodyPr>
          <a:lstStyle/>
          <a:p>
            <a:pPr marL="751840">
              <a:lnSpc>
                <a:spcPct val="100000"/>
              </a:lnSpc>
              <a:spcBef>
                <a:spcPts val="1345"/>
              </a:spcBef>
            </a:pPr>
            <a:r>
              <a:rPr sz="3200" b="1" dirty="0">
                <a:solidFill>
                  <a:srgbClr val="001F5F"/>
                </a:solidFill>
                <a:latin typeface="Times New Roman"/>
                <a:cs typeface="Times New Roman"/>
              </a:rPr>
              <a:t>Solution</a:t>
            </a:r>
            <a:r>
              <a:rPr sz="32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1F5F"/>
                </a:solidFill>
                <a:latin typeface="Times New Roman"/>
                <a:cs typeface="Times New Roman"/>
              </a:rPr>
              <a:t>Using</a:t>
            </a:r>
            <a:r>
              <a:rPr sz="32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NAÏVE</a:t>
            </a:r>
            <a:r>
              <a:rPr sz="3200" b="1" spc="-1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APPROACH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5779" y="1286966"/>
            <a:ext cx="23139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A={2,4,5}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m=9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7347" y="1735531"/>
            <a:ext cx="8256524" cy="436245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6097980"/>
            <a:ext cx="847090" cy="760095"/>
          </a:xfrm>
          <a:custGeom>
            <a:avLst/>
            <a:gdLst/>
            <a:ahLst/>
            <a:cxnLst/>
            <a:rect l="l" t="t" r="r" b="b"/>
            <a:pathLst>
              <a:path w="847090" h="760095">
                <a:moveTo>
                  <a:pt x="846975" y="0"/>
                </a:moveTo>
                <a:lnTo>
                  <a:pt x="0" y="0"/>
                </a:lnTo>
                <a:lnTo>
                  <a:pt x="0" y="760018"/>
                </a:lnTo>
                <a:lnTo>
                  <a:pt x="846975" y="760018"/>
                </a:lnTo>
                <a:lnTo>
                  <a:pt x="8469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20225" y="134937"/>
            <a:ext cx="2667000" cy="1017905"/>
          </a:xfrm>
          <a:custGeom>
            <a:avLst/>
            <a:gdLst/>
            <a:ahLst/>
            <a:cxnLst/>
            <a:rect l="l" t="t" r="r" b="b"/>
            <a:pathLst>
              <a:path w="2667000" h="1017905">
                <a:moveTo>
                  <a:pt x="2667000" y="0"/>
                </a:moveTo>
                <a:lnTo>
                  <a:pt x="0" y="0"/>
                </a:lnTo>
                <a:lnTo>
                  <a:pt x="0" y="1017587"/>
                </a:lnTo>
                <a:lnTo>
                  <a:pt x="2667000" y="1017587"/>
                </a:lnTo>
                <a:lnTo>
                  <a:pt x="2667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0950" y="135001"/>
            <a:ext cx="7828915" cy="9048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065"/>
              </a:spcBef>
            </a:pPr>
            <a:r>
              <a:rPr sz="3600" b="1" dirty="0">
                <a:solidFill>
                  <a:srgbClr val="001F5F"/>
                </a:solidFill>
                <a:latin typeface="Times New Roman"/>
                <a:cs typeface="Times New Roman"/>
              </a:rPr>
              <a:t>Solution</a:t>
            </a:r>
            <a:r>
              <a:rPr sz="36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00" b="1" dirty="0">
                <a:solidFill>
                  <a:srgbClr val="001F5F"/>
                </a:solidFill>
                <a:latin typeface="Times New Roman"/>
                <a:cs typeface="Times New Roman"/>
              </a:rPr>
              <a:t>Using</a:t>
            </a:r>
            <a:r>
              <a:rPr sz="36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BACKTRACKING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25613"/>
            <a:ext cx="8404224" cy="47163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6029324"/>
            <a:ext cx="838200" cy="828675"/>
          </a:xfrm>
          <a:custGeom>
            <a:avLst/>
            <a:gdLst/>
            <a:ahLst/>
            <a:cxnLst/>
            <a:rect l="l" t="t" r="r" b="b"/>
            <a:pathLst>
              <a:path w="838200" h="828675">
                <a:moveTo>
                  <a:pt x="838200" y="0"/>
                </a:moveTo>
                <a:lnTo>
                  <a:pt x="0" y="0"/>
                </a:lnTo>
                <a:lnTo>
                  <a:pt x="0" y="828674"/>
                </a:lnTo>
                <a:lnTo>
                  <a:pt x="838200" y="828674"/>
                </a:lnTo>
                <a:lnTo>
                  <a:pt x="838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15475" y="135001"/>
            <a:ext cx="2676525" cy="904875"/>
          </a:xfrm>
          <a:custGeom>
            <a:avLst/>
            <a:gdLst/>
            <a:ahLst/>
            <a:cxnLst/>
            <a:rect l="l" t="t" r="r" b="b"/>
            <a:pathLst>
              <a:path w="2676525" h="904875">
                <a:moveTo>
                  <a:pt x="2676525" y="0"/>
                </a:moveTo>
                <a:lnTo>
                  <a:pt x="0" y="0"/>
                </a:lnTo>
                <a:lnTo>
                  <a:pt x="0" y="904875"/>
                </a:lnTo>
                <a:lnTo>
                  <a:pt x="2676525" y="904875"/>
                </a:lnTo>
                <a:lnTo>
                  <a:pt x="26765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4064" y="135001"/>
            <a:ext cx="7855584" cy="9048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70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45"/>
              </a:spcBef>
            </a:pPr>
            <a:r>
              <a:rPr sz="3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Algorithm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222" y="1313649"/>
            <a:ext cx="6627749" cy="47529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01175" y="134937"/>
            <a:ext cx="2743200" cy="1132205"/>
          </a:xfrm>
          <a:custGeom>
            <a:avLst/>
            <a:gdLst/>
            <a:ahLst/>
            <a:cxnLst/>
            <a:rect l="l" t="t" r="r" b="b"/>
            <a:pathLst>
              <a:path w="2743200" h="1132205">
                <a:moveTo>
                  <a:pt x="2743200" y="0"/>
                </a:moveTo>
                <a:lnTo>
                  <a:pt x="0" y="0"/>
                </a:lnTo>
                <a:lnTo>
                  <a:pt x="0" y="1131887"/>
                </a:lnTo>
                <a:lnTo>
                  <a:pt x="2743200" y="1131887"/>
                </a:lnTo>
                <a:lnTo>
                  <a:pt x="2743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35001"/>
            <a:ext cx="7882255" cy="9048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3525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65"/>
              </a:spcBef>
            </a:pPr>
            <a:r>
              <a:rPr sz="3600" b="1" dirty="0">
                <a:solidFill>
                  <a:srgbClr val="001F5F"/>
                </a:solidFill>
                <a:latin typeface="Times New Roman"/>
                <a:cs typeface="Times New Roman"/>
              </a:rPr>
              <a:t>Time</a:t>
            </a:r>
            <a:r>
              <a:rPr sz="3600" b="1" spc="-1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Complexity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298194" y="1527810"/>
            <a:ext cx="674624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Complexity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Analysis: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Calibri"/>
                <a:cs typeface="Calibri"/>
              </a:rPr>
              <a:t>Time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Complexity: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O(sum*n),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  <a:p>
            <a:pPr marL="12700" marR="252095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‘target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sum’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‘n’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array. </a:t>
            </a:r>
            <a:r>
              <a:rPr sz="2800" b="1" dirty="0">
                <a:latin typeface="Calibri"/>
                <a:cs typeface="Calibri"/>
              </a:rPr>
              <a:t>Auxiliary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Space: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O(sum*n),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2-</a:t>
            </a:r>
            <a:r>
              <a:rPr sz="2800" spc="-50" dirty="0">
                <a:latin typeface="Calibri"/>
                <a:cs typeface="Calibri"/>
              </a:rPr>
              <a:t>D </a:t>
            </a:r>
            <a:r>
              <a:rPr sz="2800" dirty="0">
                <a:latin typeface="Calibri"/>
                <a:cs typeface="Calibri"/>
              </a:rPr>
              <a:t>array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sum*n.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36550"/>
            <a:ext cx="10515600" cy="953769"/>
          </a:xfrm>
          <a:custGeom>
            <a:avLst/>
            <a:gdLst/>
            <a:ahLst/>
            <a:cxnLst/>
            <a:rect l="l" t="t" r="r" b="b"/>
            <a:pathLst>
              <a:path w="10515600" h="953769">
                <a:moveTo>
                  <a:pt x="0" y="953363"/>
                </a:moveTo>
                <a:lnTo>
                  <a:pt x="10515600" y="953363"/>
                </a:lnTo>
                <a:lnTo>
                  <a:pt x="10515600" y="0"/>
                </a:lnTo>
                <a:lnTo>
                  <a:pt x="0" y="0"/>
                </a:lnTo>
                <a:lnTo>
                  <a:pt x="0" y="95336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0" indent="-234950">
              <a:lnSpc>
                <a:spcPct val="100000"/>
              </a:lnSpc>
              <a:spcBef>
                <a:spcPts val="105"/>
              </a:spcBef>
              <a:buClr>
                <a:srgbClr val="001F5F"/>
              </a:buClr>
              <a:buFont typeface="Times New Roman"/>
              <a:buAutoNum type="arabicParenR"/>
              <a:tabLst>
                <a:tab pos="247650" algn="l"/>
              </a:tabLst>
            </a:pPr>
            <a:r>
              <a:rPr spc="-10" dirty="0"/>
              <a:t>https://</a:t>
            </a:r>
            <a:r>
              <a:rPr spc="-10" dirty="0">
                <a:hlinkClick r:id="rId2"/>
              </a:rPr>
              <a:t>www.tutorialspoint.com/data_structures_algorithms/divide_and_conquer.htm</a:t>
            </a:r>
          </a:p>
          <a:p>
            <a:pPr marL="247650" indent="-234950">
              <a:lnSpc>
                <a:spcPct val="100000"/>
              </a:lnSpc>
              <a:spcBef>
                <a:spcPts val="1340"/>
              </a:spcBef>
              <a:buAutoNum type="arabicParenR"/>
              <a:tabLst>
                <a:tab pos="247650" algn="l"/>
              </a:tabLst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Structures</a:t>
            </a:r>
            <a:r>
              <a:rPr spc="-40" dirty="0"/>
              <a:t> </a:t>
            </a:r>
            <a:r>
              <a:rPr spc="-10" dirty="0"/>
              <a:t>and</a:t>
            </a:r>
            <a:r>
              <a:rPr spc="-100" dirty="0"/>
              <a:t> </a:t>
            </a:r>
            <a:r>
              <a:rPr dirty="0"/>
              <a:t>Algorithms</a:t>
            </a:r>
            <a:r>
              <a:rPr spc="-45" dirty="0"/>
              <a:t> </a:t>
            </a:r>
            <a:r>
              <a:rPr dirty="0"/>
              <a:t>made</a:t>
            </a:r>
            <a:r>
              <a:rPr spc="-20" dirty="0"/>
              <a:t> </a:t>
            </a:r>
            <a:r>
              <a:rPr dirty="0"/>
              <a:t>easy</a:t>
            </a:r>
            <a:r>
              <a:rPr spc="-5" dirty="0"/>
              <a:t> </a:t>
            </a:r>
            <a:r>
              <a:rPr dirty="0"/>
              <a:t>By</a:t>
            </a:r>
            <a:r>
              <a:rPr spc="-30" dirty="0"/>
              <a:t> </a:t>
            </a:r>
            <a:r>
              <a:rPr dirty="0"/>
              <a:t>Narasimha</a:t>
            </a:r>
            <a:r>
              <a:rPr spc="-25" dirty="0"/>
              <a:t> </a:t>
            </a:r>
            <a:r>
              <a:rPr spc="-10" dirty="0"/>
              <a:t>Karumanchi.</a:t>
            </a:r>
          </a:p>
          <a:p>
            <a:pPr marL="244475" indent="-231775">
              <a:lnSpc>
                <a:spcPct val="100000"/>
              </a:lnSpc>
              <a:spcBef>
                <a:spcPts val="1345"/>
              </a:spcBef>
              <a:buAutoNum type="arabicParenR"/>
              <a:tabLst>
                <a:tab pos="244475" algn="l"/>
              </a:tabLst>
            </a:pPr>
            <a:r>
              <a:rPr dirty="0"/>
              <a:t>The</a:t>
            </a:r>
            <a:r>
              <a:rPr spc="-85" dirty="0"/>
              <a:t> </a:t>
            </a:r>
            <a:r>
              <a:rPr dirty="0"/>
              <a:t>Algorithm</a:t>
            </a:r>
            <a:r>
              <a:rPr spc="-50" dirty="0"/>
              <a:t> </a:t>
            </a:r>
            <a:r>
              <a:rPr dirty="0"/>
              <a:t>Design</a:t>
            </a:r>
            <a:r>
              <a:rPr spc="-25" dirty="0"/>
              <a:t> </a:t>
            </a:r>
            <a:r>
              <a:rPr dirty="0"/>
              <a:t>Manual,</a:t>
            </a:r>
            <a:r>
              <a:rPr spc="-35" dirty="0"/>
              <a:t> </a:t>
            </a:r>
            <a:r>
              <a:rPr dirty="0"/>
              <a:t>2nd</a:t>
            </a:r>
            <a:r>
              <a:rPr spc="-30" dirty="0"/>
              <a:t> </a:t>
            </a:r>
            <a:r>
              <a:rPr dirty="0"/>
              <a:t>Edition</a:t>
            </a:r>
            <a:r>
              <a:rPr spc="-20" dirty="0"/>
              <a:t> </a:t>
            </a:r>
            <a:r>
              <a:rPr dirty="0"/>
              <a:t>by</a:t>
            </a:r>
            <a:r>
              <a:rPr spc="-50" dirty="0"/>
              <a:t> </a:t>
            </a:r>
            <a:r>
              <a:rPr dirty="0"/>
              <a:t>Steven</a:t>
            </a:r>
            <a:r>
              <a:rPr spc="-35" dirty="0"/>
              <a:t> </a:t>
            </a:r>
            <a:r>
              <a:rPr dirty="0"/>
              <a:t>S</a:t>
            </a:r>
            <a:r>
              <a:rPr spc="15" dirty="0"/>
              <a:t> </a:t>
            </a:r>
            <a:r>
              <a:rPr spc="-10" dirty="0"/>
              <a:t>Skiena</a:t>
            </a:r>
          </a:p>
          <a:p>
            <a:pPr marL="203200" indent="-190500">
              <a:lnSpc>
                <a:spcPct val="100000"/>
              </a:lnSpc>
              <a:spcBef>
                <a:spcPts val="1345"/>
              </a:spcBef>
              <a:buAutoNum type="arabicParenR"/>
              <a:tabLst>
                <a:tab pos="203200" algn="l"/>
              </a:tabLst>
            </a:pPr>
            <a:r>
              <a:rPr dirty="0"/>
              <a:t>Fundamentals</a:t>
            </a:r>
            <a:r>
              <a:rPr spc="-1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Computer</a:t>
            </a:r>
            <a:r>
              <a:rPr spc="-110" dirty="0"/>
              <a:t> </a:t>
            </a:r>
            <a:r>
              <a:rPr dirty="0"/>
              <a:t>Algorithms</a:t>
            </a:r>
            <a:r>
              <a:rPr spc="-15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dirty="0"/>
              <a:t>Horowitz</a:t>
            </a:r>
            <a:r>
              <a:rPr spc="-4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Sahani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72610" y="205816"/>
            <a:ext cx="26244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References</a:t>
            </a:r>
            <a:endParaRPr sz="4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192912"/>
            <a:ext cx="12077700" cy="6665595"/>
            <a:chOff x="0" y="192912"/>
            <a:chExt cx="12077700" cy="6665595"/>
          </a:xfrm>
        </p:grpSpPr>
        <p:sp>
          <p:nvSpPr>
            <p:cNvPr id="6" name="object 6"/>
            <p:cNvSpPr/>
            <p:nvPr/>
          </p:nvSpPr>
          <p:spPr>
            <a:xfrm>
              <a:off x="838200" y="1089913"/>
              <a:ext cx="10515600" cy="5082540"/>
            </a:xfrm>
            <a:custGeom>
              <a:avLst/>
              <a:gdLst/>
              <a:ahLst/>
              <a:cxnLst/>
              <a:rect l="l" t="t" r="r" b="b"/>
              <a:pathLst>
                <a:path w="10515600" h="5082540">
                  <a:moveTo>
                    <a:pt x="0" y="5082286"/>
                  </a:moveTo>
                  <a:lnTo>
                    <a:pt x="10515600" y="5082286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5082286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92912"/>
              <a:ext cx="12077700" cy="6665595"/>
            </a:xfrm>
            <a:custGeom>
              <a:avLst/>
              <a:gdLst/>
              <a:ahLst/>
              <a:cxnLst/>
              <a:rect l="l" t="t" r="r" b="b"/>
              <a:pathLst>
                <a:path w="12077700" h="6665595">
                  <a:moveTo>
                    <a:pt x="838200" y="5912612"/>
                  </a:moveTo>
                  <a:lnTo>
                    <a:pt x="0" y="5912612"/>
                  </a:lnTo>
                  <a:lnTo>
                    <a:pt x="0" y="6665087"/>
                  </a:lnTo>
                  <a:lnTo>
                    <a:pt x="838200" y="6665087"/>
                  </a:lnTo>
                  <a:lnTo>
                    <a:pt x="838200" y="5912612"/>
                  </a:lnTo>
                  <a:close/>
                </a:path>
                <a:path w="12077700" h="6665595">
                  <a:moveTo>
                    <a:pt x="12077700" y="0"/>
                  </a:moveTo>
                  <a:lnTo>
                    <a:pt x="9531985" y="0"/>
                  </a:lnTo>
                  <a:lnTo>
                    <a:pt x="9531985" y="897001"/>
                  </a:lnTo>
                  <a:lnTo>
                    <a:pt x="12077700" y="897001"/>
                  </a:lnTo>
                  <a:lnTo>
                    <a:pt x="1207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THANK </a:t>
            </a:r>
            <a:r>
              <a:rPr spc="-70" dirty="0"/>
              <a:t>YOU</a:t>
            </a:r>
          </a:p>
        </p:txBody>
      </p:sp>
      <p:sp>
        <p:nvSpPr>
          <p:cNvPr id="3" name="object 3"/>
          <p:cNvSpPr/>
          <p:nvPr/>
        </p:nvSpPr>
        <p:spPr>
          <a:xfrm>
            <a:off x="2641600" y="1214500"/>
            <a:ext cx="2687955" cy="3225800"/>
          </a:xfrm>
          <a:custGeom>
            <a:avLst/>
            <a:gdLst/>
            <a:ahLst/>
            <a:cxnLst/>
            <a:rect l="l" t="t" r="r" b="b"/>
            <a:pathLst>
              <a:path w="2687954" h="3225800">
                <a:moveTo>
                  <a:pt x="2430526" y="2412873"/>
                </a:moveTo>
                <a:lnTo>
                  <a:pt x="1612900" y="3225673"/>
                </a:lnTo>
                <a:lnTo>
                  <a:pt x="0" y="1612900"/>
                </a:lnTo>
                <a:lnTo>
                  <a:pt x="1612900" y="0"/>
                </a:lnTo>
                <a:lnTo>
                  <a:pt x="2430526" y="817499"/>
                </a:lnTo>
              </a:path>
              <a:path w="2687954" h="3225800">
                <a:moveTo>
                  <a:pt x="2687701" y="2412873"/>
                </a:moveTo>
                <a:lnTo>
                  <a:pt x="1870075" y="3225673"/>
                </a:lnTo>
                <a:lnTo>
                  <a:pt x="257175" y="1612900"/>
                </a:lnTo>
                <a:lnTo>
                  <a:pt x="1870075" y="0"/>
                </a:lnTo>
                <a:lnTo>
                  <a:pt x="2687701" y="817499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53575" y="63"/>
            <a:ext cx="2638425" cy="1119505"/>
          </a:xfrm>
          <a:custGeom>
            <a:avLst/>
            <a:gdLst/>
            <a:ahLst/>
            <a:cxnLst/>
            <a:rect l="l" t="t" r="r" b="b"/>
            <a:pathLst>
              <a:path w="2638425" h="1119505">
                <a:moveTo>
                  <a:pt x="2638425" y="0"/>
                </a:moveTo>
                <a:lnTo>
                  <a:pt x="0" y="0"/>
                </a:lnTo>
                <a:lnTo>
                  <a:pt x="0" y="1119187"/>
                </a:lnTo>
                <a:lnTo>
                  <a:pt x="2638425" y="1119187"/>
                </a:lnTo>
                <a:lnTo>
                  <a:pt x="2638425" y="0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943080" y="6447704"/>
            <a:ext cx="16256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11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406</Words>
  <Application>Microsoft Office PowerPoint</Application>
  <PresentationFormat>Widescreen</PresentationFormat>
  <Paragraphs>50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MT</vt:lpstr>
      <vt:lpstr>Calibri</vt:lpstr>
      <vt:lpstr>Cambria</vt:lpstr>
      <vt:lpstr>Lato</vt:lpstr>
      <vt:lpstr>Times New Roman</vt:lpstr>
      <vt:lpstr>Office Theme</vt:lpstr>
      <vt:lpstr>Streamline</vt:lpstr>
      <vt:lpstr>PowerPoint Presentation</vt:lpstr>
      <vt:lpstr>SUM OF SUBSETS PROBLEM</vt:lpstr>
      <vt:lpstr>Sum of Subsets Using Backtracking</vt:lpstr>
      <vt:lpstr>Assumption and considerations</vt:lpstr>
      <vt:lpstr>Solution Using NAÏVE APPROACH</vt:lpstr>
      <vt:lpstr>Solution Using NAÏVE APPROACH</vt:lpstr>
      <vt:lpstr>Solution Using BACKTRACKING</vt:lpstr>
      <vt:lpstr>Algorithm</vt:lpstr>
      <vt:lpstr>Time Complexity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dc:creator>Harmanjit Singh Gahir</dc:creator>
  <cp:lastModifiedBy>sameera dhuria</cp:lastModifiedBy>
  <cp:revision>1</cp:revision>
  <dcterms:created xsi:type="dcterms:W3CDTF">2025-07-03T06:54:09Z</dcterms:created>
  <dcterms:modified xsi:type="dcterms:W3CDTF">2025-07-03T10:29:16Z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2025-07-03T00:00:00Z</vt:filetime>
  </property>
  <property fmtid="{D5CDD505-2E9C-101B-9397-08002B2CF9AE}" pid="5" name="Producer">
    <vt:lpwstr>Microsoft® PowerPoint® 2021</vt:lpwstr>
  </property>
</Properties>
</file>