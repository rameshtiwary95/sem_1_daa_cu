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3"/>
  </p:notesMasterIdLst>
  <p:sldIdLst>
    <p:sldId id="428" r:id="rId3"/>
    <p:sldId id="389" r:id="rId4"/>
    <p:sldId id="409" r:id="rId5"/>
    <p:sldId id="410" r:id="rId6"/>
    <p:sldId id="411" r:id="rId7"/>
    <p:sldId id="413" r:id="rId8"/>
    <p:sldId id="414" r:id="rId9"/>
    <p:sldId id="415" r:id="rId10"/>
    <p:sldId id="426" r:id="rId11"/>
    <p:sldId id="427" r:id="rId12"/>
  </p:sldIdLst>
  <p:sldSz cx="12192000" cy="6858000"/>
  <p:notesSz cx="6858000" cy="9144000"/>
  <p:custDataLst>
    <p:tags r:id="rId1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BC4"/>
    <a:srgbClr val="0D8BC3"/>
    <a:srgbClr val="2ED9FA"/>
    <a:srgbClr val="0BDEE3"/>
    <a:srgbClr val="07D3D3"/>
    <a:srgbClr val="07DDF3"/>
    <a:srgbClr val="57ACF3"/>
    <a:srgbClr val="3399FF"/>
    <a:srgbClr val="33CCFF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>
        <p:scale>
          <a:sx n="80" d="100"/>
          <a:sy n="80" d="100"/>
        </p:scale>
        <p:origin x="-22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60932" rIns="121897" bIns="60932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=""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8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897" tIns="121897" rIns="121897" bIns="121897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4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28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9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97" tIns="121897" rIns="121897" bIns="121897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4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97" tIns="121897" rIns="121897" bIns="121897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83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97" tIns="121897" rIns="121897" bIns="121897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47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97" tIns="121897" rIns="121897" bIns="121897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5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79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97" tIns="121897" rIns="121897" bIns="121897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9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105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098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90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560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0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>
                <a:solidFill>
                  <a:srgbClr val="595959"/>
                </a:solidFill>
              </a:rPr>
              <a:pPr/>
              <a:t>‹#›</a:t>
            </a:fld>
            <a:endParaRPr lang="en-US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61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7" tIns="121897" rIns="121897" bIns="121897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eaLnBrk="1" fontAlgn="auto" hangingPunct="1"/>
            <a:fld id="{00000000-1234-1234-1234-123412341234}" type="slidenum">
              <a:rPr lang="en-US" kern="0" smtClean="0">
                <a:solidFill>
                  <a:srgbClr val="595959"/>
                </a:solidFill>
              </a:rPr>
              <a:pPr eaLnBrk="1" fontAlgn="auto" hangingPunct="1"/>
              <a:t>‹#›</a:t>
            </a:fld>
            <a:endParaRPr lang="en-US" kern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6317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8" y="1623358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4" tIns="60930" rIns="121894" bIns="60930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894" tIns="60930" rIns="121894" bIns="60930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894" tIns="60930" rIns="121894" bIns="60930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894" tIns="60930" rIns="121894" bIns="60930" anchor="ctr" anchorCtr="0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endParaRPr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894" tIns="60930" rIns="121894" bIns="60930" anchor="ctr" anchorCtr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9195" y="1268779"/>
            <a:ext cx="10951200" cy="44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94" tIns="60930" rIns="121894" bIns="60930" anchor="t" anchorCtr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US" sz="4300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5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IN" sz="4300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MASTER OF COMPUTER APPLICATIONS</a:t>
            </a:r>
            <a:endParaRPr sz="15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700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DESIGN AND ANALYSIS OF ALGORITHMS</a:t>
            </a:r>
            <a:endParaRPr sz="19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700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25 CAT 611</a:t>
            </a:r>
            <a:endParaRPr sz="21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 No.  3                    Chapter No.  </a:t>
            </a:r>
            <a:r>
              <a:rPr lang="en-US" b="1" kern="0" dirty="0" smtClean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3.2.2                </a:t>
            </a:r>
            <a:endParaRPr lang="en-US" b="1" kern="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Topic : Optimal binary search trees </a:t>
            </a:r>
          </a:p>
          <a:p>
            <a:pPr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 and </a:t>
            </a:r>
            <a:r>
              <a:rPr lang="en-US" b="1" kern="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E_Code</a:t>
            </a:r>
            <a:r>
              <a:rPr lang="en-US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Dr. Sameera(17674)                 Designation: Asst. Professor</a:t>
            </a:r>
            <a:endParaRPr lang="en-US" sz="4300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2" y="2"/>
            <a:ext cx="5145599" cy="723269"/>
          </a:xfrm>
          <a:prstGeom prst="rect">
            <a:avLst/>
          </a:prstGeom>
          <a:noFill/>
        </p:spPr>
        <p:txBody>
          <a:bodyPr wrap="square" lIns="121914" tIns="60957" rIns="121914" bIns="60957" rtlCol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b="1" kern="0" dirty="0">
                <a:solidFill>
                  <a:srgbClr val="FFFFFF">
                    <a:lumMod val="65000"/>
                  </a:srgbClr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1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957" y="0"/>
            <a:ext cx="16478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608" y="1248212"/>
            <a:ext cx="11223516" cy="490033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2400" dirty="0"/>
              <a:t> </a:t>
            </a:r>
            <a:r>
              <a:rPr lang="en-US" altLang="zh-TW" sz="2400" dirty="0"/>
              <a:t> e.g.  binary search trees for 3, 7, 9, 12;</a:t>
            </a:r>
          </a:p>
          <a:p>
            <a:pPr fontAlgn="base"/>
            <a:endParaRPr lang="en-US" sz="2400" dirty="0"/>
          </a:p>
          <a:p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fontAlgn="base"/>
            <a:r>
              <a:rPr lang="en-US" altLang="zh-TW" sz="3200" dirty="0"/>
              <a:t>Optimal binary search trees 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870" y="1910187"/>
            <a:ext cx="7313613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429008" y="-1"/>
            <a:ext cx="2762992" cy="1175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7" y="319"/>
            <a:ext cx="1165655" cy="99720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65860" y="259225"/>
            <a:ext cx="8730418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US" altLang="zh-TW" sz="3600" dirty="0"/>
              <a:t>Optimal binary search trees</a:t>
            </a:r>
            <a:endParaRPr lang="en-IN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zh-TW" sz="2400" dirty="0"/>
              <a:t>n identifiers : a</a:t>
            </a:r>
            <a:r>
              <a:rPr lang="en-US" altLang="zh-TW" sz="2400" baseline="-30000" dirty="0"/>
              <a:t>1 </a:t>
            </a:r>
            <a:r>
              <a:rPr lang="en-US" altLang="zh-TW" sz="2400" dirty="0"/>
              <a:t>&lt;a</a:t>
            </a:r>
            <a:r>
              <a:rPr lang="en-US" altLang="zh-TW" sz="2400" baseline="-30000" dirty="0"/>
              <a:t>2 </a:t>
            </a:r>
            <a:r>
              <a:rPr lang="en-US" altLang="zh-TW" sz="2400" dirty="0"/>
              <a:t>&lt;a</a:t>
            </a:r>
            <a:r>
              <a:rPr lang="en-US" altLang="zh-TW" sz="2400" baseline="-30000" dirty="0"/>
              <a:t>3 </a:t>
            </a:r>
            <a:r>
              <a:rPr lang="en-US" altLang="zh-TW" sz="2400" dirty="0"/>
              <a:t>&lt;</a:t>
            </a:r>
            <a:r>
              <a:rPr lang="en-US" altLang="zh-TW" sz="2400" dirty="0">
                <a:latin typeface="Times New Roman" pitchFamily="18" charset="0"/>
              </a:rPr>
              <a:t>…</a:t>
            </a:r>
            <a:r>
              <a:rPr lang="en-US" altLang="zh-TW" sz="2400" dirty="0"/>
              <a:t>&lt; a</a:t>
            </a:r>
            <a:r>
              <a:rPr lang="en-US" altLang="zh-TW" sz="2400" baseline="-30000" dirty="0"/>
              <a:t>n</a:t>
            </a:r>
            <a:r>
              <a:rPr lang="en-US" altLang="zh-TW" sz="2400" dirty="0"/>
              <a:t>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sz="2400" dirty="0"/>
              <a:t> P</a:t>
            </a:r>
            <a:r>
              <a:rPr lang="en-US" altLang="zh-TW" sz="2400" baseline="-30000" dirty="0"/>
              <a:t>i</a:t>
            </a:r>
            <a:r>
              <a:rPr lang="en-US" altLang="zh-TW" sz="2400" dirty="0"/>
              <a:t>, 1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 dirty="0"/>
              <a:t>i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 dirty="0"/>
              <a:t>n : the probability that </a:t>
            </a:r>
            <a:r>
              <a:rPr lang="en-US" altLang="zh-TW" sz="2400" dirty="0" err="1"/>
              <a:t>a</a:t>
            </a:r>
            <a:r>
              <a:rPr lang="en-US" altLang="zh-TW" sz="2400" baseline="-30000" dirty="0" err="1"/>
              <a:t>i</a:t>
            </a:r>
            <a:r>
              <a:rPr lang="en-US" altLang="zh-TW" sz="2400" dirty="0"/>
              <a:t> is searched.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sz="2400" dirty="0"/>
              <a:t> Q</a:t>
            </a:r>
            <a:r>
              <a:rPr lang="en-US" altLang="zh-TW" sz="2400" baseline="-30000" dirty="0"/>
              <a:t>i</a:t>
            </a:r>
            <a:r>
              <a:rPr lang="en-US" altLang="zh-TW" sz="2400" dirty="0"/>
              <a:t>, 0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 dirty="0"/>
              <a:t>i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 dirty="0"/>
              <a:t>n : the probability that x is searched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TW" sz="2400" dirty="0"/>
              <a:t>          where  </a:t>
            </a:r>
            <a:r>
              <a:rPr lang="en-US" altLang="zh-TW" sz="2400" dirty="0" err="1"/>
              <a:t>a</a:t>
            </a:r>
            <a:r>
              <a:rPr lang="en-US" altLang="zh-TW" sz="2400" baseline="-30000" dirty="0" err="1"/>
              <a:t>i</a:t>
            </a:r>
            <a:r>
              <a:rPr lang="en-US" altLang="zh-TW" sz="2400" dirty="0"/>
              <a:t> &lt; x &lt; a</a:t>
            </a:r>
            <a:r>
              <a:rPr lang="en-US" altLang="zh-TW" sz="2400" baseline="-30000" dirty="0"/>
              <a:t>i+1</a:t>
            </a:r>
            <a:r>
              <a:rPr lang="en-US" altLang="zh-TW" sz="2400" dirty="0"/>
              <a:t> (a</a:t>
            </a:r>
            <a:r>
              <a:rPr lang="en-US" altLang="zh-TW" sz="2400" baseline="-30000" dirty="0"/>
              <a:t>0</a:t>
            </a:r>
            <a:r>
              <a:rPr lang="en-US" altLang="zh-TW" sz="2400" dirty="0"/>
              <a:t>=-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</a:t>
            </a:r>
            <a:r>
              <a:rPr lang="en-US" altLang="zh-TW" sz="2400" dirty="0"/>
              <a:t>, a</a:t>
            </a:r>
            <a:r>
              <a:rPr lang="en-US" altLang="zh-TW" sz="2400" baseline="-30000" dirty="0"/>
              <a:t>n+1</a:t>
            </a:r>
            <a:r>
              <a:rPr lang="en-US" altLang="zh-TW" sz="2400" dirty="0"/>
              <a:t>=</a:t>
            </a:r>
            <a:r>
              <a:rPr lang="en-US" altLang="zh-TW" sz="2400" dirty="0">
                <a:latin typeface="Times New Roman" pitchFamily="18" charset="0"/>
                <a:sym typeface="Symbol" pitchFamily="18" charset="2"/>
              </a:rPr>
              <a:t></a:t>
            </a:r>
            <a:r>
              <a:rPr lang="en-US" altLang="zh-TW" sz="2400" dirty="0"/>
              <a:t>).</a:t>
            </a:r>
          </a:p>
          <a:p>
            <a:pPr eaLnBrk="1" hangingPunct="1"/>
            <a:endParaRPr lang="zh-TW" altLang="en-US" sz="2400" dirty="0"/>
          </a:p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215" y="3683313"/>
            <a:ext cx="21526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215252" y="-1"/>
            <a:ext cx="2976748" cy="12469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8" y="319"/>
            <a:ext cx="1051313" cy="102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228043" y="277122"/>
            <a:ext cx="6774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Optimally Binary Search Tree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						Identifiers : 4, 5, 8, 10, 11, 12, 14</a:t>
            </a:r>
          </a:p>
          <a:p>
            <a:pPr eaLnBrk="1" hangingPunct="1"/>
            <a:r>
              <a:rPr lang="en-US" altLang="zh-TW" dirty="0"/>
              <a:t>						Internal node : successful search, P</a:t>
            </a:r>
            <a:r>
              <a:rPr lang="en-US" altLang="zh-TW" baseline="-30000" dirty="0"/>
              <a:t>i</a:t>
            </a:r>
            <a:r>
              <a:rPr lang="en-US" altLang="zh-TW" dirty="0"/>
              <a:t> </a:t>
            </a:r>
          </a:p>
          <a:p>
            <a:pPr eaLnBrk="1" hangingPunct="1"/>
            <a:r>
              <a:rPr lang="en-US" altLang="zh-TW" dirty="0"/>
              <a:t>						External node : unsuccessful search, Q</a:t>
            </a:r>
            <a:r>
              <a:rPr lang="en-US" altLang="zh-TW" baseline="-30000" dirty="0"/>
              <a:t>i</a:t>
            </a:r>
            <a:endParaRPr lang="zh-TW" altLang="en-US" dirty="0"/>
          </a:p>
          <a:p>
            <a:endParaRPr lang="en-IN" dirty="0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389" y="985008"/>
            <a:ext cx="40386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71470" y="4992874"/>
            <a:ext cx="60960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dirty="0"/>
              <a:t>The expected cost of a binary tree: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TW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TW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TW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dirty="0"/>
              <a:t>The level of the root : 1</a:t>
            </a:r>
            <a:endParaRPr lang="zh-TW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621487" y="0"/>
            <a:ext cx="3570514" cy="15794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8" y="319"/>
            <a:ext cx="1151022" cy="9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05247" y="202796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altLang="zh-TW" sz="3600" dirty="0"/>
              <a:t>The dynamic programming approach</a:t>
            </a:r>
            <a:endParaRPr lang="en-IN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3" name="Rectangle 2"/>
          <p:cNvSpPr/>
          <p:nvPr/>
        </p:nvSpPr>
        <p:spPr>
          <a:xfrm>
            <a:off x="1283594" y="1167048"/>
            <a:ext cx="75899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TW" sz="2400" dirty="0"/>
              <a:t>Let C(i, j) denote the cost of an optimal binary search tree containing </a:t>
            </a:r>
            <a:r>
              <a:rPr lang="en-US" altLang="zh-TW" sz="2400" dirty="0" err="1"/>
              <a:t>a</a:t>
            </a:r>
            <a:r>
              <a:rPr lang="en-US" altLang="zh-TW" sz="2400" baseline="-30000" dirty="0" err="1"/>
              <a:t>i</a:t>
            </a:r>
            <a:r>
              <a:rPr lang="en-US" altLang="zh-TW" sz="2400" dirty="0"/>
              <a:t>,</a:t>
            </a:r>
            <a:r>
              <a:rPr lang="en-US" altLang="zh-TW" sz="2400" dirty="0">
                <a:latin typeface="Times New Roman" pitchFamily="18" charset="0"/>
              </a:rPr>
              <a:t>…</a:t>
            </a:r>
            <a:r>
              <a:rPr lang="en-US" altLang="zh-TW" sz="2400" dirty="0"/>
              <a:t>,</a:t>
            </a:r>
            <a:r>
              <a:rPr lang="en-US" altLang="zh-TW" sz="2400" dirty="0" err="1"/>
              <a:t>a</a:t>
            </a:r>
            <a:r>
              <a:rPr lang="en-US" altLang="zh-TW" sz="2400" baseline="-30000" dirty="0" err="1"/>
              <a:t>j</a:t>
            </a:r>
            <a:r>
              <a:rPr lang="en-US" altLang="zh-TW" sz="2400" dirty="0"/>
              <a:t> .</a:t>
            </a:r>
          </a:p>
          <a:p>
            <a:pPr algn="just" eaLnBrk="1" hangingPunct="1"/>
            <a:r>
              <a:rPr lang="en-US" altLang="zh-TW" sz="2400" dirty="0"/>
              <a:t>The cost of the optimal binary search tree with </a:t>
            </a:r>
            <a:r>
              <a:rPr lang="en-US" altLang="zh-TW" sz="2400" dirty="0" err="1"/>
              <a:t>a</a:t>
            </a:r>
            <a:r>
              <a:rPr lang="en-US" altLang="zh-TW" sz="2400" baseline="-30000" dirty="0" err="1"/>
              <a:t>k</a:t>
            </a:r>
            <a:r>
              <a:rPr lang="en-US" altLang="zh-TW" sz="2400" dirty="0"/>
              <a:t> as its root :</a:t>
            </a:r>
          </a:p>
          <a:p>
            <a:pPr algn="just" eaLnBrk="1" hangingPunct="1"/>
            <a:endParaRPr lang="en-US" altLang="zh-TW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500260" y="0"/>
            <a:ext cx="2691740" cy="1167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7" y="319"/>
            <a:ext cx="1124011" cy="9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43990" y="640590"/>
            <a:ext cx="8730418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US" altLang="zh-TW" sz="3600" dirty="0"/>
              <a:t>Computation relationships of </a:t>
            </a:r>
            <a:r>
              <a:rPr lang="en-US" altLang="zh-TW" sz="3600" dirty="0" err="1"/>
              <a:t>subtrees</a:t>
            </a:r>
            <a:endParaRPr lang="en-IN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04552" y="1545465"/>
            <a:ext cx="234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e.g. n=4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4552" y="4077831"/>
            <a:ext cx="6096000" cy="8402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zh-TW" dirty="0"/>
              <a:t>Time complexity : O(n</a:t>
            </a:r>
            <a:r>
              <a:rPr lang="en-US" altLang="zh-TW" baseline="30000" dirty="0"/>
              <a:t>3</a:t>
            </a:r>
            <a:r>
              <a:rPr lang="en-US" altLang="zh-TW" dirty="0"/>
              <a:t>)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  	when j-i=m, there are (n-m) C(i, j)</a:t>
            </a:r>
            <a:r>
              <a:rPr lang="en-US" altLang="zh-TW" dirty="0">
                <a:latin typeface="Times New Roman" pitchFamily="18" charset="0"/>
              </a:rPr>
              <a:t>’</a:t>
            </a:r>
            <a:r>
              <a:rPr lang="en-US" altLang="zh-TW" dirty="0"/>
              <a:t>s to compute.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  	Each C(i, j) with j-i=m can be computed in O(m)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83387" y="-1"/>
            <a:ext cx="2608613" cy="13181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7" y="319"/>
            <a:ext cx="1179537" cy="100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62744" y="509785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altLang="zh-TW" sz="3200" dirty="0"/>
              <a:t>Matrix-chain multiplication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8" name="Rectangle 7"/>
          <p:cNvSpPr/>
          <p:nvPr/>
        </p:nvSpPr>
        <p:spPr>
          <a:xfrm>
            <a:off x="837127" y="1414660"/>
            <a:ext cx="7727324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n matrices A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 A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 </a:t>
            </a:r>
            <a:r>
              <a:rPr lang="en-US" altLang="zh-TW" sz="2400" dirty="0">
                <a:latin typeface="Times New Roman" pitchFamily="18" charset="0"/>
              </a:rPr>
              <a:t>…</a:t>
            </a:r>
            <a:r>
              <a:rPr lang="en-US" altLang="zh-TW" sz="2400" dirty="0"/>
              <a:t>, A</a:t>
            </a:r>
            <a:r>
              <a:rPr lang="en-US" altLang="zh-TW" sz="2400" baseline="-25000" dirty="0"/>
              <a:t>n</a:t>
            </a:r>
            <a:r>
              <a:rPr lang="en-US" altLang="zh-TW" sz="2400" dirty="0"/>
              <a:t> with size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    p</a:t>
            </a:r>
            <a:r>
              <a:rPr lang="en-US" altLang="zh-TW" sz="2400" baseline="-25000" dirty="0"/>
              <a:t>0 </a:t>
            </a:r>
            <a:r>
              <a:rPr lang="en-US" altLang="zh-TW" sz="2400" dirty="0">
                <a:sym typeface="Symbol" pitchFamily="18" charset="2"/>
              </a:rPr>
              <a:t> </a:t>
            </a:r>
            <a:r>
              <a:rPr lang="en-US" altLang="zh-TW" sz="2400" dirty="0"/>
              <a:t>p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, p</a:t>
            </a:r>
            <a:r>
              <a:rPr lang="en-US" altLang="zh-TW" sz="2400" baseline="-25000" dirty="0"/>
              <a:t>1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p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, p</a:t>
            </a:r>
            <a:r>
              <a:rPr lang="en-US" altLang="zh-TW" sz="2400" baseline="-25000" dirty="0"/>
              <a:t>2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p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, </a:t>
            </a:r>
            <a:r>
              <a:rPr lang="en-US" altLang="zh-TW" sz="2400" dirty="0">
                <a:latin typeface="Times New Roman" pitchFamily="18" charset="0"/>
              </a:rPr>
              <a:t>…</a:t>
            </a:r>
            <a:r>
              <a:rPr lang="en-US" altLang="zh-TW" sz="2400" dirty="0"/>
              <a:t>, p</a:t>
            </a:r>
            <a:r>
              <a:rPr lang="en-US" altLang="zh-TW" sz="2400" baseline="-25000" dirty="0"/>
              <a:t>n-1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</a:t>
            </a:r>
            <a:r>
              <a:rPr lang="en-US" altLang="zh-TW" sz="2400" dirty="0" err="1"/>
              <a:t>p</a:t>
            </a:r>
            <a:r>
              <a:rPr lang="en-US" altLang="zh-TW" sz="2400" baseline="-25000" dirty="0" err="1"/>
              <a:t>n</a:t>
            </a:r>
            <a:endParaRPr lang="en-US" altLang="zh-TW" sz="2400" baseline="-25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   To determine the multiplication order such that # of scalar multiplications is minimized.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To compute A</a:t>
            </a:r>
            <a:r>
              <a:rPr lang="en-US" altLang="zh-TW" sz="2400" baseline="-25000" dirty="0"/>
              <a:t>i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i+1</a:t>
            </a:r>
            <a:r>
              <a:rPr lang="en-US" altLang="zh-TW" sz="2400" dirty="0"/>
              <a:t>, we need p</a:t>
            </a:r>
            <a:r>
              <a:rPr lang="en-US" altLang="zh-TW" sz="2400" baseline="-25000" dirty="0"/>
              <a:t>i-1</a:t>
            </a:r>
            <a:r>
              <a:rPr lang="en-US" altLang="zh-TW" sz="2400" dirty="0"/>
              <a:t>p</a:t>
            </a:r>
            <a:r>
              <a:rPr lang="en-US" altLang="zh-TW" sz="2400" baseline="-25000" dirty="0"/>
              <a:t>i</a:t>
            </a:r>
            <a:r>
              <a:rPr lang="en-US" altLang="zh-TW" sz="2400" dirty="0"/>
              <a:t>p</a:t>
            </a:r>
            <a:r>
              <a:rPr lang="en-US" altLang="zh-TW" sz="2400" baseline="-25000" dirty="0"/>
              <a:t>i+1</a:t>
            </a:r>
            <a:r>
              <a:rPr lang="en-US" altLang="zh-TW" sz="2400" dirty="0"/>
              <a:t> scalar multiplications.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e.g. n=4, A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: 3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5, A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: 5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4, A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: 4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2, A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: 2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	((A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)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, # of scalar multiplications: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		3 * 5 * 4 + 3 * 4 * 2 + 3 * 2 * 5 = 114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	(A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(A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))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, # of scalar multiplications: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		3 * 5 * 2 + 5 * 4 * 2 + 3 * 2 * 5 = 100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	(A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)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(A</a:t>
            </a:r>
            <a:r>
              <a:rPr lang="en-US" altLang="zh-TW" sz="2400" baseline="-25000" dirty="0"/>
              <a:t>3</a:t>
            </a:r>
            <a:r>
              <a:rPr lang="en-US" altLang="zh-TW" sz="2400" dirty="0"/>
              <a:t> </a:t>
            </a:r>
            <a:r>
              <a:rPr lang="en-US" altLang="zh-TW" sz="2400" dirty="0">
                <a:sym typeface="Symbol" pitchFamily="18" charset="2"/>
              </a:rPr>
              <a:t></a:t>
            </a:r>
            <a:r>
              <a:rPr lang="en-US" altLang="zh-TW" sz="2400" dirty="0"/>
              <a:t> A</a:t>
            </a:r>
            <a:r>
              <a:rPr lang="en-US" altLang="zh-TW" sz="2400" baseline="-25000" dirty="0"/>
              <a:t>4</a:t>
            </a:r>
            <a:r>
              <a:rPr lang="en-US" altLang="zh-TW" sz="2400" dirty="0"/>
              <a:t>), # of scalar multiplications: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/>
              <a:t>		3 * 5 * 4 + 3 * 4 * 5 + 4 * 2 * 5 = 160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9013" y="-1"/>
            <a:ext cx="2572987" cy="1175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7" y="319"/>
            <a:ext cx="1137893" cy="97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88374" y="301192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r>
              <a:rPr lang="en-US" sz="3600" b="1" u="sng" dirty="0"/>
              <a:t>PRACTICE PROBLEM BASED ON 0/1 KNAPSACK PROBLEM-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5" name="Rectangle 4"/>
          <p:cNvSpPr/>
          <p:nvPr/>
        </p:nvSpPr>
        <p:spPr>
          <a:xfrm>
            <a:off x="536620" y="1349165"/>
            <a:ext cx="6096000" cy="560461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Let m(i, j) denote the minimum cost for computing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/>
              <a:t>    A</a:t>
            </a:r>
            <a:r>
              <a:rPr lang="en-US" altLang="zh-TW" baseline="-25000" dirty="0"/>
              <a:t>i </a:t>
            </a:r>
            <a:r>
              <a:rPr lang="en-US" altLang="zh-TW" dirty="0">
                <a:sym typeface="Symbol" pitchFamily="18" charset="2"/>
              </a:rPr>
              <a:t> </a:t>
            </a:r>
            <a:r>
              <a:rPr lang="en-US" altLang="zh-TW" dirty="0"/>
              <a:t>A</a:t>
            </a:r>
            <a:r>
              <a:rPr lang="en-US" altLang="zh-TW" baseline="-25000" dirty="0"/>
              <a:t>i</a:t>
            </a:r>
            <a:r>
              <a:rPr lang="en-US" altLang="zh-TW" baseline="-25000" dirty="0">
                <a:sym typeface="Symbol" pitchFamily="18" charset="2"/>
              </a:rPr>
              <a:t>+</a:t>
            </a:r>
            <a:r>
              <a:rPr lang="en-US" altLang="zh-TW" baseline="-25000" dirty="0"/>
              <a:t>1 </a:t>
            </a:r>
            <a:r>
              <a:rPr lang="en-US" altLang="zh-TW" dirty="0">
                <a:sym typeface="Symbol" pitchFamily="18" charset="2"/>
              </a:rPr>
              <a:t> </a:t>
            </a:r>
            <a:r>
              <a:rPr lang="en-US" altLang="zh-TW" dirty="0">
                <a:latin typeface="Times New Roman" pitchFamily="18" charset="0"/>
              </a:rPr>
              <a:t>…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 </a:t>
            </a:r>
            <a:r>
              <a:rPr lang="en-US" altLang="zh-TW" dirty="0" err="1"/>
              <a:t>A</a:t>
            </a:r>
            <a:r>
              <a:rPr lang="en-US" altLang="zh-TW" baseline="-25000" dirty="0" err="1"/>
              <a:t>j</a:t>
            </a:r>
            <a:endParaRPr lang="en-US" altLang="zh-TW" baseline="-25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Computation sequence 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Time complexity : O(n</a:t>
            </a:r>
            <a:r>
              <a:rPr lang="en-US" altLang="zh-TW" baseline="30000" dirty="0"/>
              <a:t>3</a:t>
            </a:r>
            <a:r>
              <a:rPr lang="en-US" altLang="zh-TW" dirty="0"/>
              <a:t>)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74629" y="-106878"/>
            <a:ext cx="2917371" cy="12231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8" y="319"/>
            <a:ext cx="1054606" cy="9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681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679450" y="1311275"/>
            <a:ext cx="105156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fr-FR" sz="2400" u="sng" dirty="0"/>
              <a:t>https://webpages.uncc.edu › ras › courses › OB</a:t>
            </a:r>
          </a:p>
          <a:p>
            <a:pPr marL="457200" indent="-457200"/>
            <a:endParaRPr lang="fr-FR" sz="2400" u="sng" dirty="0"/>
          </a:p>
          <a:p>
            <a:pPr marL="457200" indent="-457200"/>
            <a:r>
              <a:rPr lang="fr-FR" sz="2400" dirty="0"/>
              <a:t>Books:</a:t>
            </a:r>
          </a:p>
          <a:p>
            <a:pPr marL="457200" indent="-457200"/>
            <a:endParaRPr lang="fr-FR" sz="2400" u="sng" dirty="0"/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 to Algorithms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Coreman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Leiserson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Rivest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Stein.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Fundamentals of Algorithms by Ellis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Horwitz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Computer Algorithms/C++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Sartaj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Sahni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Sanguthevar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Rajasekaran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27071" y="15203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417132" y="1"/>
            <a:ext cx="2774867" cy="10569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8" y="319"/>
            <a:ext cx="920686" cy="78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3646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9525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4826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356350"/>
            <a:ext cx="27432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10</a:t>
            </a:fld>
            <a:endParaRPr lang="en-I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9347200" y="0"/>
            <a:ext cx="2991262" cy="92392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20918</TotalTime>
  <Words>326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Streamline</vt:lpstr>
      <vt:lpstr>PowerPoint Presentation</vt:lpstr>
      <vt:lpstr>Optimal binary search trees </vt:lpstr>
      <vt:lpstr>Optimal binary search trees</vt:lpstr>
      <vt:lpstr>PowerPoint Presentation</vt:lpstr>
      <vt:lpstr>The dynamic programming approach</vt:lpstr>
      <vt:lpstr>Computation relationships of subtrees</vt:lpstr>
      <vt:lpstr>Matrix-chain multiplication</vt:lpstr>
      <vt:lpstr>PRACTICE PROBLEM BASED ON 0/1 KNAPSACK PROBLEM-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hp</cp:lastModifiedBy>
  <cp:revision>986</cp:revision>
  <dcterms:created xsi:type="dcterms:W3CDTF">2019-05-03T13:26:36Z</dcterms:created>
  <dcterms:modified xsi:type="dcterms:W3CDTF">2025-07-03T07:06:02Z</dcterms:modified>
</cp:coreProperties>
</file>