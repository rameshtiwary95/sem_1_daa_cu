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69" r:id="rId2"/>
  </p:sldMasterIdLst>
  <p:notesMasterIdLst>
    <p:notesMasterId r:id="rId35"/>
  </p:notesMasterIdLst>
  <p:sldIdLst>
    <p:sldId id="457" r:id="rId3"/>
    <p:sldId id="389" r:id="rId4"/>
    <p:sldId id="409" r:id="rId5"/>
    <p:sldId id="410" r:id="rId6"/>
    <p:sldId id="411" r:id="rId7"/>
    <p:sldId id="412" r:id="rId8"/>
    <p:sldId id="413" r:id="rId9"/>
    <p:sldId id="414" r:id="rId10"/>
    <p:sldId id="424" r:id="rId11"/>
    <p:sldId id="423" r:id="rId12"/>
    <p:sldId id="425" r:id="rId13"/>
    <p:sldId id="426" r:id="rId14"/>
    <p:sldId id="436" r:id="rId15"/>
    <p:sldId id="437" r:id="rId16"/>
    <p:sldId id="435" r:id="rId17"/>
    <p:sldId id="441" r:id="rId18"/>
    <p:sldId id="442" r:id="rId19"/>
    <p:sldId id="443" r:id="rId20"/>
    <p:sldId id="444" r:id="rId21"/>
    <p:sldId id="445" r:id="rId22"/>
    <p:sldId id="446" r:id="rId23"/>
    <p:sldId id="440" r:id="rId24"/>
    <p:sldId id="447" r:id="rId25"/>
    <p:sldId id="448" r:id="rId26"/>
    <p:sldId id="449" r:id="rId27"/>
    <p:sldId id="450" r:id="rId28"/>
    <p:sldId id="451" r:id="rId29"/>
    <p:sldId id="452" r:id="rId30"/>
    <p:sldId id="453" r:id="rId31"/>
    <p:sldId id="454" r:id="rId32"/>
    <p:sldId id="455" r:id="rId33"/>
    <p:sldId id="456" r:id="rId34"/>
  </p:sldIdLst>
  <p:sldSz cx="12192000" cy="6858000"/>
  <p:notesSz cx="6858000" cy="9144000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BC4"/>
    <a:srgbClr val="0D8BC3"/>
    <a:srgbClr val="2ED9FA"/>
    <a:srgbClr val="0BDEE3"/>
    <a:srgbClr val="07D3D3"/>
    <a:srgbClr val="07DDF3"/>
    <a:srgbClr val="57ACF3"/>
    <a:srgbClr val="3399FF"/>
    <a:srgbClr val="33CCFF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4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8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876" y="115888"/>
            <a:ext cx="8501448" cy="987982"/>
          </a:xfrm>
          <a:ln w="9525"/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81692"/>
            <a:ext cx="9144000" cy="1655762"/>
          </a:xfrm>
          <a:ln w="12700"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3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 smtClean="0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922339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958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9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4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5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3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8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9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12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976" y="298268"/>
            <a:ext cx="6508845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0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552" y="284820"/>
            <a:ext cx="6508845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6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/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50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755" y="365504"/>
            <a:ext cx="6508845" cy="1026947"/>
          </a:xfrm>
          <a:ln w="9525">
            <a:solidFill>
              <a:schemeClr val="tx1"/>
            </a:solidFill>
          </a:ln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0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1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440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73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92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542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237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93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58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24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914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394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61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440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952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5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923928" y="134944"/>
            <a:ext cx="8391525" cy="904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9451" y="1311275"/>
            <a:ext cx="10515600" cy="4351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0" name="Picture 2" descr="Image result for chandigarh university logo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9" y="104775"/>
            <a:ext cx="60642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-2753939" y="293688"/>
            <a:ext cx="5146676" cy="5853112"/>
          </a:xfrm>
          <a:prstGeom prst="rtTriangle">
            <a:avLst/>
          </a:prstGeom>
          <a:solidFill>
            <a:schemeClr val="bg1">
              <a:lumMod val="85000"/>
              <a:alpha val="26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800" kern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1668129" y="5108575"/>
            <a:ext cx="409575" cy="1612900"/>
            <a:chOff x="83821" y="0"/>
            <a:chExt cx="219636" cy="903079"/>
          </a:xfrm>
        </p:grpSpPr>
        <p:sp>
          <p:nvSpPr>
            <p:cNvPr id="10" name="Rectangle 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graphicFrame>
          <p:nvGraphicFramePr>
            <p:cNvPr id="1040" name="Object 1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1" imgW="2169000" imgH="2169360" progId="">
                    <p:embed/>
                  </p:oleObj>
                </mc:Choice>
                <mc:Fallback>
                  <p:oleObj name="CorelDRAW" r:id="rId21" imgW="2169000" imgH="2169360" progId="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 rot="10800000">
            <a:off x="3" y="6251581"/>
            <a:ext cx="731839" cy="606425"/>
            <a:chOff x="5401469" y="1588"/>
            <a:chExt cx="1389063" cy="540239"/>
          </a:xfrm>
        </p:grpSpPr>
        <p:sp>
          <p:nvSpPr>
            <p:cNvPr id="1035" name="Freeform 5"/>
            <p:cNvSpPr>
              <a:spLocks/>
            </p:cNvSpPr>
            <p:nvPr/>
          </p:nvSpPr>
          <p:spPr bwMode="auto">
            <a:xfrm>
              <a:off x="5401469" y="1588"/>
              <a:ext cx="1205279" cy="540239"/>
            </a:xfrm>
            <a:custGeom>
              <a:avLst/>
              <a:gdLst>
                <a:gd name="T0" fmla="*/ 0 w 1410"/>
                <a:gd name="T1" fmla="*/ 0 h 632"/>
                <a:gd name="T2" fmla="*/ 2147483646 w 1410"/>
                <a:gd name="T3" fmla="*/ 2147483646 h 632"/>
                <a:gd name="T4" fmla="*/ 2147483646 w 1410"/>
                <a:gd name="T5" fmla="*/ 2147483646 h 632"/>
                <a:gd name="T6" fmla="*/ 2147483646 w 1410"/>
                <a:gd name="T7" fmla="*/ 0 h 632"/>
                <a:gd name="T8" fmla="*/ 0 w 1410"/>
                <a:gd name="T9" fmla="*/ 0 h 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0" h="632">
                  <a:moveTo>
                    <a:pt x="0" y="0"/>
                  </a:moveTo>
                  <a:lnTo>
                    <a:pt x="630" y="632"/>
                  </a:lnTo>
                  <a:lnTo>
                    <a:pt x="1410" y="632"/>
                  </a:lnTo>
                  <a:lnTo>
                    <a:pt x="78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C344C"/>
                </a:gs>
                <a:gs pos="100000">
                  <a:srgbClr val="D80F7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1800"/>
            </a:p>
          </p:txBody>
        </p:sp>
        <p:sp>
          <p:nvSpPr>
            <p:cNvPr id="1036" name="Freeform 6"/>
            <p:cNvSpPr>
              <a:spLocks/>
            </p:cNvSpPr>
            <p:nvPr/>
          </p:nvSpPr>
          <p:spPr bwMode="auto">
            <a:xfrm>
              <a:off x="6252003" y="1588"/>
              <a:ext cx="538529" cy="426549"/>
            </a:xfrm>
            <a:custGeom>
              <a:avLst/>
              <a:gdLst>
                <a:gd name="T0" fmla="*/ 0 w 630"/>
                <a:gd name="T1" fmla="*/ 0 h 499"/>
                <a:gd name="T2" fmla="*/ 2147483646 w 630"/>
                <a:gd name="T3" fmla="*/ 2147483646 h 499"/>
                <a:gd name="T4" fmla="*/ 2147483646 w 630"/>
                <a:gd name="T5" fmla="*/ 2147483646 h 499"/>
                <a:gd name="T6" fmla="*/ 2147483646 w 630"/>
                <a:gd name="T7" fmla="*/ 0 h 499"/>
                <a:gd name="T8" fmla="*/ 0 w 630"/>
                <a:gd name="T9" fmla="*/ 0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499">
                  <a:moveTo>
                    <a:pt x="0" y="0"/>
                  </a:moveTo>
                  <a:lnTo>
                    <a:pt x="498" y="499"/>
                  </a:lnTo>
                  <a:lnTo>
                    <a:pt x="630" y="499"/>
                  </a:lnTo>
                  <a:lnTo>
                    <a:pt x="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1800"/>
            </a:p>
          </p:txBody>
        </p:sp>
      </p:grpSp>
      <p:pic>
        <p:nvPicPr>
          <p:cNvPr id="16" name="Picture 2" descr="C:\Users\OM\Downloads\naac-sticker.png">
            <a:extLst>
              <a:ext uri="{FF2B5EF4-FFF2-40B4-BE49-F238E27FC236}">
                <a16:creationId xmlns:a16="http://schemas.microsoft.com/office/drawing/2014/main" id="{D7427353-50B9-40E6-8D87-DD3C5C9CF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/>
          <a:srcRect b="23807"/>
          <a:stretch>
            <a:fillRect/>
          </a:stretch>
        </p:blipFill>
        <p:spPr bwMode="auto">
          <a:xfrm>
            <a:off x="9558792" y="231100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73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49" r:id="rId18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395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9195" y="1268779"/>
            <a:ext cx="10951200" cy="4367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US" sz="4267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IN" sz="4267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MASTER OF COMPUTER APPLICATIONS</a:t>
            </a:r>
            <a:endParaRPr sz="1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667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DESIGN AND ANALYSIS OF ALGORITHMS</a:t>
            </a:r>
            <a:endParaRPr sz="1867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667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25 CAT 611</a:t>
            </a:r>
            <a:endParaRPr sz="2133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 No.  3                    Chapter No.  3.3.2                  </a:t>
            </a: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Topic :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Travelling Salesman Problem | Branch &amp; Bound</a:t>
            </a:r>
            <a:endParaRPr lang="en-US" sz="2400" b="1" kern="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 and </a:t>
            </a:r>
            <a:r>
              <a:rPr lang="en-US" sz="2400" b="1" kern="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E_Code</a:t>
            </a: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Dr. Sameera(17674)                 Designation: Asst. Professor</a:t>
            </a:r>
            <a:endParaRPr lang="en-US" sz="4267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400" b="1" kern="0" dirty="0">
                <a:solidFill>
                  <a:srgbClr val="FFFFFF">
                    <a:lumMod val="65000"/>
                  </a:srgbClr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133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5" y="161832"/>
            <a:ext cx="7197351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Travelling Salesman Problem | Branch &amp; 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47775"/>
            <a:ext cx="11222038" cy="51530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400" dirty="0"/>
              <a:t> </a:t>
            </a:r>
            <a:endParaRPr lang="en-IN" sz="24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88260" y="1641011"/>
            <a:ext cx="10757646" cy="41716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501" rIns="0" bIns="7141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sng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Travelling Salesman Problem-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You are given-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A set of some cities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Distance between every pair of cities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Travelling Salesman Problem states-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A salesman has to visit every city exactly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He has to come back to the city from where he starts his journey.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Times New Roman" pitchFamily="18" charset="0"/>
                <a:cs typeface="Times New Roman" pitchFamily="18" charset="0"/>
              </a:rPr>
              <a:t>What is the shortest possible route that the salesman must follow to complete his tour?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  <a:cs typeface="Arial" pitchFamily="34" charset="0"/>
              </a:rPr>
              <a:t> 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114ED-1B67-498D-7299-DC0247FF9249}"/>
              </a:ext>
            </a:extLst>
          </p:cNvPr>
          <p:cNvSpPr txBox="1"/>
          <p:nvPr/>
        </p:nvSpPr>
        <p:spPr>
          <a:xfrm>
            <a:off x="9344025" y="161832"/>
            <a:ext cx="2743200" cy="88353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BEBF2-CF3A-4028-0BB3-E0B618893659}"/>
              </a:ext>
            </a:extLst>
          </p:cNvPr>
          <p:cNvSpPr txBox="1"/>
          <p:nvPr/>
        </p:nvSpPr>
        <p:spPr>
          <a:xfrm>
            <a:off x="-76200" y="6286500"/>
            <a:ext cx="923365" cy="434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2A930-F635-9DCD-A813-9096E8E7B4C2}"/>
              </a:ext>
            </a:extLst>
          </p:cNvPr>
          <p:cNvSpPr txBox="1"/>
          <p:nvPr/>
        </p:nvSpPr>
        <p:spPr>
          <a:xfrm>
            <a:off x="0" y="6084094"/>
            <a:ext cx="847165" cy="7739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00952" y="134938"/>
            <a:ext cx="6941297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fontAlgn="base"/>
            <a:r>
              <a:rPr lang="en-IN" sz="3600" b="1" dirty="0"/>
              <a:t>Travelling 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47775"/>
            <a:ext cx="11222038" cy="49006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2400" b="1" u="sng" dirty="0"/>
              <a:t>Example-</a:t>
            </a:r>
            <a:endParaRPr lang="en-US" sz="2400" b="1" dirty="0"/>
          </a:p>
          <a:p>
            <a:pPr fontAlgn="base"/>
            <a:r>
              <a:rPr lang="en-US" sz="2400" dirty="0"/>
              <a:t> The following graph shows a set of cities and distance between every pair of cities-</a:t>
            </a:r>
          </a:p>
          <a:p>
            <a:pPr fontAlgn="base">
              <a:buNone/>
            </a:pPr>
            <a:endParaRPr 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287" y="2480458"/>
            <a:ext cx="306705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3F6131-DE28-16CE-C061-7D776AD54C6E}"/>
              </a:ext>
            </a:extLst>
          </p:cNvPr>
          <p:cNvSpPr txBox="1"/>
          <p:nvPr/>
        </p:nvSpPr>
        <p:spPr>
          <a:xfrm>
            <a:off x="9163050" y="134938"/>
            <a:ext cx="2914650" cy="979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F739F-7983-66B3-7723-862B74989CAD}"/>
              </a:ext>
            </a:extLst>
          </p:cNvPr>
          <p:cNvSpPr txBox="1"/>
          <p:nvPr/>
        </p:nvSpPr>
        <p:spPr>
          <a:xfrm>
            <a:off x="-66675" y="6038850"/>
            <a:ext cx="904875" cy="8191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26206" y="168374"/>
            <a:ext cx="849260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Travelling Salesman Problem</a:t>
            </a:r>
            <a:endParaRPr lang="en-IN" sz="4000" dirty="0"/>
          </a:p>
        </p:txBody>
      </p:sp>
      <p:sp>
        <p:nvSpPr>
          <p:cNvPr id="2" name="Rectangle 1"/>
          <p:cNvSpPr/>
          <p:nvPr/>
        </p:nvSpPr>
        <p:spPr>
          <a:xfrm>
            <a:off x="828541" y="1378552"/>
            <a:ext cx="9391224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salesman starting city is A, then a TSP tour in the graph is-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 → B → D → C → 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Cost of the tour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10 + 25 + 30 + 15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80 units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this Lecture, we will discuss how to solve travelling salesman problem using branch and bound approach with example.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14BC2-B19B-0FAF-05E7-E7337A158764}"/>
              </a:ext>
            </a:extLst>
          </p:cNvPr>
          <p:cNvSpPr txBox="1"/>
          <p:nvPr/>
        </p:nvSpPr>
        <p:spPr>
          <a:xfrm>
            <a:off x="9391650" y="168374"/>
            <a:ext cx="2667000" cy="8698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68188" y="134938"/>
            <a:ext cx="7761475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3200" b="1" dirty="0"/>
              <a:t>Travelling Salesman Problem</a:t>
            </a:r>
            <a:endParaRPr lang="en-IN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845712" y="1225689"/>
            <a:ext cx="1003693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en-US" sz="2400" b="1" u="sng" dirty="0"/>
              <a:t> Problem-</a:t>
            </a:r>
            <a:endParaRPr lang="en-US" sz="2400" b="1" dirty="0"/>
          </a:p>
          <a:p>
            <a:r>
              <a:rPr lang="en-US" sz="2400" dirty="0"/>
              <a:t> Solve Travelling Salesman Problem using Branch and Bound Algorithm in the following graph-</a:t>
            </a:r>
          </a:p>
        </p:txBody>
      </p:sp>
      <p:pic>
        <p:nvPicPr>
          <p:cNvPr id="4102" name="Picture 6" descr="https://www.gatevidyalay.com/wp-content/uploads/2018/04/Travelling-Salesman-Problem-Using-Branch-and-Bound-Approach-Problem-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887" y="3401959"/>
            <a:ext cx="367665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0B0D1E-E09D-4A68-CA84-FD30FF45A036}"/>
              </a:ext>
            </a:extLst>
          </p:cNvPr>
          <p:cNvSpPr txBox="1"/>
          <p:nvPr/>
        </p:nvSpPr>
        <p:spPr>
          <a:xfrm>
            <a:off x="9353550" y="134938"/>
            <a:ext cx="27432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4058" y="166688"/>
            <a:ext cx="6995179" cy="6064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591" y="869898"/>
            <a:ext cx="89551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Step-01:</a:t>
            </a:r>
            <a:endParaRPr lang="en-US" sz="2400" b="1" dirty="0"/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Write the initial cost matrix and reduce it-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2056" name="Picture 8" descr="https://www.gatevidyalay.com/wp-content/uploads/2018/04/Travelling-Salesman-Problem-Using-Branch-and-Bound-Approach-Problem-01-Solution-Step-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049" y="2203582"/>
            <a:ext cx="3479800" cy="22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44958" y="471231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/>
              <a:t>Rules</a:t>
            </a:r>
            <a:endParaRPr lang="en-US" b="1" dirty="0"/>
          </a:p>
          <a:p>
            <a:r>
              <a:rPr lang="en-US" dirty="0"/>
              <a:t>To reduce a matrix, perform the row reduction and column reduction of the matrix separately.</a:t>
            </a:r>
          </a:p>
          <a:p>
            <a:r>
              <a:rPr lang="en-US" dirty="0"/>
              <a:t>A row or a column is said to be reduced if it contains at least one entry ‘0’ in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E5CB8-D23E-A061-5271-453027D413CB}"/>
              </a:ext>
            </a:extLst>
          </p:cNvPr>
          <p:cNvSpPr txBox="1"/>
          <p:nvPr/>
        </p:nvSpPr>
        <p:spPr>
          <a:xfrm>
            <a:off x="9334500" y="166688"/>
            <a:ext cx="2743200" cy="10715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0824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5" y="134938"/>
            <a:ext cx="7882498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Row Reduction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0" y="1343025"/>
            <a:ext cx="10972800" cy="5286375"/>
          </a:xfrm>
        </p:spPr>
        <p:txBody>
          <a:bodyPr/>
          <a:lstStyle/>
          <a:p>
            <a:pPr fontAlgn="base"/>
            <a:r>
              <a:rPr lang="en-US" dirty="0"/>
              <a:t>Consider the rows of above matrix one by one.</a:t>
            </a:r>
          </a:p>
          <a:p>
            <a:pPr fontAlgn="base">
              <a:buNone/>
            </a:pPr>
            <a:r>
              <a:rPr lang="en-US" sz="1800" dirty="0"/>
              <a:t>If the row already contains an entry ‘0’, then-</a:t>
            </a:r>
          </a:p>
          <a:p>
            <a:pPr fontAlgn="base">
              <a:buNone/>
            </a:pPr>
            <a:r>
              <a:rPr lang="en-US" sz="1800" dirty="0"/>
              <a:t>There is no need to reduce that row.</a:t>
            </a:r>
          </a:p>
          <a:p>
            <a:pPr fontAlgn="base">
              <a:buNone/>
            </a:pPr>
            <a:r>
              <a:rPr lang="en-US" sz="1800" dirty="0"/>
              <a:t>If the row does not contains an entry ‘0’, then-</a:t>
            </a:r>
          </a:p>
          <a:p>
            <a:pPr fontAlgn="base">
              <a:buNone/>
            </a:pPr>
            <a:r>
              <a:rPr lang="en-US" sz="1800" dirty="0"/>
              <a:t>Reduce that particular row.</a:t>
            </a:r>
          </a:p>
          <a:p>
            <a:pPr fontAlgn="base">
              <a:buNone/>
            </a:pPr>
            <a:r>
              <a:rPr lang="en-US" sz="1800" dirty="0"/>
              <a:t>Select the least value element from that row.</a:t>
            </a:r>
          </a:p>
          <a:p>
            <a:pPr fontAlgn="base">
              <a:buNone/>
            </a:pPr>
            <a:r>
              <a:rPr lang="en-US" sz="1800" dirty="0"/>
              <a:t>Subtract that element from each element of that row.</a:t>
            </a:r>
          </a:p>
          <a:p>
            <a:pPr fontAlgn="base">
              <a:buNone/>
            </a:pPr>
            <a:r>
              <a:rPr lang="en-US" sz="1800" dirty="0"/>
              <a:t>This will create an e</a:t>
            </a:r>
          </a:p>
          <a:p>
            <a:pPr fontAlgn="base">
              <a:buNone/>
            </a:pPr>
            <a:r>
              <a:rPr lang="en-US" sz="1800" dirty="0"/>
              <a:t>Following this, we have-</a:t>
            </a:r>
          </a:p>
          <a:p>
            <a:pPr fontAlgn="base">
              <a:buNone/>
            </a:pPr>
            <a:r>
              <a:rPr lang="en-US" sz="1800" dirty="0"/>
              <a:t>Reduce the elements of row-1 by 4.</a:t>
            </a:r>
          </a:p>
          <a:p>
            <a:pPr fontAlgn="base">
              <a:buNone/>
            </a:pPr>
            <a:r>
              <a:rPr lang="en-US" sz="1800" dirty="0"/>
              <a:t>Reduce the elements of row-2 by 5.</a:t>
            </a:r>
          </a:p>
          <a:p>
            <a:pPr fontAlgn="base">
              <a:buNone/>
            </a:pPr>
            <a:r>
              <a:rPr lang="en-US" sz="1800" dirty="0"/>
              <a:t>Reduce the elements of row-3 by 6.</a:t>
            </a:r>
          </a:p>
          <a:p>
            <a:pPr fontAlgn="base">
              <a:buNone/>
            </a:pPr>
            <a:r>
              <a:rPr lang="en-US" sz="1800" dirty="0"/>
              <a:t>Reduce the elements of row-4 by 2.</a:t>
            </a:r>
          </a:p>
          <a:p>
            <a:pPr fontAlgn="base">
              <a:buNone/>
            </a:pPr>
            <a:r>
              <a:rPr lang="en-US" sz="1800" dirty="0"/>
              <a:t>Entry ‘0’ in that row, thus reducing that row.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BA05E-3EF2-8DE4-5A3F-9D076A4F070F}"/>
              </a:ext>
            </a:extLst>
          </p:cNvPr>
          <p:cNvSpPr txBox="1"/>
          <p:nvPr/>
        </p:nvSpPr>
        <p:spPr>
          <a:xfrm>
            <a:off x="9239250" y="134938"/>
            <a:ext cx="2847975" cy="10175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4" y="134938"/>
            <a:ext cx="7034773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200" dirty="0"/>
              <a:t>Row Reduction</a:t>
            </a:r>
            <a:endParaRPr lang="en-US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974500" y="1360645"/>
            <a:ext cx="9238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  Performing this, we obtain the following row-reduced matrix.  </a:t>
            </a:r>
          </a:p>
        </p:txBody>
      </p:sp>
      <p:sp>
        <p:nvSpPr>
          <p:cNvPr id="6" name="AutoShape 4" descr="https://www.gatevidyalay.com/wp-content/uploads/2018/06/Find-Chromatic-Number-of-Graph-Problem-0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https://www.gatevidyalay.com/wp-content/uploads/2018/06/Find-Chromatic-Number-of-Graph-Problem-0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55" name="Picture 11" descr="https://www.gatevidyalay.com/wp-content/uploads/2018/04/Travelling-Salesman-Problem-Using-Branch-and-Bound-Approach-Problem-01-Solution-Step-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2137021"/>
            <a:ext cx="3680854" cy="309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31B3A5-0A3A-249E-E624-50C587D40489}"/>
              </a:ext>
            </a:extLst>
          </p:cNvPr>
          <p:cNvSpPr txBox="1"/>
          <p:nvPr/>
        </p:nvSpPr>
        <p:spPr>
          <a:xfrm>
            <a:off x="9324975" y="160338"/>
            <a:ext cx="2743200" cy="11160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134938"/>
            <a:ext cx="7815263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600" dirty="0"/>
              <a:t> </a:t>
            </a:r>
            <a:r>
              <a:rPr lang="en-IN" sz="3600" b="1" u="sng" dirty="0"/>
              <a:t>Column Reduction-</a:t>
            </a:r>
            <a:endParaRPr lang="en-IN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935865" y="1165458"/>
            <a:ext cx="9071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935864" y="1167662"/>
            <a:ext cx="9946784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Consider the columns of above row-reduced matrix one by one.</a:t>
            </a:r>
          </a:p>
          <a:p>
            <a:r>
              <a:rPr lang="en-US" sz="2800" dirty="0"/>
              <a:t> If the column already contains an entry ‘0’, then-</a:t>
            </a:r>
          </a:p>
          <a:p>
            <a:r>
              <a:rPr lang="en-US" sz="2800" dirty="0"/>
              <a:t>There is no need to reduce that column.</a:t>
            </a:r>
          </a:p>
          <a:p>
            <a:r>
              <a:rPr lang="en-US" sz="2800" dirty="0"/>
              <a:t> If the column does not contains an entry ‘0’, then-</a:t>
            </a:r>
          </a:p>
          <a:p>
            <a:r>
              <a:rPr lang="en-US" sz="2800" dirty="0"/>
              <a:t>Reduce that particular column.</a:t>
            </a:r>
          </a:p>
          <a:p>
            <a:r>
              <a:rPr lang="en-US" sz="2800" dirty="0"/>
              <a:t>Select the least value element from that column.</a:t>
            </a:r>
          </a:p>
          <a:p>
            <a:r>
              <a:rPr lang="en-US" sz="2800" dirty="0"/>
              <a:t>Subtract that element from each element of that column.</a:t>
            </a:r>
          </a:p>
          <a:p>
            <a:r>
              <a:rPr lang="en-US" sz="2800" dirty="0"/>
              <a:t>This will create an entry ‘0’ in that column, thus reducing that column.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A68D01-BB89-C226-8BE7-1DC4BA4F3D1C}"/>
              </a:ext>
            </a:extLst>
          </p:cNvPr>
          <p:cNvSpPr txBox="1"/>
          <p:nvPr/>
        </p:nvSpPr>
        <p:spPr>
          <a:xfrm>
            <a:off x="9401175" y="134938"/>
            <a:ext cx="27432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4744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4059" y="211885"/>
            <a:ext cx="7658100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b="1" u="sng" dirty="0"/>
              <a:t>Column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386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Following this, we have-</a:t>
            </a:r>
          </a:p>
          <a:p>
            <a:pPr fontAlgn="base"/>
            <a:r>
              <a:rPr lang="en-US" sz="2400" dirty="0"/>
              <a:t>There is no need to reduce column-1.</a:t>
            </a:r>
          </a:p>
          <a:p>
            <a:pPr fontAlgn="base"/>
            <a:r>
              <a:rPr lang="en-US" sz="2400" dirty="0"/>
              <a:t>There is no need to reduce column-2.</a:t>
            </a:r>
          </a:p>
          <a:p>
            <a:pPr fontAlgn="base"/>
            <a:r>
              <a:rPr lang="en-US" sz="2400" dirty="0"/>
              <a:t>Reduce the elements of column-3 by 1.</a:t>
            </a:r>
          </a:p>
          <a:p>
            <a:pPr fontAlgn="base"/>
            <a:r>
              <a:rPr lang="en-US" sz="2400" dirty="0"/>
              <a:t>There is no need to reduce column-4.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Performing this, we obtain the following column-reduced matrix-</a:t>
            </a:r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Finally, the initial distance matrix is completely reduced.</a:t>
            </a:r>
          </a:p>
        </p:txBody>
      </p:sp>
      <p:pic>
        <p:nvPicPr>
          <p:cNvPr id="1026" name="Picture 2" descr="https://www.gatevidyalay.com/wp-content/uploads/2018/04/Travelling-Salesman-Problem-Using-Branch-and-Bound-Approach-Problem-01-Solution-Step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967" y="4017336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6C5EBE-2C11-0F78-79BF-BB1EB3A21634}"/>
              </a:ext>
            </a:extLst>
          </p:cNvPr>
          <p:cNvSpPr txBox="1"/>
          <p:nvPr/>
        </p:nvSpPr>
        <p:spPr>
          <a:xfrm>
            <a:off x="9305925" y="160337"/>
            <a:ext cx="2743200" cy="9564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3779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87506" y="198438"/>
            <a:ext cx="7778750" cy="78105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Column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104900"/>
            <a:ext cx="10515600" cy="5464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Now, we calculate the cost of node-1 by adding all the reduction elements.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Cost(1)</a:t>
            </a:r>
          </a:p>
          <a:p>
            <a:pPr fontAlgn="base"/>
            <a:r>
              <a:rPr lang="en-US" sz="2400" dirty="0"/>
              <a:t>= Sum of all reduction elements</a:t>
            </a:r>
          </a:p>
          <a:p>
            <a:pPr fontAlgn="base"/>
            <a:r>
              <a:rPr lang="en-US" sz="2400" dirty="0"/>
              <a:t>= 4 + 5 + 6 + 2 + 1</a:t>
            </a:r>
          </a:p>
          <a:p>
            <a:pPr fontAlgn="base"/>
            <a:r>
              <a:rPr lang="en-US" sz="2400" dirty="0"/>
              <a:t>= 18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b="1" u="sng" dirty="0"/>
              <a:t>Step-02:</a:t>
            </a:r>
            <a:endParaRPr lang="en-US" sz="2400" b="1" dirty="0"/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We consider all other vertices one by one.</a:t>
            </a:r>
          </a:p>
          <a:p>
            <a:pPr fontAlgn="base"/>
            <a:r>
              <a:rPr lang="en-US" sz="2400" dirty="0"/>
              <a:t>We select the best vertex where we can land upon to minimize the tour cost.</a:t>
            </a:r>
          </a:p>
          <a:p>
            <a:pPr fontAlgn="base"/>
            <a:endParaRPr lang="en-US" sz="2200" dirty="0"/>
          </a:p>
        </p:txBody>
      </p:sp>
      <p:sp>
        <p:nvSpPr>
          <p:cNvPr id="3" name="AutoShape 2" descr="https://www.gatevidyalay.com/wp-content/uploads/2018/06/Find-Chromatic-Number-of-Graph-Problem-03-Solution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B2C4B-0DBE-0A97-A271-873BEB7DB97D}"/>
              </a:ext>
            </a:extLst>
          </p:cNvPr>
          <p:cNvSpPr txBox="1"/>
          <p:nvPr/>
        </p:nvSpPr>
        <p:spPr>
          <a:xfrm>
            <a:off x="9410700" y="160338"/>
            <a:ext cx="2625725" cy="8191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4900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3717" y="211885"/>
            <a:ext cx="7658100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dirty="0"/>
              <a:t>Column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253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b="1" u="sng" dirty="0"/>
              <a:t>Choosing To Go To Vertex-B: Node-2 (Path A → B)</a:t>
            </a:r>
            <a:endParaRPr lang="en-US" sz="2400" b="1" dirty="0"/>
          </a:p>
          <a:p>
            <a:pPr fontAlgn="base"/>
            <a:r>
              <a:rPr lang="en-US" sz="2400" dirty="0"/>
              <a:t> From the reduced matrix of step-01, M[A,B] = 0</a:t>
            </a:r>
          </a:p>
          <a:p>
            <a:pPr fontAlgn="base"/>
            <a:r>
              <a:rPr lang="en-US" sz="2400" dirty="0"/>
              <a:t>Set row-A and column-B to ∞</a:t>
            </a:r>
          </a:p>
          <a:p>
            <a:pPr fontAlgn="base"/>
            <a:r>
              <a:rPr lang="en-US" sz="2400" dirty="0"/>
              <a:t>Set M[B,A] = ∞</a:t>
            </a:r>
          </a:p>
          <a:p>
            <a:pPr fontAlgn="base"/>
            <a:r>
              <a:rPr lang="en-US" sz="2400" dirty="0"/>
              <a:t> Now, resulting cost matrix is-</a:t>
            </a:r>
          </a:p>
          <a:p>
            <a:pPr fontAlgn="base"/>
            <a:endParaRPr lang="en-US" sz="2400" dirty="0"/>
          </a:p>
          <a:p>
            <a:pPr fontAlgn="base">
              <a:buNone/>
            </a:pPr>
            <a:endParaRPr lang="en-US" sz="2400" dirty="0"/>
          </a:p>
          <a:p>
            <a:pPr fontAlgn="base"/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node-02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pic>
        <p:nvPicPr>
          <p:cNvPr id="2050" name="Picture 2" descr="https://www.gatevidyalay.com/wp-content/uploads/2018/04/Travelling-Salesman-Problem-Using-Branch-and-Bound-Approach-Problem-01-Solution-Step-0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823" y="2871117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BE38C7-A1F0-3325-B0BD-499B85FA84E9}"/>
              </a:ext>
            </a:extLst>
          </p:cNvPr>
          <p:cNvSpPr txBox="1"/>
          <p:nvPr/>
        </p:nvSpPr>
        <p:spPr>
          <a:xfrm>
            <a:off x="9410700" y="211885"/>
            <a:ext cx="27432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75103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5" y="211885"/>
            <a:ext cx="7670800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r>
              <a:rPr lang="en-US" sz="4400" b="1" u="sng" dirty="0"/>
              <a:t>Row Reduction-</a:t>
            </a:r>
            <a:br>
              <a:rPr lang="en-US" sz="4400" b="1" dirty="0"/>
            </a:b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474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We can not reduce row-1 as all its elements are ∞.</a:t>
            </a:r>
          </a:p>
          <a:p>
            <a:pPr fontAlgn="base"/>
            <a:r>
              <a:rPr lang="en-US" sz="2400" dirty="0"/>
              <a:t>Reduce all the elements of row-2 by 13.</a:t>
            </a:r>
          </a:p>
          <a:p>
            <a:pPr fontAlgn="base"/>
            <a:r>
              <a:rPr lang="en-US" sz="2400" dirty="0"/>
              <a:t>There is no need to reduce row-3.</a:t>
            </a:r>
          </a:p>
          <a:p>
            <a:pPr fontAlgn="base"/>
            <a:r>
              <a:rPr lang="en-US" sz="2400" dirty="0"/>
              <a:t>There is no need to reduce row-4.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Performing this, we obtain the following row-reduced matrix-</a:t>
            </a:r>
          </a:p>
          <a:p>
            <a:pPr fontAlgn="base">
              <a:buNone/>
            </a:pPr>
            <a:endParaRPr lang="en-US" sz="3200" dirty="0"/>
          </a:p>
          <a:p>
            <a:pPr fontAlgn="base"/>
            <a:endParaRPr lang="en-US" sz="24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3074" name="Picture 2" descr="https://www.gatevidyalay.com/wp-content/uploads/2018/04/Travelling-Salesman-Problem-Using-Branch-and-Bound-Approach-Problem-01-Solution-Step-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910" y="3721122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C23438-9D1F-99DF-AB2F-274A66B9CF93}"/>
              </a:ext>
            </a:extLst>
          </p:cNvPr>
          <p:cNvSpPr txBox="1"/>
          <p:nvPr/>
        </p:nvSpPr>
        <p:spPr>
          <a:xfrm>
            <a:off x="9344025" y="72406"/>
            <a:ext cx="2743200" cy="9753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43665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20271" y="199185"/>
            <a:ext cx="8518525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r>
              <a:rPr lang="en-US" sz="4400" b="1" u="sng" dirty="0"/>
              <a:t>Column Reduction-</a:t>
            </a:r>
            <a:br>
              <a:rPr lang="en-US" sz="4400" b="1" dirty="0"/>
            </a:b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8437563" cy="46987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Reduce the elements of column-1 by 5.</a:t>
            </a:r>
          </a:p>
          <a:p>
            <a:pPr fontAlgn="base"/>
            <a:r>
              <a:rPr lang="en-US" sz="2400" dirty="0"/>
              <a:t>We can not reduce column-2 as all its elements are ∞.</a:t>
            </a:r>
          </a:p>
          <a:p>
            <a:pPr fontAlgn="base"/>
            <a:r>
              <a:rPr lang="en-US" sz="2400" dirty="0"/>
              <a:t>There is no need to reduce column-3.</a:t>
            </a:r>
          </a:p>
          <a:p>
            <a:pPr fontAlgn="base"/>
            <a:r>
              <a:rPr lang="en-US" sz="2400" dirty="0"/>
              <a:t>There is no need to reduce column-4. </a:t>
            </a:r>
          </a:p>
          <a:p>
            <a:pPr fontAlgn="base"/>
            <a:r>
              <a:rPr lang="en-US" sz="2400" dirty="0"/>
              <a:t>Performing this, we obtain the following column-reduced matrix-</a:t>
            </a:r>
          </a:p>
          <a:p>
            <a:pPr>
              <a:buNone/>
            </a:pPr>
            <a:r>
              <a:rPr lang="en-US" sz="2000" dirty="0"/>
              <a:t>Finally, the matrix is completely reduced.</a:t>
            </a:r>
          </a:p>
          <a:p>
            <a:pPr>
              <a:buNone/>
            </a:pPr>
            <a:r>
              <a:rPr lang="en-US" sz="2000" dirty="0"/>
              <a:t>Now, we calculate the cost of node-2.</a:t>
            </a:r>
          </a:p>
          <a:p>
            <a:pPr>
              <a:buNone/>
            </a:pPr>
            <a:r>
              <a:rPr lang="en-US" sz="2000" dirty="0"/>
              <a:t> Cost(2)</a:t>
            </a:r>
          </a:p>
          <a:p>
            <a:pPr>
              <a:buNone/>
            </a:pPr>
            <a:r>
              <a:rPr lang="en-US" sz="2000" dirty="0"/>
              <a:t>= Cost(1) + Sum of reduction elements + M[A,B]</a:t>
            </a:r>
          </a:p>
          <a:p>
            <a:pPr>
              <a:buNone/>
            </a:pPr>
            <a:r>
              <a:rPr lang="en-US" sz="2000" dirty="0"/>
              <a:t>= 18 + (13 + 5) + 0</a:t>
            </a:r>
          </a:p>
          <a:p>
            <a:pPr>
              <a:buNone/>
            </a:pPr>
            <a:r>
              <a:rPr lang="en-US" sz="2000" dirty="0"/>
              <a:t>= 36</a:t>
            </a:r>
          </a:p>
        </p:txBody>
      </p:sp>
      <p:pic>
        <p:nvPicPr>
          <p:cNvPr id="4098" name="Picture 2" descr="https://www.gatevidyalay.com/wp-content/uploads/2018/04/Travelling-Salesman-Problem-Using-Branch-and-Bound-Approach-Problem-01-Solution-Step-0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181" y="3618939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E05CB1-3265-7A11-B7D5-F05D01F8FC43}"/>
              </a:ext>
            </a:extLst>
          </p:cNvPr>
          <p:cNvSpPr txBox="1"/>
          <p:nvPr/>
        </p:nvSpPr>
        <p:spPr>
          <a:xfrm>
            <a:off x="9338796" y="199185"/>
            <a:ext cx="2757954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1527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8529" y="198438"/>
            <a:ext cx="8019584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l"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3100" b="1" u="sng" dirty="0"/>
              <a:t>Choosing To Go To Vertex-C: Node-3 (Path A → C)</a:t>
            </a:r>
            <a:br>
              <a:rPr lang="en-US" sz="3100" b="1" dirty="0"/>
            </a:br>
            <a:r>
              <a:rPr lang="en-US" sz="4400" dirty="0"/>
              <a:t> </a:t>
            </a:r>
            <a:br>
              <a:rPr lang="en-US" sz="4400" dirty="0"/>
            </a:b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524435" y="1284381"/>
            <a:ext cx="10515600" cy="4570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From the reduced matrix of step-01, M[A,C] = 7</a:t>
            </a:r>
          </a:p>
          <a:p>
            <a:pPr fontAlgn="base"/>
            <a:r>
              <a:rPr lang="en-US" sz="2400" dirty="0"/>
              <a:t>Set row-A and column-C to ∞</a:t>
            </a:r>
          </a:p>
          <a:p>
            <a:pPr fontAlgn="base"/>
            <a:r>
              <a:rPr lang="en-US" sz="2400" dirty="0"/>
              <a:t>Set M[C,A]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is:</a:t>
            </a:r>
          </a:p>
          <a:p>
            <a:pPr fontAlgn="base"/>
            <a:endParaRPr lang="en-US" sz="2400" dirty="0"/>
          </a:p>
          <a:p>
            <a:r>
              <a:rPr lang="en-US" sz="2400" dirty="0"/>
              <a:t>Now,</a:t>
            </a:r>
          </a:p>
          <a:p>
            <a:r>
              <a:rPr lang="en-US" sz="2400" dirty="0"/>
              <a:t>We reduce this matrix.</a:t>
            </a:r>
          </a:p>
          <a:p>
            <a:r>
              <a:rPr lang="en-US" sz="2400" dirty="0"/>
              <a:t>Then, we find out the cost of node-03.</a:t>
            </a:r>
          </a:p>
          <a:p>
            <a:pPr fontAlgn="base"/>
            <a:endParaRPr lang="en-US" sz="2400" dirty="0"/>
          </a:p>
        </p:txBody>
      </p:sp>
      <p:pic>
        <p:nvPicPr>
          <p:cNvPr id="5122" name="Picture 2" descr="https://www.gatevidyalay.com/wp-content/uploads/2018/04/Travelling-Salesman-Problem-Using-Branch-and-Bound-Approach-Problem-01-Solution-Step-0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080" y="3296119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57412A-A5F5-C2B4-3484-C34CF9D46F40}"/>
              </a:ext>
            </a:extLst>
          </p:cNvPr>
          <p:cNvSpPr txBox="1"/>
          <p:nvPr/>
        </p:nvSpPr>
        <p:spPr>
          <a:xfrm>
            <a:off x="9401175" y="198438"/>
            <a:ext cx="2657475" cy="8046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65917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93376" y="198438"/>
            <a:ext cx="6823449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b="1" u="sng" dirty="0"/>
              <a:t>Row Reduction-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287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/>
              <a:t>We can not reduce row-1 as all its elements are ∞.</a:t>
            </a:r>
          </a:p>
          <a:p>
            <a:pPr fontAlgn="base"/>
            <a:r>
              <a:rPr lang="en-US" sz="2000" dirty="0"/>
              <a:t>There is no need to reduce row-2.</a:t>
            </a:r>
          </a:p>
          <a:p>
            <a:pPr fontAlgn="base"/>
            <a:r>
              <a:rPr lang="en-US" sz="2000" dirty="0"/>
              <a:t>There is no need to reduce row-3.</a:t>
            </a:r>
          </a:p>
          <a:p>
            <a:pPr fontAlgn="base"/>
            <a:r>
              <a:rPr lang="en-US" sz="2000" dirty="0"/>
              <a:t>There is no need to reduce row-4.</a:t>
            </a:r>
          </a:p>
          <a:p>
            <a:pPr fontAlgn="base"/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Thus, the matrix is already row-reduced.</a:t>
            </a:r>
          </a:p>
          <a:p>
            <a:pPr fontAlgn="base"/>
            <a:r>
              <a:rPr lang="en-US" sz="2000" b="1" u="sng" dirty="0"/>
              <a:t>Column Reduction-</a:t>
            </a:r>
            <a:endParaRPr lang="en-US" sz="2000" b="1" dirty="0"/>
          </a:p>
          <a:p>
            <a:pPr fontAlgn="base"/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There is no need to reduce column-1.</a:t>
            </a:r>
          </a:p>
          <a:p>
            <a:pPr fontAlgn="base"/>
            <a:r>
              <a:rPr lang="en-US" sz="2000" dirty="0"/>
              <a:t>There is no need to reduce column-2.</a:t>
            </a:r>
          </a:p>
          <a:p>
            <a:pPr fontAlgn="base"/>
            <a:r>
              <a:rPr lang="en-US" sz="2000" dirty="0"/>
              <a:t>We can not reduce column-3 as all its elements are ∞.</a:t>
            </a:r>
          </a:p>
          <a:p>
            <a:pPr fontAlgn="base"/>
            <a:r>
              <a:rPr lang="en-US" sz="2000" dirty="0"/>
              <a:t>There is no need to reduce column-4.</a:t>
            </a:r>
          </a:p>
          <a:p>
            <a:pPr fontAlgn="base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2A282-A6A3-D0FA-9B9C-9F060DA5942C}"/>
              </a:ext>
            </a:extLst>
          </p:cNvPr>
          <p:cNvSpPr txBox="1"/>
          <p:nvPr/>
        </p:nvSpPr>
        <p:spPr>
          <a:xfrm>
            <a:off x="9372600" y="198438"/>
            <a:ext cx="2743200" cy="8302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31963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4741" y="198438"/>
            <a:ext cx="6757334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4400" b="1" u="sng" dirty="0"/>
              <a:t>Column Reduction-</a:t>
            </a: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45704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endParaRPr lang="en-US" sz="2400" dirty="0"/>
          </a:p>
          <a:p>
            <a:r>
              <a:rPr lang="en-US" sz="2400" dirty="0"/>
              <a:t>Thus, the matrix is already column reduced.</a:t>
            </a:r>
          </a:p>
          <a:p>
            <a:r>
              <a:rPr lang="en-US" sz="2400" dirty="0"/>
              <a:t>Finally, the matrix is completely reduced.</a:t>
            </a:r>
          </a:p>
          <a:p>
            <a:r>
              <a:rPr lang="en-US" sz="2400" dirty="0"/>
              <a:t>Now, we calculate the cost of node-3.</a:t>
            </a:r>
          </a:p>
          <a:p>
            <a:pPr fontAlgn="base">
              <a:buNone/>
            </a:pPr>
            <a:r>
              <a:rPr lang="en-US" sz="2400" dirty="0"/>
              <a:t> </a:t>
            </a:r>
          </a:p>
          <a:p>
            <a:pPr fontAlgn="base">
              <a:buNone/>
            </a:pPr>
            <a:r>
              <a:rPr lang="en-US" sz="2400" dirty="0"/>
              <a:t>Cost(3)</a:t>
            </a:r>
          </a:p>
          <a:p>
            <a:pPr fontAlgn="base">
              <a:buNone/>
            </a:pPr>
            <a:r>
              <a:rPr lang="en-US" sz="2400" dirty="0"/>
              <a:t>= Cost(1) + Sum of reduction elements + M[A,C]</a:t>
            </a:r>
          </a:p>
          <a:p>
            <a:pPr fontAlgn="base">
              <a:buNone/>
            </a:pPr>
            <a:r>
              <a:rPr lang="en-US" sz="2400" dirty="0"/>
              <a:t>= 18 + 0 + 7</a:t>
            </a:r>
          </a:p>
          <a:p>
            <a:pPr fontAlgn="base">
              <a:buNone/>
            </a:pPr>
            <a:r>
              <a:rPr lang="en-US" sz="2400" dirty="0"/>
              <a:t>= 25</a:t>
            </a:r>
          </a:p>
          <a:p>
            <a:pPr fontAlgn="base"/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0CCDA-AA8F-01FC-87CD-6C1E7AD0CB1F}"/>
              </a:ext>
            </a:extLst>
          </p:cNvPr>
          <p:cNvSpPr txBox="1"/>
          <p:nvPr/>
        </p:nvSpPr>
        <p:spPr>
          <a:xfrm>
            <a:off x="9363075" y="198438"/>
            <a:ext cx="27432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2650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8" y="198438"/>
            <a:ext cx="870024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3100" b="1" u="sng" dirty="0"/>
              <a:t>Choosing To Go To Vertex-D: Node-4 (Path A → D)</a:t>
            </a:r>
            <a:br>
              <a:rPr lang="en-US" sz="3100" b="1" dirty="0"/>
            </a:br>
            <a:r>
              <a:rPr lang="en-US" sz="4400" dirty="0"/>
              <a:t> </a:t>
            </a:r>
            <a:br>
              <a:rPr lang="en-US" sz="4400" dirty="0"/>
            </a:br>
            <a:r>
              <a:rPr lang="en-US" sz="4400" dirty="0"/>
              <a:t> 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225550"/>
            <a:ext cx="10515600" cy="50307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From the reduced matrix of step-01, M[A,D] = 3</a:t>
            </a:r>
          </a:p>
          <a:p>
            <a:pPr fontAlgn="base"/>
            <a:r>
              <a:rPr lang="en-US" sz="2400" dirty="0"/>
              <a:t>Set row-A and column-D to ∞</a:t>
            </a:r>
          </a:p>
          <a:p>
            <a:pPr fontAlgn="base"/>
            <a:r>
              <a:rPr lang="en-US" sz="2400" dirty="0"/>
              <a:t>Set M[D,A]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is-</a:t>
            </a:r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node-04.</a:t>
            </a:r>
          </a:p>
        </p:txBody>
      </p:sp>
      <p:pic>
        <p:nvPicPr>
          <p:cNvPr id="6146" name="Picture 2" descr="https://www.gatevidyalay.com/wp-content/uploads/2018/04/Travelling-Salesman-Problem-Using-Branch-and-Bound-Approach-Problem-01-Solution-Step-0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099" y="269081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34ACFA-C6AC-2291-7530-DFAF01477BB4}"/>
              </a:ext>
            </a:extLst>
          </p:cNvPr>
          <p:cNvSpPr txBox="1"/>
          <p:nvPr/>
        </p:nvSpPr>
        <p:spPr>
          <a:xfrm>
            <a:off x="9480176" y="198438"/>
            <a:ext cx="2645149" cy="7921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0324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20270" y="198438"/>
            <a:ext cx="6775917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4400" dirty="0"/>
              <a:t> </a:t>
            </a:r>
            <a:r>
              <a:rPr lang="en-US" sz="4000" b="1" u="sng" dirty="0"/>
              <a:t>Row Reduction-</a:t>
            </a:r>
            <a:br>
              <a:rPr lang="en-US" sz="4000" b="1" dirty="0"/>
            </a:br>
            <a:br>
              <a:rPr lang="en-US" sz="4400" dirty="0"/>
            </a:b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3951288"/>
          </a:xfrm>
        </p:spPr>
        <p:txBody>
          <a:bodyPr>
            <a:normAutofit fontScale="55000" lnSpcReduction="20000"/>
          </a:bodyPr>
          <a:lstStyle/>
          <a:p>
            <a:pPr fontAlgn="base"/>
            <a:endParaRPr lang="en-US" dirty="0"/>
          </a:p>
          <a:p>
            <a:pPr fontAlgn="base"/>
            <a:r>
              <a:rPr lang="en-US" dirty="0"/>
              <a:t>We can not reduce row-1 as all its elements are ∞.</a:t>
            </a:r>
          </a:p>
          <a:p>
            <a:pPr fontAlgn="base"/>
            <a:r>
              <a:rPr lang="en-US" dirty="0"/>
              <a:t>There is no need to reduce row-2.</a:t>
            </a:r>
          </a:p>
          <a:p>
            <a:pPr fontAlgn="base"/>
            <a:r>
              <a:rPr lang="en-US" dirty="0"/>
              <a:t>Reduce all the elements of row-3 by 5.</a:t>
            </a:r>
          </a:p>
          <a:p>
            <a:pPr fontAlgn="base"/>
            <a:r>
              <a:rPr lang="en-US" dirty="0"/>
              <a:t>There is no need to reduce row-4.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Performing this, we obtain the following row-reduced matrix-</a:t>
            </a:r>
          </a:p>
          <a:p>
            <a:pPr fontAlgn="base"/>
            <a:endParaRPr lang="en-US" b="1" u="sng" dirty="0"/>
          </a:p>
          <a:p>
            <a:pPr fontAlgn="base"/>
            <a:r>
              <a:rPr lang="en-US" b="1" u="sng" dirty="0"/>
              <a:t>Column Reduction-</a:t>
            </a:r>
            <a:endParaRPr lang="en-US" b="1" dirty="0"/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There is no need to reduce column-1.</a:t>
            </a:r>
          </a:p>
          <a:p>
            <a:pPr fontAlgn="base"/>
            <a:r>
              <a:rPr lang="en-US" dirty="0"/>
              <a:t>There is no need to reduce column-2.</a:t>
            </a:r>
          </a:p>
          <a:p>
            <a:pPr fontAlgn="base"/>
            <a:r>
              <a:rPr lang="en-US" dirty="0"/>
              <a:t>There is no need to reduce column-3.</a:t>
            </a:r>
          </a:p>
          <a:p>
            <a:pPr fontAlgn="base"/>
            <a:r>
              <a:rPr lang="en-US" dirty="0"/>
              <a:t>We can not reduce column-4 as all its elements are ∞.</a:t>
            </a:r>
          </a:p>
          <a:p>
            <a:pPr fontAlgn="base">
              <a:buNone/>
            </a:pP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IN" dirty="0"/>
          </a:p>
        </p:txBody>
      </p:sp>
      <p:pic>
        <p:nvPicPr>
          <p:cNvPr id="7170" name="Picture 2" descr="https://www.gatevidyalay.com/wp-content/uploads/2018/04/Travelling-Salesman-Problem-Using-Branch-and-Bound-Approach-Problem-01-Solution-Step-0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138" y="3296119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C2591-CF16-DE63-72E6-B5C4C8C12DFD}"/>
              </a:ext>
            </a:extLst>
          </p:cNvPr>
          <p:cNvSpPr txBox="1"/>
          <p:nvPr/>
        </p:nvSpPr>
        <p:spPr>
          <a:xfrm>
            <a:off x="9239250" y="198438"/>
            <a:ext cx="28575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89317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53035" y="198438"/>
            <a:ext cx="8133790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br>
              <a:rPr lang="en-US" sz="4400" b="1" u="sng" dirty="0"/>
            </a:br>
            <a:r>
              <a:rPr lang="en-US" sz="4400" dirty="0"/>
              <a:t> Column Reduction</a:t>
            </a:r>
            <a:br>
              <a:rPr lang="en-US" sz="4000" b="1" dirty="0"/>
            </a:br>
            <a:br>
              <a:rPr lang="en-US" sz="4400" dirty="0"/>
            </a:b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00163"/>
            <a:ext cx="10972800" cy="4843462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200" dirty="0"/>
              <a:t>Thus, the matrix is already column-reduced.</a:t>
            </a:r>
          </a:p>
          <a:p>
            <a:pPr>
              <a:buNone/>
            </a:pPr>
            <a:r>
              <a:rPr lang="en-US" sz="4200" dirty="0"/>
              <a:t>Finally, the matrix is completely reduced.</a:t>
            </a:r>
          </a:p>
          <a:p>
            <a:pPr>
              <a:buNone/>
            </a:pPr>
            <a:r>
              <a:rPr lang="en-US" sz="4200" dirty="0"/>
              <a:t>Now, we calculate the cost of node-4.</a:t>
            </a:r>
          </a:p>
          <a:p>
            <a:pPr>
              <a:buNone/>
            </a:pPr>
            <a:r>
              <a:rPr lang="en-US" sz="4200" dirty="0"/>
              <a:t> </a:t>
            </a:r>
          </a:p>
          <a:p>
            <a:pPr>
              <a:buNone/>
            </a:pPr>
            <a:r>
              <a:rPr lang="en-US" sz="4200" dirty="0"/>
              <a:t>Cost(4)</a:t>
            </a:r>
          </a:p>
          <a:p>
            <a:pPr>
              <a:buNone/>
            </a:pPr>
            <a:r>
              <a:rPr lang="en-US" sz="4200" dirty="0"/>
              <a:t>= Cost(1) + Sum of reduction elements + M[A,D]</a:t>
            </a:r>
          </a:p>
          <a:p>
            <a:pPr>
              <a:buNone/>
            </a:pPr>
            <a:r>
              <a:rPr lang="en-US" sz="4200" dirty="0"/>
              <a:t>= 18 + 5 + 3</a:t>
            </a:r>
          </a:p>
          <a:p>
            <a:pPr>
              <a:buNone/>
            </a:pPr>
            <a:r>
              <a:rPr lang="en-US" sz="4200" dirty="0"/>
              <a:t>= 26</a:t>
            </a:r>
          </a:p>
          <a:p>
            <a:pPr>
              <a:buNone/>
            </a:pPr>
            <a:endParaRPr lang="en-US" sz="4200" dirty="0"/>
          </a:p>
          <a:p>
            <a:pPr>
              <a:buNone/>
            </a:pPr>
            <a:r>
              <a:rPr lang="en-US" sz="4200" b="1" dirty="0"/>
              <a:t>Thus, we have-</a:t>
            </a:r>
            <a:endParaRPr lang="en-US" sz="4200" dirty="0"/>
          </a:p>
          <a:p>
            <a:pPr>
              <a:buNone/>
            </a:pPr>
            <a:r>
              <a:rPr lang="en-US" sz="4200" dirty="0"/>
              <a:t>Cost(2) = 36 (for Path A → B)</a:t>
            </a:r>
          </a:p>
          <a:p>
            <a:pPr>
              <a:buNone/>
            </a:pPr>
            <a:r>
              <a:rPr lang="en-US" sz="4200" dirty="0"/>
              <a:t>Cost(3) = 25 (for Path A → C)</a:t>
            </a:r>
          </a:p>
          <a:p>
            <a:pPr>
              <a:buNone/>
            </a:pPr>
            <a:r>
              <a:rPr lang="en-US" sz="4200" dirty="0"/>
              <a:t>Cost(4) = 26 (for Path A → D)</a:t>
            </a:r>
          </a:p>
          <a:p>
            <a:pPr>
              <a:buNone/>
            </a:pPr>
            <a:r>
              <a:rPr lang="en-US" sz="4200" dirty="0"/>
              <a:t> </a:t>
            </a:r>
          </a:p>
          <a:p>
            <a:pPr>
              <a:buNone/>
            </a:pPr>
            <a:r>
              <a:rPr lang="en-US" sz="4200" dirty="0"/>
              <a:t>We choose the node with the lowest cost.</a:t>
            </a:r>
          </a:p>
          <a:p>
            <a:pPr>
              <a:buNone/>
            </a:pPr>
            <a:r>
              <a:rPr lang="en-US" sz="4200" dirty="0"/>
              <a:t>Since cost for node-3 is lowest, so we prefer to visit node-3.</a:t>
            </a:r>
          </a:p>
          <a:p>
            <a:pPr>
              <a:buNone/>
            </a:pPr>
            <a:r>
              <a:rPr lang="en-US" sz="4200" dirty="0"/>
              <a:t>Thus, we choose node-3 i.e. path </a:t>
            </a:r>
            <a:r>
              <a:rPr lang="en-US" sz="4200" b="1" dirty="0"/>
              <a:t>A → C</a:t>
            </a:r>
            <a:r>
              <a:rPr lang="en-US" sz="4200" dirty="0"/>
              <a:t>.</a:t>
            </a:r>
          </a:p>
          <a:p>
            <a:pPr fontAlgn="base">
              <a:buNone/>
            </a:pPr>
            <a:endParaRPr lang="en-US" sz="4200" dirty="0"/>
          </a:p>
          <a:p>
            <a:pPr>
              <a:buNone/>
            </a:pPr>
            <a:endParaRPr lang="en-US" sz="4200" dirty="0"/>
          </a:p>
          <a:p>
            <a:pPr fontAlgn="base">
              <a:buNone/>
            </a:pPr>
            <a:endParaRPr lang="en-US" dirty="0"/>
          </a:p>
          <a:p>
            <a:pPr fontAlgn="base">
              <a:buNone/>
            </a:pPr>
            <a:endParaRPr lang="en-US" dirty="0"/>
          </a:p>
          <a:p>
            <a:pPr fontAlgn="base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81365-D8D0-EA99-C7B3-3BC247C8FC12}"/>
              </a:ext>
            </a:extLst>
          </p:cNvPr>
          <p:cNvSpPr txBox="1"/>
          <p:nvPr/>
        </p:nvSpPr>
        <p:spPr>
          <a:xfrm>
            <a:off x="9391650" y="198438"/>
            <a:ext cx="2743200" cy="7731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56180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21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6824" y="198438"/>
            <a:ext cx="7300539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br>
              <a:rPr lang="en-US" sz="4400" b="1" u="sng" dirty="0"/>
            </a:br>
            <a:r>
              <a:rPr lang="en-US" sz="4400" dirty="0"/>
              <a:t> </a:t>
            </a:r>
            <a:r>
              <a:rPr lang="en-US" sz="4000" b="1" u="sng" dirty="0"/>
              <a:t>Step-03:</a:t>
            </a:r>
            <a:br>
              <a:rPr lang="en-US" sz="4000" b="1" dirty="0"/>
            </a:br>
            <a:r>
              <a:rPr lang="en-US" sz="4400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00163"/>
            <a:ext cx="10972800" cy="484346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We explore the vertices B and D from node-3.</a:t>
            </a:r>
          </a:p>
          <a:p>
            <a:pPr fontAlgn="base"/>
            <a:r>
              <a:rPr lang="en-US" dirty="0"/>
              <a:t>We now start from the cost matrix at node-3 which is-</a:t>
            </a:r>
          </a:p>
          <a:p>
            <a:pPr fontAlgn="base">
              <a:buNone/>
            </a:pP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IN" dirty="0"/>
          </a:p>
        </p:txBody>
      </p:sp>
      <p:pic>
        <p:nvPicPr>
          <p:cNvPr id="8194" name="Picture 2" descr="https://www.gatevidyalay.com/wp-content/uploads/2018/04/Travelling-Salesman-Problem-Using-Branch-and-Bound-Approach-Problem-01-Solution-Step-1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761" y="2703691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39775" y="4995860"/>
            <a:ext cx="1315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Cost(3) = 25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112D2-196C-4E6D-DACA-5539DA33ADF6}"/>
              </a:ext>
            </a:extLst>
          </p:cNvPr>
          <p:cNvSpPr txBox="1"/>
          <p:nvPr/>
        </p:nvSpPr>
        <p:spPr>
          <a:xfrm>
            <a:off x="9429750" y="198438"/>
            <a:ext cx="2647950" cy="7921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98698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8" y="198438"/>
            <a:ext cx="8840321" cy="9048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800" b="1" u="sng" dirty="0"/>
              <a:t>Choosing To Go To Vertex-B: Node-5 (Path A → C → B)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031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endParaRPr lang="en-US" sz="2400" dirty="0"/>
          </a:p>
          <a:p>
            <a:pPr fontAlgn="base"/>
            <a:r>
              <a:rPr lang="en-US" sz="2400" dirty="0"/>
              <a:t>From the reduced matrix of step-02, M[C,B] = ∞</a:t>
            </a:r>
          </a:p>
          <a:p>
            <a:pPr fontAlgn="base"/>
            <a:r>
              <a:rPr lang="en-US" sz="2400" dirty="0"/>
              <a:t>Set row-C and column-B to ∞</a:t>
            </a:r>
          </a:p>
          <a:p>
            <a:pPr fontAlgn="base"/>
            <a:r>
              <a:rPr lang="en-US" sz="2400" dirty="0"/>
              <a:t>Set M[B,A]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is-</a:t>
            </a:r>
          </a:p>
          <a:p>
            <a:pPr fontAlgn="base">
              <a:buNone/>
            </a:pPr>
            <a:endParaRPr lang="en-US" sz="2400" dirty="0"/>
          </a:p>
          <a:p>
            <a:r>
              <a:rPr lang="en-US" sz="2400" dirty="0"/>
              <a:t>Now,</a:t>
            </a:r>
          </a:p>
          <a:p>
            <a:r>
              <a:rPr lang="en-US" sz="2400" dirty="0"/>
              <a:t>We reduce this matrix.</a:t>
            </a:r>
          </a:p>
          <a:p>
            <a:r>
              <a:rPr lang="en-US" sz="2400" dirty="0"/>
              <a:t>Then, we find out the cost of node-5.</a:t>
            </a:r>
          </a:p>
          <a:p>
            <a:pPr fontAlgn="base"/>
            <a:endParaRPr lang="en-US" sz="2400" dirty="0"/>
          </a:p>
        </p:txBody>
      </p:sp>
      <p:pic>
        <p:nvPicPr>
          <p:cNvPr id="10242" name="Picture 2" descr="https://www.gatevidyalay.com/wp-content/uploads/2018/04/Travelling-Salesman-Problem-Using-Branch-and-Bound-Approach-Problem-01-Solution-Step-1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927" y="3708244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2F1F8-78AA-42BC-354D-531D6CA71424}"/>
              </a:ext>
            </a:extLst>
          </p:cNvPr>
          <p:cNvSpPr txBox="1"/>
          <p:nvPr/>
        </p:nvSpPr>
        <p:spPr>
          <a:xfrm>
            <a:off x="9525000" y="114300"/>
            <a:ext cx="2667000" cy="10066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1471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9" y="198438"/>
            <a:ext cx="7738596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b="1" u="sng" dirty="0"/>
              <a:t>Row Reduction- 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2727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2400" dirty="0"/>
              <a:t>We can not reduce row-1 as all its elements are ∞.</a:t>
            </a:r>
          </a:p>
          <a:p>
            <a:pPr fontAlgn="base">
              <a:buNone/>
            </a:pPr>
            <a:r>
              <a:rPr lang="en-US" sz="2400" dirty="0"/>
              <a:t>Reduce all the elements of row-2 by 13.</a:t>
            </a:r>
          </a:p>
          <a:p>
            <a:pPr fontAlgn="base">
              <a:buNone/>
            </a:pPr>
            <a:r>
              <a:rPr lang="en-US" sz="2400" dirty="0"/>
              <a:t>We can not reduce row-3 as all its elements are ∞.</a:t>
            </a:r>
          </a:p>
          <a:p>
            <a:pPr fontAlgn="base">
              <a:buNone/>
            </a:pPr>
            <a:r>
              <a:rPr lang="en-US" sz="2400" dirty="0"/>
              <a:t>Reduce all the elements of row-4 by 8.</a:t>
            </a:r>
          </a:p>
          <a:p>
            <a:pPr fontAlgn="base">
              <a:buNone/>
            </a:pPr>
            <a:r>
              <a:rPr lang="en-US" sz="2400" dirty="0"/>
              <a:t> </a:t>
            </a:r>
          </a:p>
          <a:p>
            <a:pPr fontAlgn="base">
              <a:buNone/>
            </a:pPr>
            <a:r>
              <a:rPr lang="en-US" sz="2400" dirty="0"/>
              <a:t>Performing this, we obtain the following row-reduced matrix- </a:t>
            </a:r>
          </a:p>
        </p:txBody>
      </p:sp>
      <p:pic>
        <p:nvPicPr>
          <p:cNvPr id="11266" name="Picture 2" descr="https://www.gatevidyalay.com/wp-content/uploads/2018/04/Travelling-Salesman-Problem-Using-Branch-and-Bound-Approach-Problem-01-Solution-Step-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947" y="415900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859FAC-F3FA-BF97-9073-F278EE73D61B}"/>
              </a:ext>
            </a:extLst>
          </p:cNvPr>
          <p:cNvSpPr txBox="1"/>
          <p:nvPr/>
        </p:nvSpPr>
        <p:spPr>
          <a:xfrm>
            <a:off x="9448800" y="0"/>
            <a:ext cx="2647950" cy="11914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0684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24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9929" y="198438"/>
            <a:ext cx="7738596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US" sz="4400" b="1" u="sng" dirty="0"/>
              <a:t>Column Reduction-</a:t>
            </a:r>
            <a:endParaRPr lang="en-US" sz="4400" b="1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491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There is no need to reduce column-1.</a:t>
            </a:r>
          </a:p>
          <a:p>
            <a:pPr fontAlgn="base"/>
            <a:r>
              <a:rPr lang="en-US" sz="2400" dirty="0"/>
              <a:t>We can not reduce column-2 as all its elements are ∞.</a:t>
            </a:r>
          </a:p>
          <a:p>
            <a:pPr fontAlgn="base"/>
            <a:r>
              <a:rPr lang="en-US" sz="2400" dirty="0"/>
              <a:t>We can not reduce column-3 as all its elements are ∞.</a:t>
            </a:r>
          </a:p>
          <a:p>
            <a:pPr fontAlgn="base"/>
            <a:r>
              <a:rPr lang="en-US" sz="2400" dirty="0"/>
              <a:t>There is no need to reduce column-4.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Thus, the matrix is already column reduced.</a:t>
            </a:r>
          </a:p>
          <a:p>
            <a:pPr fontAlgn="base"/>
            <a:r>
              <a:rPr lang="en-US" sz="2400" dirty="0"/>
              <a:t>Finally, the matrix is completely reduced.</a:t>
            </a:r>
          </a:p>
          <a:p>
            <a:pPr fontAlgn="base"/>
            <a:r>
              <a:rPr lang="en-US" sz="2400" dirty="0"/>
              <a:t>Now, we calculate the cost of node-5.</a:t>
            </a:r>
          </a:p>
          <a:p>
            <a:pPr fontAlgn="base"/>
            <a:r>
              <a:rPr lang="en-US" sz="2400" dirty="0"/>
              <a:t>Cost(5)</a:t>
            </a:r>
          </a:p>
          <a:p>
            <a:pPr fontAlgn="base"/>
            <a:r>
              <a:rPr lang="en-US" sz="2400" dirty="0"/>
              <a:t>= cost(3) + Sum of reduction elements + M[C,B]</a:t>
            </a:r>
          </a:p>
          <a:p>
            <a:pPr fontAlgn="base"/>
            <a:r>
              <a:rPr lang="en-US" sz="2400" dirty="0"/>
              <a:t>= 25 + (13 + 8) + ∞</a:t>
            </a:r>
          </a:p>
          <a:p>
            <a:pPr fontAlgn="base"/>
            <a:r>
              <a:rPr lang="en-US" sz="2400" dirty="0"/>
              <a:t>= 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061C5-D3BE-0D69-8017-0A03FE375904}"/>
              </a:ext>
            </a:extLst>
          </p:cNvPr>
          <p:cNvSpPr txBox="1"/>
          <p:nvPr/>
        </p:nvSpPr>
        <p:spPr>
          <a:xfrm>
            <a:off x="9372600" y="198438"/>
            <a:ext cx="27432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8152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7164" y="211138"/>
            <a:ext cx="7757085" cy="9048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 fontAlgn="base"/>
            <a:r>
              <a:rPr lang="en-US" sz="3200" b="1" u="sng" dirty="0"/>
              <a:t>Choosing To Go To Vertex-D: </a:t>
            </a:r>
            <a:br>
              <a:rPr lang="en-US" sz="3200" b="1" u="sng" dirty="0"/>
            </a:br>
            <a:r>
              <a:rPr lang="en-US" sz="3200" b="1" u="sng" dirty="0"/>
              <a:t>Node-6 (Path A → C → D)</a:t>
            </a:r>
            <a:endParaRPr lang="en-US" sz="3200" b="1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031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From the reduced matrix of step-02, M[C,D] = ∞</a:t>
            </a:r>
          </a:p>
          <a:p>
            <a:pPr fontAlgn="base"/>
            <a:r>
              <a:rPr lang="en-US" sz="2400" dirty="0"/>
              <a:t>Set row-C and column-D to ∞</a:t>
            </a:r>
          </a:p>
          <a:p>
            <a:pPr fontAlgn="base"/>
            <a:r>
              <a:rPr lang="en-US" sz="2400" dirty="0"/>
              <a:t>Set M[D,A] = ∞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resulting cost matrix is-</a:t>
            </a:r>
          </a:p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fontAlgn="base">
              <a:buNone/>
            </a:pPr>
            <a:endParaRPr lang="en-US" sz="2400" dirty="0"/>
          </a:p>
          <a:p>
            <a:pPr fontAlgn="base"/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node-6.</a:t>
            </a:r>
          </a:p>
        </p:txBody>
      </p:sp>
      <p:pic>
        <p:nvPicPr>
          <p:cNvPr id="12290" name="Picture 2" descr="https://www.gatevidyalay.com/wp-content/uploads/2018/04/Travelling-Salesman-Problem-Using-Branch-and-Bound-Approach-Problem-01-Solution-Step-1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402" y="2914659"/>
            <a:ext cx="2832325" cy="238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55FE3C-C5DD-D018-8CCE-66819D6A2B59}"/>
              </a:ext>
            </a:extLst>
          </p:cNvPr>
          <p:cNvSpPr txBox="1"/>
          <p:nvPr/>
        </p:nvSpPr>
        <p:spPr>
          <a:xfrm>
            <a:off x="9458325" y="123825"/>
            <a:ext cx="2733675" cy="1187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83155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0612" y="198438"/>
            <a:ext cx="7657913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Row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031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We can not reduce row-1 as all its elements are ∞.</a:t>
            </a:r>
          </a:p>
          <a:p>
            <a:pPr fontAlgn="base"/>
            <a:r>
              <a:rPr lang="en-US" sz="2400" dirty="0"/>
              <a:t>There is no need to reduce row-2.</a:t>
            </a:r>
          </a:p>
          <a:p>
            <a:pPr fontAlgn="base"/>
            <a:r>
              <a:rPr lang="en-US" sz="2400" dirty="0"/>
              <a:t>We can not reduce row-3 as all its elements are ∞.</a:t>
            </a:r>
          </a:p>
          <a:p>
            <a:pPr fontAlgn="base"/>
            <a:r>
              <a:rPr lang="en-US" sz="2400" dirty="0"/>
              <a:t>We can not reduce row-4 as all its elements are ∞.</a:t>
            </a:r>
          </a:p>
          <a:p>
            <a:pPr fontAlgn="base"/>
            <a:r>
              <a:rPr lang="en-US" sz="2400" dirty="0"/>
              <a:t>Thus, the matrix is already row reduced.</a:t>
            </a:r>
          </a:p>
          <a:p>
            <a:pPr fontAlgn="base">
              <a:buNone/>
            </a:pPr>
            <a:r>
              <a:rPr lang="en-US" sz="2400" b="1" u="sng" dirty="0"/>
              <a:t>Column Reduction-</a:t>
            </a:r>
            <a:endParaRPr lang="en-US" sz="2400" dirty="0"/>
          </a:p>
          <a:p>
            <a:pPr fontAlgn="base"/>
            <a:r>
              <a:rPr lang="en-US" sz="2400" dirty="0"/>
              <a:t>There is no need to reduce column-1.</a:t>
            </a:r>
          </a:p>
          <a:p>
            <a:pPr fontAlgn="base"/>
            <a:r>
              <a:rPr lang="en-US" sz="2400" dirty="0"/>
              <a:t>We can not reduce column-2 as all its elements are ∞.</a:t>
            </a:r>
          </a:p>
          <a:p>
            <a:pPr fontAlgn="base"/>
            <a:r>
              <a:rPr lang="en-US" sz="2400" dirty="0"/>
              <a:t>We can not reduce column-3 as all its elements are ∞.</a:t>
            </a:r>
          </a:p>
          <a:p>
            <a:pPr fontAlgn="base"/>
            <a:r>
              <a:rPr lang="en-US" sz="2400" dirty="0"/>
              <a:t>We can not reduce column-4 as all its elements are ∞.</a:t>
            </a:r>
          </a:p>
          <a:p>
            <a:pPr fontAlgn="base"/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034B5-662B-5998-4E2D-0DB09F880DEF}"/>
              </a:ext>
            </a:extLst>
          </p:cNvPr>
          <p:cNvSpPr txBox="1"/>
          <p:nvPr/>
        </p:nvSpPr>
        <p:spPr>
          <a:xfrm>
            <a:off x="9401175" y="198438"/>
            <a:ext cx="27432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17966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4741" y="198438"/>
            <a:ext cx="7563784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Row Reduction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5232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2000" dirty="0"/>
              <a:t>Thus, the matrix is already column reduced.</a:t>
            </a:r>
          </a:p>
          <a:p>
            <a:pPr fontAlgn="base">
              <a:buNone/>
            </a:pPr>
            <a:r>
              <a:rPr lang="en-US" sz="2000" dirty="0"/>
              <a:t>Finally, the matrix is completely reduced.</a:t>
            </a:r>
          </a:p>
          <a:p>
            <a:pPr fontAlgn="base">
              <a:buNone/>
            </a:pPr>
            <a:r>
              <a:rPr lang="en-US" sz="2000" dirty="0"/>
              <a:t>Now, we calculate the cost of node-6.</a:t>
            </a:r>
          </a:p>
          <a:p>
            <a:pPr fontAlgn="base">
              <a:buNone/>
            </a:pPr>
            <a:r>
              <a:rPr lang="en-US" sz="2000" dirty="0"/>
              <a:t>Cost(6)</a:t>
            </a:r>
          </a:p>
          <a:p>
            <a:pPr fontAlgn="base">
              <a:buNone/>
            </a:pPr>
            <a:r>
              <a:rPr lang="en-US" sz="2000" dirty="0"/>
              <a:t>= cost(3) + Sum of reduction elements + M[C,D]</a:t>
            </a:r>
          </a:p>
          <a:p>
            <a:pPr fontAlgn="base">
              <a:buNone/>
            </a:pPr>
            <a:r>
              <a:rPr lang="en-US" sz="2000" dirty="0"/>
              <a:t>= 25 + 0 + 0</a:t>
            </a:r>
          </a:p>
          <a:p>
            <a:pPr fontAlgn="base">
              <a:buNone/>
            </a:pPr>
            <a:r>
              <a:rPr lang="en-US" sz="2000" dirty="0"/>
              <a:t>= 25</a:t>
            </a:r>
          </a:p>
          <a:p>
            <a:pPr>
              <a:buNone/>
            </a:pPr>
            <a:r>
              <a:rPr lang="en-US" sz="2000" b="1" dirty="0"/>
              <a:t>Thus, we have-</a:t>
            </a:r>
            <a:endParaRPr lang="en-US" sz="2000" dirty="0"/>
          </a:p>
          <a:p>
            <a:pPr fontAlgn="base">
              <a:buNone/>
            </a:pPr>
            <a:r>
              <a:rPr lang="en-US" sz="2000" dirty="0"/>
              <a:t>Cost(5) = ∞ (for Path A → C → B)</a:t>
            </a:r>
          </a:p>
          <a:p>
            <a:pPr fontAlgn="base">
              <a:buNone/>
            </a:pPr>
            <a:r>
              <a:rPr lang="en-US" sz="2000" dirty="0"/>
              <a:t>Cost(6) = 25 (for Path A → C → D)</a:t>
            </a:r>
          </a:p>
          <a:p>
            <a:pPr fontAlgn="base">
              <a:buNone/>
            </a:pPr>
            <a:r>
              <a:rPr lang="en-US" sz="2000" dirty="0"/>
              <a:t>We choose the node with the lowest cost.</a:t>
            </a:r>
          </a:p>
          <a:p>
            <a:pPr fontAlgn="base">
              <a:buNone/>
            </a:pPr>
            <a:r>
              <a:rPr lang="en-US" sz="2000" dirty="0"/>
              <a:t>Since cost for node-6 is lowest, so we prefer to visit node-6.</a:t>
            </a:r>
          </a:p>
          <a:p>
            <a:pPr fontAlgn="base">
              <a:buNone/>
            </a:pPr>
            <a:r>
              <a:rPr lang="en-US" sz="2000" dirty="0"/>
              <a:t>Thus, we choose node-6 i.e. path </a:t>
            </a:r>
            <a:r>
              <a:rPr lang="en-US" sz="2000" b="1" dirty="0"/>
              <a:t>C → D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37D1E-7FB1-FE61-D308-79804014BD6A}"/>
              </a:ext>
            </a:extLst>
          </p:cNvPr>
          <p:cNvSpPr txBox="1"/>
          <p:nvPr/>
        </p:nvSpPr>
        <p:spPr>
          <a:xfrm>
            <a:off x="9448800" y="198438"/>
            <a:ext cx="2667000" cy="10017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78115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6824" y="184991"/>
            <a:ext cx="8330266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US" sz="4400" b="1" u="sng" dirty="0"/>
              <a:t>Step-04:</a:t>
            </a:r>
            <a:endParaRPr lang="en-US" sz="4400" b="1" dirty="0"/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4826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/>
              <a:t>We explore vertex B from node-6.</a:t>
            </a:r>
          </a:p>
          <a:p>
            <a:pPr fontAlgn="base"/>
            <a:r>
              <a:rPr lang="en-US" sz="2000" dirty="0"/>
              <a:t>We start with the cost matrix at node-6 which is-</a:t>
            </a:r>
          </a:p>
          <a:p>
            <a:pPr fontAlgn="base"/>
            <a:endParaRPr lang="en-US" sz="2000" dirty="0"/>
          </a:p>
          <a:p>
            <a:pPr fontAlgn="base">
              <a:buNone/>
            </a:pPr>
            <a:endParaRPr lang="en-US" sz="2000" dirty="0"/>
          </a:p>
          <a:p>
            <a:pPr fontAlgn="base">
              <a:buNone/>
            </a:pPr>
            <a:endParaRPr lang="en-US" sz="2000" dirty="0"/>
          </a:p>
          <a:p>
            <a:pPr fontAlgn="base">
              <a:buNone/>
            </a:pPr>
            <a:endParaRPr lang="en-US" sz="2000" dirty="0"/>
          </a:p>
          <a:p>
            <a:pPr fontAlgn="base"/>
            <a:r>
              <a:rPr lang="en-US" sz="2000" b="1" u="sng" dirty="0"/>
              <a:t>Choosing To Go To Vertex-B: Node-7 (Path A → C → D → B)</a:t>
            </a:r>
            <a:endParaRPr lang="en-US" sz="2000" dirty="0"/>
          </a:p>
          <a:p>
            <a:pPr fontAlgn="base"/>
            <a:r>
              <a:rPr lang="en-US" sz="2000" dirty="0"/>
              <a:t>From the reduced matrix of step-03, M[D,B] = 0</a:t>
            </a:r>
          </a:p>
          <a:p>
            <a:pPr fontAlgn="base"/>
            <a:r>
              <a:rPr lang="en-US" sz="2000" dirty="0"/>
              <a:t>Set row-D and column-B to ∞</a:t>
            </a:r>
          </a:p>
          <a:p>
            <a:pPr fontAlgn="base"/>
            <a:r>
              <a:rPr lang="en-US" sz="2000" dirty="0"/>
              <a:t>Set M[B,A] = ∞</a:t>
            </a:r>
          </a:p>
          <a:p>
            <a:pPr fontAlgn="base"/>
            <a:r>
              <a:rPr lang="en-US" sz="2000" dirty="0"/>
              <a:t>Now, resulting cost matrix is-</a:t>
            </a:r>
          </a:p>
          <a:p>
            <a:pPr algn="l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 descr="https://www.gatevidyalay.com/wp-content/uploads/2018/04/Travelling-Salesman-Problem-Using-Branch-and-Bound-Approach-Problem-01-Solution-Step-1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896" y="176353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2FF869-9FE0-7671-70CD-EDAB764CFAF1}"/>
              </a:ext>
            </a:extLst>
          </p:cNvPr>
          <p:cNvSpPr txBox="1"/>
          <p:nvPr/>
        </p:nvSpPr>
        <p:spPr>
          <a:xfrm>
            <a:off x="9515475" y="184991"/>
            <a:ext cx="2676525" cy="10437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17300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4741" y="198438"/>
            <a:ext cx="7563784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Step-4</a:t>
            </a: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311275"/>
            <a:ext cx="10515600" cy="4570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2400" dirty="0"/>
              <a:t>Now,</a:t>
            </a:r>
          </a:p>
          <a:p>
            <a:pPr fontAlgn="base"/>
            <a:r>
              <a:rPr lang="en-US" sz="2400" dirty="0"/>
              <a:t>We reduce this matrix.</a:t>
            </a:r>
          </a:p>
          <a:p>
            <a:pPr fontAlgn="base"/>
            <a:r>
              <a:rPr lang="en-US" sz="2400" dirty="0"/>
              <a:t>Then, we find out the cost of node-7.</a:t>
            </a:r>
          </a:p>
          <a:p>
            <a:pPr fontAlgn="base"/>
            <a:r>
              <a:rPr lang="en-US" sz="2400" b="1" u="sng" dirty="0"/>
              <a:t>Row Reduction-</a:t>
            </a:r>
            <a:endParaRPr lang="en-US" sz="2400" b="1" dirty="0"/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We can not reduce row-1 as all its elements are ∞.</a:t>
            </a:r>
          </a:p>
          <a:p>
            <a:pPr fontAlgn="base"/>
            <a:r>
              <a:rPr lang="en-US" sz="2400" dirty="0"/>
              <a:t>We can not reduce row-2 as all its elements are ∞.</a:t>
            </a:r>
          </a:p>
          <a:p>
            <a:pPr fontAlgn="base"/>
            <a:r>
              <a:rPr lang="en-US" sz="2400" dirty="0"/>
              <a:t>We can not reduce row-3 as all its elements are ∞.</a:t>
            </a:r>
          </a:p>
          <a:p>
            <a:pPr fontAlgn="base"/>
            <a:r>
              <a:rPr lang="en-US" sz="2400" dirty="0"/>
              <a:t>We can not reduce row-4 as all its elements are ∞.</a:t>
            </a:r>
          </a:p>
          <a:p>
            <a:pPr algn="l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https://www.gatevidyalay.com/wp-content/uploads/2018/04/Travelling-Salesman-Problem-Using-Branch-and-Bound-Approach-Problem-01-Solution-Step-1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193" y="3163353"/>
            <a:ext cx="24098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D5D79E-D26D-A004-B374-3099F2A3DB92}"/>
              </a:ext>
            </a:extLst>
          </p:cNvPr>
          <p:cNvSpPr txBox="1"/>
          <p:nvPr/>
        </p:nvSpPr>
        <p:spPr>
          <a:xfrm>
            <a:off x="9210675" y="198438"/>
            <a:ext cx="28575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12035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93376" y="198438"/>
            <a:ext cx="7725149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400" dirty="0"/>
              <a:t>Column Reduction-</a:t>
            </a:r>
            <a:endParaRPr lang="en-US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0" y="1157288"/>
            <a:ext cx="9777413" cy="5339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>
              <a:buNone/>
            </a:pPr>
            <a:r>
              <a:rPr lang="en-US" sz="1500" dirty="0"/>
              <a:t> We can not reduce column-1 as all its elements are ∞.</a:t>
            </a:r>
          </a:p>
          <a:p>
            <a:pPr fontAlgn="base">
              <a:buNone/>
            </a:pPr>
            <a:r>
              <a:rPr lang="en-US" sz="1500" dirty="0"/>
              <a:t>We can not reduce column-2 as all its elements are ∞.</a:t>
            </a:r>
          </a:p>
          <a:p>
            <a:pPr fontAlgn="base">
              <a:buNone/>
            </a:pPr>
            <a:r>
              <a:rPr lang="en-US" sz="1500" dirty="0"/>
              <a:t>We can not reduce column-3 as all its elements are ∞.</a:t>
            </a:r>
          </a:p>
          <a:p>
            <a:pPr fontAlgn="base">
              <a:buNone/>
            </a:pPr>
            <a:r>
              <a:rPr lang="en-US" sz="1500" dirty="0"/>
              <a:t>We can not reduce column-4 as all its elements are ∞.</a:t>
            </a:r>
          </a:p>
          <a:p>
            <a:pPr fontAlgn="base">
              <a:buNone/>
            </a:pPr>
            <a:r>
              <a:rPr lang="en-US" sz="1500" dirty="0"/>
              <a:t> Thus, the matrix is already column reduced.</a:t>
            </a:r>
          </a:p>
          <a:p>
            <a:pPr fontAlgn="base">
              <a:buNone/>
            </a:pPr>
            <a:r>
              <a:rPr lang="en-US" sz="1500" dirty="0"/>
              <a:t>Finally, the matrix is completely reduced.</a:t>
            </a:r>
          </a:p>
          <a:p>
            <a:pPr fontAlgn="base">
              <a:buNone/>
            </a:pPr>
            <a:r>
              <a:rPr lang="en-US" sz="1500" dirty="0"/>
              <a:t>All the entries have become ∞.</a:t>
            </a:r>
          </a:p>
          <a:p>
            <a:pPr fontAlgn="base">
              <a:buNone/>
            </a:pPr>
            <a:r>
              <a:rPr lang="en-US" sz="1500" dirty="0"/>
              <a:t>Now, we calculate the cost of node-7.</a:t>
            </a:r>
          </a:p>
          <a:p>
            <a:pPr fontAlgn="base">
              <a:buNone/>
            </a:pPr>
            <a:r>
              <a:rPr lang="en-US" sz="1500" dirty="0"/>
              <a:t>Cost(7)</a:t>
            </a:r>
          </a:p>
          <a:p>
            <a:pPr fontAlgn="base">
              <a:buNone/>
            </a:pPr>
            <a:r>
              <a:rPr lang="en-US" sz="1500" dirty="0"/>
              <a:t>= cost(6) + Sum of reduction elements + M[D,B]</a:t>
            </a:r>
          </a:p>
          <a:p>
            <a:pPr fontAlgn="base">
              <a:buNone/>
            </a:pPr>
            <a:r>
              <a:rPr lang="en-US" sz="1500" dirty="0"/>
              <a:t>= 25 + 0 + 0</a:t>
            </a:r>
          </a:p>
          <a:p>
            <a:pPr fontAlgn="base">
              <a:buNone/>
            </a:pPr>
            <a:r>
              <a:rPr lang="en-US" sz="1500" dirty="0"/>
              <a:t>= 25</a:t>
            </a:r>
          </a:p>
          <a:p>
            <a:pPr fontAlgn="base">
              <a:buNone/>
            </a:pPr>
            <a:r>
              <a:rPr lang="en-US" sz="1500" dirty="0"/>
              <a:t> </a:t>
            </a:r>
          </a:p>
          <a:p>
            <a:pPr fontAlgn="base">
              <a:buNone/>
            </a:pPr>
            <a:r>
              <a:rPr lang="en-US" sz="1500" dirty="0"/>
              <a:t>Thus,</a:t>
            </a:r>
          </a:p>
          <a:p>
            <a:pPr fontAlgn="base">
              <a:buNone/>
            </a:pPr>
            <a:r>
              <a:rPr lang="en-US" sz="1500" dirty="0"/>
              <a:t>Optimal path is: </a:t>
            </a:r>
            <a:r>
              <a:rPr lang="en-US" sz="1500" b="1" dirty="0"/>
              <a:t>A → C → D → B → A</a:t>
            </a:r>
            <a:endParaRPr lang="en-US" sz="1500" dirty="0"/>
          </a:p>
          <a:p>
            <a:pPr fontAlgn="base">
              <a:buNone/>
            </a:pPr>
            <a:r>
              <a:rPr lang="en-US" sz="1500" dirty="0"/>
              <a:t>Cost of Optimal path = </a:t>
            </a:r>
            <a:r>
              <a:rPr lang="en-US" sz="1500" b="1" dirty="0"/>
              <a:t>25 units</a:t>
            </a:r>
            <a:r>
              <a:rPr lang="en-US" sz="1500" dirty="0"/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E65B6-31E5-69A6-1E7D-43D8AA4E5582}"/>
              </a:ext>
            </a:extLst>
          </p:cNvPr>
          <p:cNvSpPr txBox="1"/>
          <p:nvPr/>
        </p:nvSpPr>
        <p:spPr>
          <a:xfrm>
            <a:off x="9382125" y="198438"/>
            <a:ext cx="2743200" cy="8016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82790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53366"/>
          </a:xfrm>
        </p:spPr>
        <p:txBody>
          <a:bodyPr anchor="t">
            <a:normAutofit fontScale="90000"/>
          </a:bodyPr>
          <a:lstStyle/>
          <a:p>
            <a:pPr algn="l"/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1)  https://www.tutorialspoint.com/data_structures_algorithms/divide_and_conquer.htm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2)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 Structures and Algorithms made easy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By Narasimha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Karumanchi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3)  The Algorithm Design Manual, 2nd Edition by Steven 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Skiena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Fundamentals of Computer Algorithms - Horowitz and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Sahani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2" y="192883"/>
            <a:ext cx="86937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571AD-EF65-4378-86D6-3AF0DD73CA0C}"/>
              </a:ext>
            </a:extLst>
          </p:cNvPr>
          <p:cNvSpPr/>
          <p:nvPr/>
        </p:nvSpPr>
        <p:spPr>
          <a:xfrm>
            <a:off x="838200" y="1089891"/>
            <a:ext cx="10515600" cy="50823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55C06-9819-4A06-9C49-58CDAD8CD94B}"/>
              </a:ext>
            </a:extLst>
          </p:cNvPr>
          <p:cNvSpPr/>
          <p:nvPr/>
        </p:nvSpPr>
        <p:spPr>
          <a:xfrm>
            <a:off x="838201" y="136527"/>
            <a:ext cx="8758383" cy="76944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8B716-3EDB-4874-B04B-3AC9D49B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8FA4B-7660-03B5-E03B-21A721D51E2F}"/>
              </a:ext>
            </a:extLst>
          </p:cNvPr>
          <p:cNvSpPr txBox="1"/>
          <p:nvPr/>
        </p:nvSpPr>
        <p:spPr>
          <a:xfrm>
            <a:off x="9531929" y="192883"/>
            <a:ext cx="2660071" cy="8970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476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9525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4826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356350"/>
            <a:ext cx="27432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32</a:t>
            </a:fld>
            <a:endParaRPr lang="en-I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A8AC6-FDDC-F781-0B6D-6473925B619F}"/>
              </a:ext>
            </a:extLst>
          </p:cNvPr>
          <p:cNvSpPr txBox="1"/>
          <p:nvPr/>
        </p:nvSpPr>
        <p:spPr>
          <a:xfrm>
            <a:off x="9448800" y="9525"/>
            <a:ext cx="2762250" cy="11096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21274</TotalTime>
  <Words>2369</Words>
  <Application>Microsoft Office PowerPoint</Application>
  <PresentationFormat>Widescreen</PresentationFormat>
  <Paragraphs>393</Paragraphs>
  <Slides>32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Arimo</vt:lpstr>
      <vt:lpstr>Calibri</vt:lpstr>
      <vt:lpstr>Calibri Light</vt:lpstr>
      <vt:lpstr>Cambria</vt:lpstr>
      <vt:lpstr>Casper</vt:lpstr>
      <vt:lpstr>Lato</vt:lpstr>
      <vt:lpstr>Times New Roman</vt:lpstr>
      <vt:lpstr>Theme1</vt:lpstr>
      <vt:lpstr>Streamline</vt:lpstr>
      <vt:lpstr>CorelDRAW</vt:lpstr>
      <vt:lpstr>PowerPoint Presentation</vt:lpstr>
      <vt:lpstr>Travelling Salesman Problem | Branch &amp; Bound</vt:lpstr>
      <vt:lpstr>Travelling Salesman Problem</vt:lpstr>
      <vt:lpstr>PowerPoint Presentation</vt:lpstr>
      <vt:lpstr>Travelling Salesman Problem</vt:lpstr>
      <vt:lpstr>Solution</vt:lpstr>
      <vt:lpstr>Row Reduction</vt:lpstr>
      <vt:lpstr>Row Reduction</vt:lpstr>
      <vt:lpstr> Column Reduction-</vt:lpstr>
      <vt:lpstr>Column Reduction</vt:lpstr>
      <vt:lpstr>Column Reduction</vt:lpstr>
      <vt:lpstr>Column Reduction</vt:lpstr>
      <vt:lpstr> Row Reduction-  </vt:lpstr>
      <vt:lpstr> Column Reduction-  </vt:lpstr>
      <vt:lpstr>  Choosing To Go To Vertex-C: Node-3 (Path A → C)   </vt:lpstr>
      <vt:lpstr>Row Reduction-</vt:lpstr>
      <vt:lpstr>Column Reduction- </vt:lpstr>
      <vt:lpstr>  Choosing To Go To Vertex-D: Node-4 (Path A → D)    </vt:lpstr>
      <vt:lpstr>   Row Reduction-   </vt:lpstr>
      <vt:lpstr>   Column Reduction   </vt:lpstr>
      <vt:lpstr>  Step-03:  </vt:lpstr>
      <vt:lpstr>Choosing To Go To Vertex-B: Node-5 (Path A → C → B)</vt:lpstr>
      <vt:lpstr>Row Reduction- </vt:lpstr>
      <vt:lpstr>Column Reduction-</vt:lpstr>
      <vt:lpstr>Choosing To Go To Vertex-D:  Node-6 (Path A → C → D)</vt:lpstr>
      <vt:lpstr>Row Reduction</vt:lpstr>
      <vt:lpstr>Row Reduction</vt:lpstr>
      <vt:lpstr>Step-04:</vt:lpstr>
      <vt:lpstr>Step-4</vt:lpstr>
      <vt:lpstr>Column Reduction-</vt:lpstr>
      <vt:lpstr>     1)  https://www.tutorialspoint.com/data_structures_algorithms/divide_and_conquer.htm  2)  Data Structures and Algorithms made easy By Narasimha Karumanchi.  3)  The Algorithm Design Manual, 2nd Edition by Steven S Skiena  4) Fundamentals of Computer Algorithms - Horowitz and Sahani 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Lovenish Ranjan</cp:lastModifiedBy>
  <cp:revision>1003</cp:revision>
  <dcterms:created xsi:type="dcterms:W3CDTF">2019-05-03T13:26:36Z</dcterms:created>
  <dcterms:modified xsi:type="dcterms:W3CDTF">2025-07-03T05:51:07Z</dcterms:modified>
</cp:coreProperties>
</file>