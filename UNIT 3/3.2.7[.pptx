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9" r:id="rId2"/>
  </p:sldMasterIdLst>
  <p:notesMasterIdLst>
    <p:notesMasterId r:id="rId16"/>
  </p:notesMasterIdLst>
  <p:sldIdLst>
    <p:sldId id="271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30E2F-0B40-47A3-94FC-7AFB8EF2FFA8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AA9F34-C7D5-4352-A7A2-069208C8F5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627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01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33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18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078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157" y="115888"/>
            <a:ext cx="6376086" cy="987982"/>
          </a:xfrm>
          <a:ln w="9525"/>
        </p:spPr>
        <p:txBody>
          <a:bodyPr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481692"/>
            <a:ext cx="6858000" cy="1655762"/>
          </a:xfrm>
          <a:ln w="12700"/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233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 smtClean="0">
                <a:solidFill>
                  <a:prstClr val="black"/>
                </a:solidFill>
              </a:rPr>
              <a:pPr>
                <a:defRPr/>
              </a:pPr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b="1" cap="small" dirty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cap="small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b="1" cap="small" dirty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cap="small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7246961" y="40948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9582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5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894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858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4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55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3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37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8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fld id="{93A0F06B-06CD-4D06-874F-C3BE91473B7E}" type="datetimeFigureOut">
              <a:rPr lang="en-US" smtClean="0">
                <a:solidFill>
                  <a:prstClr val="black"/>
                </a:solidFill>
              </a:rPr>
              <a:pPr/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96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512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7982" y="298271"/>
            <a:ext cx="4881634" cy="1026947"/>
          </a:xfrm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3A0F06B-06CD-4D06-874F-C3BE91473B7E}" type="datetimeFigureOut">
              <a:rPr lang="en-US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7/3/2025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9"/>
            <a:ext cx="3086100" cy="365125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34A185-1BC0-44F0-B65A-D683D100ACD1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503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8664" y="284823"/>
            <a:ext cx="4881634" cy="1026947"/>
          </a:xfrm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3A0F06B-06CD-4D06-874F-C3BE91473B7E}" type="datetimeFigureOut">
              <a:rPr lang="en-US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7/3/2025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9"/>
            <a:ext cx="3086100" cy="365125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C34A185-1BC0-44F0-B65A-D683D100ACD1}" type="slidenum">
              <a:rPr lang="en-US" smtClean="0">
                <a:solidFill>
                  <a:prstClr val="black"/>
                </a:solidFill>
              </a:rPr>
              <a:pPr/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2566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9"/>
            <a:ext cx="2057400" cy="365125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3A0F06B-06CD-4D06-874F-C3BE91473B7E}" type="datetimeFigureOut">
              <a:rPr lang="en-US">
                <a:solidFill>
                  <a:prstClr val="black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9"/>
            <a:ext cx="3086100" cy="365125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506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6317" y="365505"/>
            <a:ext cx="4881634" cy="1026947"/>
          </a:xfrm>
          <a:ln w="9525">
            <a:solidFill>
              <a:schemeClr val="tx1"/>
            </a:solidFill>
          </a:ln>
        </p:spPr>
        <p:txBody>
          <a:bodyPr/>
          <a:lstStyle>
            <a:lvl1pPr algn="ctr">
              <a:defRPr b="1" baseline="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9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3A0F06B-06CD-4D06-874F-C3BE91473B7E}" type="datetimeFigureOut">
              <a:rPr lang="en-US" smtClean="0">
                <a:solidFill>
                  <a:prstClr val="white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7/3/2025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9"/>
            <a:ext cx="3086100" cy="365125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C34A185-1BC0-44F0-B65A-D683D100ACD1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2009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61"/>
            <a:ext cx="2057400" cy="365125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93A0F06B-06CD-4D06-874F-C3BE91473B7E}" type="datetimeFigureOut">
              <a:rPr lang="en-US">
                <a:solidFill>
                  <a:prstClr val="black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61"/>
            <a:ext cx="3086100" cy="365125"/>
          </a:xfrm>
          <a:prstGeom prst="rect">
            <a:avLst/>
          </a:prstGeo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138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>
                <a:solidFill>
                  <a:prstClr val="black"/>
                </a:solidFill>
              </a:rPr>
              <a:pPr>
                <a:defRPr/>
              </a:pPr>
              <a:t>7/3/2025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691754" y="115888"/>
            <a:ext cx="6268605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algn="just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400" b="1" cap="small" dirty="0">
                <a:solidFill>
                  <a:srgbClr val="4472C4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cap="small" dirty="0">
              <a:solidFill>
                <a:srgbClr val="4472C4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7246961" y="40948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1660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7" y="29379"/>
            <a:ext cx="652311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911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3" y="1588342"/>
            <a:ext cx="745763" cy="61101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763267"/>
            <a:ext cx="7688100" cy="2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4230533"/>
            <a:ext cx="7688100" cy="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699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809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3" y="1588342"/>
            <a:ext cx="745763" cy="61101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763267"/>
            <a:ext cx="7688400" cy="20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287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3" y="1588342"/>
            <a:ext cx="745763" cy="61101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758200"/>
            <a:ext cx="76887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771833"/>
            <a:ext cx="76887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187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3" y="1588342"/>
            <a:ext cx="745763" cy="61101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758200"/>
            <a:ext cx="76884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771833"/>
            <a:ext cx="37743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771833"/>
            <a:ext cx="37743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910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3" y="1588342"/>
            <a:ext cx="745763" cy="61101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758200"/>
            <a:ext cx="76884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5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3" y="1588342"/>
            <a:ext cx="745763" cy="61101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5402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3" y="5558840"/>
            <a:ext cx="745763" cy="61101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1152400"/>
            <a:ext cx="7021200" cy="3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118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3" y="1588342"/>
            <a:ext cx="745763" cy="61101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758200"/>
            <a:ext cx="3300900" cy="2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4215367"/>
            <a:ext cx="33009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803500"/>
            <a:ext cx="3374400" cy="4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779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5830068"/>
            <a:ext cx="7697400" cy="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496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3" y="5558840"/>
            <a:ext cx="745763" cy="61101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1551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65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09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92946" y="134947"/>
            <a:ext cx="6293644" cy="904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9588" y="1311275"/>
            <a:ext cx="7886700" cy="4351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0" name="Picture 2" descr="Image result for chandigarh university logo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8" y="104775"/>
            <a:ext cx="454819" cy="93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-2065454" y="293688"/>
            <a:ext cx="3860007" cy="5853112"/>
          </a:xfrm>
          <a:prstGeom prst="rtTriangle">
            <a:avLst/>
          </a:prstGeom>
          <a:solidFill>
            <a:schemeClr val="bg1">
              <a:lumMod val="85000"/>
              <a:alpha val="26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en-ID" kern="0">
              <a:solidFill>
                <a:srgbClr val="FFFFFF"/>
              </a:solidFill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8751098" y="5108575"/>
            <a:ext cx="307181" cy="1612900"/>
            <a:chOff x="83821" y="0"/>
            <a:chExt cx="219636" cy="903079"/>
          </a:xfrm>
        </p:grpSpPr>
        <p:sp>
          <p:nvSpPr>
            <p:cNvPr id="10" name="Rectangle 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graphicFrame>
          <p:nvGraphicFramePr>
            <p:cNvPr id="1040" name="Object 12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1" imgW="2169000" imgH="2169360" progId="">
                    <p:embed/>
                  </p:oleObj>
                </mc:Choice>
                <mc:Fallback>
                  <p:oleObj name="CorelDRAW" r:id="rId21" imgW="2169000" imgH="2169360" progId="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 rot="10800000">
            <a:off x="4" y="6251584"/>
            <a:ext cx="548879" cy="606425"/>
            <a:chOff x="5401469" y="1588"/>
            <a:chExt cx="1389063" cy="540239"/>
          </a:xfrm>
        </p:grpSpPr>
        <p:sp>
          <p:nvSpPr>
            <p:cNvPr id="1035" name="Freeform 5"/>
            <p:cNvSpPr>
              <a:spLocks/>
            </p:cNvSpPr>
            <p:nvPr/>
          </p:nvSpPr>
          <p:spPr bwMode="auto">
            <a:xfrm>
              <a:off x="5401469" y="1588"/>
              <a:ext cx="1205279" cy="540239"/>
            </a:xfrm>
            <a:custGeom>
              <a:avLst/>
              <a:gdLst>
                <a:gd name="T0" fmla="*/ 0 w 1410"/>
                <a:gd name="T1" fmla="*/ 0 h 632"/>
                <a:gd name="T2" fmla="*/ 2147483646 w 1410"/>
                <a:gd name="T3" fmla="*/ 2147483646 h 632"/>
                <a:gd name="T4" fmla="*/ 2147483646 w 1410"/>
                <a:gd name="T5" fmla="*/ 2147483646 h 632"/>
                <a:gd name="T6" fmla="*/ 2147483646 w 1410"/>
                <a:gd name="T7" fmla="*/ 0 h 632"/>
                <a:gd name="T8" fmla="*/ 0 w 1410"/>
                <a:gd name="T9" fmla="*/ 0 h 6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10" h="632">
                  <a:moveTo>
                    <a:pt x="0" y="0"/>
                  </a:moveTo>
                  <a:lnTo>
                    <a:pt x="630" y="632"/>
                  </a:lnTo>
                  <a:lnTo>
                    <a:pt x="1410" y="632"/>
                  </a:lnTo>
                  <a:lnTo>
                    <a:pt x="78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C344C"/>
                </a:gs>
                <a:gs pos="100000">
                  <a:srgbClr val="D80F79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>
                <a:solidFill>
                  <a:prstClr val="black"/>
                </a:solidFill>
              </a:endParaRPr>
            </a:p>
          </p:txBody>
        </p:sp>
        <p:sp>
          <p:nvSpPr>
            <p:cNvPr id="1036" name="Freeform 6"/>
            <p:cNvSpPr>
              <a:spLocks/>
            </p:cNvSpPr>
            <p:nvPr/>
          </p:nvSpPr>
          <p:spPr bwMode="auto">
            <a:xfrm>
              <a:off x="6252003" y="1588"/>
              <a:ext cx="538529" cy="426549"/>
            </a:xfrm>
            <a:custGeom>
              <a:avLst/>
              <a:gdLst>
                <a:gd name="T0" fmla="*/ 0 w 630"/>
                <a:gd name="T1" fmla="*/ 0 h 499"/>
                <a:gd name="T2" fmla="*/ 2147483646 w 630"/>
                <a:gd name="T3" fmla="*/ 2147483646 h 499"/>
                <a:gd name="T4" fmla="*/ 2147483646 w 630"/>
                <a:gd name="T5" fmla="*/ 2147483646 h 499"/>
                <a:gd name="T6" fmla="*/ 2147483646 w 630"/>
                <a:gd name="T7" fmla="*/ 0 h 499"/>
                <a:gd name="T8" fmla="*/ 0 w 630"/>
                <a:gd name="T9" fmla="*/ 0 h 4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0" h="499">
                  <a:moveTo>
                    <a:pt x="0" y="0"/>
                  </a:moveTo>
                  <a:lnTo>
                    <a:pt x="498" y="499"/>
                  </a:lnTo>
                  <a:lnTo>
                    <a:pt x="630" y="499"/>
                  </a:lnTo>
                  <a:lnTo>
                    <a:pt x="1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B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IN">
                <a:solidFill>
                  <a:prstClr val="black"/>
                </a:solidFill>
              </a:endParaRPr>
            </a:p>
          </p:txBody>
        </p:sp>
      </p:grpSp>
      <p:pic>
        <p:nvPicPr>
          <p:cNvPr id="16" name="Picture 2" descr="C:\Users\OM\Downloads\naac-sticker.png">
            <a:extLst>
              <a:ext uri="{FF2B5EF4-FFF2-40B4-BE49-F238E27FC236}">
                <a16:creationId xmlns:a16="http://schemas.microsoft.com/office/drawing/2014/main" id="{D7427353-50B9-40E6-8D87-DD3C5C9CF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/>
          <a:srcRect b="23807"/>
          <a:stretch>
            <a:fillRect/>
          </a:stretch>
        </p:blipFill>
        <p:spPr bwMode="auto">
          <a:xfrm>
            <a:off x="7169094" y="231103"/>
            <a:ext cx="1886802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73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rgbClr val="00206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00206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6333135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685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8" y="2074768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573881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514481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80843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237639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FFFFFF"/>
              </a:buClr>
              <a:buSzPts val="1800"/>
            </a:pPr>
            <a:endParaRPr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47865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378962" y="1808835"/>
            <a:ext cx="8606334" cy="431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rgbClr val="1A9988"/>
              </a:buClr>
              <a:buSzPts val="3200"/>
            </a:pPr>
            <a:r>
              <a:rPr lang="en-US" sz="2000" b="1" kern="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lang="en-US" sz="2000" kern="0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rgbClr val="1A9988"/>
              </a:buClr>
              <a:buSzPts val="3200"/>
            </a:pPr>
            <a:r>
              <a:rPr lang="en-US" sz="2000" b="1" kern="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MASTER OF COMPUTER APPLICATIONS</a:t>
            </a:r>
            <a:endParaRPr lang="en-US" sz="2000" kern="0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rgbClr val="1A9988"/>
              </a:buClr>
              <a:buSzPts val="2800"/>
            </a:pPr>
            <a:r>
              <a:rPr lang="en-US" sz="2000" kern="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DESIGN AND ANALYSIS OF ALGORITHMS</a:t>
            </a:r>
            <a:endParaRPr lang="en-US" sz="2000" kern="0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rgbClr val="1A9988"/>
              </a:buClr>
              <a:buSzPts val="2800"/>
            </a:pPr>
            <a:r>
              <a:rPr lang="en-US" sz="2000" kern="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25 CAT 611</a:t>
            </a:r>
            <a:endParaRPr lang="en-US" sz="2000" kern="0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spcBef>
                <a:spcPts val="1120"/>
              </a:spcBef>
              <a:buClr>
                <a:srgbClr val="000000"/>
              </a:buClr>
              <a:buSzPts val="3200"/>
            </a:pPr>
            <a:r>
              <a:rPr lang="en-US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Unit No.  3                    Chapter No.  </a:t>
            </a:r>
            <a:r>
              <a:rPr lang="en-US" sz="2000" b="1" ker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3.2.7  </a:t>
            </a:r>
          </a:p>
          <a:p>
            <a:pPr algn="ctr">
              <a:spcBef>
                <a:spcPts val="1120"/>
              </a:spcBef>
              <a:buClr>
                <a:srgbClr val="000000"/>
              </a:buClr>
              <a:buSzPts val="3200"/>
            </a:pPr>
            <a:r>
              <a:rPr lang="en-US" sz="2000" b="1" ker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              </a:t>
            </a:r>
            <a:endParaRPr lang="en-US" sz="2000" b="1" kern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spcBef>
                <a:spcPts val="1120"/>
              </a:spcBef>
              <a:buClr>
                <a:srgbClr val="000000"/>
              </a:buClr>
              <a:buSzPts val="3200"/>
            </a:pPr>
            <a:r>
              <a:rPr lang="en-US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Topic : </a:t>
            </a:r>
            <a:r>
              <a:rPr lang="en-US" sz="2000" b="1" dirty="0">
                <a:solidFill>
                  <a:schemeClr val="bg2"/>
                </a:solidFill>
              </a:rPr>
              <a:t>Graph </a:t>
            </a:r>
            <a:r>
              <a:rPr lang="en-US" sz="2000" b="1" dirty="0" err="1">
                <a:solidFill>
                  <a:schemeClr val="bg2"/>
                </a:solidFill>
              </a:rPr>
              <a:t>Colouring</a:t>
            </a:r>
            <a:r>
              <a:rPr lang="en-US" sz="2000" b="1" dirty="0">
                <a:solidFill>
                  <a:schemeClr val="bg2"/>
                </a:solidFill>
              </a:rPr>
              <a:t> Using Backtracking</a:t>
            </a:r>
          </a:p>
          <a:p>
            <a:pPr>
              <a:spcBef>
                <a:spcPts val="1120"/>
              </a:spcBef>
              <a:buClr>
                <a:srgbClr val="000000"/>
              </a:buClr>
              <a:buSzPts val="3200"/>
            </a:pPr>
            <a:endParaRPr lang="en-US" sz="2000" b="1" kern="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>
              <a:spcBef>
                <a:spcPts val="1120"/>
              </a:spcBef>
              <a:buClr>
                <a:srgbClr val="000000"/>
              </a:buClr>
              <a:buSzPts val="3200"/>
            </a:pPr>
            <a:r>
              <a:rPr lang="en-US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Faculty Name and </a:t>
            </a:r>
            <a:r>
              <a:rPr lang="en-US" sz="2000" b="1" kern="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E_Code</a:t>
            </a:r>
            <a:r>
              <a:rPr lang="en-US" sz="20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Dr. Sameera(17674)   Designation: Asst. Professor</a:t>
            </a:r>
            <a:endParaRPr lang="en-US" sz="2000" b="1" kern="0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Bef>
                <a:spcPts val="1120"/>
              </a:spcBef>
              <a:buClr>
                <a:srgbClr val="000000"/>
              </a:buClr>
              <a:buSzPts val="3200"/>
            </a:pPr>
            <a:endParaRPr lang="en-US" sz="2000" b="1" kern="0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1" y="857251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>
                <a:srgbClr val="000000"/>
              </a:buClr>
            </a:pPr>
            <a:r>
              <a:rPr lang="en-IN" b="1" kern="0" dirty="0">
                <a:solidFill>
                  <a:srgbClr val="FFFFFF">
                    <a:lumMod val="6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Academic Session 2025-26 </a:t>
            </a:r>
          </a:p>
          <a:p>
            <a:pPr algn="r">
              <a:buClr>
                <a:srgbClr val="000000"/>
              </a:buClr>
            </a:pPr>
            <a:r>
              <a:rPr lang="en-IN" sz="1600" b="1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64776" y="134943"/>
            <a:ext cx="5982471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r>
              <a:rPr lang="en-IN" sz="3200" b="1" dirty="0"/>
              <a:t>Graph Colouring Using 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64776" y="1247775"/>
            <a:ext cx="7947213" cy="49006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>
              <a:buNone/>
            </a:pPr>
            <a:r>
              <a:rPr lang="en-US" sz="2400" dirty="0"/>
              <a:t> </a:t>
            </a:r>
          </a:p>
          <a:p>
            <a:pPr fontAlgn="base">
              <a:buNone/>
            </a:pPr>
            <a:r>
              <a:rPr lang="en-US" sz="2400" dirty="0"/>
              <a:t> </a:t>
            </a:r>
          </a:p>
          <a:p>
            <a:endParaRPr lang="en-IN" sz="2400" dirty="0"/>
          </a:p>
        </p:txBody>
      </p:sp>
      <p:sp>
        <p:nvSpPr>
          <p:cNvPr id="6" name="Rectangle 5"/>
          <p:cNvSpPr/>
          <p:nvPr/>
        </p:nvSpPr>
        <p:spPr>
          <a:xfrm>
            <a:off x="576329" y="1225694"/>
            <a:ext cx="817486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prstClr val="black"/>
                </a:solidFill>
              </a:rPr>
              <a:t>Graph Coloring Algorithm-</a:t>
            </a:r>
            <a:endParaRPr lang="en-US" sz="2400" b="1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There exists no efficient algorithm for coloring a graph with minimum number of colors.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Graph Coloring is a NP complete problem.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However, a following greedy algorithm is known for finding the chromatic number of any given graph.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prstClr val="black"/>
                </a:solidFill>
              </a:rPr>
              <a:t>Greedy Algorithm-</a:t>
            </a:r>
            <a:endParaRPr lang="en-US" sz="2400" b="1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prstClr val="black"/>
                </a:solidFill>
              </a:rPr>
              <a:t>Step-01:</a:t>
            </a:r>
            <a:r>
              <a:rPr lang="en-US" sz="2400" dirty="0">
                <a:solidFill>
                  <a:prstClr val="black"/>
                </a:solidFill>
              </a:rPr>
              <a:t>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Color first vertex with the first color.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sz="2400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9544C-173B-DEF7-59CB-6A200803CB5C}"/>
              </a:ext>
            </a:extLst>
          </p:cNvPr>
          <p:cNvSpPr txBox="1"/>
          <p:nvPr/>
        </p:nvSpPr>
        <p:spPr>
          <a:xfrm>
            <a:off x="7086600" y="228600"/>
            <a:ext cx="2057400" cy="81120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21CEED-D5A3-B031-2E1A-33C60C828CB5}"/>
              </a:ext>
            </a:extLst>
          </p:cNvPr>
          <p:cNvSpPr txBox="1"/>
          <p:nvPr/>
        </p:nvSpPr>
        <p:spPr>
          <a:xfrm>
            <a:off x="0" y="6148388"/>
            <a:ext cx="762000" cy="7096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64776" y="134943"/>
            <a:ext cx="5982471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IN" sz="3600" b="1" dirty="0"/>
              <a:t>Graph Colouring Using Backtracking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41196" y="1247775"/>
            <a:ext cx="8275334" cy="49006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2400" b="1" u="sng" dirty="0"/>
              <a:t>Step-02:</a:t>
            </a:r>
            <a:endParaRPr lang="en-US" sz="2400" b="1" dirty="0"/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Now, consider the remaining (V-1) vertices one by one and do the following-</a:t>
            </a:r>
          </a:p>
          <a:p>
            <a:pPr fontAlgn="base"/>
            <a:r>
              <a:rPr lang="en-US" sz="2400" dirty="0"/>
              <a:t> </a:t>
            </a:r>
          </a:p>
          <a:p>
            <a:pPr fontAlgn="base"/>
            <a:r>
              <a:rPr lang="en-US" sz="2400" dirty="0"/>
              <a:t>Color the currently picked vertex with the lowest numbered color if it has not been used to color any of its adjacent vertices.</a:t>
            </a:r>
          </a:p>
          <a:p>
            <a:pPr fontAlgn="base"/>
            <a:r>
              <a:rPr lang="en-US" sz="2400" dirty="0"/>
              <a:t>If it has been used, then choose the next least numbered color.</a:t>
            </a:r>
          </a:p>
          <a:p>
            <a:pPr fontAlgn="base"/>
            <a:r>
              <a:rPr lang="en-US" sz="2400" dirty="0"/>
              <a:t>If all the previously used colors have been used, then assign a new color to the currently picked vertex.</a:t>
            </a:r>
          </a:p>
          <a:p>
            <a:pPr fontAlgn="base">
              <a:buNone/>
            </a:pPr>
            <a:r>
              <a:rPr lang="en-US" sz="2400" dirty="0"/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EBB10-45C6-1160-DE54-6B210F3F86FC}"/>
              </a:ext>
            </a:extLst>
          </p:cNvPr>
          <p:cNvSpPr txBox="1"/>
          <p:nvPr/>
        </p:nvSpPr>
        <p:spPr>
          <a:xfrm>
            <a:off x="7086600" y="134943"/>
            <a:ext cx="1981200" cy="9048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837C6-7726-AC8A-18CE-F1C8F3488E7C}"/>
              </a:ext>
            </a:extLst>
          </p:cNvPr>
          <p:cNvSpPr txBox="1"/>
          <p:nvPr/>
        </p:nvSpPr>
        <p:spPr>
          <a:xfrm>
            <a:off x="0" y="6148388"/>
            <a:ext cx="727470" cy="70961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25997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58105" y="1311275"/>
            <a:ext cx="6928597" cy="4351338"/>
          </a:xfrm>
        </p:spPr>
        <p:txBody>
          <a:bodyPr>
            <a:normAutofit/>
          </a:bodyPr>
          <a:lstStyle/>
          <a:p>
            <a:pPr>
              <a:buNone/>
            </a:pPr>
            <a:br>
              <a:rPr lang="en-IN" sz="2800" dirty="0">
                <a:solidFill>
                  <a:srgbClr val="FF0000"/>
                </a:solidFill>
              </a:rPr>
            </a:b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2470" y="249057"/>
            <a:ext cx="6147578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3000" b="1" u="sng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Drawbacks of Greedy Algorithm-</a:t>
            </a:r>
            <a:endParaRPr lang="en-IN" sz="30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5824" y="1543123"/>
            <a:ext cx="6689769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There are following drawbacks of the above Greedy Algorithm-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The above algorithm does not always use minimum number of colors.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The number of colors used sometimes depend on the order in which the vertices are processed.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D772A-A82D-ABD9-2ECB-33DA173F0EAF}"/>
              </a:ext>
            </a:extLst>
          </p:cNvPr>
          <p:cNvSpPr txBox="1"/>
          <p:nvPr/>
        </p:nvSpPr>
        <p:spPr>
          <a:xfrm>
            <a:off x="7162800" y="249057"/>
            <a:ext cx="1981200" cy="7415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610D70-0098-EDCD-8E96-7F8A39DA22ED}"/>
              </a:ext>
            </a:extLst>
          </p:cNvPr>
          <p:cNvSpPr txBox="1"/>
          <p:nvPr/>
        </p:nvSpPr>
        <p:spPr>
          <a:xfrm>
            <a:off x="0" y="6248400"/>
            <a:ext cx="762000" cy="6096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2620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5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84946" y="134938"/>
            <a:ext cx="6121774" cy="138458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fontAlgn="base"/>
            <a:br>
              <a:rPr lang="en-US" sz="3000" b="1" u="sng" dirty="0"/>
            </a:br>
            <a:r>
              <a:rPr lang="en-US" sz="3000" b="1" u="sng" dirty="0"/>
              <a:t>PRACTICE PROBLEMS BASED ON FINDING CHROMATIC NUMBER OF A GRAPH-</a:t>
            </a:r>
            <a:br>
              <a:rPr lang="en-US" sz="3000" b="1" dirty="0"/>
            </a:br>
            <a:endParaRPr lang="en-IN" sz="3000" b="1" dirty="0"/>
          </a:p>
        </p:txBody>
      </p:sp>
      <p:sp>
        <p:nvSpPr>
          <p:cNvPr id="5" name="Rectangle 4"/>
          <p:cNvSpPr/>
          <p:nvPr/>
        </p:nvSpPr>
        <p:spPr>
          <a:xfrm>
            <a:off x="583858" y="1708234"/>
            <a:ext cx="65363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solidFill>
                  <a:prstClr val="black"/>
                </a:solidFill>
              </a:rPr>
              <a:t>Problem-01:</a:t>
            </a:r>
            <a:endParaRPr lang="en-US" b="1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Find chromatic number of the following graph-</a:t>
            </a:r>
          </a:p>
        </p:txBody>
      </p:sp>
      <p:pic>
        <p:nvPicPr>
          <p:cNvPr id="4100" name="Picture 4" descr="https://www.gatevidyalay.com/wp-content/uploads/2018/06/Find-Chromatic-Number-of-Graph-Problem-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592" y="3447053"/>
            <a:ext cx="3650456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0D7AD0-6B55-DBB8-A71D-1E2317E34298}"/>
              </a:ext>
            </a:extLst>
          </p:cNvPr>
          <p:cNvSpPr txBox="1"/>
          <p:nvPr/>
        </p:nvSpPr>
        <p:spPr>
          <a:xfrm>
            <a:off x="7120218" y="134938"/>
            <a:ext cx="2023782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0FF25-0316-68CF-B149-3226B2480B27}"/>
              </a:ext>
            </a:extLst>
          </p:cNvPr>
          <p:cNvSpPr txBox="1"/>
          <p:nvPr/>
        </p:nvSpPr>
        <p:spPr>
          <a:xfrm>
            <a:off x="0" y="6037853"/>
            <a:ext cx="914400" cy="82014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95403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62001" y="304802"/>
            <a:ext cx="5255769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200" b="1" dirty="0"/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35234" y="1273871"/>
            <a:ext cx="483241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prstClr val="black"/>
                </a:solidFill>
              </a:rPr>
              <a:t>Solution-</a:t>
            </a:r>
            <a:endParaRPr lang="en-US" sz="2400" b="1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prstClr val="black"/>
                </a:solidFill>
              </a:rPr>
              <a:t>Applying Greedy Algorithm, we have-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684953"/>
              </p:ext>
            </p:extLst>
          </p:nvPr>
        </p:nvGraphicFramePr>
        <p:xfrm>
          <a:off x="1138243" y="2812480"/>
          <a:ext cx="3506131" cy="762000"/>
        </p:xfrm>
        <a:graphic>
          <a:graphicData uri="http://schemas.openxmlformats.org/drawingml/2006/table">
            <a:tbl>
              <a:tblPr/>
              <a:tblGrid>
                <a:gridCol w="742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33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0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58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Vertex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a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b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c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d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e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f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Color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C1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C2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C1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C2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C1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C2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49628" y="416507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From here,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Minimum number of colors used to color the given graph are 2.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Therefore, Chromatic Number of the given graph = 2.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F499D-4154-083D-2BC1-116BFA263245}"/>
              </a:ext>
            </a:extLst>
          </p:cNvPr>
          <p:cNvSpPr txBox="1"/>
          <p:nvPr/>
        </p:nvSpPr>
        <p:spPr>
          <a:xfrm>
            <a:off x="7086600" y="152400"/>
            <a:ext cx="2057400" cy="10572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9DAFE-3F58-6DF0-CFAA-96E698FBFD3B}"/>
              </a:ext>
            </a:extLst>
          </p:cNvPr>
          <p:cNvSpPr txBox="1"/>
          <p:nvPr/>
        </p:nvSpPr>
        <p:spPr>
          <a:xfrm>
            <a:off x="0" y="6172200"/>
            <a:ext cx="762001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0824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5800" y="134943"/>
            <a:ext cx="5245894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IN" sz="3600" b="1" dirty="0"/>
              <a:t>Solution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533400" y="1371600"/>
            <a:ext cx="7886700" cy="4351338"/>
          </a:xfrm>
        </p:spPr>
        <p:txBody>
          <a:bodyPr/>
          <a:lstStyle/>
          <a:p>
            <a:pPr fontAlgn="base"/>
            <a:r>
              <a:rPr lang="en-US" dirty="0"/>
              <a:t>The given graph may be properly colored using 2 colors as shown below-</a:t>
            </a:r>
          </a:p>
          <a:p>
            <a:pPr fontAlgn="base"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36" y="2304379"/>
            <a:ext cx="3378994" cy="260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BB4F4E-6E9A-6F32-C3C1-042A9D82D31F}"/>
              </a:ext>
            </a:extLst>
          </p:cNvPr>
          <p:cNvSpPr txBox="1"/>
          <p:nvPr/>
        </p:nvSpPr>
        <p:spPr>
          <a:xfrm>
            <a:off x="7010400" y="0"/>
            <a:ext cx="2057400" cy="113506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1068D-8A6F-C9AA-92C2-1C20B0481615}"/>
              </a:ext>
            </a:extLst>
          </p:cNvPr>
          <p:cNvSpPr txBox="1"/>
          <p:nvPr/>
        </p:nvSpPr>
        <p:spPr>
          <a:xfrm>
            <a:off x="0" y="6172200"/>
            <a:ext cx="62865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5137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84947" y="134943"/>
            <a:ext cx="536698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3200" dirty="0"/>
              <a:t>Problem-2</a:t>
            </a:r>
            <a:endParaRPr lang="en-US" sz="3600" b="1" dirty="0"/>
          </a:p>
        </p:txBody>
      </p:sp>
      <p:sp>
        <p:nvSpPr>
          <p:cNvPr id="5" name="Rectangle 4"/>
          <p:cNvSpPr/>
          <p:nvPr/>
        </p:nvSpPr>
        <p:spPr>
          <a:xfrm>
            <a:off x="730876" y="136064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Find chromatic number of the following graph-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prstClr val="black"/>
                </a:solidFill>
              </a:rPr>
              <a:t> </a:t>
            </a:r>
          </a:p>
        </p:txBody>
      </p:sp>
      <p:sp>
        <p:nvSpPr>
          <p:cNvPr id="6" name="AutoShape 4" descr="https://www.gatevidyalay.com/wp-content/uploads/2018/06/Find-Chromatic-Number-of-Graph-Problem-02.png"/>
          <p:cNvSpPr>
            <a:spLocks noChangeAspect="1" noChangeArrowheads="1"/>
          </p:cNvSpPr>
          <p:nvPr/>
        </p:nvSpPr>
        <p:spPr bwMode="auto">
          <a:xfrm>
            <a:off x="116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7" name="AutoShape 6" descr="https://www.gatevidyalay.com/wp-content/uploads/2018/06/Find-Chromatic-Number-of-Graph-Problem-02.png"/>
          <p:cNvSpPr>
            <a:spLocks noChangeAspect="1" noChangeArrowheads="1"/>
          </p:cNvSpPr>
          <p:nvPr/>
        </p:nvSpPr>
        <p:spPr bwMode="auto">
          <a:xfrm>
            <a:off x="230981" y="7942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</a:endParaRPr>
          </a:p>
        </p:txBody>
      </p:sp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30" y="2017690"/>
            <a:ext cx="3721894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427662"/>
              </p:ext>
            </p:extLst>
          </p:nvPr>
        </p:nvGraphicFramePr>
        <p:xfrm>
          <a:off x="1468194" y="5531825"/>
          <a:ext cx="3586129" cy="971467"/>
        </p:xfrm>
        <a:graphic>
          <a:graphicData uri="http://schemas.openxmlformats.org/drawingml/2006/table">
            <a:tbl>
              <a:tblPr/>
              <a:tblGrid>
                <a:gridCol w="759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5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0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08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6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27445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effectLst/>
                        </a:rPr>
                        <a:t>Vertex</a:t>
                      </a:r>
                      <a:endParaRPr lang="en-IN" dirty="0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a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b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c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d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e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f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022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Color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C1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C2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C2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C3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C3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C1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85801" y="4343401"/>
            <a:ext cx="3139225" cy="11695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u="sng" dirty="0">
                <a:solidFill>
                  <a:srgbClr val="303030"/>
                </a:solidFill>
                <a:latin typeface="roboto condensed"/>
                <a:cs typeface="Arial" pitchFamily="34" charset="0"/>
              </a:rPr>
              <a:t>Solution-</a:t>
            </a:r>
            <a:endParaRPr lang="en-US" sz="1600" b="1" dirty="0">
              <a:solidFill>
                <a:srgbClr val="303030"/>
              </a:solidFill>
              <a:latin typeface="roboto condensed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303030"/>
                </a:solidFill>
                <a:latin typeface="Arimo"/>
                <a:cs typeface="Arial" pitchFamily="34" charset="0"/>
              </a:rPr>
              <a:t> </a:t>
            </a:r>
            <a:endParaRPr lang="en-US" sz="11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rgbClr val="303030"/>
                </a:solidFill>
                <a:latin typeface="Arimo"/>
                <a:cs typeface="Arial" pitchFamily="34" charset="0"/>
              </a:rPr>
              <a:t>Applying Greedy Algorithm, we have-</a:t>
            </a:r>
            <a:b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A26AE1-BB0F-3E89-C2E6-93694BDC6556}"/>
              </a:ext>
            </a:extLst>
          </p:cNvPr>
          <p:cNvSpPr txBox="1"/>
          <p:nvPr/>
        </p:nvSpPr>
        <p:spPr>
          <a:xfrm>
            <a:off x="7086600" y="134943"/>
            <a:ext cx="20574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51B72-F6D0-E3EF-B337-CE5FCCE4359E}"/>
              </a:ext>
            </a:extLst>
          </p:cNvPr>
          <p:cNvSpPr txBox="1"/>
          <p:nvPr/>
        </p:nvSpPr>
        <p:spPr>
          <a:xfrm>
            <a:off x="0" y="6172200"/>
            <a:ext cx="685801" cy="67785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34427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5803" y="134943"/>
            <a:ext cx="5861447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3600" dirty="0"/>
              <a:t>Solution</a:t>
            </a:r>
            <a:endParaRPr lang="en-IN" sz="3600" b="1" dirty="0"/>
          </a:p>
        </p:txBody>
      </p:sp>
      <p:sp>
        <p:nvSpPr>
          <p:cNvPr id="3" name="Rectangle 2"/>
          <p:cNvSpPr/>
          <p:nvPr/>
        </p:nvSpPr>
        <p:spPr>
          <a:xfrm>
            <a:off x="701900" y="1165458"/>
            <a:ext cx="68032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dirty="0">
                <a:solidFill>
                  <a:prstClr val="black"/>
                </a:solidFill>
              </a:rPr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701899" y="1167665"/>
            <a:ext cx="551859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</a:rPr>
              <a:t>From here,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</a:rPr>
              <a:t>Minimum number of colors used to color the given graph are 3.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</a:rPr>
              <a:t>Therefore, Chromatic Number of the given graph = 3. 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</a:rPr>
              <a:t>The given graph may be properly colored using 3 colors as shown below-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solidFill>
                <a:prstClr val="black"/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sz="2800" dirty="0">
                <a:solidFill>
                  <a:prstClr val="black"/>
                </a:solidFill>
              </a:rPr>
            </a:br>
            <a:endParaRPr lang="en-IN" sz="2800" dirty="0">
              <a:solidFill>
                <a:prstClr val="black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2887" y="3780388"/>
            <a:ext cx="3721894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6B3A74-2199-5CF5-72E9-DB700C019E55}"/>
              </a:ext>
            </a:extLst>
          </p:cNvPr>
          <p:cNvSpPr txBox="1"/>
          <p:nvPr/>
        </p:nvSpPr>
        <p:spPr>
          <a:xfrm>
            <a:off x="7010400" y="134943"/>
            <a:ext cx="20574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8BDF2-F0AE-F5D1-79B4-BA9927E75C46}"/>
              </a:ext>
            </a:extLst>
          </p:cNvPr>
          <p:cNvSpPr txBox="1"/>
          <p:nvPr/>
        </p:nvSpPr>
        <p:spPr>
          <a:xfrm>
            <a:off x="-1" y="5999757"/>
            <a:ext cx="779219" cy="8582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647446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25291" y="198443"/>
            <a:ext cx="5763605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br>
              <a:rPr lang="en-US" sz="4400" b="1" u="sng" dirty="0"/>
            </a:br>
            <a:r>
              <a:rPr lang="en-US" sz="4400" b="1" u="sng" dirty="0"/>
              <a:t>Problem-03:</a:t>
            </a:r>
            <a:br>
              <a:rPr lang="en-US" sz="4400" b="1" dirty="0"/>
            </a:b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231962" y="1338170"/>
            <a:ext cx="7886700" cy="424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 Find chromatic number of the following graph- 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079" y="1953296"/>
            <a:ext cx="3436144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268966"/>
              </p:ext>
            </p:extLst>
          </p:nvPr>
        </p:nvGraphicFramePr>
        <p:xfrm>
          <a:off x="1543052" y="5513249"/>
          <a:ext cx="3672635" cy="1198065"/>
        </p:xfrm>
        <a:graphic>
          <a:graphicData uri="http://schemas.openxmlformats.org/drawingml/2006/table">
            <a:tbl>
              <a:tblPr/>
              <a:tblGrid>
                <a:gridCol w="662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2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61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83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6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2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7025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effectLst/>
                        </a:rPr>
                        <a:t>Vertex</a:t>
                      </a:r>
                      <a:endParaRPr lang="en-IN" dirty="0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a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b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c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d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e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f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</a:rPr>
                        <a:t>g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578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Color</a:t>
                      </a:r>
                      <a:endParaRPr lang="en-IN">
                        <a:effectLst/>
                      </a:endParaRP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C1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C2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C1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C3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C2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C3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C4</a:t>
                      </a:r>
                    </a:p>
                  </a:txBody>
                  <a:tcPr marL="71438" marR="71438" marT="76200" marB="7620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42902" y="4800269"/>
            <a:ext cx="3640791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solidFill>
                  <a:srgbClr val="303030"/>
                </a:solidFill>
                <a:latin typeface="Times New Roman" pitchFamily="18" charset="0"/>
                <a:cs typeface="Times New Roman" pitchFamily="18" charset="0"/>
              </a:rPr>
              <a:t>Solution-</a:t>
            </a:r>
            <a:endParaRPr lang="en-US" b="1" dirty="0">
              <a:solidFill>
                <a:srgbClr val="30303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303030"/>
                </a:solidFill>
                <a:latin typeface="Times New Roman" pitchFamily="18" charset="0"/>
                <a:cs typeface="Times New Roman" pitchFamily="18" charset="0"/>
              </a:rPr>
              <a:t> Applying Greedy Algorithm, we have- 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solidFill>
                  <a:srgbClr val="303030"/>
                </a:solidFill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8A8829-63DD-6D08-D576-23FB3B6C6136}"/>
              </a:ext>
            </a:extLst>
          </p:cNvPr>
          <p:cNvSpPr txBox="1"/>
          <p:nvPr/>
        </p:nvSpPr>
        <p:spPr>
          <a:xfrm>
            <a:off x="7086600" y="152400"/>
            <a:ext cx="1981200" cy="9509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1ECD6-B634-7A3E-A659-D7AA8577165A}"/>
              </a:ext>
            </a:extLst>
          </p:cNvPr>
          <p:cNvSpPr txBox="1"/>
          <p:nvPr/>
        </p:nvSpPr>
        <p:spPr>
          <a:xfrm>
            <a:off x="0" y="6172200"/>
            <a:ext cx="76200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03779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11</a:t>
            </a:fld>
            <a:endParaRPr lang="en-IN" alt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45461" y="198443"/>
            <a:ext cx="574343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Solution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Content Placeholder 4"/>
          <p:cNvSpPr txBox="1">
            <a:spLocks noGrp="1"/>
          </p:cNvSpPr>
          <p:nvPr>
            <p:ph idx="4294967295"/>
          </p:nvPr>
        </p:nvSpPr>
        <p:spPr>
          <a:xfrm>
            <a:off x="171452" y="1311277"/>
            <a:ext cx="8169089" cy="21390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en-US" sz="2400" dirty="0"/>
              <a:t>From here,</a:t>
            </a:r>
          </a:p>
          <a:p>
            <a:pPr fontAlgn="base"/>
            <a:r>
              <a:rPr lang="en-US" sz="2400" dirty="0"/>
              <a:t>Minimum number of colors used to color the given graph are 4.</a:t>
            </a:r>
          </a:p>
          <a:p>
            <a:pPr fontAlgn="base"/>
            <a:r>
              <a:rPr lang="en-US" sz="2400" dirty="0"/>
              <a:t>Therefore, Chromatic Number of the given graph = 4.</a:t>
            </a:r>
          </a:p>
          <a:p>
            <a:pPr fontAlgn="base"/>
            <a:r>
              <a:rPr lang="en-US" sz="2400" dirty="0"/>
              <a:t> The given graph may be properly colored using 4 colors as shown below- </a:t>
            </a:r>
          </a:p>
        </p:txBody>
      </p:sp>
      <p:sp>
        <p:nvSpPr>
          <p:cNvPr id="3" name="AutoShape 2" descr="https://www.gatevidyalay.com/wp-content/uploads/2018/06/Find-Chromatic-Number-of-Graph-Problem-03-Solution.png"/>
          <p:cNvSpPr>
            <a:spLocks noChangeAspect="1" noChangeArrowheads="1"/>
          </p:cNvSpPr>
          <p:nvPr/>
        </p:nvSpPr>
        <p:spPr bwMode="auto">
          <a:xfrm>
            <a:off x="116681" y="-144463"/>
            <a:ext cx="2286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>
              <a:solidFill>
                <a:prstClr val="black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3689799"/>
            <a:ext cx="4201946" cy="3168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CD9154-6005-BC93-1DE4-588A52BBA704}"/>
              </a:ext>
            </a:extLst>
          </p:cNvPr>
          <p:cNvSpPr txBox="1"/>
          <p:nvPr/>
        </p:nvSpPr>
        <p:spPr>
          <a:xfrm>
            <a:off x="7010400" y="160338"/>
            <a:ext cx="2057400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E5327-05EE-9A85-ABB4-3B0FF3B97DD8}"/>
              </a:ext>
            </a:extLst>
          </p:cNvPr>
          <p:cNvSpPr txBox="1"/>
          <p:nvPr/>
        </p:nvSpPr>
        <p:spPr>
          <a:xfrm>
            <a:off x="0" y="6096000"/>
            <a:ext cx="762000" cy="762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149008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36526"/>
            <a:ext cx="7886700" cy="953366"/>
          </a:xfrm>
        </p:spPr>
        <p:txBody>
          <a:bodyPr anchor="t">
            <a:normAutofit fontScale="90000"/>
          </a:bodyPr>
          <a:lstStyle/>
          <a:p>
            <a:pPr algn="l"/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1)  https://www.tutorialspoint.com/data_structures_algorithms/divide_and_conquer.htm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2)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Data Structures and Algorithms made easy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By Narasimha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Karumanchi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3)  The Algorithm Design Manual, 2nd Edition by Steven S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Skiena</a:t>
            </a: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br>
              <a:rPr lang="en-US" sz="1600" dirty="0">
                <a:latin typeface="Times New Roman" pitchFamily="18" charset="0"/>
                <a:cs typeface="Times New Roman" pitchFamily="18" charset="0"/>
              </a:rPr>
            </a:b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Fundamentals of Computer Algorithms - Horowitz and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Sahani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</a:t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8652" y="192884"/>
            <a:ext cx="652029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571AD-EF65-4378-86D6-3AF0DD73CA0C}"/>
              </a:ext>
            </a:extLst>
          </p:cNvPr>
          <p:cNvSpPr/>
          <p:nvPr/>
        </p:nvSpPr>
        <p:spPr>
          <a:xfrm>
            <a:off x="628650" y="1089891"/>
            <a:ext cx="7886700" cy="508230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855C06-9819-4A06-9C49-58CDAD8CD94B}"/>
              </a:ext>
            </a:extLst>
          </p:cNvPr>
          <p:cNvSpPr/>
          <p:nvPr/>
        </p:nvSpPr>
        <p:spPr>
          <a:xfrm>
            <a:off x="628651" y="136528"/>
            <a:ext cx="6568787" cy="76944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8B716-3EDB-4874-B04B-3AC9D49B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232E9-1104-F817-DABD-407790C2A751}"/>
              </a:ext>
            </a:extLst>
          </p:cNvPr>
          <p:cNvSpPr txBox="1"/>
          <p:nvPr/>
        </p:nvSpPr>
        <p:spPr>
          <a:xfrm>
            <a:off x="7197438" y="192884"/>
            <a:ext cx="1870362" cy="89700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6A0C0-783E-2BFE-E9EE-D08A9987200D}"/>
              </a:ext>
            </a:extLst>
          </p:cNvPr>
          <p:cNvSpPr txBox="1"/>
          <p:nvPr/>
        </p:nvSpPr>
        <p:spPr>
          <a:xfrm>
            <a:off x="0" y="6172200"/>
            <a:ext cx="628650" cy="6858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476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-76200"/>
            <a:ext cx="9144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  <a:cs typeface="+mn-cs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7010400" y="9525"/>
            <a:ext cx="13716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7627144" y="1"/>
            <a:ext cx="497681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550069" y="6294438"/>
            <a:ext cx="4191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292894" y="5148264"/>
            <a:ext cx="1296591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itle 1"/>
          <p:cNvSpPr txBox="1">
            <a:spLocks/>
          </p:cNvSpPr>
          <p:nvPr/>
        </p:nvSpPr>
        <p:spPr bwMode="auto">
          <a:xfrm>
            <a:off x="1114425" y="2249488"/>
            <a:ext cx="8043863" cy="123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en-US" sz="8000">
                <a:solidFill>
                  <a:srgbClr val="FFFFFF"/>
                </a:solidFill>
                <a:latin typeface="Casper" pitchFamily="2" charset="0"/>
                <a:cs typeface="Segoe UI" pitchFamily="34" charset="0"/>
              </a:rPr>
              <a:t>THANK YOU</a:t>
            </a:r>
          </a:p>
        </p:txBody>
      </p:sp>
      <p:sp>
        <p:nvSpPr>
          <p:cNvPr id="44040" name="Diamond 6"/>
          <p:cNvSpPr>
            <a:spLocks noChangeArrowheads="1"/>
          </p:cNvSpPr>
          <p:nvPr/>
        </p:nvSpPr>
        <p:spPr bwMode="auto">
          <a:xfrm>
            <a:off x="1981201" y="1214438"/>
            <a:ext cx="1822847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1" name="Diamond 6"/>
          <p:cNvSpPr>
            <a:spLocks noChangeArrowheads="1"/>
          </p:cNvSpPr>
          <p:nvPr/>
        </p:nvSpPr>
        <p:spPr bwMode="auto">
          <a:xfrm>
            <a:off x="2174082" y="1214438"/>
            <a:ext cx="1822847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3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7962362-1F08-47BC-B5C0-8D11A861320F}" type="slidenum">
              <a:rPr lang="en-IN" altLang="en-US" smtClean="0"/>
              <a:pPr/>
              <a:t>13</a:t>
            </a:fld>
            <a:endParaRPr lang="en-I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42D6A7-C277-FFD3-3CD3-909E5E9D9744}"/>
              </a:ext>
            </a:extLst>
          </p:cNvPr>
          <p:cNvSpPr txBox="1"/>
          <p:nvPr/>
        </p:nvSpPr>
        <p:spPr>
          <a:xfrm>
            <a:off x="7086600" y="152400"/>
            <a:ext cx="1981200" cy="92233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D5956-D060-9E76-7155-3101D9B6CEED}"/>
              </a:ext>
            </a:extLst>
          </p:cNvPr>
          <p:cNvSpPr txBox="1"/>
          <p:nvPr/>
        </p:nvSpPr>
        <p:spPr>
          <a:xfrm>
            <a:off x="0" y="6096000"/>
            <a:ext cx="628650" cy="7572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588</Words>
  <Application>Microsoft Office PowerPoint</Application>
  <PresentationFormat>On-screen Show (4:3)</PresentationFormat>
  <Paragraphs>150</Paragraphs>
  <Slides>13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Arimo</vt:lpstr>
      <vt:lpstr>Calibri</vt:lpstr>
      <vt:lpstr>Calibri Light</vt:lpstr>
      <vt:lpstr>Cambria</vt:lpstr>
      <vt:lpstr>Casper</vt:lpstr>
      <vt:lpstr>Lato</vt:lpstr>
      <vt:lpstr>roboto condensed</vt:lpstr>
      <vt:lpstr>Times New Roman</vt:lpstr>
      <vt:lpstr>Theme1</vt:lpstr>
      <vt:lpstr>Streamline</vt:lpstr>
      <vt:lpstr>CorelDRAW</vt:lpstr>
      <vt:lpstr>PowerPoint Presentation</vt:lpstr>
      <vt:lpstr>Graph Colouring Using Backtracking</vt:lpstr>
      <vt:lpstr>Graph Colouring Using Backtracking</vt:lpstr>
      <vt:lpstr>PowerPoint Presentation</vt:lpstr>
      <vt:lpstr> PRACTICE PROBLEMS BASED ON FINDING CHROMATIC NUMBER OF A GRAPH- </vt:lpstr>
      <vt:lpstr>Solution</vt:lpstr>
      <vt:lpstr>Solution</vt:lpstr>
      <vt:lpstr>Problem-2</vt:lpstr>
      <vt:lpstr>Solution</vt:lpstr>
      <vt:lpstr> Problem-03: </vt:lpstr>
      <vt:lpstr>Solution</vt:lpstr>
      <vt:lpstr>     1)  https://www.tutorialspoint.com/data_structures_algorithms/divide_and_conquer.htm  2)  Data Structures and Algorithms made easy By Narasimha Karumanchi.  3)  The Algorithm Design Manual, 2nd Edition by Steven S Skiena  4) Fundamentals of Computer Algorithms - Horowitz and Sahani 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Acerr</dc:creator>
  <cp:lastModifiedBy>sameera dhuria</cp:lastModifiedBy>
  <cp:revision>9</cp:revision>
  <dcterms:created xsi:type="dcterms:W3CDTF">2023-02-03T08:00:06Z</dcterms:created>
  <dcterms:modified xsi:type="dcterms:W3CDTF">2025-07-03T15:34:54Z</dcterms:modified>
</cp:coreProperties>
</file>