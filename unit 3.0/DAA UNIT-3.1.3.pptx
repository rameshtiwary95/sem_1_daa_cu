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2"/>
  </p:sldMasterIdLst>
  <p:notesMasterIdLst>
    <p:notesMasterId r:id="rId17"/>
  </p:notesMasterIdLst>
  <p:sldIdLst>
    <p:sldId id="414" r:id="rId3"/>
    <p:sldId id="300" r:id="rId4"/>
    <p:sldId id="301" r:id="rId5"/>
    <p:sldId id="302" r:id="rId6"/>
    <p:sldId id="416" r:id="rId7"/>
    <p:sldId id="522" r:id="rId8"/>
    <p:sldId id="521" r:id="rId9"/>
    <p:sldId id="417" r:id="rId10"/>
    <p:sldId id="526" r:id="rId11"/>
    <p:sldId id="523" r:id="rId12"/>
    <p:sldId id="524" r:id="rId13"/>
    <p:sldId id="525" r:id="rId14"/>
    <p:sldId id="419" r:id="rId15"/>
    <p:sldId id="279"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1317" autoAdjust="0"/>
    <p:restoredTop sz="94660"/>
  </p:normalViewPr>
  <p:slideViewPr>
    <p:cSldViewPr snapToGrid="0">
      <p:cViewPr varScale="1">
        <p:scale>
          <a:sx n="65" d="100"/>
          <a:sy n="65" d="100"/>
        </p:scale>
        <p:origin x="600"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962FA2-C996-4D9D-A358-FD4E9DC4D022}" type="datetimeFigureOut">
              <a:rPr lang="en-IN" smtClean="0"/>
              <a:t>23-04-2025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CD9F31-B2BE-4940-84CF-33910A1DD6E8}"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C3ED2120-49A2-400F-B8C8-26FFF09FA081}" type="datetime1">
              <a:rPr lang="en-IN" smtClean="0"/>
              <a:t>23-04-2025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60DEA4B-34B4-4AC2-B43A-8ADFF4CF648D}"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BDDD3DC3-77B8-45CA-BA61-8C8A4192F575}" type="datetime1">
              <a:rPr lang="en-IN" smtClean="0"/>
              <a:t>23-04-2025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60DEA4B-34B4-4AC2-B43A-8ADFF4CF648D}"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5BB8C2C-9C8A-4684-810B-E57DD48CB502}" type="datetime1">
              <a:rPr lang="en-IN" smtClean="0"/>
              <a:t>23-04-2025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60DEA4B-34B4-4AC2-B43A-8ADFF4CF648D}"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81F87085-630F-4EB1-BDDC-9BBF2734D804}" type="datetime1">
              <a:rPr lang="en-IN" smtClean="0"/>
              <a:t>23-04-2025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60DEA4B-34B4-4AC2-B43A-8ADFF4CF648D}"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DCA2FE1D-21E2-4DA2-B859-5B19B62EFE4B}" type="datetime1">
              <a:rPr lang="en-IN" smtClean="0"/>
              <a:t>23-04-2025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60DEA4B-34B4-4AC2-B43A-8ADFF4CF648D}"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097FC029-134F-4411-AEC2-CC1D77A78955}" type="datetime1">
              <a:rPr lang="en-IN" smtClean="0"/>
              <a:t>23-04-2025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60DEA4B-34B4-4AC2-B43A-8ADFF4CF648D}"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F2AB72E-0CDE-4155-BD23-DE259C1689C5}" type="datetime1">
              <a:rPr lang="en-IN" smtClean="0"/>
              <a:t>23-04-2025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60DEA4B-34B4-4AC2-B43A-8ADFF4CF648D}"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5AF5BCB-F407-4D31-BA30-2FDD84777677}" type="datetime1">
              <a:rPr lang="en-IN" smtClean="0"/>
              <a:t>23-04-2025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60DEA4B-34B4-4AC2-B43A-8ADFF4CF648D}"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0750075-DB03-4FC1-BA6F-B0898AC7E720}" type="datetime1">
              <a:rPr lang="en-IN" smtClean="0"/>
              <a:t>23-04-2025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60DEA4B-34B4-4AC2-B43A-8ADFF4CF648D}"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AC479AC-924C-4D57-9C64-D60E839C7E19}" type="datetime1">
              <a:rPr lang="en-IN" smtClean="0"/>
              <a:t>23-04-2025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60DEA4B-34B4-4AC2-B43A-8ADFF4CF648D}"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A1EF2A4-9873-473A-B0D2-255A1809B208}" type="datetime1">
              <a:rPr lang="en-IN" smtClean="0"/>
              <a:t>23-04-2025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60DEA4B-34B4-4AC2-B43A-8ADFF4CF648D}" type="slidenum">
              <a:rPr lang="en-IN" smtClean="0"/>
              <a:t>‹#›</a:t>
            </a:fld>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246313"/>
            <a:ext cx="9144000" cy="2387600"/>
          </a:xfrm>
          <a:prstGeom prst="rect">
            <a:avLst/>
          </a:prstGeom>
        </p:spPr>
        <p:txBody>
          <a:bodyPr anchor="b"/>
          <a:lstStyle>
            <a:lvl1pPr algn="ctr">
              <a:defRPr sz="6000"/>
            </a:lvl1pPr>
          </a:lstStyle>
          <a:p>
            <a:r>
              <a:rPr lang="en-US"/>
              <a:t>Click to edit Master title style</a:t>
            </a:r>
            <a:endParaRPr lang="en-IN"/>
          </a:p>
        </p:txBody>
      </p:sp>
      <p:sp>
        <p:nvSpPr>
          <p:cNvPr id="4" name="Date Placeholder 3"/>
          <p:cNvSpPr>
            <a:spLocks noGrp="1"/>
          </p:cNvSpPr>
          <p:nvPr>
            <p:ph type="dt" sz="half" idx="10"/>
          </p:nvPr>
        </p:nvSpPr>
        <p:spPr>
          <a:xfrm>
            <a:off x="838200" y="6356350"/>
            <a:ext cx="2743200" cy="365125"/>
          </a:xfrm>
          <a:prstGeom prst="rect">
            <a:avLst/>
          </a:prstGeom>
        </p:spPr>
        <p:txBody>
          <a:bodyPr/>
          <a:lstStyle>
            <a:lvl1pPr>
              <a:defRPr kumimoji="0" lang="en-US" altLang="en-US" sz="1800" b="1" i="0" u="none" strike="noStrike" kern="1200" cap="none" spc="0" normalizeH="0" baseline="0" noProof="0" smtClean="0">
                <a:ln>
                  <a:noFill/>
                </a:ln>
                <a:solidFill>
                  <a:prstClr val="white"/>
                </a:solidFill>
                <a:effectLst/>
                <a:uLnTx/>
                <a:uFillTx/>
                <a:latin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9AFA1D54-BB41-49C1-92E7-B3BFFC19DBC1}" type="datetime1">
              <a:rPr kumimoji="0" lang="en-IN" altLang="en-US" sz="1800" b="1" i="0" u="none" strike="noStrike" kern="1200" cap="none" spc="0" normalizeH="0" baseline="0" noProof="0" smtClean="0">
                <a:ln>
                  <a:noFill/>
                </a:ln>
                <a:solidFill>
                  <a:prstClr val="white"/>
                </a:solidFill>
                <a:effectLst/>
                <a:uLnTx/>
                <a:uFillTx/>
                <a:latin typeface="Calibri" panose="020F0502020204030204" pitchFamily="34" charset="0"/>
                <a:ea typeface="+mn-ea"/>
                <a:cs typeface="+mn-cs"/>
              </a:rPr>
              <a:t>23-04-2025</a:t>
            </a:fld>
            <a:endParaRPr kumimoji="0" lang="en-IN" altLang="en-US" sz="1800" b="1" i="0" u="none" strike="noStrike" kern="1200" cap="none" spc="0" normalizeH="0" baseline="0" noProof="0" dirty="0">
              <a:ln>
                <a:noFill/>
              </a:ln>
              <a:solidFill>
                <a:prstClr val="white"/>
              </a:solidFill>
              <a:effectLst/>
              <a:uLnTx/>
              <a:uFillTx/>
              <a:latin typeface="Calibri" panose="020F0502020204030204" pitchFamily="34" charset="0"/>
              <a:ea typeface="+mn-ea"/>
              <a:cs typeface="+mn-cs"/>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2FD231AE-402A-4394-B01A-F986496EE090}" type="slidenum">
              <a:rPr kumimoji="0" lang="en-IN" sz="1800" b="0" i="0" u="none" strike="noStrike" kern="1200" cap="none" spc="0" normalizeH="0" baseline="0" noProof="0" smtClean="0">
                <a:ln>
                  <a:noFill/>
                </a:ln>
                <a:solidFill>
                  <a:prstClr val="black"/>
                </a:solidFill>
                <a:effectLst/>
                <a:uLnTx/>
                <a:uFillTx/>
                <a:latin typeface="Calibri" panose="020F0502020204030204"/>
                <a:ea typeface="+mn-ea"/>
                <a:cs typeface="+mn-cs"/>
              </a:rPr>
              <a:t>‹#›</a:t>
            </a:fld>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51DE6C7-9F78-4D01-A165-A27F83493D87}" type="datetime1">
              <a:rPr lang="en-IN" smtClean="0">
                <a:solidFill>
                  <a:prstClr val="black">
                    <a:tint val="75000"/>
                  </a:prstClr>
                </a:solidFill>
              </a:rPr>
              <a:t>23-04-2025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EFCCCA92-FD60-4EE4-A613-BD692BB445EA}" type="datetime1">
              <a:rPr lang="en-IN" smtClean="0"/>
              <a:t>23-04-2025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EBCCF61-4844-40CD-B14C-46E1ADFBF427}" type="datetime1">
              <a:rPr lang="en-IN" smtClean="0"/>
              <a:t>23-04-2025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59FAA0B-0E94-4505-91B2-2EA39BC64FBA}" type="datetime1">
              <a:rPr lang="en-IN" smtClean="0"/>
              <a:t>23-04-2025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6BE2B3B-D391-4522-B615-B96DD6ED6AB2}" type="datetime1">
              <a:rPr lang="en-IN" smtClean="0"/>
              <a:t>23-04-2025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C6FF987-B3D0-4D22-9D84-BD63FFF843AA}" type="datetime1">
              <a:rPr lang="en-IN" smtClean="0"/>
              <a:t>23-04-2025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180F2EB-C3ED-4EA1-B540-D5BA9FD5767F}" type="datetime1">
              <a:rPr lang="en-IN" smtClean="0"/>
              <a:t>23-04-2025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C604E8E-540B-47B6-8CCB-528EED7ED2B9}" type="datetime1">
              <a:rPr lang="en-IN" smtClean="0"/>
              <a:t>23-04-2025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4BCBD77-7E25-4696-BA34-7A7D5D7C2164}" type="datetime1">
              <a:rPr lang="en-IN" smtClean="0"/>
              <a:t>23-04-2025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C518EFA-9003-4777-A85A-B31FFE54E871}" type="datetime1">
              <a:rPr lang="en-IN" smtClean="0"/>
              <a:t>23-04-2025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t>‹#›</a:t>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EBFDF51-648B-48B1-B8E5-9146DB38CC53}" type="datetime1">
              <a:rPr lang="en-IN" smtClean="0"/>
              <a:t>23-04-2025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t>‹#›</a:t>
            </a:fld>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3E38EAF-824F-4917-A7C4-BF0BAA77286A}" type="datetime1">
              <a:rPr lang="en-IN" smtClean="0"/>
              <a:t>23-04-2025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t>‹#›</a:t>
            </a:fld>
            <a:endParaRPr 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1" fmla="*/ 19050 w 12211050"/>
              <a:gd name="connsiteY0-2" fmla="*/ 0 h 4133850"/>
              <a:gd name="connsiteX1-3" fmla="*/ 12211050 w 12211050"/>
              <a:gd name="connsiteY1-4" fmla="*/ 0 h 4133850"/>
              <a:gd name="connsiteX2-5" fmla="*/ 12211050 w 12211050"/>
              <a:gd name="connsiteY2-6" fmla="*/ 4133850 h 4133850"/>
              <a:gd name="connsiteX3-7" fmla="*/ 0 w 12211050"/>
              <a:gd name="connsiteY3-8" fmla="*/ 3219450 h 4133850"/>
              <a:gd name="connsiteX4-9" fmla="*/ 19050 w 12211050"/>
              <a:gd name="connsiteY4-10" fmla="*/ 0 h 4133850"/>
              <a:gd name="connsiteX0-11" fmla="*/ 19050 w 12211050"/>
              <a:gd name="connsiteY0-12" fmla="*/ 0 h 4438650"/>
              <a:gd name="connsiteX1-13" fmla="*/ 12211050 w 12211050"/>
              <a:gd name="connsiteY1-14" fmla="*/ 0 h 4438650"/>
              <a:gd name="connsiteX2-15" fmla="*/ 12211050 w 12211050"/>
              <a:gd name="connsiteY2-16" fmla="*/ 4438650 h 4438650"/>
              <a:gd name="connsiteX3-17" fmla="*/ 0 w 12211050"/>
              <a:gd name="connsiteY3-18" fmla="*/ 3219450 h 4438650"/>
              <a:gd name="connsiteX4-19" fmla="*/ 19050 w 12211050"/>
              <a:gd name="connsiteY4-20" fmla="*/ 0 h 443865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2645832-1DB9-4726-860E-23D8A6329669}" type="datetime1">
              <a:rPr lang="en-IN" smtClean="0">
                <a:solidFill>
                  <a:prstClr val="black">
                    <a:tint val="75000"/>
                  </a:prstClr>
                </a:solidFill>
              </a:rPr>
              <a:t>23-04-2025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246313"/>
            <a:ext cx="9144000" cy="2387600"/>
          </a:xfrm>
          <a:prstGeom prst="rect">
            <a:avLst/>
          </a:prstGeom>
        </p:spPr>
        <p:txBody>
          <a:bodyPr anchor="b"/>
          <a:lstStyle>
            <a:lvl1pPr algn="ctr">
              <a:defRPr sz="6000"/>
            </a:lvl1pPr>
          </a:lstStyle>
          <a:p>
            <a:r>
              <a:rPr lang="en-US"/>
              <a:t>Click to edit Master title style</a:t>
            </a:r>
            <a:endParaRPr lang="en-IN"/>
          </a:p>
        </p:txBody>
      </p:sp>
      <p:sp>
        <p:nvSpPr>
          <p:cNvPr id="4" name="Date Placeholder 3"/>
          <p:cNvSpPr>
            <a:spLocks noGrp="1"/>
          </p:cNvSpPr>
          <p:nvPr>
            <p:ph type="dt" sz="half" idx="10"/>
          </p:nvPr>
        </p:nvSpPr>
        <p:spPr>
          <a:xfrm>
            <a:off x="838200" y="6356350"/>
            <a:ext cx="2743200" cy="365125"/>
          </a:xfrm>
          <a:prstGeom prst="rect">
            <a:avLst/>
          </a:prstGeom>
        </p:spPr>
        <p:txBody>
          <a:bodyPr/>
          <a:lstStyle>
            <a:lvl1pPr>
              <a:defRPr kumimoji="0" lang="en-US" altLang="en-US" sz="1800" b="1" i="0" u="none" strike="noStrike" kern="1200" cap="none" spc="0" normalizeH="0" baseline="0" noProof="0" smtClean="0">
                <a:ln>
                  <a:noFill/>
                </a:ln>
                <a:solidFill>
                  <a:prstClr val="white"/>
                </a:solidFill>
                <a:effectLst/>
                <a:uLnTx/>
                <a:uFillTx/>
                <a:latin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9FAAAC2D-4EAC-4510-9F6F-1F65A171AFA9}" type="datetime1">
              <a:rPr kumimoji="0" lang="en-IN" altLang="en-US" sz="1800" b="1" i="0" u="none" strike="noStrike" kern="1200" cap="none" spc="0" normalizeH="0" baseline="0" noProof="0" smtClean="0">
                <a:ln>
                  <a:noFill/>
                </a:ln>
                <a:solidFill>
                  <a:prstClr val="white"/>
                </a:solidFill>
                <a:effectLst/>
                <a:uLnTx/>
                <a:uFillTx/>
                <a:latin typeface="Calibri" panose="020F0502020204030204" pitchFamily="34" charset="0"/>
                <a:ea typeface="+mn-ea"/>
                <a:cs typeface="+mn-cs"/>
              </a:rPr>
              <a:t>23-04-2025</a:t>
            </a:fld>
            <a:endParaRPr kumimoji="0" lang="en-IN" altLang="en-US" sz="1800" b="1" i="0" u="none" strike="noStrike" kern="1200" cap="none" spc="0" normalizeH="0" baseline="0" noProof="0" dirty="0">
              <a:ln>
                <a:noFill/>
              </a:ln>
              <a:solidFill>
                <a:prstClr val="white"/>
              </a:solidFill>
              <a:effectLst/>
              <a:uLnTx/>
              <a:uFillTx/>
              <a:latin typeface="Calibri" panose="020F0502020204030204" pitchFamily="34" charset="0"/>
              <a:ea typeface="+mn-ea"/>
              <a:cs typeface="+mn-cs"/>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2FD231AE-402A-4394-B01A-F986496EE090}" type="slidenum">
              <a:rPr kumimoji="0" lang="en-IN" sz="1800" b="0" i="0" u="none" strike="noStrike" kern="1200" cap="none" spc="0" normalizeH="0" baseline="0" noProof="0" smtClean="0">
                <a:ln>
                  <a:noFill/>
                </a:ln>
                <a:solidFill>
                  <a:prstClr val="black"/>
                </a:solidFill>
                <a:effectLst/>
                <a:uLnTx/>
                <a:uFillTx/>
                <a:latin typeface="Calibri" panose="020F0502020204030204"/>
                <a:ea typeface="+mn-ea"/>
                <a:cs typeface="+mn-cs"/>
              </a:rPr>
              <a:t>‹#›</a:t>
            </a:fld>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lvl1pPr eaLnBrk="1" fontAlgn="auto" hangingPunct="1">
              <a:spcBef>
                <a:spcPts val="0"/>
              </a:spcBef>
              <a:spcAft>
                <a:spcPts val="0"/>
              </a:spcAft>
              <a:defRPr>
                <a:latin typeface="+mn-lt"/>
              </a:defRPr>
            </a:lvl1pPr>
          </a:lstStyle>
          <a:p>
            <a:pPr>
              <a:defRPr/>
            </a:pPr>
            <a:fld id="{605DDE71-BC80-4F4D-B385-5050999CD606}" type="datetime1">
              <a:rPr lang="en-US"/>
              <a:t>4/23/2025</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lvl1pPr eaLnBrk="1" fontAlgn="auto" hangingPunct="1">
              <a:spcBef>
                <a:spcPts val="0"/>
              </a:spcBef>
              <a:spcAft>
                <a:spcPts val="0"/>
              </a:spcAft>
              <a:defRPr>
                <a:latin typeface="+mn-lt"/>
              </a:defRPr>
            </a:lvl1pPr>
          </a:lstStyle>
          <a:p>
            <a:pPr>
              <a:defRPr/>
            </a:pPr>
            <a:endParaRPr lang="en-US"/>
          </a:p>
        </p:txBody>
      </p:sp>
      <p:sp>
        <p:nvSpPr>
          <p:cNvPr id="9" name="Title 1"/>
          <p:cNvSpPr txBox="1"/>
          <p:nvPr userDrawn="1"/>
        </p:nvSpPr>
        <p:spPr bwMode="auto">
          <a:xfrm>
            <a:off x="922338" y="115888"/>
            <a:ext cx="8358140"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normAutofit fontScale="97500"/>
          </a:bodyPr>
          <a:lstStyle/>
          <a:p>
            <a:pPr marL="0" marR="0" lvl="0" indent="0" algn="just" defTabSz="914400" rtl="0" eaLnBrk="0" fontAlgn="base" latinLnBrk="0" hangingPunct="0">
              <a:lnSpc>
                <a:spcPct val="90000"/>
              </a:lnSpc>
              <a:spcBef>
                <a:spcPct val="0"/>
              </a:spcBef>
              <a:spcAft>
                <a:spcPct val="0"/>
              </a:spcAft>
              <a:buClrTx/>
              <a:buSzTx/>
              <a:buFontTx/>
              <a:buNone/>
              <a:defRPr/>
            </a:pPr>
            <a:r>
              <a:rPr kumimoji="0" lang="en-US" sz="4400" b="1" i="0" u="none" strike="noStrike" kern="1200" cap="small" spc="0" normalizeH="0" baseline="0" noProof="0" dirty="0">
                <a:ln>
                  <a:noFill/>
                </a:ln>
                <a:solidFill>
                  <a:schemeClr val="accent5">
                    <a:lumMod val="50000"/>
                  </a:schemeClr>
                </a:solidFill>
                <a:effectLst/>
                <a:uLnTx/>
                <a:uFillTx/>
                <a:latin typeface="Times New Roman" panose="02020603050405020304" pitchFamily="18" charset="0"/>
                <a:ea typeface="+mj-ea"/>
                <a:cs typeface="Times New Roman" panose="02020603050405020304" pitchFamily="18" charset="0"/>
              </a:rPr>
              <a:t> </a:t>
            </a:r>
            <a:endParaRPr kumimoji="0" lang="en-US" sz="4000" b="1" i="0" u="none" strike="noStrike" kern="1200" cap="small" spc="0" normalizeH="0" baseline="0" noProof="0" dirty="0">
              <a:ln>
                <a:noFill/>
              </a:ln>
              <a:solidFill>
                <a:schemeClr val="accent5">
                  <a:lumMod val="50000"/>
                </a:schemeClr>
              </a:solidFill>
              <a:effectLst/>
              <a:uLnTx/>
              <a:uFillTx/>
              <a:latin typeface="Times New Roman" panose="02020603050405020304" pitchFamily="18" charset="0"/>
              <a:ea typeface="+mj-ea"/>
              <a:cs typeface="Times New Roman" panose="02020603050405020304" pitchFamily="18" charset="0"/>
            </a:endParaRPr>
          </a:p>
        </p:txBody>
      </p:sp>
      <p:pic>
        <p:nvPicPr>
          <p:cNvPr id="7" name="Picture 2" descr="C:\Users\OM\Downloads\naac-sticker.png"/>
          <p:cNvPicPr>
            <a:picLocks noChangeAspect="1" noChangeArrowheads="1"/>
          </p:cNvPicPr>
          <p:nvPr userDrawn="1"/>
        </p:nvPicPr>
        <p:blipFill>
          <a:blip r:embed="rId2"/>
          <a:srcRect b="23807"/>
          <a:stretch>
            <a:fillRect/>
          </a:stretch>
        </p:blipFill>
        <p:spPr bwMode="auto">
          <a:xfrm>
            <a:off x="9662615" y="40945"/>
            <a:ext cx="2515736" cy="682387"/>
          </a:xfrm>
          <a:prstGeom prst="rect">
            <a:avLst/>
          </a:prstGeom>
          <a:noFill/>
        </p:spPr>
      </p:pic>
    </p:spTree>
    <p:extLst>
      <p:ext uri="{BB962C8B-B14F-4D97-AF65-F5344CB8AC3E}">
        <p14:creationId xmlns:p14="http://schemas.microsoft.com/office/powerpoint/2010/main" val="27471018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image" Target="../media/image1.png"/><Relationship Id="rId2" Type="http://schemas.openxmlformats.org/officeDocument/2006/relationships/slideLayout" Target="../slideLayouts/slideLayout15.xml"/><Relationship Id="rId16" Type="http://schemas.openxmlformats.org/officeDocument/2006/relationships/theme" Target="../theme/theme2.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slideLayout" Target="../slideLayouts/slideLayout2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6DE94C2-2163-46C2-B187-1EAD54B77E39}" type="datetime1">
              <a:rPr lang="en-IN" smtClean="0"/>
              <a:t>23-04-2025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60DEA4B-34B4-4AC2-B43A-8ADFF4CF648D}" type="slidenum">
              <a:rPr lang="en-IN" smtClean="0"/>
              <a:t>‹#›</a:t>
            </a:fld>
            <a:endParaRPr lang="en-IN"/>
          </a:p>
        </p:txBody>
      </p:sp>
      <p:sp>
        <p:nvSpPr>
          <p:cNvPr id="7" name="Rectangle 6"/>
          <p:cNvSpPr/>
          <p:nvPr userDrawn="1"/>
        </p:nvSpPr>
        <p:spPr>
          <a:xfrm>
            <a:off x="11029361" y="6356350"/>
            <a:ext cx="324439" cy="365125"/>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7">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4F1F4AA-F870-4686-BD45-8368FDA01582}" type="datetime1">
              <a:rPr lang="en-IN" smtClean="0"/>
              <a:t>23-04-2025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t>‹#›</a:t>
            </a:fld>
            <a:endParaRPr lang="en-US"/>
          </a:p>
        </p:txBody>
      </p:sp>
      <p:sp>
        <p:nvSpPr>
          <p:cNvPr id="7" name="Rectangle 6"/>
          <p:cNvSpPr/>
          <p:nvPr userDrawn="1"/>
        </p:nvSpPr>
        <p:spPr>
          <a:xfrm>
            <a:off x="11076495" y="6356350"/>
            <a:ext cx="277305" cy="365125"/>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 id="2147483677" r:id="rId15"/>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4.e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4421" y="5427341"/>
            <a:ext cx="1219642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lide Number Placeholder 2"/>
          <p:cNvSpPr txBox="1"/>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a:spLocks noChangeArrowheads="1"/>
          </p:cNvSpPr>
          <p:nvPr/>
        </p:nvSpPr>
        <p:spPr bwMode="auto">
          <a:xfrm>
            <a:off x="6970259" y="6019560"/>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p:cNvSpPr txBox="1">
            <a:spLocks noChangeArrowheads="1"/>
          </p:cNvSpPr>
          <p:nvPr/>
        </p:nvSpPr>
        <p:spPr bwMode="auto">
          <a:xfrm>
            <a:off x="-459213" y="6014156"/>
            <a:ext cx="6432043" cy="800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2400" b="1" dirty="0">
                <a:solidFill>
                  <a:prstClr val="black">
                    <a:lumMod val="85000"/>
                    <a:lumOff val="15000"/>
                  </a:prstClr>
                </a:solidFill>
                <a:latin typeface="Times New Roman" panose="02020603050405020304" pitchFamily="18" charset="0"/>
                <a:cs typeface="Times New Roman" panose="02020603050405020304" pitchFamily="18" charset="0"/>
              </a:rPr>
              <a:t>UNIT-3</a:t>
            </a:r>
          </a:p>
          <a:p>
            <a:pPr eaLnBrk="1" hangingPunct="1"/>
            <a:endParaRPr lang="en-US" sz="1600" dirty="0">
              <a:latin typeface="Raleway ExtraBold" pitchFamily="34" charset="-52"/>
            </a:endParaRPr>
          </a:p>
        </p:txBody>
      </p:sp>
      <p:sp>
        <p:nvSpPr>
          <p:cNvPr id="26" name="TextBox 25"/>
          <p:cNvSpPr txBox="1">
            <a:spLocks noChangeArrowheads="1"/>
          </p:cNvSpPr>
          <p:nvPr/>
        </p:nvSpPr>
        <p:spPr bwMode="auto">
          <a:xfrm>
            <a:off x="1238250" y="1640959"/>
            <a:ext cx="9715499" cy="3647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3200" b="1" dirty="0">
                <a:latin typeface="Times New Roman" panose="02020603050405020304" pitchFamily="18" charset="0"/>
                <a:ea typeface="Karla" pitchFamily="2" charset="0"/>
                <a:cs typeface="Times New Roman" panose="02020603050405020304" pitchFamily="18" charset="0"/>
              </a:rPr>
              <a:t>UNIVERSITY INSTITUTE OF COMPUTING</a:t>
            </a:r>
          </a:p>
          <a:p>
            <a:pPr lvl="0" algn="ctr" defTabSz="622300">
              <a:lnSpc>
                <a:spcPct val="90000"/>
              </a:lnSpc>
              <a:spcBef>
                <a:spcPct val="0"/>
              </a:spcBef>
              <a:spcAft>
                <a:spcPct val="35000"/>
              </a:spcAft>
            </a:pPr>
            <a:r>
              <a:rPr lang="en-US" sz="2800" b="1" dirty="0">
                <a:latin typeface="Times New Roman" panose="02020603050405020304" pitchFamily="18" charset="0"/>
                <a:ea typeface="Calibri" panose="020F0502020204030204" pitchFamily="34" charset="0"/>
                <a:cs typeface="Times New Roman" panose="02020603050405020304" pitchFamily="18" charset="0"/>
              </a:rPr>
              <a:t>MASTER OF COMPUTER APPLICATIONS</a:t>
            </a:r>
          </a:p>
          <a:p>
            <a:pPr lvl="0" algn="ctr" defTabSz="622300">
              <a:lnSpc>
                <a:spcPct val="90000"/>
              </a:lnSpc>
              <a:spcBef>
                <a:spcPct val="0"/>
              </a:spcBef>
              <a:spcAft>
                <a:spcPct val="35000"/>
              </a:spcAft>
            </a:pPr>
            <a:r>
              <a:rPr lang="en-US" sz="2400" b="1" dirty="0">
                <a:latin typeface="Times New Roman" panose="02020603050405020304" pitchFamily="18" charset="0"/>
                <a:ea typeface="Calibri" panose="020F0502020204030204" pitchFamily="34" charset="0"/>
                <a:cs typeface="Times New Roman" panose="02020603050405020304" pitchFamily="18" charset="0"/>
              </a:rPr>
              <a:t>DESIGN AND ANALYSIS OF ALGORITHMS </a:t>
            </a:r>
          </a:p>
          <a:p>
            <a:pPr lvl="0" algn="ctr" defTabSz="622300">
              <a:lnSpc>
                <a:spcPct val="90000"/>
              </a:lnSpc>
              <a:spcBef>
                <a:spcPct val="0"/>
              </a:spcBef>
              <a:spcAft>
                <a:spcPct val="35000"/>
              </a:spcAft>
            </a:pPr>
            <a:r>
              <a:rPr lang="en-US" sz="2400" b="1" dirty="0">
                <a:latin typeface="Times New Roman" panose="02020603050405020304" pitchFamily="18" charset="0"/>
                <a:ea typeface="Calibri" panose="020F0502020204030204" pitchFamily="34" charset="0"/>
                <a:cs typeface="Times New Roman" panose="02020603050405020304" pitchFamily="18" charset="0"/>
              </a:rPr>
              <a:t> </a:t>
            </a:r>
            <a:endParaRPr lang="en-US" sz="3200" b="1" dirty="0">
              <a:solidFill>
                <a:prstClr val="black">
                  <a:lumMod val="85000"/>
                  <a:lumOff val="15000"/>
                </a:prstClr>
              </a:solidFill>
              <a:latin typeface="Times New Roman" panose="02020603050405020304" pitchFamily="18" charset="0"/>
              <a:cs typeface="Times New Roman" panose="02020603050405020304" pitchFamily="18" charset="0"/>
            </a:endParaRPr>
          </a:p>
          <a:p>
            <a:pPr lvl="0" algn="ctr" defTabSz="622300">
              <a:lnSpc>
                <a:spcPct val="90000"/>
              </a:lnSpc>
              <a:spcBef>
                <a:spcPct val="0"/>
              </a:spcBef>
              <a:spcAft>
                <a:spcPct val="35000"/>
              </a:spcAft>
            </a:pPr>
            <a:endParaRPr lang="en-US" sz="3200" b="1" dirty="0">
              <a:solidFill>
                <a:prstClr val="black">
                  <a:lumMod val="85000"/>
                  <a:lumOff val="15000"/>
                </a:prstClr>
              </a:solidFill>
              <a:latin typeface="Times New Roman" panose="02020603050405020304" pitchFamily="18" charset="0"/>
              <a:cs typeface="Times New Roman" panose="02020603050405020304" pitchFamily="18" charset="0"/>
            </a:endParaRPr>
          </a:p>
          <a:p>
            <a:pPr lvl="0" algn="ctr" defTabSz="622300">
              <a:lnSpc>
                <a:spcPct val="90000"/>
              </a:lnSpc>
              <a:spcBef>
                <a:spcPct val="0"/>
              </a:spcBef>
              <a:spcAft>
                <a:spcPct val="35000"/>
              </a:spcAft>
            </a:pPr>
            <a:r>
              <a:rPr lang="en-US" sz="3200" b="1" dirty="0">
                <a:solidFill>
                  <a:prstClr val="black">
                    <a:lumMod val="85000"/>
                    <a:lumOff val="15000"/>
                  </a:prstClr>
                </a:solidFill>
                <a:latin typeface="Times New Roman" panose="02020603050405020304" pitchFamily="18" charset="0"/>
                <a:cs typeface="Times New Roman" panose="02020603050405020304" pitchFamily="18" charset="0"/>
              </a:rPr>
              <a:t> </a:t>
            </a:r>
          </a:p>
          <a:p>
            <a:pPr eaLnBrk="1" hangingPunct="1"/>
            <a:endParaRPr lang="en-US" sz="1600"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C60DEA4B-34B4-4AC2-B43A-8ADFF4CF648D}" type="slidenum">
              <a:rPr lang="en-IN" smtClean="0"/>
              <a:t>1</a:t>
            </a:fld>
            <a:endParaRPr lang="en-IN"/>
          </a:p>
        </p:txBody>
      </p:sp>
      <p:pic>
        <p:nvPicPr>
          <p:cNvPr id="14" name="Picture 13"/>
          <p:cNvPicPr>
            <a:picLocks noChangeAspect="1"/>
          </p:cNvPicPr>
          <p:nvPr/>
        </p:nvPicPr>
        <p:blipFill>
          <a:blip r:embed="rId2" cstate="print">
            <a:extLst>
              <a:ext uri="{BEBA8EAE-BF5A-486C-A8C5-ECC9F3942E4B}">
                <a14:imgProps xmlns:a14="http://schemas.microsoft.com/office/drawing/2010/main">
                  <a14:imgLayer r:embed="rId3">
                    <a14:imgEffect>
                      <a14:colorTemperature colorTemp="5742"/>
                    </a14:imgEffect>
                    <a14:imgEffect>
                      <a14:saturation sat="238000"/>
                    </a14:imgEffect>
                  </a14:imgLayer>
                </a14:imgProps>
              </a:ext>
              <a:ext uri="{28A0092B-C50C-407E-A947-70E740481C1C}">
                <a14:useLocalDpi xmlns:a14="http://schemas.microsoft.com/office/drawing/2010/main" val="0"/>
              </a:ext>
            </a:extLst>
          </a:blip>
          <a:stretch>
            <a:fillRect/>
          </a:stretch>
        </p:blipFill>
        <p:spPr>
          <a:xfrm>
            <a:off x="-4478" y="-311"/>
            <a:ext cx="3859753" cy="1538254"/>
          </a:xfrm>
          <a:prstGeom prst="rect">
            <a:avLst/>
          </a:prstGeom>
        </p:spPr>
      </p:pic>
      <p:pic>
        <p:nvPicPr>
          <p:cNvPr id="1141" name="Picture 117"/>
          <p:cNvPicPr>
            <a:picLocks noChangeAspect="1" noChangeArrowheads="1"/>
          </p:cNvPicPr>
          <p:nvPr/>
        </p:nvPicPr>
        <p:blipFill>
          <a:blip r:embed="rId4">
            <a:lum bright="76000"/>
            <a:extLst>
              <a:ext uri="{28A0092B-C50C-407E-A947-70E740481C1C}">
                <a14:useLocalDpi xmlns:a14="http://schemas.microsoft.com/office/drawing/2010/main" val="0"/>
              </a:ext>
            </a:extLst>
          </a:blip>
          <a:srcRect/>
          <a:stretch>
            <a:fillRect/>
          </a:stretch>
        </p:blipFill>
        <p:spPr bwMode="auto">
          <a:xfrm>
            <a:off x="50800" y="2781300"/>
            <a:ext cx="3302000" cy="313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6242"/>
            <a:ext cx="8743122" cy="941061"/>
          </a:xfrm>
          <a:ln>
            <a:solidFill>
              <a:schemeClr val="tx1"/>
            </a:solidFill>
          </a:ln>
        </p:spPr>
        <p:txBody>
          <a:bodyPr/>
          <a:lstStyle/>
          <a:p>
            <a:pPr algn="ctr"/>
            <a:r>
              <a:rPr lang="en-US" b="1" dirty="0">
                <a:latin typeface="Times New Roman" panose="02020603050405020304" pitchFamily="18" charset="0"/>
                <a:cs typeface="Times New Roman" panose="02020603050405020304" pitchFamily="18" charset="0"/>
              </a:rPr>
              <a:t>P,NP,NP Hard, NP Complete</a:t>
            </a:r>
            <a:endParaRPr lang="en-US" dirty="0"/>
          </a:p>
        </p:txBody>
      </p:sp>
      <p:sp>
        <p:nvSpPr>
          <p:cNvPr id="3" name="Content Placeholder 2"/>
          <p:cNvSpPr>
            <a:spLocks noGrp="1"/>
          </p:cNvSpPr>
          <p:nvPr>
            <p:ph idx="1"/>
          </p:nvPr>
        </p:nvSpPr>
        <p:spPr>
          <a:xfrm>
            <a:off x="838200" y="1247037"/>
            <a:ext cx="10515600" cy="4929926"/>
          </a:xfrm>
        </p:spPr>
        <p:txBody>
          <a:bodyPr>
            <a:normAutofit/>
          </a:bodyPr>
          <a:lstStyle/>
          <a:p>
            <a:pPr algn="just"/>
            <a:r>
              <a:rPr lang="en-US" sz="2400" dirty="0">
                <a:solidFill>
                  <a:srgbClr val="000000"/>
                </a:solidFill>
                <a:latin typeface="Times New Roman" panose="02020603050405020304" pitchFamily="18" charset="0"/>
                <a:cs typeface="Times New Roman" panose="02020603050405020304" pitchFamily="18" charset="0"/>
              </a:rPr>
              <a:t>I</a:t>
            </a:r>
            <a:r>
              <a:rPr lang="en-US" sz="2400" b="0" i="0" dirty="0">
                <a:solidFill>
                  <a:srgbClr val="000000"/>
                </a:solidFill>
                <a:effectLst/>
                <a:latin typeface="Times New Roman" panose="02020603050405020304" pitchFamily="18" charset="0"/>
                <a:cs typeface="Times New Roman" panose="02020603050405020304" pitchFamily="18" charset="0"/>
              </a:rPr>
              <a:t>n most cases we use an “Easy-to-Hard” scale to classify problems. </a:t>
            </a:r>
          </a:p>
          <a:p>
            <a:pPr algn="just"/>
            <a:r>
              <a:rPr lang="en-US" sz="2400" dirty="0">
                <a:latin typeface="Times New Roman" panose="02020603050405020304" pitchFamily="18" charset="0"/>
                <a:cs typeface="Times New Roman" panose="02020603050405020304" pitchFamily="18" charset="0"/>
              </a:rPr>
              <a:t>In theoretical computer science, the classification and complexity of common problem definitions have two major sets; </a:t>
            </a:r>
          </a:p>
          <a:p>
            <a:pPr algn="just"/>
            <a:r>
              <a:rPr lang="en-US" sz="2400" dirty="0">
                <a:latin typeface="Times New Roman" panose="02020603050405020304" pitchFamily="18" charset="0"/>
                <a:cs typeface="Times New Roman" panose="02020603050405020304" pitchFamily="18" charset="0"/>
              </a:rPr>
              <a:t>P which is “Polynomial” time.</a:t>
            </a:r>
          </a:p>
          <a:p>
            <a:pPr algn="just"/>
            <a:r>
              <a:rPr lang="en-US" sz="2400" dirty="0">
                <a:latin typeface="Times New Roman" panose="02020603050405020304" pitchFamily="18" charset="0"/>
                <a:cs typeface="Times New Roman" panose="02020603050405020304" pitchFamily="18" charset="0"/>
              </a:rPr>
              <a:t>And NP which “Non-deterministic Polynomial” time. </a:t>
            </a:r>
          </a:p>
          <a:p>
            <a:pPr algn="just"/>
            <a:r>
              <a:rPr lang="en-US" sz="2400" dirty="0">
                <a:latin typeface="Times New Roman" panose="02020603050405020304" pitchFamily="18" charset="0"/>
                <a:cs typeface="Times New Roman" panose="02020603050405020304" pitchFamily="18" charset="0"/>
              </a:rPr>
              <a:t>There are also NP-Hard and NP-Complete sets, which we use to express more sophisticated problems. </a:t>
            </a:r>
          </a:p>
          <a:p>
            <a:pPr algn="just"/>
            <a:r>
              <a:rPr lang="en-US" sz="2400" dirty="0">
                <a:latin typeface="Times New Roman" panose="02020603050405020304" pitchFamily="18" charset="0"/>
                <a:cs typeface="Times New Roman" panose="02020603050405020304" pitchFamily="18" charset="0"/>
              </a:rPr>
              <a:t>In the case of rating from easy to hard, we might label these as “easy”, “medium”, “hard”, and finally “hardest”.</a:t>
            </a:r>
          </a:p>
        </p:txBody>
      </p:sp>
      <p:sp>
        <p:nvSpPr>
          <p:cNvPr id="4" name="Slide Number Placeholder 3"/>
          <p:cNvSpPr>
            <a:spLocks noGrp="1"/>
          </p:cNvSpPr>
          <p:nvPr>
            <p:ph type="sldNum" sz="quarter" idx="12"/>
          </p:nvPr>
        </p:nvSpPr>
        <p:spPr/>
        <p:txBody>
          <a:bodyPr/>
          <a:lstStyle/>
          <a:p>
            <a:fld id="{BDCDBBEF-AA6C-4BA6-85B2-A17D7F280E38}" type="slidenum">
              <a:rPr lang="en-US" smtClean="0"/>
              <a:t>2</a:t>
            </a:fld>
            <a:endParaRPr lang="en-US"/>
          </a:p>
        </p:txBody>
      </p:sp>
      <p:sp>
        <p:nvSpPr>
          <p:cNvPr id="13" name="Rectangle 12"/>
          <p:cNvSpPr/>
          <p:nvPr/>
        </p:nvSpPr>
        <p:spPr>
          <a:xfrm>
            <a:off x="838200" y="1247037"/>
            <a:ext cx="10515600" cy="4925163"/>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211453"/>
            <a:ext cx="10515600" cy="4965510"/>
          </a:xfrm>
        </p:spPr>
        <p:txBody>
          <a:bodyPr>
            <a:normAutofit/>
          </a:bodyPr>
          <a:lstStyle/>
          <a:p>
            <a:pPr marL="425450" indent="-342900" algn="just" eaLnBrk="0" hangingPunct="0">
              <a:lnSpc>
                <a:spcPct val="100000"/>
              </a:lnSpc>
              <a:spcBef>
                <a:spcPts val="600"/>
              </a:spcBef>
              <a:buClr>
                <a:schemeClr val="accent1"/>
              </a:buClr>
              <a:buSzPct val="80000"/>
              <a:defRPr/>
            </a:pPr>
            <a:r>
              <a:rPr lang="en-US" sz="2400" dirty="0">
                <a:latin typeface="Times New Roman" panose="02020603050405020304" pitchFamily="18" charset="0"/>
                <a:cs typeface="Times New Roman" panose="02020603050405020304" pitchFamily="18" charset="0"/>
              </a:rPr>
              <a:t>Easy-- P</a:t>
            </a:r>
          </a:p>
          <a:p>
            <a:pPr marL="425450" indent="-342900" algn="just" eaLnBrk="0" hangingPunct="0">
              <a:lnSpc>
                <a:spcPct val="100000"/>
              </a:lnSpc>
              <a:spcBef>
                <a:spcPts val="600"/>
              </a:spcBef>
              <a:buClr>
                <a:schemeClr val="accent1"/>
              </a:buClr>
              <a:buSzPct val="80000"/>
              <a:defRPr/>
            </a:pPr>
            <a:r>
              <a:rPr lang="en-US" sz="2400" dirty="0">
                <a:latin typeface="Times New Roman" panose="02020603050405020304" pitchFamily="18" charset="0"/>
                <a:cs typeface="Times New Roman" panose="02020603050405020304" pitchFamily="18" charset="0"/>
              </a:rPr>
              <a:t>Medium-- NP</a:t>
            </a:r>
          </a:p>
          <a:p>
            <a:pPr marL="425450" indent="-342900" algn="just" eaLnBrk="0" hangingPunct="0">
              <a:lnSpc>
                <a:spcPct val="100000"/>
              </a:lnSpc>
              <a:spcBef>
                <a:spcPts val="600"/>
              </a:spcBef>
              <a:buClr>
                <a:schemeClr val="accent1"/>
              </a:buClr>
              <a:buSzPct val="80000"/>
              <a:defRPr/>
            </a:pPr>
            <a:r>
              <a:rPr lang="en-US" sz="2400" dirty="0">
                <a:latin typeface="Times New Roman" panose="02020603050405020304" pitchFamily="18" charset="0"/>
                <a:cs typeface="Times New Roman" panose="02020603050405020304" pitchFamily="18" charset="0"/>
              </a:rPr>
              <a:t>Hard-- NP-Complete</a:t>
            </a:r>
          </a:p>
          <a:p>
            <a:pPr marL="425450" indent="-342900" algn="just" eaLnBrk="0" hangingPunct="0">
              <a:lnSpc>
                <a:spcPct val="100000"/>
              </a:lnSpc>
              <a:spcBef>
                <a:spcPts val="600"/>
              </a:spcBef>
              <a:buClr>
                <a:schemeClr val="accent1"/>
              </a:buClr>
              <a:buSzPct val="80000"/>
              <a:defRPr/>
            </a:pPr>
            <a:r>
              <a:rPr lang="en-US" sz="2400" dirty="0">
                <a:latin typeface="Times New Roman" panose="02020603050405020304" pitchFamily="18" charset="0"/>
                <a:cs typeface="Times New Roman" panose="02020603050405020304" pitchFamily="18" charset="0"/>
              </a:rPr>
              <a:t>Hardest-- NP-Hard</a:t>
            </a:r>
          </a:p>
          <a:p>
            <a:pPr marL="425450" indent="-342900" algn="just" eaLnBrk="0" hangingPunct="0">
              <a:lnSpc>
                <a:spcPct val="100000"/>
              </a:lnSpc>
              <a:spcBef>
                <a:spcPts val="600"/>
              </a:spcBef>
              <a:buClr>
                <a:schemeClr val="accent1"/>
              </a:buClr>
              <a:buSzPct val="80000"/>
              <a:defRPr/>
            </a:pPr>
            <a:endParaRPr lang="en-US" sz="2400" dirty="0">
              <a:latin typeface="Times New Roman" panose="02020603050405020304" pitchFamily="18" charset="0"/>
              <a:cs typeface="Times New Roman" panose="02020603050405020304" pitchFamily="18" charset="0"/>
            </a:endParaRPr>
          </a:p>
          <a:p>
            <a:pPr marL="425450" indent="-342900" algn="just" eaLnBrk="0" hangingPunct="0">
              <a:lnSpc>
                <a:spcPct val="100000"/>
              </a:lnSpc>
              <a:spcBef>
                <a:spcPts val="600"/>
              </a:spcBef>
              <a:buClr>
                <a:schemeClr val="accent1"/>
              </a:buClr>
              <a:buSzPct val="80000"/>
              <a:defRPr/>
            </a:pPr>
            <a:endParaRPr lang="en-US" sz="2400" dirty="0">
              <a:latin typeface="Times New Roman" panose="02020603050405020304" pitchFamily="18" charset="0"/>
              <a:cs typeface="Times New Roman" panose="02020603050405020304" pitchFamily="18" charset="0"/>
            </a:endParaRPr>
          </a:p>
          <a:p>
            <a:pPr marL="425450" indent="-342900" algn="just" eaLnBrk="0" hangingPunct="0">
              <a:lnSpc>
                <a:spcPct val="100000"/>
              </a:lnSpc>
              <a:spcBef>
                <a:spcPts val="600"/>
              </a:spcBef>
              <a:buClr>
                <a:schemeClr val="accent1"/>
              </a:buClr>
              <a:buSzPct val="80000"/>
              <a:defRPr/>
            </a:pPr>
            <a:endParaRPr lang="en-US" sz="2400" dirty="0">
              <a:latin typeface="Times New Roman" panose="02020603050405020304" pitchFamily="18" charset="0"/>
              <a:cs typeface="Times New Roman" panose="02020603050405020304" pitchFamily="18" charset="0"/>
            </a:endParaRPr>
          </a:p>
          <a:p>
            <a:pPr marL="425450" indent="-342900" algn="just" eaLnBrk="0" hangingPunct="0">
              <a:lnSpc>
                <a:spcPct val="100000"/>
              </a:lnSpc>
              <a:spcBef>
                <a:spcPts val="600"/>
              </a:spcBef>
              <a:buClr>
                <a:schemeClr val="accent1"/>
              </a:buClr>
              <a:buSzPct val="80000"/>
              <a:defRPr/>
            </a:pPr>
            <a:endParaRPr lang="en-US" sz="2400" dirty="0">
              <a:latin typeface="Times New Roman" panose="02020603050405020304" pitchFamily="18" charset="0"/>
              <a:cs typeface="Times New Roman" panose="02020603050405020304" pitchFamily="18" charset="0"/>
            </a:endParaRPr>
          </a:p>
          <a:p>
            <a:pPr marL="425450" indent="-342900" algn="just" eaLnBrk="0" hangingPunct="0">
              <a:lnSpc>
                <a:spcPct val="100000"/>
              </a:lnSpc>
              <a:spcBef>
                <a:spcPts val="600"/>
              </a:spcBef>
              <a:buClr>
                <a:schemeClr val="accent1"/>
              </a:buClr>
              <a:buSzPct val="80000"/>
              <a:defRPr/>
            </a:pPr>
            <a:endParaRPr lang="en-US" sz="2400" dirty="0">
              <a:latin typeface="Times New Roman" panose="02020603050405020304" pitchFamily="18" charset="0"/>
              <a:cs typeface="Times New Roman" panose="02020603050405020304" pitchFamily="18" charset="0"/>
            </a:endParaRPr>
          </a:p>
          <a:p>
            <a:pPr marL="425450" indent="-342900" algn="just" eaLnBrk="0" hangingPunct="0">
              <a:lnSpc>
                <a:spcPct val="100000"/>
              </a:lnSpc>
              <a:spcBef>
                <a:spcPts val="600"/>
              </a:spcBef>
              <a:buClr>
                <a:schemeClr val="accent1"/>
              </a:buClr>
              <a:buSzPct val="80000"/>
              <a:defRPr/>
            </a:pPr>
            <a:r>
              <a:rPr lang="en-US" sz="2400" dirty="0">
                <a:latin typeface="Times New Roman" panose="02020603050405020304" pitchFamily="18" charset="0"/>
                <a:cs typeface="Times New Roman" panose="02020603050405020304" pitchFamily="18" charset="0"/>
              </a:rPr>
              <a:t>We’ve mapped P, NP, NP-Complete and NP-Hard to “easy”, “medium”, “hard” and “hardest”, but how does we place a given algorithm in each category? </a:t>
            </a:r>
          </a:p>
          <a:p>
            <a:pPr lvl="3">
              <a:lnSpc>
                <a:spcPct val="100000"/>
              </a:lnSpc>
            </a:pPr>
            <a:endParaRPr lang="en-US" sz="1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t>3</a:t>
            </a:fld>
            <a:endParaRPr lang="en-US"/>
          </a:p>
        </p:txBody>
      </p:sp>
      <p:sp>
        <p:nvSpPr>
          <p:cNvPr id="6" name="Rectangle 5"/>
          <p:cNvSpPr/>
          <p:nvPr/>
        </p:nvSpPr>
        <p:spPr>
          <a:xfrm>
            <a:off x="838200" y="1206690"/>
            <a:ext cx="10515600" cy="496551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p:cNvSpPr txBox="1"/>
          <p:nvPr/>
        </p:nvSpPr>
        <p:spPr>
          <a:xfrm>
            <a:off x="838200" y="86242"/>
            <a:ext cx="8743122" cy="941061"/>
          </a:xfrm>
          <a:prstGeom prst="rect">
            <a:avLst/>
          </a:prstGeom>
          <a:ln>
            <a:solidFill>
              <a:schemeClr val="tx1"/>
            </a:solid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latin typeface="Times New Roman" panose="02020603050405020304" pitchFamily="18" charset="0"/>
                <a:cs typeface="Times New Roman" panose="02020603050405020304" pitchFamily="18" charset="0"/>
              </a:rPr>
              <a:t>P,NP,NP Hard, NP Complete</a:t>
            </a:r>
            <a:endParaRPr lang="en-US" dirty="0"/>
          </a:p>
        </p:txBody>
      </p:sp>
      <p:pic>
        <p:nvPicPr>
          <p:cNvPr id="2055" name="Picture 7" descr="P-NP-NP_Hard-NP-Complete-1-1">
            <a:extLst>
              <a:ext uri="{FF2B5EF4-FFF2-40B4-BE49-F238E27FC236}">
                <a16:creationId xmlns:a16="http://schemas.microsoft.com/office/drawing/2014/main" id="{5C4B73FE-1EBE-602B-210C-C2AB7A88C6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51714" y="1377307"/>
            <a:ext cx="4250583" cy="325000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0081"/>
            <a:ext cx="8637104" cy="850381"/>
          </a:xfrm>
          <a:ln>
            <a:solidFill>
              <a:schemeClr val="tx1"/>
            </a:solidFill>
          </a:ln>
        </p:spPr>
        <p:txBody>
          <a:bodyPr/>
          <a:lstStyle/>
          <a:p>
            <a:pPr algn="ctr"/>
            <a:r>
              <a:rPr lang="en-US" b="1" dirty="0">
                <a:latin typeface="Times New Roman" panose="02020603050405020304" pitchFamily="18" charset="0"/>
                <a:cs typeface="Times New Roman" panose="02020603050405020304" pitchFamily="18" charset="0"/>
              </a:rPr>
              <a:t>P,NP,NP Hard, NP Complete</a:t>
            </a:r>
            <a:endParaRPr lang="en-US" dirty="0"/>
          </a:p>
        </p:txBody>
      </p:sp>
      <p:sp>
        <p:nvSpPr>
          <p:cNvPr id="3" name="Content Placeholder 2"/>
          <p:cNvSpPr>
            <a:spLocks noGrp="1"/>
          </p:cNvSpPr>
          <p:nvPr>
            <p:ph idx="1"/>
          </p:nvPr>
        </p:nvSpPr>
        <p:spPr>
          <a:xfrm>
            <a:off x="838200" y="1118509"/>
            <a:ext cx="10515600" cy="5047114"/>
          </a:xfrm>
        </p:spPr>
        <p:txBody>
          <a:bodyPr>
            <a:normAutofit/>
          </a:bodyPr>
          <a:lstStyle/>
          <a:p>
            <a:r>
              <a:rPr lang="en-US" sz="2400" b="0" i="0" dirty="0">
                <a:effectLst/>
                <a:latin typeface="Times New Roman" panose="02020603050405020304" pitchFamily="18" charset="0"/>
                <a:cs typeface="Times New Roman" panose="02020603050405020304" pitchFamily="18" charset="0"/>
              </a:rPr>
              <a:t>Algorithms can be classified in two forms:</a:t>
            </a:r>
          </a:p>
          <a:p>
            <a:r>
              <a:rPr lang="en-US" sz="2400" dirty="0">
                <a:latin typeface="Times New Roman" panose="02020603050405020304" pitchFamily="18" charset="0"/>
                <a:cs typeface="Times New Roman" panose="02020603050405020304" pitchFamily="18" charset="0"/>
              </a:rPr>
              <a:t>Polynomial Time </a:t>
            </a:r>
          </a:p>
          <a:p>
            <a:r>
              <a:rPr lang="en-US" sz="2400" b="0" i="0" dirty="0">
                <a:effectLst/>
                <a:latin typeface="Times New Roman" panose="02020603050405020304" pitchFamily="18" charset="0"/>
                <a:cs typeface="Times New Roman" panose="02020603050405020304" pitchFamily="18" charset="0"/>
              </a:rPr>
              <a:t>Exponential Time</a:t>
            </a:r>
          </a:p>
          <a:p>
            <a:endParaRPr lang="en-US" sz="2400" b="0" i="0" dirty="0">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t>4</a:t>
            </a:fld>
            <a:endParaRPr lang="en-US"/>
          </a:p>
        </p:txBody>
      </p:sp>
      <p:sp>
        <p:nvSpPr>
          <p:cNvPr id="8" name="Rectangle 7"/>
          <p:cNvSpPr/>
          <p:nvPr/>
        </p:nvSpPr>
        <p:spPr>
          <a:xfrm>
            <a:off x="838200" y="1129849"/>
            <a:ext cx="10515600" cy="50423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descr="NP Hard and NP Complete Problem. Polynomial Time Algorithms are the… | by  Bhakti Thaker | Medium">
            <a:extLst>
              <a:ext uri="{FF2B5EF4-FFF2-40B4-BE49-F238E27FC236}">
                <a16:creationId xmlns:a16="http://schemas.microsoft.com/office/drawing/2014/main" id="{F249730F-9C2F-11E8-60FF-F0501DB488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2292" y="2654711"/>
            <a:ext cx="7911782" cy="329826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0081"/>
            <a:ext cx="8637104" cy="850381"/>
          </a:xfrm>
          <a:ln>
            <a:solidFill>
              <a:schemeClr val="tx1"/>
            </a:solidFill>
          </a:ln>
        </p:spPr>
        <p:txBody>
          <a:bodyPr/>
          <a:lstStyle/>
          <a:p>
            <a:pPr algn="ctr"/>
            <a:r>
              <a:rPr lang="en-US" b="1" dirty="0">
                <a:latin typeface="Times New Roman" panose="02020603050405020304" pitchFamily="18" charset="0"/>
                <a:cs typeface="Times New Roman" panose="02020603050405020304" pitchFamily="18" charset="0"/>
              </a:rPr>
              <a:t>P (Polynomial) Problems</a:t>
            </a:r>
          </a:p>
        </p:txBody>
      </p:sp>
      <p:sp>
        <p:nvSpPr>
          <p:cNvPr id="3" name="Content Placeholder 2"/>
          <p:cNvSpPr>
            <a:spLocks noGrp="1"/>
          </p:cNvSpPr>
          <p:nvPr>
            <p:ph idx="1"/>
          </p:nvPr>
        </p:nvSpPr>
        <p:spPr>
          <a:xfrm>
            <a:off x="838200" y="1118509"/>
            <a:ext cx="10515600" cy="5047114"/>
          </a:xfrm>
        </p:spPr>
        <p:txBody>
          <a:bodyPr>
            <a:normAutofit/>
          </a:bodyPr>
          <a:lstStyle/>
          <a:p>
            <a:pPr algn="just">
              <a:lnSpc>
                <a:spcPct val="150000"/>
              </a:lnSpc>
            </a:pPr>
            <a:r>
              <a:rPr lang="en-US" sz="2400" b="0" i="0" dirty="0">
                <a:effectLst/>
                <a:latin typeface="Times New Roman" panose="02020603050405020304" pitchFamily="18" charset="0"/>
                <a:cs typeface="Times New Roman" panose="02020603050405020304" pitchFamily="18" charset="0"/>
              </a:rPr>
              <a:t>P problems refer to problems where an algorithm would take a polynomial amount of time to solve, or where Big-O is a polynomial (i.e. O(1), O(n), O(n²), O(log n) </a:t>
            </a:r>
            <a:r>
              <a:rPr lang="en-US" sz="2400" b="0" i="0" dirty="0" err="1">
                <a:effectLst/>
                <a:latin typeface="Times New Roman" panose="02020603050405020304" pitchFamily="18" charset="0"/>
                <a:cs typeface="Times New Roman" panose="02020603050405020304" pitchFamily="18" charset="0"/>
              </a:rPr>
              <a:t>etc</a:t>
            </a:r>
            <a:r>
              <a:rPr lang="en-US" sz="2400" b="0" i="0" dirty="0">
                <a:effectLst/>
                <a:latin typeface="Times New Roman" panose="02020603050405020304" pitchFamily="18" charset="0"/>
                <a:cs typeface="Times New Roman" panose="02020603050405020304" pitchFamily="18" charset="0"/>
              </a:rPr>
              <a:t>). These are problems that would be considered ‘easy’ to solve, and thus do not generally have immense run times.</a:t>
            </a:r>
          </a:p>
          <a:p>
            <a:pPr algn="just">
              <a:lnSpc>
                <a:spcPct val="150000"/>
              </a:lnSpc>
            </a:pPr>
            <a:r>
              <a:rPr lang="en-US" sz="2400" dirty="0">
                <a:latin typeface="Times New Roman" panose="02020603050405020304" pitchFamily="18" charset="0"/>
                <a:cs typeface="Times New Roman" panose="02020603050405020304" pitchFamily="18" charset="0"/>
              </a:rPr>
              <a:t>For Example: Linear Search, Binary Search, Insertion Sort etc.</a:t>
            </a:r>
          </a:p>
          <a:p>
            <a:pPr algn="just">
              <a:lnSpc>
                <a:spcPct val="150000"/>
              </a:lnSpc>
            </a:pPr>
            <a:r>
              <a:rPr lang="en-US" sz="2400" dirty="0">
                <a:latin typeface="Times New Roman" panose="02020603050405020304" pitchFamily="18" charset="0"/>
                <a:cs typeface="Times New Roman" panose="02020603050405020304" pitchFamily="18" charset="0"/>
              </a:rPr>
              <a:t>Polynomial Problems can be solved and verified in polynomial time. </a:t>
            </a:r>
          </a:p>
          <a:p>
            <a:pPr algn="just"/>
            <a:endParaRPr lang="en-US" b="0" i="0" dirty="0">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t>5</a:t>
            </a:fld>
            <a:endParaRPr lang="en-US"/>
          </a:p>
        </p:txBody>
      </p:sp>
      <p:sp>
        <p:nvSpPr>
          <p:cNvPr id="8" name="Rectangle 7"/>
          <p:cNvSpPr/>
          <p:nvPr/>
        </p:nvSpPr>
        <p:spPr>
          <a:xfrm>
            <a:off x="838200" y="1129849"/>
            <a:ext cx="10515600" cy="50423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2C642D-9C2D-AE50-43F2-9DA059FF9F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9129D2-E4AE-E9C8-BEFE-CD0FD89EC4E0}"/>
              </a:ext>
            </a:extLst>
          </p:cNvPr>
          <p:cNvSpPr>
            <a:spLocks noGrp="1"/>
          </p:cNvSpPr>
          <p:nvPr>
            <p:ph type="title"/>
          </p:nvPr>
        </p:nvSpPr>
        <p:spPr>
          <a:xfrm>
            <a:off x="838200" y="100081"/>
            <a:ext cx="8925232" cy="1029768"/>
          </a:xfrm>
          <a:ln>
            <a:solidFill>
              <a:schemeClr val="tx1"/>
            </a:solidFill>
          </a:ln>
        </p:spPr>
        <p:txBody>
          <a:bodyPr>
            <a:normAutofit/>
          </a:bodyPr>
          <a:lstStyle/>
          <a:p>
            <a:pPr algn="ctr"/>
            <a:r>
              <a:rPr lang="en-US" b="1" dirty="0">
                <a:latin typeface="Times New Roman" panose="02020603050405020304" pitchFamily="18" charset="0"/>
                <a:cs typeface="Times New Roman" panose="02020603050405020304" pitchFamily="18" charset="0"/>
              </a:rPr>
              <a:t>Deterministic &amp; Non-Deterministic</a:t>
            </a:r>
          </a:p>
        </p:txBody>
      </p:sp>
      <p:sp>
        <p:nvSpPr>
          <p:cNvPr id="3" name="Content Placeholder 2">
            <a:extLst>
              <a:ext uri="{FF2B5EF4-FFF2-40B4-BE49-F238E27FC236}">
                <a16:creationId xmlns:a16="http://schemas.microsoft.com/office/drawing/2014/main" id="{C2B8D167-461D-E5A4-0EF3-93A40B72C4A8}"/>
              </a:ext>
            </a:extLst>
          </p:cNvPr>
          <p:cNvSpPr>
            <a:spLocks noGrp="1"/>
          </p:cNvSpPr>
          <p:nvPr>
            <p:ph idx="1"/>
          </p:nvPr>
        </p:nvSpPr>
        <p:spPr>
          <a:xfrm>
            <a:off x="838200" y="1313999"/>
            <a:ext cx="10515600" cy="4851624"/>
          </a:xfrm>
        </p:spPr>
        <p:txBody>
          <a:bodyPr>
            <a:normAutofit/>
          </a:bodyPr>
          <a:lstStyle/>
          <a:p>
            <a:pPr marL="0" indent="0" algn="just">
              <a:lnSpc>
                <a:spcPct val="150000"/>
              </a:lnSpc>
              <a:buNone/>
            </a:pPr>
            <a:r>
              <a:rPr lang="en-US" sz="2400" b="1" dirty="0">
                <a:latin typeface="Times New Roman" panose="02020603050405020304" pitchFamily="18" charset="0"/>
                <a:cs typeface="Times New Roman" panose="02020603050405020304" pitchFamily="18" charset="0"/>
              </a:rPr>
              <a:t>D</a:t>
            </a:r>
            <a:r>
              <a:rPr lang="en-US" sz="2400" b="1" i="0" dirty="0">
                <a:effectLst/>
                <a:latin typeface="Times New Roman" panose="02020603050405020304" pitchFamily="18" charset="0"/>
                <a:cs typeface="Times New Roman" panose="02020603050405020304" pitchFamily="18" charset="0"/>
              </a:rPr>
              <a:t>etermini</a:t>
            </a:r>
            <a:r>
              <a:rPr lang="en-US" sz="2400" b="1" dirty="0">
                <a:latin typeface="Times New Roman" panose="02020603050405020304" pitchFamily="18" charset="0"/>
                <a:cs typeface="Times New Roman" panose="02020603050405020304" pitchFamily="18" charset="0"/>
              </a:rPr>
              <a:t>stic algorithms: </a:t>
            </a:r>
            <a:r>
              <a:rPr lang="en-US" sz="2400" dirty="0">
                <a:latin typeface="Times New Roman" panose="02020603050405020304" pitchFamily="18" charset="0"/>
                <a:cs typeface="Times New Roman" panose="02020603050405020304" pitchFamily="18" charset="0"/>
              </a:rPr>
              <a:t>where we know working of each and every step.</a:t>
            </a:r>
          </a:p>
          <a:p>
            <a:pPr marL="0" indent="0" algn="just">
              <a:lnSpc>
                <a:spcPct val="150000"/>
              </a:lnSpc>
              <a:buNone/>
            </a:pPr>
            <a:r>
              <a:rPr lang="en-US" sz="2400" b="1" i="0" dirty="0">
                <a:effectLst/>
                <a:latin typeface="Times New Roman" panose="02020603050405020304" pitchFamily="18" charset="0"/>
                <a:cs typeface="Times New Roman" panose="02020603050405020304" pitchFamily="18" charset="0"/>
              </a:rPr>
              <a:t>Non</a:t>
            </a:r>
            <a:r>
              <a:rPr lang="en-US" sz="2400" b="1" dirty="0">
                <a:latin typeface="Times New Roman" panose="02020603050405020304" pitchFamily="18" charset="0"/>
                <a:cs typeface="Times New Roman" panose="02020603050405020304" pitchFamily="18" charset="0"/>
              </a:rPr>
              <a:t>-</a:t>
            </a:r>
            <a:r>
              <a:rPr lang="en-US" sz="2400" b="1" i="0" dirty="0">
                <a:effectLst/>
                <a:latin typeface="Times New Roman" panose="02020603050405020304" pitchFamily="18" charset="0"/>
                <a:cs typeface="Times New Roman" panose="02020603050405020304" pitchFamily="18" charset="0"/>
              </a:rPr>
              <a:t>Deterministic algorithms: </a:t>
            </a:r>
            <a:r>
              <a:rPr lang="en-US" sz="2400" b="0" i="0" dirty="0">
                <a:effectLst/>
                <a:latin typeface="Times New Roman" panose="02020603050405020304" pitchFamily="18" charset="0"/>
                <a:cs typeface="Times New Roman" panose="02020603050405020304" pitchFamily="18" charset="0"/>
              </a:rPr>
              <a:t>where we know the working of maximum steps</a:t>
            </a:r>
            <a:r>
              <a:rPr lang="en-US" sz="2400" dirty="0">
                <a:latin typeface="Times New Roman" panose="02020603050405020304" pitchFamily="18" charset="0"/>
                <a:cs typeface="Times New Roman" panose="02020603050405020304" pitchFamily="18" charset="0"/>
              </a:rPr>
              <a:t> and that can be solved in deterministic time, but few statement may be non-deterministic. Future research work can be performed on that block in the code to make it deterministic.</a:t>
            </a:r>
          </a:p>
          <a:p>
            <a:pPr marL="0" indent="0" algn="just">
              <a:lnSpc>
                <a:spcPct val="150000"/>
              </a:lnSpc>
              <a:buNone/>
            </a:pPr>
            <a:endParaRPr lang="en-US" sz="2400" b="0" i="0" dirty="0">
              <a:effectLst/>
              <a:latin typeface="Times New Roman" panose="02020603050405020304" pitchFamily="18" charset="0"/>
              <a:cs typeface="Times New Roman" panose="02020603050405020304" pitchFamily="18" charset="0"/>
            </a:endParaRPr>
          </a:p>
          <a:p>
            <a:pPr marL="0" indent="0">
              <a:buNone/>
            </a:pPr>
            <a:br>
              <a:rPr lang="en-US" b="0" i="0" dirty="0">
                <a:effectLst/>
                <a:latin typeface="Times New Roman" panose="02020603050405020304" pitchFamily="18" charset="0"/>
                <a:cs typeface="Times New Roman" panose="02020603050405020304" pitchFamily="18" charset="0"/>
              </a:rPr>
            </a:br>
            <a:endParaRPr lang="en-US" b="0" i="0" dirty="0">
              <a:effectLst/>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67B23D95-3F25-5CC6-AED1-96023E0E5E77}"/>
              </a:ext>
            </a:extLst>
          </p:cNvPr>
          <p:cNvSpPr>
            <a:spLocks noGrp="1"/>
          </p:cNvSpPr>
          <p:nvPr>
            <p:ph type="sldNum" sz="quarter" idx="12"/>
          </p:nvPr>
        </p:nvSpPr>
        <p:spPr/>
        <p:txBody>
          <a:bodyPr/>
          <a:lstStyle/>
          <a:p>
            <a:fld id="{BDCDBBEF-AA6C-4BA6-85B2-A17D7F280E38}" type="slidenum">
              <a:rPr lang="en-US" smtClean="0"/>
              <a:t>6</a:t>
            </a:fld>
            <a:endParaRPr lang="en-US"/>
          </a:p>
        </p:txBody>
      </p:sp>
      <p:sp>
        <p:nvSpPr>
          <p:cNvPr id="8" name="Rectangle 7">
            <a:extLst>
              <a:ext uri="{FF2B5EF4-FFF2-40B4-BE49-F238E27FC236}">
                <a16:creationId xmlns:a16="http://schemas.microsoft.com/office/drawing/2014/main" id="{A7743D3E-268C-50D7-A6EE-B225CAE97245}"/>
              </a:ext>
            </a:extLst>
          </p:cNvPr>
          <p:cNvSpPr/>
          <p:nvPr/>
        </p:nvSpPr>
        <p:spPr>
          <a:xfrm>
            <a:off x="838200" y="1320576"/>
            <a:ext cx="10515600" cy="4851624"/>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657510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CAB148-F79B-D4E2-AEA7-DDD47EDD53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F00940-09B7-F285-6896-36E096E99F28}"/>
              </a:ext>
            </a:extLst>
          </p:cNvPr>
          <p:cNvSpPr>
            <a:spLocks noGrp="1"/>
          </p:cNvSpPr>
          <p:nvPr>
            <p:ph type="title"/>
          </p:nvPr>
        </p:nvSpPr>
        <p:spPr>
          <a:xfrm>
            <a:off x="838200" y="100081"/>
            <a:ext cx="8925232" cy="1029768"/>
          </a:xfrm>
          <a:ln>
            <a:solidFill>
              <a:schemeClr val="tx1"/>
            </a:solidFill>
          </a:ln>
        </p:spPr>
        <p:txBody>
          <a:bodyPr>
            <a:normAutofit fontScale="90000"/>
          </a:bodyPr>
          <a:lstStyle/>
          <a:p>
            <a:pPr algn="ctr"/>
            <a:r>
              <a:rPr lang="en-US" b="1" dirty="0">
                <a:latin typeface="Times New Roman" panose="02020603050405020304" pitchFamily="18" charset="0"/>
                <a:cs typeface="Times New Roman" panose="02020603050405020304" pitchFamily="18" charset="0"/>
              </a:rPr>
              <a:t>NP (Non-deterministic Polynomial) Problems</a:t>
            </a:r>
          </a:p>
        </p:txBody>
      </p:sp>
      <p:sp>
        <p:nvSpPr>
          <p:cNvPr id="3" name="Content Placeholder 2">
            <a:extLst>
              <a:ext uri="{FF2B5EF4-FFF2-40B4-BE49-F238E27FC236}">
                <a16:creationId xmlns:a16="http://schemas.microsoft.com/office/drawing/2014/main" id="{399FEA27-9E5A-822B-1DC1-8F0F5891669D}"/>
              </a:ext>
            </a:extLst>
          </p:cNvPr>
          <p:cNvSpPr>
            <a:spLocks noGrp="1"/>
          </p:cNvSpPr>
          <p:nvPr>
            <p:ph idx="1"/>
          </p:nvPr>
        </p:nvSpPr>
        <p:spPr>
          <a:xfrm>
            <a:off x="838200" y="1313999"/>
            <a:ext cx="10515600" cy="4851624"/>
          </a:xfrm>
        </p:spPr>
        <p:txBody>
          <a:bodyPr>
            <a:normAutofit/>
          </a:bodyPr>
          <a:lstStyle/>
          <a:p>
            <a:pPr algn="just">
              <a:lnSpc>
                <a:spcPct val="150000"/>
              </a:lnSpc>
            </a:pPr>
            <a:r>
              <a:rPr lang="en-US" sz="2400" b="0" i="0" dirty="0">
                <a:effectLst/>
                <a:latin typeface="Times New Roman" panose="02020603050405020304" pitchFamily="18" charset="0"/>
                <a:cs typeface="Times New Roman" panose="02020603050405020304" pitchFamily="18" charset="0"/>
              </a:rPr>
              <a:t>A problem that cannot be solved in polynomial time but can be verified in polynomial time usin</a:t>
            </a:r>
            <a:r>
              <a:rPr lang="en-US" sz="2400" dirty="0">
                <a:latin typeface="Times New Roman" panose="02020603050405020304" pitchFamily="18" charset="0"/>
                <a:cs typeface="Times New Roman" panose="02020603050405020304" pitchFamily="18" charset="0"/>
              </a:rPr>
              <a:t>g Non-deterministic algorithms is known as NP(Non-deterministic Polynomial) problem</a:t>
            </a:r>
            <a:r>
              <a:rPr lang="en-US" sz="2400" b="0" i="0" dirty="0">
                <a:effectLst/>
                <a:latin typeface="Times New Roman" panose="02020603050405020304" pitchFamily="18" charset="0"/>
                <a:cs typeface="Times New Roman" panose="02020603050405020304" pitchFamily="18" charset="0"/>
              </a:rPr>
              <a:t>.</a:t>
            </a:r>
          </a:p>
          <a:p>
            <a:pPr algn="just">
              <a:lnSpc>
                <a:spcPct val="150000"/>
              </a:lnSpc>
            </a:pPr>
            <a:r>
              <a:rPr lang="en-US" sz="2400" b="0" i="0" dirty="0">
                <a:solidFill>
                  <a:srgbClr val="242424"/>
                </a:solidFill>
                <a:effectLst/>
                <a:latin typeface="Times New Roman" panose="02020603050405020304" pitchFamily="18" charset="0"/>
                <a:cs typeface="Times New Roman" panose="02020603050405020304" pitchFamily="18" charset="0"/>
              </a:rPr>
              <a:t>In terms of solving a NP problem, the run-time would not be polynomial. It would be something like O(n!) or something much larger.</a:t>
            </a:r>
          </a:p>
          <a:p>
            <a:pPr algn="just">
              <a:lnSpc>
                <a:spcPct val="150000"/>
              </a:lnSpc>
            </a:pPr>
            <a:r>
              <a:rPr lang="en-US" sz="2400" dirty="0">
                <a:latin typeface="Times New Roman" panose="02020603050405020304" pitchFamily="18" charset="0"/>
                <a:cs typeface="Times New Roman" panose="02020603050405020304" pitchFamily="18" charset="0"/>
              </a:rPr>
              <a:t>We expect these algorithms to have an exponential complexity.</a:t>
            </a:r>
          </a:p>
          <a:p>
            <a:pPr>
              <a:lnSpc>
                <a:spcPct val="150000"/>
              </a:lnSpc>
            </a:pPr>
            <a:r>
              <a:rPr lang="en-US" sz="2400" b="0" i="0" dirty="0">
                <a:effectLst/>
                <a:latin typeface="Times New Roman" panose="02020603050405020304" pitchFamily="18" charset="0"/>
                <a:cs typeface="Times New Roman" panose="02020603050405020304" pitchFamily="18" charset="0"/>
              </a:rPr>
              <a:t>For Example: Travelling Salesman Problem, 0/1 Knapsack etc.</a:t>
            </a:r>
          </a:p>
        </p:txBody>
      </p:sp>
      <p:sp>
        <p:nvSpPr>
          <p:cNvPr id="4" name="Slide Number Placeholder 3">
            <a:extLst>
              <a:ext uri="{FF2B5EF4-FFF2-40B4-BE49-F238E27FC236}">
                <a16:creationId xmlns:a16="http://schemas.microsoft.com/office/drawing/2014/main" id="{A1370AA1-3999-5420-FD75-086E41329DD3}"/>
              </a:ext>
            </a:extLst>
          </p:cNvPr>
          <p:cNvSpPr>
            <a:spLocks noGrp="1"/>
          </p:cNvSpPr>
          <p:nvPr>
            <p:ph type="sldNum" sz="quarter" idx="12"/>
          </p:nvPr>
        </p:nvSpPr>
        <p:spPr/>
        <p:txBody>
          <a:bodyPr/>
          <a:lstStyle/>
          <a:p>
            <a:fld id="{BDCDBBEF-AA6C-4BA6-85B2-A17D7F280E38}" type="slidenum">
              <a:rPr lang="en-US" smtClean="0"/>
              <a:t>7</a:t>
            </a:fld>
            <a:endParaRPr lang="en-US"/>
          </a:p>
        </p:txBody>
      </p:sp>
      <p:sp>
        <p:nvSpPr>
          <p:cNvPr id="8" name="Rectangle 7">
            <a:extLst>
              <a:ext uri="{FF2B5EF4-FFF2-40B4-BE49-F238E27FC236}">
                <a16:creationId xmlns:a16="http://schemas.microsoft.com/office/drawing/2014/main" id="{5CD0C8E3-F13A-04F2-6F49-82DC0234BDB3}"/>
              </a:ext>
            </a:extLst>
          </p:cNvPr>
          <p:cNvSpPr/>
          <p:nvPr/>
        </p:nvSpPr>
        <p:spPr>
          <a:xfrm>
            <a:off x="838200" y="1320576"/>
            <a:ext cx="10515600" cy="4851624"/>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190597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9611"/>
            <a:ext cx="8637104" cy="850381"/>
          </a:xfrm>
          <a:ln>
            <a:solidFill>
              <a:schemeClr val="tx1"/>
            </a:solidFill>
          </a:ln>
        </p:spPr>
        <p:txBody>
          <a:bodyPr>
            <a:normAutofit fontScale="90000"/>
          </a:bodyPr>
          <a:lstStyle/>
          <a:p>
            <a:pPr algn="ctr"/>
            <a:r>
              <a:rPr lang="en-US" b="1" dirty="0">
                <a:latin typeface="Times New Roman" panose="02020603050405020304" pitchFamily="18" charset="0"/>
                <a:cs typeface="Times New Roman" panose="02020603050405020304" pitchFamily="18" charset="0"/>
              </a:rPr>
              <a:t>NP (Non-deterministic Polynomial) Problems</a:t>
            </a:r>
            <a:endParaRPr lang="en-US" dirty="0"/>
          </a:p>
        </p:txBody>
      </p:sp>
      <p:sp>
        <p:nvSpPr>
          <p:cNvPr id="3" name="Content Placeholder 2"/>
          <p:cNvSpPr>
            <a:spLocks noGrp="1"/>
          </p:cNvSpPr>
          <p:nvPr>
            <p:ph idx="1"/>
          </p:nvPr>
        </p:nvSpPr>
        <p:spPr>
          <a:xfrm>
            <a:off x="838200" y="1118509"/>
            <a:ext cx="7524135" cy="5602966"/>
          </a:xfrm>
        </p:spPr>
        <p:txBody>
          <a:bodyPr>
            <a:normAutofit fontScale="92500" lnSpcReduction="20000"/>
          </a:bodyPr>
          <a:lstStyle/>
          <a:p>
            <a:pPr algn="just">
              <a:lnSpc>
                <a:spcPct val="150000"/>
              </a:lnSpc>
            </a:pPr>
            <a:r>
              <a:rPr lang="en-US" sz="2400" b="0" i="0" dirty="0">
                <a:solidFill>
                  <a:srgbClr val="333333"/>
                </a:solidFill>
                <a:effectLst/>
                <a:latin typeface="Times New Roman" panose="02020603050405020304" pitchFamily="18" charset="0"/>
                <a:cs typeface="Times New Roman" panose="02020603050405020304" pitchFamily="18" charset="0"/>
              </a:rPr>
              <a:t>In order to solve this entire puzzle, the algorithm would have to check each 3x3 matrix to see which numbers are missing, then each row, then each column, and then make sure there are no repetitions of any digit from 0–9. This becomes more complex because the number of digits that are missing is inconsistent in each row, column, and matrix (i.e. top-left matrix is missing 4 digits while top-right matrix is missing 8 digits). </a:t>
            </a:r>
          </a:p>
          <a:p>
            <a:pPr algn="just">
              <a:lnSpc>
                <a:spcPct val="150000"/>
              </a:lnSpc>
            </a:pPr>
            <a:r>
              <a:rPr lang="en-US" sz="2400" b="0" i="0" dirty="0">
                <a:solidFill>
                  <a:srgbClr val="333333"/>
                </a:solidFill>
                <a:effectLst/>
                <a:latin typeface="Times New Roman" panose="02020603050405020304" pitchFamily="18" charset="0"/>
                <a:cs typeface="Times New Roman" panose="02020603050405020304" pitchFamily="18" charset="0"/>
              </a:rPr>
              <a:t>Solving this problem would not have a polynomial run-time. However, if you were to feed this puzzle with a possible solution, it would be much less complex to check if there are any repetitions in the rows, columns and matrices. This is a simple check which would have a polynomial run-time.</a:t>
            </a:r>
          </a:p>
        </p:txBody>
      </p:sp>
      <p:sp>
        <p:nvSpPr>
          <p:cNvPr id="4" name="Slide Number Placeholder 3"/>
          <p:cNvSpPr>
            <a:spLocks noGrp="1"/>
          </p:cNvSpPr>
          <p:nvPr>
            <p:ph type="sldNum" sz="quarter" idx="12"/>
          </p:nvPr>
        </p:nvSpPr>
        <p:spPr/>
        <p:txBody>
          <a:bodyPr/>
          <a:lstStyle/>
          <a:p>
            <a:fld id="{BDCDBBEF-AA6C-4BA6-85B2-A17D7F280E38}" type="slidenum">
              <a:rPr lang="en-US" smtClean="0"/>
              <a:t>8</a:t>
            </a:fld>
            <a:endParaRPr lang="en-US"/>
          </a:p>
        </p:txBody>
      </p:sp>
      <p:sp>
        <p:nvSpPr>
          <p:cNvPr id="8" name="Rectangle 7"/>
          <p:cNvSpPr/>
          <p:nvPr/>
        </p:nvSpPr>
        <p:spPr>
          <a:xfrm>
            <a:off x="838200" y="1110719"/>
            <a:ext cx="10515600" cy="561075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98" name="Picture 2">
            <a:extLst>
              <a:ext uri="{FF2B5EF4-FFF2-40B4-BE49-F238E27FC236}">
                <a16:creationId xmlns:a16="http://schemas.microsoft.com/office/drawing/2014/main" id="{18727194-5032-D5FD-49A4-56803A0F21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27512" y="1999307"/>
            <a:ext cx="2859386" cy="285938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7CBA83-1EDC-ABAF-18AA-2BAF383740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5C1375-77DF-7DC0-076A-82A6E909046D}"/>
              </a:ext>
            </a:extLst>
          </p:cNvPr>
          <p:cNvSpPr>
            <a:spLocks noGrp="1"/>
          </p:cNvSpPr>
          <p:nvPr>
            <p:ph type="title"/>
          </p:nvPr>
        </p:nvSpPr>
        <p:spPr>
          <a:xfrm>
            <a:off x="838200" y="69611"/>
            <a:ext cx="8637104" cy="850381"/>
          </a:xfrm>
          <a:ln>
            <a:solidFill>
              <a:schemeClr val="tx1"/>
            </a:solidFill>
          </a:ln>
        </p:spPr>
        <p:txBody>
          <a:bodyPr>
            <a:normAutofit fontScale="90000"/>
          </a:bodyPr>
          <a:lstStyle/>
          <a:p>
            <a:pPr algn="ctr"/>
            <a:r>
              <a:rPr lang="en-US" b="1" dirty="0">
                <a:latin typeface="Times New Roman" panose="02020603050405020304" pitchFamily="18" charset="0"/>
                <a:cs typeface="Times New Roman" panose="02020603050405020304" pitchFamily="18" charset="0"/>
              </a:rPr>
              <a:t>NP (Non-deterministic Polynomial) Problems</a:t>
            </a:r>
            <a:endParaRPr lang="en-US" dirty="0"/>
          </a:p>
        </p:txBody>
      </p:sp>
      <p:sp>
        <p:nvSpPr>
          <p:cNvPr id="3" name="Content Placeholder 2">
            <a:extLst>
              <a:ext uri="{FF2B5EF4-FFF2-40B4-BE49-F238E27FC236}">
                <a16:creationId xmlns:a16="http://schemas.microsoft.com/office/drawing/2014/main" id="{B5096D22-C840-CEB7-4497-3823193E1349}"/>
              </a:ext>
            </a:extLst>
          </p:cNvPr>
          <p:cNvSpPr>
            <a:spLocks noGrp="1"/>
          </p:cNvSpPr>
          <p:nvPr>
            <p:ph idx="1"/>
          </p:nvPr>
        </p:nvSpPr>
        <p:spPr>
          <a:xfrm>
            <a:off x="1265904" y="1110719"/>
            <a:ext cx="4205748" cy="5602966"/>
          </a:xfrm>
        </p:spPr>
        <p:txBody>
          <a:bodyPr>
            <a:normAutofit fontScale="92500" lnSpcReduction="20000"/>
          </a:bodyPr>
          <a:lstStyle/>
          <a:p>
            <a:pPr algn="just">
              <a:lnSpc>
                <a:spcPct val="150000"/>
              </a:lnSpc>
            </a:pPr>
            <a:r>
              <a:rPr lang="en-US" sz="2400" b="0" i="0" dirty="0">
                <a:solidFill>
                  <a:srgbClr val="333333"/>
                </a:solidFill>
                <a:effectLst/>
                <a:latin typeface="Times New Roman" panose="02020603050405020304" pitchFamily="18" charset="0"/>
                <a:cs typeface="Times New Roman" panose="02020603050405020304" pitchFamily="18" charset="0"/>
              </a:rPr>
              <a:t>Algorithm: N Search(A, n, key)</a:t>
            </a:r>
            <a:endParaRPr lang="en-US" sz="2400" dirty="0">
              <a:solidFill>
                <a:srgbClr val="333333"/>
              </a:solidFill>
              <a:latin typeface="Times New Roman" panose="02020603050405020304" pitchFamily="18" charset="0"/>
              <a:cs typeface="Times New Roman" panose="02020603050405020304" pitchFamily="18" charset="0"/>
            </a:endParaRPr>
          </a:p>
          <a:p>
            <a:pPr marL="0" indent="0" algn="just">
              <a:lnSpc>
                <a:spcPct val="150000"/>
              </a:lnSpc>
              <a:buNone/>
            </a:pPr>
            <a:r>
              <a:rPr lang="en-US" sz="2400" dirty="0">
                <a:solidFill>
                  <a:srgbClr val="333333"/>
                </a:solidFill>
                <a:latin typeface="Times New Roman" panose="02020603050405020304" pitchFamily="18" charset="0"/>
                <a:cs typeface="Times New Roman" panose="02020603050405020304" pitchFamily="18" charset="0"/>
              </a:rPr>
              <a:t>{</a:t>
            </a:r>
          </a:p>
          <a:p>
            <a:pPr marL="0" indent="0" algn="just">
              <a:lnSpc>
                <a:spcPct val="150000"/>
              </a:lnSpc>
              <a:buNone/>
            </a:pPr>
            <a:r>
              <a:rPr lang="en-US" sz="2400" dirty="0">
                <a:solidFill>
                  <a:srgbClr val="333333"/>
                </a:solidFill>
                <a:latin typeface="Times New Roman" panose="02020603050405020304" pitchFamily="18" charset="0"/>
                <a:cs typeface="Times New Roman" panose="02020603050405020304" pitchFamily="18" charset="0"/>
              </a:rPr>
              <a:t>J=choice();</a:t>
            </a:r>
          </a:p>
          <a:p>
            <a:pPr marL="0" indent="0" algn="just">
              <a:lnSpc>
                <a:spcPct val="150000"/>
              </a:lnSpc>
              <a:buNone/>
            </a:pPr>
            <a:r>
              <a:rPr lang="en-US" sz="2400" b="0" i="0" dirty="0">
                <a:solidFill>
                  <a:srgbClr val="333333"/>
                </a:solidFill>
                <a:effectLst/>
                <a:latin typeface="Times New Roman" panose="02020603050405020304" pitchFamily="18" charset="0"/>
                <a:cs typeface="Times New Roman" panose="02020603050405020304" pitchFamily="18" charset="0"/>
              </a:rPr>
              <a:t>If(key==A[J])</a:t>
            </a:r>
          </a:p>
          <a:p>
            <a:pPr marL="0" indent="0" algn="just">
              <a:lnSpc>
                <a:spcPct val="150000"/>
              </a:lnSpc>
              <a:buNone/>
            </a:pPr>
            <a:r>
              <a:rPr lang="en-US" sz="2400" b="0" i="0" dirty="0">
                <a:solidFill>
                  <a:srgbClr val="333333"/>
                </a:solidFill>
                <a:effectLst/>
                <a:latin typeface="Times New Roman" panose="02020603050405020304" pitchFamily="18" charset="0"/>
                <a:cs typeface="Times New Roman" panose="02020603050405020304" pitchFamily="18" charset="0"/>
              </a:rPr>
              <a:t>Write(J);</a:t>
            </a:r>
          </a:p>
          <a:p>
            <a:pPr marL="0" indent="0" algn="just">
              <a:lnSpc>
                <a:spcPct val="150000"/>
              </a:lnSpc>
              <a:buNone/>
            </a:pPr>
            <a:r>
              <a:rPr lang="en-US" sz="2400" dirty="0">
                <a:solidFill>
                  <a:srgbClr val="333333"/>
                </a:solidFill>
                <a:latin typeface="Times New Roman" panose="02020603050405020304" pitchFamily="18" charset="0"/>
                <a:cs typeface="Times New Roman" panose="02020603050405020304" pitchFamily="18" charset="0"/>
              </a:rPr>
              <a:t>Success();</a:t>
            </a:r>
          </a:p>
          <a:p>
            <a:pPr marL="0" indent="0" algn="just">
              <a:lnSpc>
                <a:spcPct val="150000"/>
              </a:lnSpc>
              <a:buNone/>
            </a:pPr>
            <a:r>
              <a:rPr lang="en-US" sz="2400" b="0" i="0" dirty="0">
                <a:solidFill>
                  <a:srgbClr val="333333"/>
                </a:solidFill>
                <a:effectLst/>
                <a:latin typeface="Times New Roman" panose="02020603050405020304" pitchFamily="18" charset="0"/>
                <a:cs typeface="Times New Roman" panose="02020603050405020304" pitchFamily="18" charset="0"/>
              </a:rPr>
              <a:t>}</a:t>
            </a:r>
          </a:p>
          <a:p>
            <a:pPr marL="0" indent="0" algn="just">
              <a:lnSpc>
                <a:spcPct val="150000"/>
              </a:lnSpc>
              <a:buNone/>
            </a:pPr>
            <a:r>
              <a:rPr lang="en-US" sz="2400" dirty="0">
                <a:solidFill>
                  <a:srgbClr val="333333"/>
                </a:solidFill>
                <a:latin typeface="Times New Roman" panose="02020603050405020304" pitchFamily="18" charset="0"/>
                <a:cs typeface="Times New Roman" panose="02020603050405020304" pitchFamily="18" charset="0"/>
              </a:rPr>
              <a:t>Write(0);</a:t>
            </a:r>
          </a:p>
          <a:p>
            <a:pPr marL="0" indent="0" algn="just">
              <a:lnSpc>
                <a:spcPct val="150000"/>
              </a:lnSpc>
              <a:buNone/>
            </a:pPr>
            <a:r>
              <a:rPr lang="en-US" sz="2400" b="0" i="0" dirty="0">
                <a:solidFill>
                  <a:srgbClr val="333333"/>
                </a:solidFill>
                <a:effectLst/>
                <a:latin typeface="Times New Roman" panose="02020603050405020304" pitchFamily="18" charset="0"/>
                <a:cs typeface="Times New Roman" panose="02020603050405020304" pitchFamily="18" charset="0"/>
              </a:rPr>
              <a:t>Failu</a:t>
            </a:r>
            <a:r>
              <a:rPr lang="en-US" sz="2400" dirty="0">
                <a:solidFill>
                  <a:srgbClr val="333333"/>
                </a:solidFill>
                <a:latin typeface="Times New Roman" panose="02020603050405020304" pitchFamily="18" charset="0"/>
                <a:cs typeface="Times New Roman" panose="02020603050405020304" pitchFamily="18" charset="0"/>
              </a:rPr>
              <a:t>re();</a:t>
            </a:r>
          </a:p>
          <a:p>
            <a:pPr marL="0" indent="0" algn="just">
              <a:lnSpc>
                <a:spcPct val="150000"/>
              </a:lnSpc>
              <a:buNone/>
            </a:pPr>
            <a:r>
              <a:rPr lang="en-US" sz="2400" b="0" i="0" dirty="0">
                <a:solidFill>
                  <a:srgbClr val="333333"/>
                </a:solidFill>
                <a:effectLst/>
                <a:latin typeface="Times New Roman" panose="02020603050405020304" pitchFamily="18" charset="0"/>
                <a:cs typeface="Times New Roman" panose="02020603050405020304" pitchFamily="18" charset="0"/>
              </a:rPr>
              <a:t>}</a:t>
            </a:r>
          </a:p>
        </p:txBody>
      </p:sp>
      <p:sp>
        <p:nvSpPr>
          <p:cNvPr id="4" name="Slide Number Placeholder 3">
            <a:extLst>
              <a:ext uri="{FF2B5EF4-FFF2-40B4-BE49-F238E27FC236}">
                <a16:creationId xmlns:a16="http://schemas.microsoft.com/office/drawing/2014/main" id="{925B78CF-FD0B-1BD9-6152-88BF5EF5C525}"/>
              </a:ext>
            </a:extLst>
          </p:cNvPr>
          <p:cNvSpPr>
            <a:spLocks noGrp="1"/>
          </p:cNvSpPr>
          <p:nvPr>
            <p:ph type="sldNum" sz="quarter" idx="12"/>
          </p:nvPr>
        </p:nvSpPr>
        <p:spPr/>
        <p:txBody>
          <a:bodyPr/>
          <a:lstStyle/>
          <a:p>
            <a:fld id="{BDCDBBEF-AA6C-4BA6-85B2-A17D7F280E38}" type="slidenum">
              <a:rPr lang="en-US" smtClean="0"/>
              <a:t>9</a:t>
            </a:fld>
            <a:endParaRPr lang="en-US"/>
          </a:p>
        </p:txBody>
      </p:sp>
      <p:sp>
        <p:nvSpPr>
          <p:cNvPr id="8" name="Rectangle 7">
            <a:extLst>
              <a:ext uri="{FF2B5EF4-FFF2-40B4-BE49-F238E27FC236}">
                <a16:creationId xmlns:a16="http://schemas.microsoft.com/office/drawing/2014/main" id="{D87F14E3-D9FB-AA02-A492-76D4FCDE805C}"/>
              </a:ext>
            </a:extLst>
          </p:cNvPr>
          <p:cNvSpPr/>
          <p:nvPr/>
        </p:nvSpPr>
        <p:spPr>
          <a:xfrm>
            <a:off x="838200" y="1110719"/>
            <a:ext cx="10515600" cy="561075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422190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349733-7FC0-E9BE-2E10-C8D33695F2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C48250-6055-2C37-339B-2C8FF626E950}"/>
              </a:ext>
            </a:extLst>
          </p:cNvPr>
          <p:cNvSpPr>
            <a:spLocks noGrp="1"/>
          </p:cNvSpPr>
          <p:nvPr>
            <p:ph type="title"/>
          </p:nvPr>
        </p:nvSpPr>
        <p:spPr>
          <a:xfrm>
            <a:off x="838200" y="100081"/>
            <a:ext cx="8637104" cy="850381"/>
          </a:xfrm>
          <a:ln>
            <a:solidFill>
              <a:schemeClr val="tx1"/>
            </a:solidFill>
          </a:ln>
        </p:spPr>
        <p:txBody>
          <a:bodyPr/>
          <a:lstStyle/>
          <a:p>
            <a:pPr algn="ctr"/>
            <a:r>
              <a:rPr lang="en-US" b="1" dirty="0">
                <a:latin typeface="Times New Roman" panose="02020603050405020304" pitchFamily="18" charset="0"/>
                <a:cs typeface="Times New Roman" panose="02020603050405020304" pitchFamily="18" charset="0"/>
              </a:rPr>
              <a:t>Reduction</a:t>
            </a:r>
          </a:p>
        </p:txBody>
      </p:sp>
      <p:sp>
        <p:nvSpPr>
          <p:cNvPr id="3" name="Content Placeholder 2">
            <a:extLst>
              <a:ext uri="{FF2B5EF4-FFF2-40B4-BE49-F238E27FC236}">
                <a16:creationId xmlns:a16="http://schemas.microsoft.com/office/drawing/2014/main" id="{9C47728E-255B-691B-CC64-142E6C537F15}"/>
              </a:ext>
            </a:extLst>
          </p:cNvPr>
          <p:cNvSpPr>
            <a:spLocks noGrp="1"/>
          </p:cNvSpPr>
          <p:nvPr>
            <p:ph idx="1"/>
          </p:nvPr>
        </p:nvSpPr>
        <p:spPr>
          <a:xfrm>
            <a:off x="838200" y="1129849"/>
            <a:ext cx="10515600" cy="5035774"/>
          </a:xfrm>
        </p:spPr>
        <p:txBody>
          <a:bodyPr>
            <a:normAutofit/>
          </a:bodyPr>
          <a:lstStyle/>
          <a:p>
            <a:pPr algn="just">
              <a:lnSpc>
                <a:spcPct val="150000"/>
              </a:lnSpc>
            </a:pPr>
            <a:r>
              <a:rPr lang="en-US" sz="2400" dirty="0">
                <a:solidFill>
                  <a:srgbClr val="333333"/>
                </a:solidFill>
                <a:latin typeface="Times New Roman" panose="02020603050405020304" pitchFamily="18" charset="0"/>
                <a:cs typeface="Times New Roman" panose="02020603050405020304" pitchFamily="18" charset="0"/>
              </a:rPr>
              <a:t>We have two problems, A and B, and we know problem B is a P class problem. If problem A can be reduced, or converted to problem B, and this reduction takes a polynomial amount of time, then we can say that A is also a P class problem (A is reducible to B).</a:t>
            </a:r>
          </a:p>
        </p:txBody>
      </p:sp>
      <p:sp>
        <p:nvSpPr>
          <p:cNvPr id="4" name="Slide Number Placeholder 3">
            <a:extLst>
              <a:ext uri="{FF2B5EF4-FFF2-40B4-BE49-F238E27FC236}">
                <a16:creationId xmlns:a16="http://schemas.microsoft.com/office/drawing/2014/main" id="{E4C0A434-4B3F-4C7F-1359-4EE88D7EC26C}"/>
              </a:ext>
            </a:extLst>
          </p:cNvPr>
          <p:cNvSpPr>
            <a:spLocks noGrp="1"/>
          </p:cNvSpPr>
          <p:nvPr>
            <p:ph type="sldNum" sz="quarter" idx="12"/>
          </p:nvPr>
        </p:nvSpPr>
        <p:spPr/>
        <p:txBody>
          <a:bodyPr/>
          <a:lstStyle/>
          <a:p>
            <a:fld id="{BDCDBBEF-AA6C-4BA6-85B2-A17D7F280E38}" type="slidenum">
              <a:rPr lang="en-US" smtClean="0"/>
              <a:t>10</a:t>
            </a:fld>
            <a:endParaRPr lang="en-US"/>
          </a:p>
        </p:txBody>
      </p:sp>
      <p:sp>
        <p:nvSpPr>
          <p:cNvPr id="8" name="Rectangle 7">
            <a:extLst>
              <a:ext uri="{FF2B5EF4-FFF2-40B4-BE49-F238E27FC236}">
                <a16:creationId xmlns:a16="http://schemas.microsoft.com/office/drawing/2014/main" id="{76494815-BE32-AB60-71CD-3141CFAEF70D}"/>
              </a:ext>
            </a:extLst>
          </p:cNvPr>
          <p:cNvSpPr/>
          <p:nvPr/>
        </p:nvSpPr>
        <p:spPr>
          <a:xfrm>
            <a:off x="838200" y="1129849"/>
            <a:ext cx="10515600" cy="50423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210795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1DA5C-7D69-E008-CAD0-85C448E6D1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522863-D2D8-D711-323B-9CA1DD6B8CFB}"/>
              </a:ext>
            </a:extLst>
          </p:cNvPr>
          <p:cNvSpPr>
            <a:spLocks noGrp="1"/>
          </p:cNvSpPr>
          <p:nvPr>
            <p:ph type="title"/>
          </p:nvPr>
        </p:nvSpPr>
        <p:spPr>
          <a:xfrm>
            <a:off x="838200" y="100081"/>
            <a:ext cx="8637104" cy="850381"/>
          </a:xfrm>
          <a:ln>
            <a:solidFill>
              <a:schemeClr val="tx1"/>
            </a:solidFill>
          </a:ln>
        </p:spPr>
        <p:txBody>
          <a:bodyPr/>
          <a:lstStyle/>
          <a:p>
            <a:pPr algn="ctr"/>
            <a:r>
              <a:rPr lang="en-US" b="1" dirty="0">
                <a:latin typeface="Times New Roman" panose="02020603050405020304" pitchFamily="18" charset="0"/>
                <a:cs typeface="Times New Roman" panose="02020603050405020304" pitchFamily="18" charset="0"/>
              </a:rPr>
              <a:t>NP-Hard Problems</a:t>
            </a:r>
          </a:p>
        </p:txBody>
      </p:sp>
      <p:sp>
        <p:nvSpPr>
          <p:cNvPr id="3" name="Content Placeholder 2">
            <a:extLst>
              <a:ext uri="{FF2B5EF4-FFF2-40B4-BE49-F238E27FC236}">
                <a16:creationId xmlns:a16="http://schemas.microsoft.com/office/drawing/2014/main" id="{607D58DB-4AC3-EFDE-AE74-3AE2A2BB1FA9}"/>
              </a:ext>
            </a:extLst>
          </p:cNvPr>
          <p:cNvSpPr>
            <a:spLocks noGrp="1"/>
          </p:cNvSpPr>
          <p:nvPr>
            <p:ph idx="1"/>
          </p:nvPr>
        </p:nvSpPr>
        <p:spPr>
          <a:xfrm>
            <a:off x="838200" y="1129849"/>
            <a:ext cx="10515600" cy="5035774"/>
          </a:xfrm>
        </p:spPr>
        <p:txBody>
          <a:bodyPr>
            <a:normAutofit/>
          </a:bodyPr>
          <a:lstStyle/>
          <a:p>
            <a:pPr algn="just">
              <a:lnSpc>
                <a:spcPct val="150000"/>
              </a:lnSpc>
            </a:pPr>
            <a:r>
              <a:rPr lang="en-US" sz="2400" dirty="0">
                <a:solidFill>
                  <a:srgbClr val="333333"/>
                </a:solidFill>
                <a:latin typeface="Times New Roman" panose="02020603050405020304" pitchFamily="18" charset="0"/>
                <a:cs typeface="Times New Roman" panose="02020603050405020304" pitchFamily="18" charset="0"/>
              </a:rPr>
              <a:t>The algorithm that cannot be solved in polynomial time are called NP Hard problems.</a:t>
            </a:r>
          </a:p>
          <a:p>
            <a:pPr algn="just">
              <a:lnSpc>
                <a:spcPct val="150000"/>
              </a:lnSpc>
            </a:pPr>
            <a:r>
              <a:rPr lang="en-US" sz="2400" dirty="0">
                <a:solidFill>
                  <a:srgbClr val="333333"/>
                </a:solidFill>
                <a:latin typeface="Times New Roman" panose="02020603050405020304" pitchFamily="18" charset="0"/>
                <a:cs typeface="Times New Roman" panose="02020603050405020304" pitchFamily="18" charset="0"/>
              </a:rPr>
              <a:t> A problem is classified as NP-Hard when an algorithm for solving it can be translated to solve any NP problem. Then we can say, this problem is at least as hard as any NP problem, but it could be much harder or more complex.</a:t>
            </a:r>
          </a:p>
          <a:p>
            <a:pPr algn="just">
              <a:lnSpc>
                <a:spcPct val="150000"/>
              </a:lnSpc>
            </a:pPr>
            <a:r>
              <a:rPr lang="en-US" sz="2400" dirty="0">
                <a:solidFill>
                  <a:srgbClr val="333333"/>
                </a:solidFill>
                <a:latin typeface="Times New Roman" panose="02020603050405020304" pitchFamily="18" charset="0"/>
                <a:cs typeface="Times New Roman" panose="02020603050405020304" pitchFamily="18" charset="0"/>
              </a:rPr>
              <a:t>Example: Sum of subsets problem</a:t>
            </a:r>
          </a:p>
        </p:txBody>
      </p:sp>
      <p:sp>
        <p:nvSpPr>
          <p:cNvPr id="4" name="Slide Number Placeholder 3">
            <a:extLst>
              <a:ext uri="{FF2B5EF4-FFF2-40B4-BE49-F238E27FC236}">
                <a16:creationId xmlns:a16="http://schemas.microsoft.com/office/drawing/2014/main" id="{1F891597-4BE3-EB18-76BA-CE8AA902C516}"/>
              </a:ext>
            </a:extLst>
          </p:cNvPr>
          <p:cNvSpPr>
            <a:spLocks noGrp="1"/>
          </p:cNvSpPr>
          <p:nvPr>
            <p:ph type="sldNum" sz="quarter" idx="12"/>
          </p:nvPr>
        </p:nvSpPr>
        <p:spPr/>
        <p:txBody>
          <a:bodyPr/>
          <a:lstStyle/>
          <a:p>
            <a:fld id="{BDCDBBEF-AA6C-4BA6-85B2-A17D7F280E38}" type="slidenum">
              <a:rPr lang="en-US" smtClean="0"/>
              <a:t>11</a:t>
            </a:fld>
            <a:endParaRPr lang="en-US"/>
          </a:p>
        </p:txBody>
      </p:sp>
      <p:sp>
        <p:nvSpPr>
          <p:cNvPr id="8" name="Rectangle 7">
            <a:extLst>
              <a:ext uri="{FF2B5EF4-FFF2-40B4-BE49-F238E27FC236}">
                <a16:creationId xmlns:a16="http://schemas.microsoft.com/office/drawing/2014/main" id="{749D7414-1735-E7EF-06D8-7FF3360F6016}"/>
              </a:ext>
            </a:extLst>
          </p:cNvPr>
          <p:cNvSpPr/>
          <p:nvPr/>
        </p:nvSpPr>
        <p:spPr>
          <a:xfrm>
            <a:off x="838200" y="1129849"/>
            <a:ext cx="10515600" cy="50423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36889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34CFC2-25A0-A879-B36D-513EAE8DF9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257408-6131-23FB-A6ED-2223B8BE01E4}"/>
              </a:ext>
            </a:extLst>
          </p:cNvPr>
          <p:cNvSpPr>
            <a:spLocks noGrp="1"/>
          </p:cNvSpPr>
          <p:nvPr>
            <p:ph type="title"/>
          </p:nvPr>
        </p:nvSpPr>
        <p:spPr>
          <a:xfrm>
            <a:off x="838200" y="100081"/>
            <a:ext cx="8637104" cy="850381"/>
          </a:xfrm>
          <a:ln>
            <a:solidFill>
              <a:schemeClr val="tx1"/>
            </a:solidFill>
          </a:ln>
        </p:spPr>
        <p:txBody>
          <a:bodyPr/>
          <a:lstStyle/>
          <a:p>
            <a:pPr algn="ctr"/>
            <a:r>
              <a:rPr lang="en-US" b="1" dirty="0">
                <a:latin typeface="Times New Roman" panose="02020603050405020304" pitchFamily="18" charset="0"/>
                <a:cs typeface="Times New Roman" panose="02020603050405020304" pitchFamily="18" charset="0"/>
              </a:rPr>
              <a:t>NP-Complete Problems</a:t>
            </a:r>
          </a:p>
        </p:txBody>
      </p:sp>
      <p:sp>
        <p:nvSpPr>
          <p:cNvPr id="3" name="Content Placeholder 2">
            <a:extLst>
              <a:ext uri="{FF2B5EF4-FFF2-40B4-BE49-F238E27FC236}">
                <a16:creationId xmlns:a16="http://schemas.microsoft.com/office/drawing/2014/main" id="{56B922D3-0BD6-23E2-D05A-D1316D7C3400}"/>
              </a:ext>
            </a:extLst>
          </p:cNvPr>
          <p:cNvSpPr>
            <a:spLocks noGrp="1"/>
          </p:cNvSpPr>
          <p:nvPr>
            <p:ph idx="1"/>
          </p:nvPr>
        </p:nvSpPr>
        <p:spPr>
          <a:xfrm>
            <a:off x="838200" y="1129849"/>
            <a:ext cx="10515600" cy="5035774"/>
          </a:xfrm>
        </p:spPr>
        <p:txBody>
          <a:bodyPr>
            <a:normAutofit/>
          </a:bodyPr>
          <a:lstStyle/>
          <a:p>
            <a:pPr algn="just"/>
            <a:r>
              <a:rPr lang="en-US" sz="2400" dirty="0">
                <a:solidFill>
                  <a:srgbClr val="333333"/>
                </a:solidFill>
                <a:latin typeface="Times New Roman" panose="02020603050405020304" pitchFamily="18" charset="0"/>
                <a:cs typeface="Times New Roman" panose="02020603050405020304" pitchFamily="18" charset="0"/>
              </a:rPr>
              <a:t>If a problem A can be reduced to NP problem B in polynomial time. There problem A will be called NP-Complete problem. </a:t>
            </a:r>
          </a:p>
          <a:p>
            <a:pPr algn="just"/>
            <a:r>
              <a:rPr lang="en-US" sz="2400" dirty="0">
                <a:solidFill>
                  <a:srgbClr val="333333"/>
                </a:solidFill>
                <a:latin typeface="Times New Roman" panose="02020603050405020304" pitchFamily="18" charset="0"/>
                <a:cs typeface="Times New Roman" panose="02020603050405020304" pitchFamily="18" charset="0"/>
              </a:rPr>
              <a:t>Example: Graph Coloring etc.</a:t>
            </a:r>
          </a:p>
          <a:p>
            <a:pPr algn="just"/>
            <a:r>
              <a:rPr lang="en-US" sz="2400" dirty="0">
                <a:solidFill>
                  <a:srgbClr val="333333"/>
                </a:solidFill>
                <a:latin typeface="Times New Roman" panose="02020603050405020304" pitchFamily="18" charset="0"/>
                <a:cs typeface="Times New Roman" panose="02020603050405020304" pitchFamily="18" charset="0"/>
              </a:rPr>
              <a:t>NP-Complete problems are problems that live in both the NP and NP-Hard classes. This means that NP-Complete problems can be verified in polynomial time and that any NP problem can be reduced to this problem in polynomial time.</a:t>
            </a:r>
          </a:p>
        </p:txBody>
      </p:sp>
      <p:sp>
        <p:nvSpPr>
          <p:cNvPr id="4" name="Slide Number Placeholder 3">
            <a:extLst>
              <a:ext uri="{FF2B5EF4-FFF2-40B4-BE49-F238E27FC236}">
                <a16:creationId xmlns:a16="http://schemas.microsoft.com/office/drawing/2014/main" id="{12F46386-0EEB-B980-01A3-E827B689BBC6}"/>
              </a:ext>
            </a:extLst>
          </p:cNvPr>
          <p:cNvSpPr>
            <a:spLocks noGrp="1"/>
          </p:cNvSpPr>
          <p:nvPr>
            <p:ph type="sldNum" sz="quarter" idx="12"/>
          </p:nvPr>
        </p:nvSpPr>
        <p:spPr/>
        <p:txBody>
          <a:bodyPr/>
          <a:lstStyle/>
          <a:p>
            <a:fld id="{BDCDBBEF-AA6C-4BA6-85B2-A17D7F280E38}" type="slidenum">
              <a:rPr lang="en-US" smtClean="0"/>
              <a:t>12</a:t>
            </a:fld>
            <a:endParaRPr lang="en-US"/>
          </a:p>
        </p:txBody>
      </p:sp>
      <p:sp>
        <p:nvSpPr>
          <p:cNvPr id="8" name="Rectangle 7">
            <a:extLst>
              <a:ext uri="{FF2B5EF4-FFF2-40B4-BE49-F238E27FC236}">
                <a16:creationId xmlns:a16="http://schemas.microsoft.com/office/drawing/2014/main" id="{0596D808-6DE5-FF6C-2CDD-D4D58777787B}"/>
              </a:ext>
            </a:extLst>
          </p:cNvPr>
          <p:cNvSpPr/>
          <p:nvPr/>
        </p:nvSpPr>
        <p:spPr>
          <a:xfrm>
            <a:off x="838200" y="1129849"/>
            <a:ext cx="10515600" cy="50423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22" name="Picture 2">
            <a:extLst>
              <a:ext uri="{FF2B5EF4-FFF2-40B4-BE49-F238E27FC236}">
                <a16:creationId xmlns:a16="http://schemas.microsoft.com/office/drawing/2014/main" id="{3E9C4E2C-A27B-DC99-2AC4-3FEDF5105D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58663" y="3568556"/>
            <a:ext cx="4022008" cy="25970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87403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E74473C-B794-BCD2-828C-6CEB0ECC7A5C}"/>
              </a:ext>
            </a:extLst>
          </p:cNvPr>
          <p:cNvSpPr>
            <a:spLocks noGrp="1"/>
          </p:cNvSpPr>
          <p:nvPr>
            <p:ph idx="1"/>
          </p:nvPr>
        </p:nvSpPr>
        <p:spPr>
          <a:xfrm>
            <a:off x="838200" y="867076"/>
            <a:ext cx="10515600" cy="5770179"/>
          </a:xfrm>
          <a:ln>
            <a:solidFill>
              <a:schemeClr val="tx1"/>
            </a:solidFill>
          </a:ln>
        </p:spPr>
        <p:txBody>
          <a:bodyPr>
            <a:normAutofit fontScale="92500" lnSpcReduction="20000"/>
          </a:bodyPr>
          <a:lstStyle/>
          <a:p>
            <a:pPr>
              <a:buNone/>
            </a:pPr>
            <a:r>
              <a:rPr lang="en-US" sz="2400" b="1" dirty="0">
                <a:latin typeface="Times New Roman" panose="02020603050405020304" pitchFamily="18" charset="0"/>
                <a:cs typeface="Times New Roman" panose="02020603050405020304" pitchFamily="18" charset="0"/>
              </a:rPr>
              <a:t>Theoretical Impact on Computer Science</a:t>
            </a:r>
          </a:p>
          <a:p>
            <a:pPr>
              <a:buFont typeface="+mj-lt"/>
              <a:buAutoNum type="arabicPeriod"/>
            </a:pPr>
            <a:r>
              <a:rPr lang="en-US" sz="2400" b="1" dirty="0">
                <a:latin typeface="Times New Roman" panose="02020603050405020304" pitchFamily="18" charset="0"/>
                <a:cs typeface="Times New Roman" panose="02020603050405020304" pitchFamily="18" charset="0"/>
              </a:rPr>
              <a:t>Understanding Computational Limits:</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The P vs NP problem defines the </a:t>
            </a:r>
            <a:r>
              <a:rPr lang="en-US" sz="2400" b="1" dirty="0">
                <a:latin typeface="Times New Roman" panose="02020603050405020304" pitchFamily="18" charset="0"/>
                <a:cs typeface="Times New Roman" panose="02020603050405020304" pitchFamily="18" charset="0"/>
              </a:rPr>
              <a:t>boundary between tractable and intractable problems</a:t>
            </a:r>
            <a:r>
              <a:rPr lang="en-US" sz="2400" dirty="0">
                <a:latin typeface="Times New Roman" panose="02020603050405020304" pitchFamily="18" charset="0"/>
                <a:cs typeface="Times New Roman" panose="02020603050405020304" pitchFamily="18" charset="0"/>
              </a:rPr>
              <a:t>. Solving it would clarify which problems are fundamentally hard to solve efficiently.</a:t>
            </a:r>
          </a:p>
          <a:p>
            <a:pPr>
              <a:buFont typeface="+mj-lt"/>
              <a:buAutoNum type="arabicPeriod"/>
            </a:pPr>
            <a:r>
              <a:rPr lang="en-US" sz="2400" b="1" dirty="0">
                <a:latin typeface="Times New Roman" panose="02020603050405020304" pitchFamily="18" charset="0"/>
                <a:cs typeface="Times New Roman" panose="02020603050405020304" pitchFamily="18" charset="0"/>
              </a:rPr>
              <a:t>Implications for Problem Solving:</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If </a:t>
            </a:r>
            <a:r>
              <a:rPr lang="en-US" sz="2400" b="1" dirty="0">
                <a:latin typeface="Times New Roman" panose="02020603050405020304" pitchFamily="18" charset="0"/>
                <a:cs typeface="Times New Roman" panose="02020603050405020304" pitchFamily="18" charset="0"/>
              </a:rPr>
              <a:t>P = NP</a:t>
            </a:r>
            <a:r>
              <a:rPr lang="en-US" sz="2400" dirty="0">
                <a:latin typeface="Times New Roman" panose="02020603050405020304" pitchFamily="18" charset="0"/>
                <a:cs typeface="Times New Roman" panose="02020603050405020304" pitchFamily="18" charset="0"/>
              </a:rPr>
              <a:t>, it would imply that many problems believed to be hard (e.g., SAT, Traveling Salesman, Integer Programming) actually have </a:t>
            </a:r>
            <a:r>
              <a:rPr lang="en-US" sz="2400" b="1" dirty="0">
                <a:latin typeface="Times New Roman" panose="02020603050405020304" pitchFamily="18" charset="0"/>
                <a:cs typeface="Times New Roman" panose="02020603050405020304" pitchFamily="18" charset="0"/>
              </a:rPr>
              <a:t>efficient algorithms</a:t>
            </a:r>
            <a:r>
              <a:rPr lang="en-US" sz="2400" dirty="0">
                <a:latin typeface="Times New Roman" panose="02020603050405020304" pitchFamily="18" charset="0"/>
                <a:cs typeface="Times New Roman" panose="02020603050405020304" pitchFamily="18" charset="0"/>
              </a:rPr>
              <a:t>.</a:t>
            </a:r>
          </a:p>
          <a:p>
            <a:pPr>
              <a:buFont typeface="+mj-lt"/>
              <a:buAutoNum type="arabicPeriod"/>
            </a:pPr>
            <a:r>
              <a:rPr lang="en-US" sz="2400" b="1" dirty="0">
                <a:latin typeface="Times New Roman" panose="02020603050405020304" pitchFamily="18" charset="0"/>
                <a:cs typeface="Times New Roman" panose="02020603050405020304" pitchFamily="18" charset="0"/>
              </a:rPr>
              <a:t>Effect on Complexity Theory:</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Resolving the problem would significantly advance the field of </a:t>
            </a:r>
            <a:r>
              <a:rPr lang="en-US" sz="2400" b="1" dirty="0">
                <a:latin typeface="Times New Roman" panose="02020603050405020304" pitchFamily="18" charset="0"/>
                <a:cs typeface="Times New Roman" panose="02020603050405020304" pitchFamily="18" charset="0"/>
              </a:rPr>
              <a:t>computational complexity theory</a:t>
            </a:r>
            <a:r>
              <a:rPr lang="en-US" sz="2400" dirty="0">
                <a:latin typeface="Times New Roman" panose="02020603050405020304" pitchFamily="18" charset="0"/>
                <a:cs typeface="Times New Roman" panose="02020603050405020304" pitchFamily="18" charset="0"/>
              </a:rPr>
              <a:t>, possibly leading to the reclassification of many known problems.</a:t>
            </a:r>
          </a:p>
          <a:p>
            <a:pPr>
              <a:buFont typeface="+mj-lt"/>
              <a:buAutoNum type="arabicPeriod"/>
            </a:pPr>
            <a:r>
              <a:rPr lang="en-US" sz="2400" b="1" dirty="0">
                <a:latin typeface="Times New Roman" panose="02020603050405020304" pitchFamily="18" charset="0"/>
                <a:cs typeface="Times New Roman" panose="02020603050405020304" pitchFamily="18" charset="0"/>
              </a:rPr>
              <a:t>Consequences in Cryptography:</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Modern cryptographic systems rely on the assumption that </a:t>
            </a:r>
            <a:r>
              <a:rPr lang="en-US" sz="2400" b="1" dirty="0">
                <a:latin typeface="Times New Roman" panose="02020603050405020304" pitchFamily="18" charset="0"/>
                <a:cs typeface="Times New Roman" panose="02020603050405020304" pitchFamily="18" charset="0"/>
              </a:rPr>
              <a:t>certain NP problems are not in P</a:t>
            </a:r>
            <a:r>
              <a:rPr lang="en-US" sz="2400" dirty="0">
                <a:latin typeface="Times New Roman" panose="02020603050405020304" pitchFamily="18" charset="0"/>
                <a:cs typeface="Times New Roman" panose="02020603050405020304" pitchFamily="18" charset="0"/>
              </a:rPr>
              <a:t>. If </a:t>
            </a:r>
            <a:r>
              <a:rPr lang="en-US" sz="2400" b="1" dirty="0">
                <a:latin typeface="Times New Roman" panose="02020603050405020304" pitchFamily="18" charset="0"/>
                <a:cs typeface="Times New Roman" panose="02020603050405020304" pitchFamily="18" charset="0"/>
              </a:rPr>
              <a:t>P = NP</a:t>
            </a:r>
            <a:r>
              <a:rPr lang="en-US" sz="2400" dirty="0">
                <a:latin typeface="Times New Roman" panose="02020603050405020304" pitchFamily="18" charset="0"/>
                <a:cs typeface="Times New Roman" panose="02020603050405020304" pitchFamily="18" charset="0"/>
              </a:rPr>
              <a:t>, many encryption schemes could be broken, affecting </a:t>
            </a:r>
            <a:r>
              <a:rPr lang="en-US" sz="2400" b="1" dirty="0">
                <a:latin typeface="Times New Roman" panose="02020603050405020304" pitchFamily="18" charset="0"/>
                <a:cs typeface="Times New Roman" panose="02020603050405020304" pitchFamily="18" charset="0"/>
              </a:rPr>
              <a:t>security and privacy</a:t>
            </a:r>
            <a:r>
              <a:rPr lang="en-US" sz="2400" dirty="0">
                <a:latin typeface="Times New Roman" panose="02020603050405020304" pitchFamily="18" charset="0"/>
                <a:cs typeface="Times New Roman" panose="02020603050405020304" pitchFamily="18" charset="0"/>
              </a:rPr>
              <a:t> on a global scale.</a:t>
            </a:r>
          </a:p>
          <a:p>
            <a:pPr>
              <a:buFont typeface="+mj-lt"/>
              <a:buAutoNum type="arabicPeriod"/>
            </a:pPr>
            <a:r>
              <a:rPr lang="en-US" sz="2400" b="1" dirty="0">
                <a:latin typeface="Times New Roman" panose="02020603050405020304" pitchFamily="18" charset="0"/>
                <a:cs typeface="Times New Roman" panose="02020603050405020304" pitchFamily="18" charset="0"/>
              </a:rPr>
              <a:t>Algorithm Design and Optimization:</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If </a:t>
            </a:r>
            <a:r>
              <a:rPr lang="en-US" sz="2400" b="1" dirty="0">
                <a:latin typeface="Times New Roman" panose="02020603050405020304" pitchFamily="18" charset="0"/>
                <a:cs typeface="Times New Roman" panose="02020603050405020304" pitchFamily="18" charset="0"/>
              </a:rPr>
              <a:t>P ≠ NP</a:t>
            </a:r>
            <a:r>
              <a:rPr lang="en-US" sz="2400" dirty="0">
                <a:latin typeface="Times New Roman" panose="02020603050405020304" pitchFamily="18" charset="0"/>
                <a:cs typeface="Times New Roman" panose="02020603050405020304" pitchFamily="18" charset="0"/>
              </a:rPr>
              <a:t>, it justifies the use of </a:t>
            </a:r>
            <a:r>
              <a:rPr lang="en-US" sz="2400" b="1" dirty="0">
                <a:latin typeface="Times New Roman" panose="02020603050405020304" pitchFamily="18" charset="0"/>
                <a:cs typeface="Times New Roman" panose="02020603050405020304" pitchFamily="18" charset="0"/>
              </a:rPr>
              <a:t>heuristic, approximation, or probabilistic algorithms</a:t>
            </a:r>
            <a:r>
              <a:rPr lang="en-US" sz="2400" dirty="0">
                <a:latin typeface="Times New Roman" panose="02020603050405020304" pitchFamily="18" charset="0"/>
                <a:cs typeface="Times New Roman" panose="02020603050405020304" pitchFamily="18" charset="0"/>
              </a:rPr>
              <a:t> for NP-complete problems.</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If </a:t>
            </a:r>
            <a:r>
              <a:rPr lang="en-US" sz="2400" b="1" dirty="0">
                <a:latin typeface="Times New Roman" panose="02020603050405020304" pitchFamily="18" charset="0"/>
                <a:cs typeface="Times New Roman" panose="02020603050405020304" pitchFamily="18" charset="0"/>
              </a:rPr>
              <a:t>P = NP</a:t>
            </a:r>
            <a:r>
              <a:rPr lang="en-US" sz="2400" dirty="0">
                <a:latin typeface="Times New Roman" panose="02020603050405020304" pitchFamily="18" charset="0"/>
                <a:cs typeface="Times New Roman" panose="02020603050405020304" pitchFamily="18" charset="0"/>
              </a:rPr>
              <a:t>, it could lead to </a:t>
            </a:r>
            <a:r>
              <a:rPr lang="en-US" sz="2400" b="1" dirty="0">
                <a:latin typeface="Times New Roman" panose="02020603050405020304" pitchFamily="18" charset="0"/>
                <a:cs typeface="Times New Roman" panose="02020603050405020304" pitchFamily="18" charset="0"/>
              </a:rPr>
              <a:t>efficient exact algorithms</a:t>
            </a:r>
            <a:r>
              <a:rPr lang="en-US" sz="2400" dirty="0">
                <a:latin typeface="Times New Roman" panose="02020603050405020304" pitchFamily="18" charset="0"/>
                <a:cs typeface="Times New Roman" panose="02020603050405020304" pitchFamily="18" charset="0"/>
              </a:rPr>
              <a:t> for a wide range of real-world applications.</a:t>
            </a:r>
          </a:p>
        </p:txBody>
      </p:sp>
      <p:sp>
        <p:nvSpPr>
          <p:cNvPr id="6" name="TextBox 5">
            <a:extLst>
              <a:ext uri="{FF2B5EF4-FFF2-40B4-BE49-F238E27FC236}">
                <a16:creationId xmlns:a16="http://schemas.microsoft.com/office/drawing/2014/main" id="{AEDAA5C6-4D8B-12AC-E780-D8FD87365CAB}"/>
              </a:ext>
            </a:extLst>
          </p:cNvPr>
          <p:cNvSpPr txBox="1"/>
          <p:nvPr/>
        </p:nvSpPr>
        <p:spPr>
          <a:xfrm>
            <a:off x="838200" y="220745"/>
            <a:ext cx="8967952" cy="584775"/>
          </a:xfrm>
          <a:prstGeom prst="rect">
            <a:avLst/>
          </a:prstGeom>
          <a:noFill/>
          <a:ln>
            <a:solidFill>
              <a:schemeClr val="tx1"/>
            </a:solidFill>
          </a:ln>
        </p:spPr>
        <p:txBody>
          <a:bodyPr wrap="square">
            <a:spAutoFit/>
          </a:bodyPr>
          <a:lstStyle/>
          <a:p>
            <a:pPr algn="ctr"/>
            <a:r>
              <a:rPr lang="en-US" sz="3200" b="1" dirty="0">
                <a:effectLst/>
                <a:latin typeface="Times New Roman" panose="02020603050405020304" pitchFamily="18" charset="0"/>
                <a:ea typeface="Calibri" panose="020F0502020204030204" pitchFamily="34" charset="0"/>
              </a:rPr>
              <a:t>Role of P and NP concept in computer Science</a:t>
            </a:r>
            <a:endParaRPr lang="en-IN" sz="3200" b="1" dirty="0"/>
          </a:p>
        </p:txBody>
      </p:sp>
    </p:spTree>
    <p:extLst>
      <p:ext uri="{BB962C8B-B14F-4D97-AF65-F5344CB8AC3E}">
        <p14:creationId xmlns:p14="http://schemas.microsoft.com/office/powerpoint/2010/main" val="1358268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sz="1800" b="0" i="0" u="none" strike="noStrike" kern="1200" cap="none" spc="0" normalizeH="0" baseline="0" noProof="0" dirty="0">
                <a:ln>
                  <a:noFill/>
                </a:ln>
                <a:solidFill>
                  <a:prstClr val="white"/>
                </a:solidFill>
                <a:effectLst/>
                <a:uLnTx/>
                <a:uFillTx/>
                <a:latin typeface="Calibri Light" panose="020F0302020204030204"/>
              </a:rPr>
              <a:t> </a:t>
            </a:r>
          </a:p>
        </p:txBody>
      </p:sp>
      <p:sp>
        <p:nvSpPr>
          <p:cNvPr id="9" name="Title 1"/>
          <p:cNvSpPr txBox="1"/>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1" fmla="*/ 0 w 3225800"/>
              <a:gd name="connsiteY0-2" fmla="*/ 1612900 h 3225800"/>
              <a:gd name="connsiteX1-3" fmla="*/ 1612900 w 3225800"/>
              <a:gd name="connsiteY1-4" fmla="*/ 0 h 3225800"/>
              <a:gd name="connsiteX2-5" fmla="*/ 2430463 w 3225800"/>
              <a:gd name="connsiteY2-6" fmla="*/ 817563 h 3225800"/>
              <a:gd name="connsiteX3-7" fmla="*/ 3225800 w 3225800"/>
              <a:gd name="connsiteY3-8" fmla="*/ 1612900 h 3225800"/>
              <a:gd name="connsiteX4-9" fmla="*/ 1612900 w 3225800"/>
              <a:gd name="connsiteY4-10" fmla="*/ 3225800 h 3225800"/>
              <a:gd name="connsiteX5" fmla="*/ 0 w 3225800"/>
              <a:gd name="connsiteY5" fmla="*/ 1612900 h 3225800"/>
              <a:gd name="connsiteX0-11" fmla="*/ 0 w 3225800"/>
              <a:gd name="connsiteY0-12" fmla="*/ 1612900 h 3225800"/>
              <a:gd name="connsiteX1-13" fmla="*/ 1612900 w 3225800"/>
              <a:gd name="connsiteY1-14" fmla="*/ 0 h 3225800"/>
              <a:gd name="connsiteX2-15" fmla="*/ 2430463 w 3225800"/>
              <a:gd name="connsiteY2-16" fmla="*/ 817563 h 3225800"/>
              <a:gd name="connsiteX3-17" fmla="*/ 3225800 w 3225800"/>
              <a:gd name="connsiteY3-18" fmla="*/ 1612900 h 3225800"/>
              <a:gd name="connsiteX4-19" fmla="*/ 2430463 w 3225800"/>
              <a:gd name="connsiteY4-20" fmla="*/ 2413000 h 3225800"/>
              <a:gd name="connsiteX5-21" fmla="*/ 1612900 w 3225800"/>
              <a:gd name="connsiteY5-22" fmla="*/ 3225800 h 3225800"/>
              <a:gd name="connsiteX6" fmla="*/ 0 w 3225800"/>
              <a:gd name="connsiteY6" fmla="*/ 1612900 h 3225800"/>
              <a:gd name="connsiteX0-23" fmla="*/ 3225800 w 3317240"/>
              <a:gd name="connsiteY0-24" fmla="*/ 1612900 h 3225800"/>
              <a:gd name="connsiteX1-25" fmla="*/ 2430463 w 3317240"/>
              <a:gd name="connsiteY1-26" fmla="*/ 2413000 h 3225800"/>
              <a:gd name="connsiteX2-27" fmla="*/ 1612900 w 3317240"/>
              <a:gd name="connsiteY2-28" fmla="*/ 3225800 h 3225800"/>
              <a:gd name="connsiteX3-29" fmla="*/ 0 w 3317240"/>
              <a:gd name="connsiteY3-30" fmla="*/ 1612900 h 3225800"/>
              <a:gd name="connsiteX4-31" fmla="*/ 1612900 w 3317240"/>
              <a:gd name="connsiteY4-32" fmla="*/ 0 h 3225800"/>
              <a:gd name="connsiteX5-33" fmla="*/ 2430463 w 3317240"/>
              <a:gd name="connsiteY5-34" fmla="*/ 817563 h 3225800"/>
              <a:gd name="connsiteX6-35" fmla="*/ 3317240 w 3317240"/>
              <a:gd name="connsiteY6-36" fmla="*/ 1704340 h 3225800"/>
              <a:gd name="connsiteX0-37" fmla="*/ 2430463 w 3317240"/>
              <a:gd name="connsiteY0-38" fmla="*/ 2413000 h 3225800"/>
              <a:gd name="connsiteX1-39" fmla="*/ 1612900 w 3317240"/>
              <a:gd name="connsiteY1-40" fmla="*/ 3225800 h 3225800"/>
              <a:gd name="connsiteX2-41" fmla="*/ 0 w 3317240"/>
              <a:gd name="connsiteY2-42" fmla="*/ 1612900 h 3225800"/>
              <a:gd name="connsiteX3-43" fmla="*/ 1612900 w 3317240"/>
              <a:gd name="connsiteY3-44" fmla="*/ 0 h 3225800"/>
              <a:gd name="connsiteX4-45" fmla="*/ 2430463 w 3317240"/>
              <a:gd name="connsiteY4-46" fmla="*/ 817563 h 3225800"/>
              <a:gd name="connsiteX5-47" fmla="*/ 3317240 w 3317240"/>
              <a:gd name="connsiteY5-48" fmla="*/ 1704340 h 3225800"/>
              <a:gd name="connsiteX0-49" fmla="*/ 2430463 w 2430463"/>
              <a:gd name="connsiteY0-50" fmla="*/ 2413000 h 3225800"/>
              <a:gd name="connsiteX1-51" fmla="*/ 1612900 w 2430463"/>
              <a:gd name="connsiteY1-52" fmla="*/ 3225800 h 3225800"/>
              <a:gd name="connsiteX2-53" fmla="*/ 0 w 2430463"/>
              <a:gd name="connsiteY2-54" fmla="*/ 1612900 h 3225800"/>
              <a:gd name="connsiteX3-55" fmla="*/ 1612900 w 2430463"/>
              <a:gd name="connsiteY3-56" fmla="*/ 0 h 3225800"/>
              <a:gd name="connsiteX4-57" fmla="*/ 2430463 w 2430463"/>
              <a:gd name="connsiteY4-58" fmla="*/ 817563 h 32258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Light" panose="020F0302020204030204"/>
            </a:endParaRPr>
          </a:p>
        </p:txBody>
      </p:sp>
      <p:sp>
        <p:nvSpPr>
          <p:cNvPr id="23" name="Diamond 6"/>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1" fmla="*/ 0 w 3225800"/>
              <a:gd name="connsiteY0-2" fmla="*/ 1612900 h 3225800"/>
              <a:gd name="connsiteX1-3" fmla="*/ 1612900 w 3225800"/>
              <a:gd name="connsiteY1-4" fmla="*/ 0 h 3225800"/>
              <a:gd name="connsiteX2-5" fmla="*/ 2430463 w 3225800"/>
              <a:gd name="connsiteY2-6" fmla="*/ 817563 h 3225800"/>
              <a:gd name="connsiteX3-7" fmla="*/ 3225800 w 3225800"/>
              <a:gd name="connsiteY3-8" fmla="*/ 1612900 h 3225800"/>
              <a:gd name="connsiteX4-9" fmla="*/ 1612900 w 3225800"/>
              <a:gd name="connsiteY4-10" fmla="*/ 3225800 h 3225800"/>
              <a:gd name="connsiteX5" fmla="*/ 0 w 3225800"/>
              <a:gd name="connsiteY5" fmla="*/ 1612900 h 3225800"/>
              <a:gd name="connsiteX0-11" fmla="*/ 0 w 3225800"/>
              <a:gd name="connsiteY0-12" fmla="*/ 1612900 h 3225800"/>
              <a:gd name="connsiteX1-13" fmla="*/ 1612900 w 3225800"/>
              <a:gd name="connsiteY1-14" fmla="*/ 0 h 3225800"/>
              <a:gd name="connsiteX2-15" fmla="*/ 2430463 w 3225800"/>
              <a:gd name="connsiteY2-16" fmla="*/ 817563 h 3225800"/>
              <a:gd name="connsiteX3-17" fmla="*/ 3225800 w 3225800"/>
              <a:gd name="connsiteY3-18" fmla="*/ 1612900 h 3225800"/>
              <a:gd name="connsiteX4-19" fmla="*/ 2430463 w 3225800"/>
              <a:gd name="connsiteY4-20" fmla="*/ 2413000 h 3225800"/>
              <a:gd name="connsiteX5-21" fmla="*/ 1612900 w 3225800"/>
              <a:gd name="connsiteY5-22" fmla="*/ 3225800 h 3225800"/>
              <a:gd name="connsiteX6" fmla="*/ 0 w 3225800"/>
              <a:gd name="connsiteY6" fmla="*/ 1612900 h 3225800"/>
              <a:gd name="connsiteX0-23" fmla="*/ 3225800 w 3317240"/>
              <a:gd name="connsiteY0-24" fmla="*/ 1612900 h 3225800"/>
              <a:gd name="connsiteX1-25" fmla="*/ 2430463 w 3317240"/>
              <a:gd name="connsiteY1-26" fmla="*/ 2413000 h 3225800"/>
              <a:gd name="connsiteX2-27" fmla="*/ 1612900 w 3317240"/>
              <a:gd name="connsiteY2-28" fmla="*/ 3225800 h 3225800"/>
              <a:gd name="connsiteX3-29" fmla="*/ 0 w 3317240"/>
              <a:gd name="connsiteY3-30" fmla="*/ 1612900 h 3225800"/>
              <a:gd name="connsiteX4-31" fmla="*/ 1612900 w 3317240"/>
              <a:gd name="connsiteY4-32" fmla="*/ 0 h 3225800"/>
              <a:gd name="connsiteX5-33" fmla="*/ 2430463 w 3317240"/>
              <a:gd name="connsiteY5-34" fmla="*/ 817563 h 3225800"/>
              <a:gd name="connsiteX6-35" fmla="*/ 3317240 w 3317240"/>
              <a:gd name="connsiteY6-36" fmla="*/ 1704340 h 3225800"/>
              <a:gd name="connsiteX0-37" fmla="*/ 2430463 w 3317240"/>
              <a:gd name="connsiteY0-38" fmla="*/ 2413000 h 3225800"/>
              <a:gd name="connsiteX1-39" fmla="*/ 1612900 w 3317240"/>
              <a:gd name="connsiteY1-40" fmla="*/ 3225800 h 3225800"/>
              <a:gd name="connsiteX2-41" fmla="*/ 0 w 3317240"/>
              <a:gd name="connsiteY2-42" fmla="*/ 1612900 h 3225800"/>
              <a:gd name="connsiteX3-43" fmla="*/ 1612900 w 3317240"/>
              <a:gd name="connsiteY3-44" fmla="*/ 0 h 3225800"/>
              <a:gd name="connsiteX4-45" fmla="*/ 2430463 w 3317240"/>
              <a:gd name="connsiteY4-46" fmla="*/ 817563 h 3225800"/>
              <a:gd name="connsiteX5-47" fmla="*/ 3317240 w 3317240"/>
              <a:gd name="connsiteY5-48" fmla="*/ 1704340 h 3225800"/>
              <a:gd name="connsiteX0-49" fmla="*/ 2430463 w 2430463"/>
              <a:gd name="connsiteY0-50" fmla="*/ 2413000 h 3225800"/>
              <a:gd name="connsiteX1-51" fmla="*/ 1612900 w 2430463"/>
              <a:gd name="connsiteY1-52" fmla="*/ 3225800 h 3225800"/>
              <a:gd name="connsiteX2-53" fmla="*/ 0 w 2430463"/>
              <a:gd name="connsiteY2-54" fmla="*/ 1612900 h 3225800"/>
              <a:gd name="connsiteX3-55" fmla="*/ 1612900 w 2430463"/>
              <a:gd name="connsiteY3-56" fmla="*/ 0 h 3225800"/>
              <a:gd name="connsiteX4-57" fmla="*/ 2430463 w 2430463"/>
              <a:gd name="connsiteY4-58" fmla="*/ 817563 h 32258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Light" panose="020F0302020204030204"/>
            </a:endParaRPr>
          </a:p>
        </p:txBody>
      </p:sp>
      <p:pic>
        <p:nvPicPr>
          <p:cNvPr id="9409" name="Picture 19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6700" y="571500"/>
            <a:ext cx="342900"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p:cNvSpPr>
            <a:spLocks noGrp="1"/>
          </p:cNvSpPr>
          <p:nvPr>
            <p:ph type="sldNum" sz="quarter" idx="12"/>
          </p:nvPr>
        </p:nvSpPr>
        <p:spPr/>
        <p:txBody>
          <a:bodyPr/>
          <a:lstStyle/>
          <a:p>
            <a:fld id="{FC9A48AB-23F1-45F1-98E5-D2CDC7A5261D}" type="slidenum">
              <a:rPr lang="en-US" smtClean="0">
                <a:solidFill>
                  <a:prstClr val="black">
                    <a:tint val="75000"/>
                  </a:prstClr>
                </a:solidFill>
              </a:rPr>
              <a:t>14</a:t>
            </a:fld>
            <a:endParaRPr lang="en-US">
              <a:solidFill>
                <a:prstClr val="black">
                  <a:tint val="75000"/>
                </a:prstClr>
              </a:solidFill>
            </a:endParaRPr>
          </a:p>
        </p:txBody>
      </p:sp>
      <p:sp>
        <p:nvSpPr>
          <p:cNvPr id="16" name="TextBox 15"/>
          <p:cNvSpPr txBox="1"/>
          <p:nvPr/>
        </p:nvSpPr>
        <p:spPr>
          <a:xfrm>
            <a:off x="3306619" y="5490886"/>
            <a:ext cx="3234858" cy="584775"/>
          </a:xfrm>
          <a:prstGeom prst="rect">
            <a:avLst/>
          </a:prstGeom>
          <a:noFill/>
          <a:ln>
            <a:solidFill>
              <a:schemeClr val="tx1"/>
            </a:solidFill>
          </a:ln>
        </p:spPr>
        <p:txBody>
          <a:bodyPr wrap="square" rtlCol="0">
            <a:spAutoFit/>
          </a:bodyPr>
          <a:lstStyle/>
          <a:p>
            <a:r>
              <a:rPr lang="en-IN" sz="1600" b="1" dirty="0">
                <a:latin typeface="Times New Roman" panose="02020603050405020304" pitchFamily="18" charset="0"/>
                <a:cs typeface="Times New Roman" panose="02020603050405020304" pitchFamily="18" charset="0"/>
              </a:rPr>
              <a:t>For any Queries-</a:t>
            </a:r>
          </a:p>
          <a:p>
            <a:r>
              <a:rPr lang="en-IN" sz="1600" b="1" dirty="0">
                <a:latin typeface="Times New Roman" panose="02020603050405020304" pitchFamily="18" charset="0"/>
                <a:cs typeface="Times New Roman" panose="02020603050405020304" pitchFamily="18" charset="0"/>
              </a:rPr>
              <a:t>E-Mail: </a:t>
            </a:r>
            <a:r>
              <a:rPr lang="en-IN" sz="1600" dirty="0">
                <a:latin typeface="Times New Roman" panose="02020603050405020304" pitchFamily="18" charset="0"/>
                <a:cs typeface="Times New Roman" panose="02020603050405020304" pitchFamily="18" charset="0"/>
              </a:rPr>
              <a:t>gurpreetkaur.uic@cumail.in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2371</TotalTime>
  <Words>1081</Words>
  <Application>Microsoft Office PowerPoint</Application>
  <PresentationFormat>Widescreen</PresentationFormat>
  <Paragraphs>92</Paragraphs>
  <Slides>14</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14</vt:i4>
      </vt:variant>
    </vt:vector>
  </HeadingPairs>
  <TitlesOfParts>
    <vt:vector size="22" baseType="lpstr">
      <vt:lpstr>Arial</vt:lpstr>
      <vt:lpstr>Calibri</vt:lpstr>
      <vt:lpstr>Calibri Light</vt:lpstr>
      <vt:lpstr>Casper</vt:lpstr>
      <vt:lpstr>Raleway ExtraBold</vt:lpstr>
      <vt:lpstr>Times New Roman</vt:lpstr>
      <vt:lpstr>Office Theme</vt:lpstr>
      <vt:lpstr>1_Office Theme</vt:lpstr>
      <vt:lpstr>PowerPoint Presentation</vt:lpstr>
      <vt:lpstr>P,NP,NP Hard, NP Complete</vt:lpstr>
      <vt:lpstr>PowerPoint Presentation</vt:lpstr>
      <vt:lpstr>P,NP,NP Hard, NP Complete</vt:lpstr>
      <vt:lpstr>P (Polynomial) Problems</vt:lpstr>
      <vt:lpstr>Deterministic &amp; Non-Deterministic</vt:lpstr>
      <vt:lpstr>NP (Non-deterministic Polynomial) Problems</vt:lpstr>
      <vt:lpstr>NP (Non-deterministic Polynomial) Problems</vt:lpstr>
      <vt:lpstr>NP (Non-deterministic Polynomial) Problems</vt:lpstr>
      <vt:lpstr>Reduction</vt:lpstr>
      <vt:lpstr>NP-Hard Problems</vt:lpstr>
      <vt:lpstr>NP-Complete Problems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Uttama Garg</dc:creator>
  <cp:lastModifiedBy>Paramjeet Singh</cp:lastModifiedBy>
  <cp:revision>578</cp:revision>
  <dcterms:created xsi:type="dcterms:W3CDTF">2020-06-19T07:16:00Z</dcterms:created>
  <dcterms:modified xsi:type="dcterms:W3CDTF">2025-04-23T05:01:53Z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1E9D407AFF4F480DB8E5633578E75855</vt:lpwstr>
  </property>
  <property fmtid="{D5CDD505-2E9C-101B-9397-08002B2CF9AE}" pid="3" name="KSOProductBuildVer">
    <vt:lpwstr>1033-11.2.0.11537</vt:lpwstr>
  </property>
</Properties>
</file>