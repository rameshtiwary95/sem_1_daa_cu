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dia/image48.bin" ContentType="image/unknown"/>
  <Override PartName="/ppt/media/image49.bin" ContentType="image/unknown"/>
  <Override PartName="/ppt/media/image50.bin" ContentType="image/unknown"/>
  <Override PartName="/ppt/notesSlides/notesSlide4.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80"/>
  </p:notesMasterIdLst>
  <p:sldIdLst>
    <p:sldId id="414" r:id="rId3"/>
    <p:sldId id="389" r:id="rId4"/>
    <p:sldId id="280" r:id="rId5"/>
    <p:sldId id="429" r:id="rId6"/>
    <p:sldId id="482" r:id="rId7"/>
    <p:sldId id="428" r:id="rId8"/>
    <p:sldId id="430" r:id="rId9"/>
    <p:sldId id="285" r:id="rId10"/>
    <p:sldId id="286" r:id="rId11"/>
    <p:sldId id="287" r:id="rId12"/>
    <p:sldId id="288" r:id="rId13"/>
    <p:sldId id="289" r:id="rId14"/>
    <p:sldId id="290" r:id="rId15"/>
    <p:sldId id="431" r:id="rId16"/>
    <p:sldId id="432" r:id="rId17"/>
    <p:sldId id="291" r:id="rId18"/>
    <p:sldId id="292" r:id="rId19"/>
    <p:sldId id="433" r:id="rId20"/>
    <p:sldId id="434" r:id="rId21"/>
    <p:sldId id="435" r:id="rId22"/>
    <p:sldId id="436" r:id="rId23"/>
    <p:sldId id="437" r:id="rId24"/>
    <p:sldId id="485" r:id="rId25"/>
    <p:sldId id="438" r:id="rId26"/>
    <p:sldId id="580" r:id="rId27"/>
    <p:sldId id="583" r:id="rId28"/>
    <p:sldId id="440" r:id="rId29"/>
    <p:sldId id="293" r:id="rId30"/>
    <p:sldId id="439" r:id="rId31"/>
    <p:sldId id="441" r:id="rId32"/>
    <p:sldId id="442" r:id="rId33"/>
    <p:sldId id="443" r:id="rId34"/>
    <p:sldId id="444" r:id="rId35"/>
    <p:sldId id="446" r:id="rId36"/>
    <p:sldId id="445" r:id="rId37"/>
    <p:sldId id="455" r:id="rId38"/>
    <p:sldId id="456" r:id="rId39"/>
    <p:sldId id="457" r:id="rId40"/>
    <p:sldId id="581" r:id="rId41"/>
    <p:sldId id="458" r:id="rId42"/>
    <p:sldId id="459" r:id="rId43"/>
    <p:sldId id="460" r:id="rId44"/>
    <p:sldId id="461" r:id="rId45"/>
    <p:sldId id="462" r:id="rId46"/>
    <p:sldId id="463" r:id="rId47"/>
    <p:sldId id="464" r:id="rId48"/>
    <p:sldId id="294" r:id="rId49"/>
    <p:sldId id="295" r:id="rId50"/>
    <p:sldId id="582" r:id="rId51"/>
    <p:sldId id="296" r:id="rId52"/>
    <p:sldId id="553" r:id="rId53"/>
    <p:sldId id="297" r:id="rId54"/>
    <p:sldId id="554" r:id="rId55"/>
    <p:sldId id="555" r:id="rId56"/>
    <p:sldId id="556" r:id="rId57"/>
    <p:sldId id="558" r:id="rId58"/>
    <p:sldId id="559" r:id="rId59"/>
    <p:sldId id="560" r:id="rId60"/>
    <p:sldId id="561" r:id="rId61"/>
    <p:sldId id="562" r:id="rId62"/>
    <p:sldId id="465" r:id="rId63"/>
    <p:sldId id="466" r:id="rId64"/>
    <p:sldId id="579" r:id="rId65"/>
    <p:sldId id="539" r:id="rId66"/>
    <p:sldId id="540" r:id="rId67"/>
    <p:sldId id="541" r:id="rId68"/>
    <p:sldId id="542" r:id="rId69"/>
    <p:sldId id="543" r:id="rId70"/>
    <p:sldId id="544" r:id="rId71"/>
    <p:sldId id="545" r:id="rId72"/>
    <p:sldId id="546" r:id="rId73"/>
    <p:sldId id="468" r:id="rId74"/>
    <p:sldId id="469" r:id="rId75"/>
    <p:sldId id="298" r:id="rId76"/>
    <p:sldId id="299" r:id="rId77"/>
    <p:sldId id="284" r:id="rId78"/>
    <p:sldId id="279"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U" initials="C"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317" autoAdjust="0"/>
    <p:restoredTop sz="94660"/>
  </p:normalViewPr>
  <p:slideViewPr>
    <p:cSldViewPr snapToGrid="0">
      <p:cViewPr varScale="1">
        <p:scale>
          <a:sx n="65" d="100"/>
          <a:sy n="65" d="100"/>
        </p:scale>
        <p:origin x="600" y="66"/>
      </p:cViewPr>
      <p:guideLst/>
    </p:cSldViewPr>
  </p:slideViewPr>
  <p:notesTextViewPr>
    <p:cViewPr>
      <p:scale>
        <a:sx n="3" d="2"/>
        <a:sy n="3" d="2"/>
      </p:scale>
      <p:origin x="-6" y="-18"/>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theme" Target="theme/theme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61" Type="http://schemas.openxmlformats.org/officeDocument/2006/relationships/slide" Target="slides/slide59.xml"/><Relationship Id="rId82"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05-02T13:02:27.208" idx="1">
    <p:pos x="10" y="10"/>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962FA2-C996-4D9D-A358-FD4E9DC4D022}" type="datetimeFigureOut">
              <a:rPr lang="en-IN" smtClean="0"/>
              <a:t>16-10-2025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CD9F31-B2BE-4940-84CF-33910A1DD6E8}"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t>7</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3ED2120-49A2-400F-B8C8-26FFF09FA081}" type="datetime1">
              <a:rPr lang="en-IN" smtClean="0"/>
              <a:t>16-10-2025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DDD3DC3-77B8-45CA-BA61-8C8A4192F575}" type="datetime1">
              <a:rPr lang="en-IN" smtClean="0"/>
              <a:t>16-10-2025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BB8C2C-9C8A-4684-810B-E57DD48CB502}" type="datetime1">
              <a:rPr lang="en-IN" smtClean="0"/>
              <a:t>16-10-2025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1F87085-630F-4EB1-BDDC-9BBF2734D804}" type="datetime1">
              <a:rPr lang="en-IN" smtClean="0"/>
              <a:t>16-10-2025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CA2FE1D-21E2-4DA2-B859-5B19B62EFE4B}" type="datetime1">
              <a:rPr lang="en-IN" smtClean="0"/>
              <a:t>16-10-2025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097FC029-134F-4411-AEC2-CC1D77A78955}" type="datetime1">
              <a:rPr lang="en-IN" smtClean="0"/>
              <a:t>16-10-2025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2AB72E-0CDE-4155-BD23-DE259C1689C5}" type="datetime1">
              <a:rPr lang="en-IN" smtClean="0"/>
              <a:t>16-10-2025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AF5BCB-F407-4D31-BA30-2FDD84777677}" type="datetime1">
              <a:rPr lang="en-IN" smtClean="0"/>
              <a:t>16-10-2025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0750075-DB03-4FC1-BA6F-B0898AC7E720}" type="datetime1">
              <a:rPr lang="en-IN" smtClean="0"/>
              <a:t>16-10-2025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AC479AC-924C-4D57-9C64-D60E839C7E19}" type="datetime1">
              <a:rPr lang="en-IN" smtClean="0"/>
              <a:t>16-10-2025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A1EF2A4-9873-473A-B0D2-255A1809B208}" type="datetime1">
              <a:rPr lang="en-IN" smtClean="0"/>
              <a:t>16-10-2025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6313"/>
            <a:ext cx="9144000" cy="2387600"/>
          </a:xfrm>
          <a:prstGeom prst="rect">
            <a:avLst/>
          </a:prstGeom>
        </p:spPr>
        <p:txBody>
          <a:bodyPr anchor="b"/>
          <a:lstStyle>
            <a:lvl1pPr algn="ctr">
              <a:defRPr sz="6000"/>
            </a:lvl1pPr>
          </a:lstStyle>
          <a:p>
            <a:r>
              <a:rPr lang="en-US"/>
              <a:t>Click to edit Master title style</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a:defRPr kumimoji="0" lang="en-US" altLang="en-US" sz="1800" b="1" i="0" u="none" strike="noStrike" kern="1200" cap="none" spc="0" normalizeH="0" baseline="0" noProof="0" smtClean="0">
                <a:ln>
                  <a:noFill/>
                </a:ln>
                <a:solidFill>
                  <a:prstClr val="white"/>
                </a:solidFill>
                <a:effectLst/>
                <a:uLnTx/>
                <a:uFillTx/>
                <a:latin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AFA1D54-BB41-49C1-92E7-B3BFFC19DBC1}" type="datetime1">
              <a:rPr kumimoji="0" lang="en-IN" altLang="en-US" sz="1800" b="1" i="0" u="none" strike="noStrike" kern="1200" cap="none" spc="0" normalizeH="0" baseline="0" noProof="0" smtClean="0">
                <a:ln>
                  <a:noFill/>
                </a:ln>
                <a:solidFill>
                  <a:prstClr val="white"/>
                </a:solidFill>
                <a:effectLst/>
                <a:uLnTx/>
                <a:uFillTx/>
                <a:latin typeface="Calibri" panose="020F0502020204030204" pitchFamily="34" charset="0"/>
                <a:ea typeface="+mn-ea"/>
                <a:cs typeface="+mn-cs"/>
              </a:rPr>
              <a:t>16-10-2025</a:t>
            </a:fld>
            <a:endParaRPr kumimoji="0" lang="en-IN" altLang="en-US"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FD231AE-402A-4394-B01A-F986496EE090}" type="slidenum">
              <a:rPr kumimoji="0" lang="en-IN" sz="1800" b="0" i="0" u="none" strike="noStrike" kern="1200" cap="none" spc="0" normalizeH="0" baseline="0" noProof="0" smtClean="0">
                <a:ln>
                  <a:noFill/>
                </a:ln>
                <a:solidFill>
                  <a:prstClr val="black"/>
                </a:solidFill>
                <a:effectLst/>
                <a:uLnTx/>
                <a:uFillTx/>
                <a:latin typeface="Calibri" panose="020F0502020204030204"/>
                <a:ea typeface="+mn-ea"/>
                <a:cs typeface="+mn-cs"/>
              </a:rPr>
              <a:t>‹#›</a:t>
            </a:fld>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51DE6C7-9F78-4D01-A165-A27F83493D87}" type="datetime1">
              <a:rPr lang="en-IN" smtClean="0">
                <a:solidFill>
                  <a:prstClr val="black">
                    <a:tint val="75000"/>
                  </a:prstClr>
                </a:solidFill>
              </a:rPr>
              <a:t>16-10-2025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FCCCA92-FD60-4EE4-A613-BD692BB445EA}" type="datetime1">
              <a:rPr lang="en-IN" smtClean="0"/>
              <a:t>16-10-2025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BCCF61-4844-40CD-B14C-46E1ADFBF427}" type="datetime1">
              <a:rPr lang="en-IN" smtClean="0"/>
              <a:t>16-10-2025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9FAA0B-0E94-4505-91B2-2EA39BC64FBA}" type="datetime1">
              <a:rPr lang="en-IN" smtClean="0"/>
              <a:t>16-10-2025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6BE2B3B-D391-4522-B615-B96DD6ED6AB2}" type="datetime1">
              <a:rPr lang="en-IN" smtClean="0"/>
              <a:t>16-10-2025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C6FF987-B3D0-4D22-9D84-BD63FFF843AA}" type="datetime1">
              <a:rPr lang="en-IN" smtClean="0"/>
              <a:t>16-10-2025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180F2EB-C3ED-4EA1-B540-D5BA9FD5767F}" type="datetime1">
              <a:rPr lang="en-IN" smtClean="0"/>
              <a:t>16-10-2025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604E8E-540B-47B6-8CCB-528EED7ED2B9}" type="datetime1">
              <a:rPr lang="en-IN" smtClean="0"/>
              <a:t>16-10-2025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BCBD77-7E25-4696-BA34-7A7D5D7C2164}" type="datetime1">
              <a:rPr lang="en-IN" smtClean="0"/>
              <a:t>16-10-2025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518EFA-9003-4777-A85A-B31FFE54E871}" type="datetime1">
              <a:rPr lang="en-IN" smtClean="0"/>
              <a:t>16-10-2025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BFDF51-648B-48B1-B8E5-9146DB38CC53}" type="datetime1">
              <a:rPr lang="en-IN" smtClean="0"/>
              <a:t>16-10-2025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E38EAF-824F-4917-A7C4-BF0BAA77286A}" type="datetime1">
              <a:rPr lang="en-IN" smtClean="0"/>
              <a:t>16-10-2025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1" fmla="*/ 19050 w 12211050"/>
              <a:gd name="connsiteY0-2" fmla="*/ 0 h 4133850"/>
              <a:gd name="connsiteX1-3" fmla="*/ 12211050 w 12211050"/>
              <a:gd name="connsiteY1-4" fmla="*/ 0 h 4133850"/>
              <a:gd name="connsiteX2-5" fmla="*/ 12211050 w 12211050"/>
              <a:gd name="connsiteY2-6" fmla="*/ 4133850 h 4133850"/>
              <a:gd name="connsiteX3-7" fmla="*/ 0 w 12211050"/>
              <a:gd name="connsiteY3-8" fmla="*/ 3219450 h 4133850"/>
              <a:gd name="connsiteX4-9" fmla="*/ 19050 w 12211050"/>
              <a:gd name="connsiteY4-10" fmla="*/ 0 h 4133850"/>
              <a:gd name="connsiteX0-11" fmla="*/ 19050 w 12211050"/>
              <a:gd name="connsiteY0-12" fmla="*/ 0 h 4438650"/>
              <a:gd name="connsiteX1-13" fmla="*/ 12211050 w 12211050"/>
              <a:gd name="connsiteY1-14" fmla="*/ 0 h 4438650"/>
              <a:gd name="connsiteX2-15" fmla="*/ 12211050 w 12211050"/>
              <a:gd name="connsiteY2-16" fmla="*/ 4438650 h 4438650"/>
              <a:gd name="connsiteX3-17" fmla="*/ 0 w 12211050"/>
              <a:gd name="connsiteY3-18" fmla="*/ 3219450 h 4438650"/>
              <a:gd name="connsiteX4-19" fmla="*/ 19050 w 12211050"/>
              <a:gd name="connsiteY4-20" fmla="*/ 0 h 44386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2645832-1DB9-4726-860E-23D8A6329669}" type="datetime1">
              <a:rPr lang="en-IN" smtClean="0">
                <a:solidFill>
                  <a:prstClr val="black">
                    <a:tint val="75000"/>
                  </a:prstClr>
                </a:solidFill>
              </a:rPr>
              <a:t>16-10-2025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6313"/>
            <a:ext cx="9144000" cy="2387600"/>
          </a:xfrm>
          <a:prstGeom prst="rect">
            <a:avLst/>
          </a:prstGeom>
        </p:spPr>
        <p:txBody>
          <a:bodyPr anchor="b"/>
          <a:lstStyle>
            <a:lvl1pPr algn="ctr">
              <a:defRPr sz="6000"/>
            </a:lvl1pPr>
          </a:lstStyle>
          <a:p>
            <a:r>
              <a:rPr lang="en-US"/>
              <a:t>Click to edit Master title style</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a:defRPr kumimoji="0" lang="en-US" altLang="en-US" sz="1800" b="1" i="0" u="none" strike="noStrike" kern="1200" cap="none" spc="0" normalizeH="0" baseline="0" noProof="0" smtClean="0">
                <a:ln>
                  <a:noFill/>
                </a:ln>
                <a:solidFill>
                  <a:prstClr val="white"/>
                </a:solidFill>
                <a:effectLst/>
                <a:uLnTx/>
                <a:uFillTx/>
                <a:latin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FAAAC2D-4EAC-4510-9F6F-1F65A171AFA9}" type="datetime1">
              <a:rPr kumimoji="0" lang="en-IN" altLang="en-US" sz="1800" b="1" i="0" u="none" strike="noStrike" kern="1200" cap="none" spc="0" normalizeH="0" baseline="0" noProof="0" smtClean="0">
                <a:ln>
                  <a:noFill/>
                </a:ln>
                <a:solidFill>
                  <a:prstClr val="white"/>
                </a:solidFill>
                <a:effectLst/>
                <a:uLnTx/>
                <a:uFillTx/>
                <a:latin typeface="Calibri" panose="020F0502020204030204" pitchFamily="34" charset="0"/>
                <a:ea typeface="+mn-ea"/>
                <a:cs typeface="+mn-cs"/>
              </a:rPr>
              <a:t>16-10-2025</a:t>
            </a:fld>
            <a:endParaRPr kumimoji="0" lang="en-IN" altLang="en-US"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FD231AE-402A-4394-B01A-F986496EE090}" type="slidenum">
              <a:rPr kumimoji="0" lang="en-IN" sz="1800" b="0" i="0" u="none" strike="noStrike" kern="1200" cap="none" spc="0" normalizeH="0" baseline="0" noProof="0" smtClean="0">
                <a:ln>
                  <a:noFill/>
                </a:ln>
                <a:solidFill>
                  <a:prstClr val="black"/>
                </a:solidFill>
                <a:effectLst/>
                <a:uLnTx/>
                <a:uFillTx/>
                <a:latin typeface="Calibri" panose="020F0502020204030204"/>
                <a:ea typeface="+mn-ea"/>
                <a:cs typeface="+mn-cs"/>
              </a:rPr>
              <a:t>‹#›</a:t>
            </a:fld>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605DDE71-BC80-4F4D-B385-5050999CD606}" type="datetime1">
              <a:rPr lang="en-US"/>
              <a:t>10/16/2025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9" name="Title 1"/>
          <p:cNvSpPr txBox="1"/>
          <p:nvPr userDrawn="1"/>
        </p:nvSpPr>
        <p:spPr bwMode="auto">
          <a:xfrm>
            <a:off x="922338" y="115888"/>
            <a:ext cx="835814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rmAutofit fontScale="97500"/>
          </a:bodyPr>
          <a:lstStyle/>
          <a:p>
            <a:pPr marL="0" marR="0" lvl="0" indent="0" algn="just" defTabSz="914400" rtl="0" eaLnBrk="0" fontAlgn="base" latinLnBrk="0" hangingPunct="0">
              <a:lnSpc>
                <a:spcPct val="90000"/>
              </a:lnSpc>
              <a:spcBef>
                <a:spcPct val="0"/>
              </a:spcBef>
              <a:spcAft>
                <a:spcPct val="0"/>
              </a:spcAft>
              <a:buClrTx/>
              <a:buSzTx/>
              <a:buFontTx/>
              <a:buNone/>
              <a:defRPr/>
            </a:pPr>
            <a:r>
              <a:rPr kumimoji="0" lang="en-US" sz="44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4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9662615" y="40945"/>
            <a:ext cx="2515736" cy="682387"/>
          </a:xfrm>
          <a:prstGeom prst="rect">
            <a:avLst/>
          </a:prstGeom>
          <a:noFill/>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605DDE71-BC80-4F4D-B385-5050999CD606}" type="datetime1">
              <a:rPr lang="en-US"/>
              <a:t>10/16/2025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9" name="Title 1"/>
          <p:cNvSpPr txBox="1"/>
          <p:nvPr userDrawn="1"/>
        </p:nvSpPr>
        <p:spPr bwMode="auto">
          <a:xfrm>
            <a:off x="922338" y="115888"/>
            <a:ext cx="835814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rmAutofit fontScale="97500"/>
          </a:bodyPr>
          <a:lstStyle/>
          <a:p>
            <a:pPr marL="0" marR="0" lvl="0" indent="0" algn="just" defTabSz="914400" rtl="0" eaLnBrk="0" fontAlgn="base" latinLnBrk="0" hangingPunct="0">
              <a:lnSpc>
                <a:spcPct val="90000"/>
              </a:lnSpc>
              <a:spcBef>
                <a:spcPct val="0"/>
              </a:spcBef>
              <a:spcAft>
                <a:spcPct val="0"/>
              </a:spcAft>
              <a:buClrTx/>
              <a:buSzTx/>
              <a:buFontTx/>
              <a:buNone/>
              <a:defRPr/>
            </a:pPr>
            <a:r>
              <a:rPr kumimoji="0" lang="en-US" sz="44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4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9662615" y="40945"/>
            <a:ext cx="2515736" cy="682387"/>
          </a:xfrm>
          <a:prstGeom prst="rect">
            <a:avLst/>
          </a:prstGeom>
          <a:noFill/>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605DDE71-BC80-4F4D-B385-5050999CD606}" type="datetime1">
              <a:rPr lang="en-US"/>
              <a:t>10/16/2025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9" name="Title 1"/>
          <p:cNvSpPr txBox="1"/>
          <p:nvPr userDrawn="1"/>
        </p:nvSpPr>
        <p:spPr bwMode="auto">
          <a:xfrm>
            <a:off x="922338" y="115888"/>
            <a:ext cx="835814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rmAutofit fontScale="97500"/>
          </a:bodyPr>
          <a:lstStyle/>
          <a:p>
            <a:pPr marL="0" marR="0" lvl="0" indent="0" algn="just" defTabSz="914400" rtl="0" eaLnBrk="0" fontAlgn="base" latinLnBrk="0" hangingPunct="0">
              <a:lnSpc>
                <a:spcPct val="90000"/>
              </a:lnSpc>
              <a:spcBef>
                <a:spcPct val="0"/>
              </a:spcBef>
              <a:spcAft>
                <a:spcPct val="0"/>
              </a:spcAft>
              <a:buClrTx/>
              <a:buSzTx/>
              <a:buFontTx/>
              <a:buNone/>
              <a:defRPr/>
            </a:pPr>
            <a:r>
              <a:rPr kumimoji="0" lang="en-US" sz="44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4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9662615" y="40945"/>
            <a:ext cx="2515736" cy="682387"/>
          </a:xfrm>
          <a:prstGeom prst="rect">
            <a:avLst/>
          </a:prstGeom>
          <a:noFill/>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19" Type="http://schemas.openxmlformats.org/officeDocument/2006/relationships/image" Target="../media/image1.png"/><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DE94C2-2163-46C2-B187-1EAD54B77E39}" type="datetime1">
              <a:rPr lang="en-IN" smtClean="0"/>
              <a:t>16-10-2025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0DEA4B-34B4-4AC2-B43A-8ADFF4CF648D}" type="slidenum">
              <a:rPr lang="en-IN" smtClean="0"/>
              <a:t>‹#›</a:t>
            </a:fld>
            <a:endParaRPr lang="en-IN"/>
          </a:p>
        </p:txBody>
      </p:sp>
      <p:sp>
        <p:nvSpPr>
          <p:cNvPr id="7" name="Rectangle 6"/>
          <p:cNvSpPr/>
          <p:nvPr userDrawn="1"/>
        </p:nvSpPr>
        <p:spPr>
          <a:xfrm>
            <a:off x="11029361" y="6356350"/>
            <a:ext cx="324439" cy="3651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F1F4AA-F870-4686-BD45-8368FDA01582}" type="datetime1">
              <a:rPr lang="en-IN" smtClean="0"/>
              <a:t>16-10-2025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t>‹#›</a:t>
            </a:fld>
            <a:endParaRPr lang="en-US"/>
          </a:p>
        </p:txBody>
      </p:sp>
      <p:sp>
        <p:nvSpPr>
          <p:cNvPr id="7" name="Rectangle 6"/>
          <p:cNvSpPr/>
          <p:nvPr userDrawn="1"/>
        </p:nvSpPr>
        <p:spPr>
          <a:xfrm>
            <a:off x="11076495" y="6356350"/>
            <a:ext cx="277305" cy="3651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9.wmf"/><Relationship Id="rId2" Type="http://schemas.openxmlformats.org/officeDocument/2006/relationships/oleObject" Target="../embeddings/oleObject1.bin"/><Relationship Id="rId1" Type="http://schemas.openxmlformats.org/officeDocument/2006/relationships/slideLayout" Target="../slideLayouts/slideLayout15.xml"/><Relationship Id="rId6" Type="http://schemas.openxmlformats.org/officeDocument/2006/relationships/oleObject" Target="../embeddings/oleObject3.bin"/><Relationship Id="rId5" Type="http://schemas.openxmlformats.org/officeDocument/2006/relationships/image" Target="../media/image8.wmf"/><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15.xml"/><Relationship Id="rId5" Type="http://schemas.openxmlformats.org/officeDocument/2006/relationships/image" Target="../media/image10.wmf"/><Relationship Id="rId4"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5.bin"/><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5.bin"/><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jpe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15.xml"/><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15.xml"/><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jpeg"/><Relationship Id="rId1" Type="http://schemas.openxmlformats.org/officeDocument/2006/relationships/slideLayout" Target="../slideLayouts/slideLayout15.xml"/><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5.xml"/><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4.png"/><Relationship Id="rId1" Type="http://schemas.openxmlformats.org/officeDocument/2006/relationships/slideLayout" Target="../slideLayouts/slideLayout15.xml"/><Relationship Id="rId5" Type="http://schemas.openxmlformats.org/officeDocument/2006/relationships/image" Target="../media/image35.png"/><Relationship Id="rId4" Type="http://schemas.openxmlformats.org/officeDocument/2006/relationships/image" Target="../media/image45.png"/></Relationships>
</file>

<file path=ppt/slides/_rels/slide4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2" Type="http://schemas.openxmlformats.org/officeDocument/2006/relationships/image" Target="../media/image48.bin"/><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2" Type="http://schemas.openxmlformats.org/officeDocument/2006/relationships/image" Target="../media/image49.bin"/><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3" Type="http://schemas.openxmlformats.org/officeDocument/2006/relationships/image" Target="../media/image49.bin"/><Relationship Id="rId2" Type="http://schemas.openxmlformats.org/officeDocument/2006/relationships/image" Target="../media/image47.png"/><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3" Type="http://schemas.openxmlformats.org/officeDocument/2006/relationships/image" Target="../media/image49.bin"/><Relationship Id="rId2" Type="http://schemas.openxmlformats.org/officeDocument/2006/relationships/image" Target="../media/image47.png"/><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3" Type="http://schemas.openxmlformats.org/officeDocument/2006/relationships/image" Target="../media/image49.bin"/><Relationship Id="rId2" Type="http://schemas.openxmlformats.org/officeDocument/2006/relationships/image" Target="../media/image47.png"/><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0.bin"/><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5.xml"/></Relationships>
</file>

<file path=ppt/slides/_rels/slide6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7.xml"/></Relationships>
</file>

<file path=ppt/slides/_rels/slide7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7.xml"/></Relationships>
</file>

<file path=ppt/slides/_rels/slide7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56.png"/></Relationships>
</file>

<file path=ppt/slides/_rels/slide7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5.xml"/></Relationships>
</file>

<file path=ppt/slides/_rels/slide7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5.xml"/></Relationships>
</file>

<file path=ppt/slides/_rels/slide74.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15.xml"/></Relationships>
</file>

<file path=ppt/slides/_rels/slide7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9702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459213" y="6014156"/>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UNIT-3</a:t>
            </a:r>
          </a:p>
          <a:p>
            <a:pPr eaLnBrk="1" hangingPunct="1"/>
            <a:endParaRPr lang="en-US" sz="1600" dirty="0">
              <a:latin typeface="Raleway ExtraBold" pitchFamily="34" charset="-52"/>
            </a:endParaRPr>
          </a:p>
        </p:txBody>
      </p:sp>
      <p:sp>
        <p:nvSpPr>
          <p:cNvPr id="26" name="TextBox 25"/>
          <p:cNvSpPr txBox="1">
            <a:spLocks noChangeArrowheads="1"/>
          </p:cNvSpPr>
          <p:nvPr/>
        </p:nvSpPr>
        <p:spPr bwMode="auto">
          <a:xfrm>
            <a:off x="1238250" y="1640959"/>
            <a:ext cx="9715499" cy="4416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Times New Roman" panose="02020603050405020304" pitchFamily="18" charset="0"/>
                <a:ea typeface="Karla" pitchFamily="2" charset="0"/>
                <a:cs typeface="Times New Roman" panose="02020603050405020304" pitchFamily="18" charset="0"/>
              </a:rPr>
              <a:t>UNIVERSITY INSTITUTE OF COMPUTING</a:t>
            </a:r>
          </a:p>
          <a:p>
            <a:pPr lvl="0" algn="ctr" defTabSz="622300">
              <a:lnSpc>
                <a:spcPct val="90000"/>
              </a:lnSpc>
              <a:spcBef>
                <a:spcPct val="0"/>
              </a:spcBef>
              <a:spcAft>
                <a:spcPct val="35000"/>
              </a:spcAft>
            </a:pPr>
            <a:r>
              <a:rPr lang="en-US" sz="2800" b="1" dirty="0">
                <a:latin typeface="Times New Roman" panose="02020603050405020304" pitchFamily="18" charset="0"/>
                <a:ea typeface="Calibri" panose="020F0502020204030204" pitchFamily="34" charset="0"/>
                <a:cs typeface="Times New Roman" panose="02020603050405020304" pitchFamily="18" charset="0"/>
              </a:rPr>
              <a:t>MASTER OF COMPUTER APPLICATIONS</a:t>
            </a:r>
          </a:p>
          <a:p>
            <a:pPr lvl="0" algn="ctr" defTabSz="622300">
              <a:lnSpc>
                <a:spcPct val="90000"/>
              </a:lnSpc>
              <a:spcBef>
                <a:spcPct val="0"/>
              </a:spcBef>
              <a:spcAft>
                <a:spcPct val="35000"/>
              </a:spcAft>
            </a:pPr>
            <a:r>
              <a:rPr lang="en-US" sz="2400" b="1" dirty="0">
                <a:latin typeface="Times New Roman" panose="02020603050405020304" pitchFamily="18" charset="0"/>
                <a:ea typeface="Calibri" panose="020F0502020204030204" pitchFamily="34" charset="0"/>
                <a:cs typeface="Times New Roman" panose="02020603050405020304" pitchFamily="18" charset="0"/>
              </a:rPr>
              <a:t>DESIGN AND ANALYSIS OF ALGORITHMS </a:t>
            </a:r>
          </a:p>
          <a:p>
            <a:pPr lvl="0" algn="ctr" defTabSz="622300">
              <a:lnSpc>
                <a:spcPct val="90000"/>
              </a:lnSpc>
              <a:spcBef>
                <a:spcPct val="0"/>
              </a:spcBef>
              <a:spcAft>
                <a:spcPct val="35000"/>
              </a:spcAft>
            </a:pPr>
            <a:endParaRPr lang="en-US" sz="2400" b="1"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C60DEA4B-34B4-4AC2-B43A-8ADFF4CF648D}" type="slidenum">
              <a:rPr lang="en-IN" smtClean="0"/>
              <a:t>1</a:t>
            </a:fld>
            <a:endParaRPr lang="en-IN"/>
          </a:p>
        </p:txBody>
      </p:sp>
      <p:pic>
        <p:nvPicPr>
          <p:cNvPr id="14" name="Picture 13"/>
          <p:cNvPicPr>
            <a:picLocks noChangeAspect="1"/>
          </p:cNvPicPr>
          <p:nvPr/>
        </p:nvPicPr>
        <p:blipFill>
          <a:blip r:embed="rId2" cstate="print">
            <a:extLst>
              <a:ext uri="{BEBA8EAE-BF5A-486C-A8C5-ECC9F3942E4B}">
                <a14:imgProps xmlns:a14="http://schemas.microsoft.com/office/drawing/2010/main">
                  <a14:imgLayer r:embed="rId3">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22893" y="-4121"/>
            <a:ext cx="3859753" cy="1538254"/>
          </a:xfrm>
          <a:prstGeom prst="rect">
            <a:avLst/>
          </a:prstGeom>
        </p:spPr>
      </p:pic>
      <p:pic>
        <p:nvPicPr>
          <p:cNvPr id="1141" name="Picture 117"/>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50800" y="2781300"/>
            <a:ext cx="3302000" cy="313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2608" y="1248212"/>
            <a:ext cx="11223516" cy="4900339"/>
          </a:xfrm>
          <a:ln>
            <a:solidFill>
              <a:schemeClr val="tx1"/>
            </a:solidFill>
          </a:ln>
        </p:spPr>
        <p:txBody>
          <a:bodyPr>
            <a:normAutofit/>
          </a:bodyPr>
          <a:lstStyle/>
          <a:p>
            <a:pPr algn="just"/>
            <a:r>
              <a:rPr lang="en-US" sz="2400" dirty="0">
                <a:latin typeface="Times New Roman" panose="02020603050405020304" pitchFamily="18" charset="0"/>
                <a:cs typeface="Times New Roman" panose="02020603050405020304" pitchFamily="18" charset="0"/>
              </a:rPr>
              <a:t>Dynamic Programming is a general algorithm design technique for solving problems defined by or formulated as recurrences with overlapping sub instances. </a:t>
            </a:r>
          </a:p>
          <a:p>
            <a:pPr algn="just"/>
            <a:r>
              <a:rPr lang="en-US" sz="2400" dirty="0">
                <a:latin typeface="Times New Roman" panose="02020603050405020304" pitchFamily="18" charset="0"/>
                <a:cs typeface="Times New Roman" panose="02020603050405020304" pitchFamily="18" charset="0"/>
              </a:rPr>
              <a:t>Invented by American mathematician Richard Bellman in the 1950s to solve optimization problems.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Main idea: </a:t>
            </a:r>
          </a:p>
          <a:p>
            <a:r>
              <a:rPr lang="en-US" sz="2400" dirty="0">
                <a:latin typeface="Times New Roman" panose="02020603050405020304" pitchFamily="18" charset="0"/>
                <a:cs typeface="Times New Roman" panose="02020603050405020304" pitchFamily="18" charset="0"/>
              </a:rPr>
              <a:t>set up a recurrence relating a solution to a larger instance to solutions of some smaller instances </a:t>
            </a:r>
          </a:p>
          <a:p>
            <a:r>
              <a:rPr lang="en-US" sz="2400" dirty="0">
                <a:latin typeface="Times New Roman" panose="02020603050405020304" pitchFamily="18" charset="0"/>
                <a:cs typeface="Times New Roman" panose="02020603050405020304" pitchFamily="18" charset="0"/>
              </a:rPr>
              <a:t>solve smaller instances once </a:t>
            </a:r>
          </a:p>
          <a:p>
            <a:r>
              <a:rPr lang="en-US" sz="2400" dirty="0">
                <a:latin typeface="Times New Roman" panose="02020603050405020304" pitchFamily="18" charset="0"/>
                <a:cs typeface="Times New Roman" panose="02020603050405020304" pitchFamily="18" charset="0"/>
              </a:rPr>
              <a:t>record solutions in a table </a:t>
            </a:r>
          </a:p>
          <a:p>
            <a:r>
              <a:rPr lang="en-US" sz="2400" dirty="0">
                <a:latin typeface="Times New Roman" panose="02020603050405020304" pitchFamily="18" charset="0"/>
                <a:cs typeface="Times New Roman" panose="02020603050405020304" pitchFamily="18" charset="0"/>
              </a:rPr>
              <a:t>extract solution to the initial instance from that table </a:t>
            </a: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4294967295"/>
          </p:nvPr>
        </p:nvSpPr>
        <p:spPr>
          <a:xfrm>
            <a:off x="9448800" y="6356350"/>
            <a:ext cx="2743200" cy="365125"/>
          </a:xfrm>
        </p:spPr>
        <p:txBody>
          <a:bodyPr/>
          <a:lstStyle/>
          <a:p>
            <a:pPr>
              <a:defRPr/>
            </a:pPr>
            <a:fld id="{E91321DF-4391-4A0E-9FFF-793DE4722964}" type="slidenum">
              <a:rPr lang="en-IN" altLang="en-US" smtClean="0"/>
              <a:t>2</a:t>
            </a:fld>
            <a:endParaRPr lang="en-IN" altLang="en-US"/>
          </a:p>
        </p:txBody>
      </p:sp>
      <p:sp>
        <p:nvSpPr>
          <p:cNvPr id="6" name="Title 1"/>
          <p:cNvSpPr txBox="1"/>
          <p:nvPr/>
        </p:nvSpPr>
        <p:spPr>
          <a:xfrm>
            <a:off x="838200" y="121822"/>
            <a:ext cx="8478078" cy="984852"/>
          </a:xfrm>
          <a:prstGeom prst="rect">
            <a:avLst/>
          </a:prstGeom>
          <a:ln>
            <a:solidFill>
              <a:schemeClr val="tx1"/>
            </a:solidFill>
          </a:ln>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latin typeface="Times New Roman" panose="02020603050405020304" pitchFamily="18" charset="0"/>
                <a:cs typeface="Times New Roman" panose="02020603050405020304" pitchFamily="18" charset="0"/>
              </a:rPr>
              <a:t>Dynamic Programming</a:t>
            </a:r>
            <a:endParaRPr 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53"/>
            <a:ext cx="8478078" cy="1279527"/>
          </a:xfrm>
        </p:spPr>
        <p:txBody>
          <a:bodyPr/>
          <a:lstStyle/>
          <a:p>
            <a:pPr algn="ctr"/>
            <a:r>
              <a:rPr lang="en-US" b="1" dirty="0">
                <a:latin typeface="Times New Roman" panose="02020603050405020304" pitchFamily="18" charset="0"/>
                <a:cs typeface="Times New Roman" panose="02020603050405020304" pitchFamily="18" charset="0"/>
              </a:rPr>
              <a:t>Dynamic Programming</a:t>
            </a:r>
            <a:endParaRPr lang="en-US" dirty="0"/>
          </a:p>
        </p:txBody>
      </p:sp>
      <p:sp>
        <p:nvSpPr>
          <p:cNvPr id="3" name="Content Placeholder 2"/>
          <p:cNvSpPr>
            <a:spLocks noGrp="1"/>
          </p:cNvSpPr>
          <p:nvPr>
            <p:ph idx="1"/>
          </p:nvPr>
        </p:nvSpPr>
        <p:spPr>
          <a:xfrm>
            <a:off x="838200" y="1409353"/>
            <a:ext cx="10515600" cy="5088286"/>
          </a:xfrm>
        </p:spPr>
        <p:txBody>
          <a:bodyPr>
            <a:normAutofit lnSpcReduction="10000"/>
          </a:bodyPr>
          <a:lstStyle/>
          <a:p>
            <a:pPr lvl="1" algn="just">
              <a:lnSpc>
                <a:spcPct val="120000"/>
              </a:lnSpc>
            </a:pPr>
            <a:r>
              <a:rPr lang="en-US" dirty="0">
                <a:latin typeface="Times New Roman" panose="02020603050405020304" pitchFamily="18" charset="0"/>
                <a:cs typeface="Times New Roman" panose="02020603050405020304" pitchFamily="18" charset="0"/>
              </a:rPr>
              <a:t>Dynamic Programming is an algorithm design technique for optimization problems: often minimizing or maximizing.</a:t>
            </a:r>
          </a:p>
          <a:p>
            <a:pPr lvl="1" algn="just">
              <a:lnSpc>
                <a:spcPct val="120000"/>
              </a:lnSpc>
            </a:pPr>
            <a:r>
              <a:rPr lang="en-US" dirty="0">
                <a:latin typeface="Times New Roman" panose="02020603050405020304" pitchFamily="18" charset="0"/>
                <a:cs typeface="Times New Roman" panose="02020603050405020304" pitchFamily="18" charset="0"/>
              </a:rPr>
              <a:t>Like divide and conquer, DP solves problems by combining solutions to sub problems.</a:t>
            </a:r>
          </a:p>
          <a:p>
            <a:pPr lvl="1" algn="just">
              <a:lnSpc>
                <a:spcPct val="120000"/>
              </a:lnSpc>
            </a:pPr>
            <a:r>
              <a:rPr lang="en-US" dirty="0">
                <a:latin typeface="Times New Roman" panose="02020603050405020304" pitchFamily="18" charset="0"/>
                <a:cs typeface="Times New Roman" panose="02020603050405020304" pitchFamily="18" charset="0"/>
              </a:rPr>
              <a:t>Unlike divide and conquer, sub problems are not independent.</a:t>
            </a:r>
          </a:p>
          <a:p>
            <a:pPr lvl="1" algn="just">
              <a:lnSpc>
                <a:spcPct val="120000"/>
              </a:lnSpc>
            </a:pPr>
            <a:r>
              <a:rPr lang="en-US" dirty="0">
                <a:latin typeface="Times New Roman" panose="02020603050405020304" pitchFamily="18" charset="0"/>
                <a:cs typeface="Times New Roman" panose="02020603050405020304" pitchFamily="18" charset="0"/>
              </a:rPr>
              <a:t>Sub problems may share sub problems, However, solution to one sub problem may not affect the solutions to other sub problems of the same problem.</a:t>
            </a:r>
          </a:p>
          <a:p>
            <a:pPr lvl="1" algn="just">
              <a:lnSpc>
                <a:spcPct val="120000"/>
              </a:lnSpc>
            </a:pPr>
            <a:r>
              <a:rPr lang="en-US" dirty="0">
                <a:latin typeface="Times New Roman" panose="02020603050405020304" pitchFamily="18" charset="0"/>
                <a:cs typeface="Times New Roman" panose="02020603050405020304" pitchFamily="18" charset="0"/>
              </a:rPr>
              <a:t>DP reduces computation by:</a:t>
            </a:r>
          </a:p>
          <a:p>
            <a:pPr lvl="2" algn="just">
              <a:lnSpc>
                <a:spcPct val="120000"/>
              </a:lnSpc>
            </a:pPr>
            <a:r>
              <a:rPr lang="en-US" sz="2400" dirty="0">
                <a:latin typeface="Times New Roman" panose="02020603050405020304" pitchFamily="18" charset="0"/>
                <a:cs typeface="Times New Roman" panose="02020603050405020304" pitchFamily="18" charset="0"/>
              </a:rPr>
              <a:t>Solving sub problems in a bottom-up fashion.</a:t>
            </a:r>
          </a:p>
          <a:p>
            <a:pPr lvl="2" algn="just">
              <a:lnSpc>
                <a:spcPct val="120000"/>
              </a:lnSpc>
            </a:pPr>
            <a:r>
              <a:rPr lang="en-US" sz="2400" dirty="0">
                <a:latin typeface="Times New Roman" panose="02020603050405020304" pitchFamily="18" charset="0"/>
                <a:cs typeface="Times New Roman" panose="02020603050405020304" pitchFamily="18" charset="0"/>
              </a:rPr>
              <a:t>Storing solution to a sub problem the first time it is solved.</a:t>
            </a:r>
          </a:p>
          <a:p>
            <a:pPr lvl="2" algn="just">
              <a:lnSpc>
                <a:spcPct val="120000"/>
              </a:lnSpc>
            </a:pPr>
            <a:r>
              <a:rPr lang="en-US" sz="2400" dirty="0">
                <a:latin typeface="Times New Roman" panose="02020603050405020304" pitchFamily="18" charset="0"/>
                <a:cs typeface="Times New Roman" panose="02020603050405020304" pitchFamily="18" charset="0"/>
              </a:rPr>
              <a:t>Looking up the solution when sub problem is encountered again.</a:t>
            </a:r>
          </a:p>
        </p:txBody>
      </p:sp>
      <p:sp>
        <p:nvSpPr>
          <p:cNvPr id="4" name="Slide Number Placeholder 3"/>
          <p:cNvSpPr>
            <a:spLocks noGrp="1"/>
          </p:cNvSpPr>
          <p:nvPr>
            <p:ph type="sldNum" sz="quarter" idx="12"/>
          </p:nvPr>
        </p:nvSpPr>
        <p:spPr/>
        <p:txBody>
          <a:bodyPr/>
          <a:lstStyle/>
          <a:p>
            <a:fld id="{BDCDBBEF-AA6C-4BA6-85B2-A17D7F280E38}" type="slidenum">
              <a:rPr lang="en-US" smtClean="0"/>
              <a:t>3</a:t>
            </a:fld>
            <a:endParaRPr lang="en-US"/>
          </a:p>
        </p:txBody>
      </p:sp>
      <p:sp>
        <p:nvSpPr>
          <p:cNvPr id="5" name="Rectangle 4"/>
          <p:cNvSpPr/>
          <p:nvPr/>
        </p:nvSpPr>
        <p:spPr>
          <a:xfrm>
            <a:off x="838200" y="1372221"/>
            <a:ext cx="10515600" cy="512541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latin typeface="Times New Roman" panose="02020603050405020304" pitchFamily="18" charset="0"/>
              <a:cs typeface="Times New Roman" panose="02020603050405020304" pitchFamily="18" charset="0"/>
            </a:endParaRPr>
          </a:p>
        </p:txBody>
      </p:sp>
      <p:sp>
        <p:nvSpPr>
          <p:cNvPr id="6" name="Rectangle 5"/>
          <p:cNvSpPr/>
          <p:nvPr/>
        </p:nvSpPr>
        <p:spPr>
          <a:xfrm>
            <a:off x="838200" y="42308"/>
            <a:ext cx="8478078"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81214" y="136525"/>
            <a:ext cx="8866367" cy="938488"/>
          </a:xfrm>
          <a:ln>
            <a:solidFill>
              <a:schemeClr val="tx1"/>
            </a:solidFill>
          </a:ln>
        </p:spPr>
        <p:txBody>
          <a:bodyPr>
            <a:normAutofit fontScale="90000"/>
          </a:bodyPr>
          <a:lstStyle/>
          <a:p>
            <a:pPr algn="ctr" fontAlgn="base"/>
            <a:r>
              <a:rPr lang="en-US" sz="4000" b="1" dirty="0">
                <a:latin typeface="Times New Roman" panose="02020603050405020304" pitchFamily="18" charset="0"/>
                <a:cs typeface="Times New Roman" panose="02020603050405020304" pitchFamily="18" charset="0"/>
              </a:rPr>
              <a:t>Dynamic Programming VS. Other Approaches</a:t>
            </a:r>
          </a:p>
        </p:txBody>
      </p:sp>
      <p:sp>
        <p:nvSpPr>
          <p:cNvPr id="4" name="Slide Number Placeholder 3"/>
          <p:cNvSpPr>
            <a:spLocks noGrp="1"/>
          </p:cNvSpPr>
          <p:nvPr>
            <p:ph type="sldNum" sz="quarter" idx="4294967295"/>
          </p:nvPr>
        </p:nvSpPr>
        <p:spPr>
          <a:xfrm>
            <a:off x="9448800" y="6356350"/>
            <a:ext cx="2743200" cy="365125"/>
          </a:xfrm>
        </p:spPr>
        <p:txBody>
          <a:bodyPr/>
          <a:lstStyle/>
          <a:p>
            <a:pPr algn="just">
              <a:defRPr/>
            </a:pPr>
            <a:fld id="{E91321DF-4391-4A0E-9FFF-793DE4722964}" type="slidenum">
              <a:rPr lang="en-IN" altLang="en-US" smtClean="0"/>
              <a:t>4</a:t>
            </a:fld>
            <a:endParaRPr lang="en-IN" altLang="en-US"/>
          </a:p>
        </p:txBody>
      </p:sp>
      <p:sp>
        <p:nvSpPr>
          <p:cNvPr id="3" name="TextBox 2"/>
          <p:cNvSpPr txBox="1"/>
          <p:nvPr/>
        </p:nvSpPr>
        <p:spPr>
          <a:xfrm>
            <a:off x="781212" y="1258957"/>
            <a:ext cx="10668663" cy="1200329"/>
          </a:xfrm>
          <a:prstGeom prst="rect">
            <a:avLst/>
          </a:prstGeom>
          <a:noFill/>
          <a:ln>
            <a:solidFill>
              <a:schemeClr val="tx1"/>
            </a:solidFill>
          </a:ln>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Greedy Method</a:t>
            </a:r>
            <a:r>
              <a:rPr lang="en-US" sz="2400" dirty="0">
                <a:latin typeface="Times New Roman" panose="02020603050405020304" pitchFamily="18" charset="0"/>
                <a:cs typeface="Times New Roman" panose="02020603050405020304" pitchFamily="18" charset="0"/>
              </a:rPr>
              <a:t>—Only one decision sequence is ever generated.</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Dynamic Programming</a:t>
            </a:r>
            <a:r>
              <a:rPr lang="en-US" sz="2400" dirty="0">
                <a:latin typeface="Times New Roman" panose="02020603050405020304" pitchFamily="18" charset="0"/>
                <a:cs typeface="Times New Roman" panose="02020603050405020304" pitchFamily="18" charset="0"/>
              </a:rPr>
              <a:t>—Many decision sequences may be generated.</a:t>
            </a:r>
          </a:p>
        </p:txBody>
      </p:sp>
      <p:sp>
        <p:nvSpPr>
          <p:cNvPr id="5" name="TextBox 4"/>
          <p:cNvSpPr txBox="1"/>
          <p:nvPr/>
        </p:nvSpPr>
        <p:spPr>
          <a:xfrm>
            <a:off x="781212" y="2648280"/>
            <a:ext cx="10668663" cy="3785652"/>
          </a:xfrm>
          <a:prstGeom prst="rect">
            <a:avLst/>
          </a:prstGeom>
          <a:noFill/>
          <a:ln>
            <a:solidFill>
              <a:schemeClr val="tx1"/>
            </a:solidFill>
          </a:ln>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Divide and Conquer—</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Partition the problem into independent subproblems, solve the subproblems recursively and then combine their solutions to solve the original problem.</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Dynamic Programming– </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Applicable when the subproblems are not independent, that is, when subproblems share </a:t>
            </a:r>
            <a:r>
              <a:rPr lang="en-US" sz="2400" dirty="0" err="1">
                <a:latin typeface="Times New Roman" panose="02020603050405020304" pitchFamily="18" charset="0"/>
                <a:cs typeface="Times New Roman" panose="02020603050405020304" pitchFamily="18" charset="0"/>
              </a:rPr>
              <a:t>subsubproblems</a:t>
            </a:r>
            <a:r>
              <a:rPr lang="en-US" sz="2400"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Solve every </a:t>
            </a:r>
            <a:r>
              <a:rPr lang="en-US" sz="2400" dirty="0" err="1">
                <a:latin typeface="Times New Roman" panose="02020603050405020304" pitchFamily="18" charset="0"/>
                <a:cs typeface="Times New Roman" panose="02020603050405020304" pitchFamily="18" charset="0"/>
              </a:rPr>
              <a:t>subsubproblem</a:t>
            </a:r>
            <a:r>
              <a:rPr lang="en-US" sz="2400" dirty="0">
                <a:latin typeface="Times New Roman" panose="02020603050405020304" pitchFamily="18" charset="0"/>
                <a:cs typeface="Times New Roman" panose="02020603050405020304" pitchFamily="18" charset="0"/>
              </a:rPr>
              <a:t> just once and then saves its answer in a table, thereby avoiding the work of recomputing the answer every time the </a:t>
            </a:r>
            <a:r>
              <a:rPr lang="en-US" sz="2400" dirty="0" err="1">
                <a:latin typeface="Times New Roman" panose="02020603050405020304" pitchFamily="18" charset="0"/>
                <a:cs typeface="Times New Roman" panose="02020603050405020304" pitchFamily="18" charset="0"/>
              </a:rPr>
              <a:t>subsubproblem</a:t>
            </a:r>
            <a:r>
              <a:rPr lang="en-US" sz="2400" dirty="0">
                <a:latin typeface="Times New Roman" panose="02020603050405020304" pitchFamily="18" charset="0"/>
                <a:cs typeface="Times New Roman" panose="02020603050405020304" pitchFamily="18" charset="0"/>
              </a:rPr>
              <a:t> is encountered.</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53"/>
            <a:ext cx="8478078" cy="1279527"/>
          </a:xfrm>
        </p:spPr>
        <p:txBody>
          <a:bodyPr/>
          <a:lstStyle/>
          <a:p>
            <a:pPr algn="ctr"/>
            <a:r>
              <a:rPr lang="en-US" b="1" dirty="0">
                <a:latin typeface="Times New Roman" panose="02020603050405020304" pitchFamily="18" charset="0"/>
                <a:cs typeface="Times New Roman" panose="02020603050405020304" pitchFamily="18" charset="0"/>
              </a:rPr>
              <a:t>Dynamic Programming</a:t>
            </a:r>
            <a:endParaRPr lang="en-US" dirty="0"/>
          </a:p>
        </p:txBody>
      </p:sp>
      <p:sp>
        <p:nvSpPr>
          <p:cNvPr id="3" name="Content Placeholder 2"/>
          <p:cNvSpPr>
            <a:spLocks noGrp="1"/>
          </p:cNvSpPr>
          <p:nvPr>
            <p:ph idx="1"/>
          </p:nvPr>
        </p:nvSpPr>
        <p:spPr>
          <a:xfrm>
            <a:off x="838200" y="1409353"/>
            <a:ext cx="10515600" cy="5088286"/>
          </a:xfrm>
        </p:spPr>
        <p:txBody>
          <a:bodyPr>
            <a:normAutofit fontScale="92500"/>
          </a:bodyPr>
          <a:lstStyle/>
          <a:p>
            <a:pPr lvl="1" algn="just">
              <a:lnSpc>
                <a:spcPct val="120000"/>
              </a:lnSpc>
            </a:pPr>
            <a:r>
              <a:rPr lang="en-US" dirty="0">
                <a:latin typeface="Times New Roman" panose="02020603050405020304" pitchFamily="18" charset="0"/>
                <a:cs typeface="Times New Roman" panose="02020603050405020304" pitchFamily="18" charset="0"/>
              </a:rPr>
              <a:t>Dynamic programming is a technique that breaks the problems into sub-problems, and saves the result for future purposes so that we do not need to compute the result again.</a:t>
            </a:r>
          </a:p>
          <a:p>
            <a:pPr lvl="1" algn="just">
              <a:lnSpc>
                <a:spcPct val="120000"/>
              </a:lnSpc>
            </a:pPr>
            <a:r>
              <a:rPr lang="en-US" dirty="0">
                <a:latin typeface="Times New Roman" panose="02020603050405020304" pitchFamily="18" charset="0"/>
                <a:cs typeface="Times New Roman" panose="02020603050405020304" pitchFamily="18" charset="0"/>
              </a:rPr>
              <a:t>The subproblems are optimized to optimize the overall solution is known as optimal substructure property.</a:t>
            </a:r>
          </a:p>
          <a:p>
            <a:pPr lvl="1" algn="just">
              <a:lnSpc>
                <a:spcPct val="120000"/>
              </a:lnSpc>
            </a:pPr>
            <a:r>
              <a:rPr lang="en-US" dirty="0">
                <a:latin typeface="Times New Roman" panose="02020603050405020304" pitchFamily="18" charset="0"/>
                <a:cs typeface="Times New Roman" panose="02020603050405020304" pitchFamily="18" charset="0"/>
              </a:rPr>
              <a:t>The main use of dynamic programming is to solve optimization problems.</a:t>
            </a:r>
          </a:p>
          <a:p>
            <a:pPr lvl="1" algn="just">
              <a:lnSpc>
                <a:spcPct val="120000"/>
              </a:lnSpc>
            </a:pPr>
            <a:r>
              <a:rPr lang="en-US" dirty="0">
                <a:latin typeface="Times New Roman" panose="02020603050405020304" pitchFamily="18" charset="0"/>
                <a:cs typeface="Times New Roman" panose="02020603050405020304" pitchFamily="18" charset="0"/>
              </a:rPr>
              <a:t>The dynamic programming guarantees to find the optimal solution of a problem if the solution exists.</a:t>
            </a:r>
          </a:p>
          <a:p>
            <a:pPr marL="457200" lvl="1" indent="0" algn="just">
              <a:lnSpc>
                <a:spcPct val="120000"/>
              </a:lnSpc>
              <a:buNone/>
            </a:pPr>
            <a:r>
              <a:rPr lang="en-US" b="1" dirty="0">
                <a:latin typeface="Times New Roman" panose="02020603050405020304" pitchFamily="18" charset="0"/>
                <a:cs typeface="Times New Roman" panose="02020603050405020304" pitchFamily="18" charset="0"/>
              </a:rPr>
              <a:t>Dynamic programming is a technique for solving a complex problem by first breaking into a collection of simpler subproblems, solving each subproblem just once, and then storing their solutions to avoid repetitive computations.</a:t>
            </a:r>
          </a:p>
        </p:txBody>
      </p:sp>
      <p:sp>
        <p:nvSpPr>
          <p:cNvPr id="4" name="Slide Number Placeholder 3"/>
          <p:cNvSpPr>
            <a:spLocks noGrp="1"/>
          </p:cNvSpPr>
          <p:nvPr>
            <p:ph type="sldNum" sz="quarter" idx="12"/>
          </p:nvPr>
        </p:nvSpPr>
        <p:spPr/>
        <p:txBody>
          <a:bodyPr/>
          <a:lstStyle/>
          <a:p>
            <a:fld id="{BDCDBBEF-AA6C-4BA6-85B2-A17D7F280E38}" type="slidenum">
              <a:rPr lang="en-US" smtClean="0"/>
              <a:t>5</a:t>
            </a:fld>
            <a:endParaRPr lang="en-US"/>
          </a:p>
        </p:txBody>
      </p:sp>
      <p:sp>
        <p:nvSpPr>
          <p:cNvPr id="5" name="Rectangle 4"/>
          <p:cNvSpPr/>
          <p:nvPr/>
        </p:nvSpPr>
        <p:spPr>
          <a:xfrm>
            <a:off x="838200" y="1372221"/>
            <a:ext cx="10515600" cy="512541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latin typeface="Times New Roman" panose="02020603050405020304" pitchFamily="18" charset="0"/>
              <a:cs typeface="Times New Roman" panose="02020603050405020304" pitchFamily="18" charset="0"/>
            </a:endParaRPr>
          </a:p>
        </p:txBody>
      </p:sp>
      <p:sp>
        <p:nvSpPr>
          <p:cNvPr id="6" name="Rectangle 5"/>
          <p:cNvSpPr/>
          <p:nvPr/>
        </p:nvSpPr>
        <p:spPr>
          <a:xfrm>
            <a:off x="838200" y="42308"/>
            <a:ext cx="8478078"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812"/>
            <a:ext cx="8464826" cy="1279527"/>
          </a:xfrm>
          <a:ln>
            <a:solidFill>
              <a:schemeClr val="tx1"/>
            </a:solidFill>
          </a:ln>
        </p:spPr>
        <p:txBody>
          <a:bodyPr/>
          <a:lstStyle/>
          <a:p>
            <a:pPr algn="ctr"/>
            <a:r>
              <a:rPr lang="en-US" b="1" dirty="0">
                <a:latin typeface="Times New Roman" panose="02020603050405020304" pitchFamily="18" charset="0"/>
                <a:cs typeface="Times New Roman" panose="02020603050405020304" pitchFamily="18" charset="0"/>
              </a:rPr>
              <a:t>Steps in Dynamic Programming</a:t>
            </a:r>
            <a:endParaRPr lang="en-US" dirty="0"/>
          </a:p>
        </p:txBody>
      </p:sp>
      <p:sp>
        <p:nvSpPr>
          <p:cNvPr id="3" name="Content Placeholder 2"/>
          <p:cNvSpPr>
            <a:spLocks noGrp="1"/>
          </p:cNvSpPr>
          <p:nvPr>
            <p:ph idx="1"/>
          </p:nvPr>
        </p:nvSpPr>
        <p:spPr>
          <a:xfrm>
            <a:off x="838200" y="1527726"/>
            <a:ext cx="10515600" cy="4649237"/>
          </a:xfrm>
        </p:spPr>
        <p:txBody>
          <a:bodyPr>
            <a:normAutofit/>
          </a:bodyPr>
          <a:lstStyle/>
          <a:p>
            <a:pPr marL="0" indent="0" algn="just">
              <a:buFont typeface="Wingdings" panose="05000000000000000000" pitchFamily="2" charset="2"/>
              <a:buNone/>
            </a:pPr>
            <a:r>
              <a:rPr lang="en-US" sz="2400" dirty="0">
                <a:latin typeface="Times New Roman" panose="02020603050405020304" pitchFamily="18" charset="0"/>
                <a:cs typeface="Times New Roman" panose="02020603050405020304" pitchFamily="18" charset="0"/>
              </a:rPr>
              <a:t>The following are the steps that the dynamic programming follows:</a:t>
            </a:r>
          </a:p>
          <a:p>
            <a:pPr marL="609600" indent="-609600" algn="just">
              <a:buFont typeface="Wingdings" panose="05000000000000000000" pitchFamily="2" charset="2"/>
              <a:buAutoNum type="arabicPeriod"/>
            </a:pPr>
            <a:endParaRPr lang="en-US" sz="2400" dirty="0">
              <a:latin typeface="Times New Roman" panose="02020603050405020304" pitchFamily="18" charset="0"/>
              <a:cs typeface="Times New Roman" panose="02020603050405020304" pitchFamily="18" charset="0"/>
            </a:endParaRPr>
          </a:p>
          <a:p>
            <a:pPr marL="609600" indent="-609600" algn="just">
              <a:buFont typeface="Wingdings" panose="05000000000000000000" pitchFamily="2" charset="2"/>
              <a:buAutoNum type="arabicPeriod"/>
            </a:pPr>
            <a:r>
              <a:rPr lang="en-US" sz="2400" dirty="0">
                <a:latin typeface="Times New Roman" panose="02020603050405020304" pitchFamily="18" charset="0"/>
                <a:cs typeface="Times New Roman" panose="02020603050405020304" pitchFamily="18" charset="0"/>
              </a:rPr>
              <a:t>It breaks down the complex problem into simpler subproblems.</a:t>
            </a:r>
          </a:p>
          <a:p>
            <a:pPr marL="609600" indent="-609600" algn="just">
              <a:buFont typeface="Wingdings" panose="05000000000000000000" pitchFamily="2" charset="2"/>
              <a:buAutoNum type="arabicPeriod"/>
            </a:pPr>
            <a:r>
              <a:rPr lang="en-US" sz="2400" dirty="0">
                <a:latin typeface="Times New Roman" panose="02020603050405020304" pitchFamily="18" charset="0"/>
                <a:cs typeface="Times New Roman" panose="02020603050405020304" pitchFamily="18" charset="0"/>
              </a:rPr>
              <a:t>It finds the optimal solution to these sub-problems.</a:t>
            </a:r>
          </a:p>
          <a:p>
            <a:pPr marL="609600" indent="-609600" algn="just">
              <a:buFont typeface="Wingdings" panose="05000000000000000000" pitchFamily="2" charset="2"/>
              <a:buAutoNum type="arabicPeriod"/>
            </a:pPr>
            <a:r>
              <a:rPr lang="en-US" sz="2400" dirty="0">
                <a:latin typeface="Times New Roman" panose="02020603050405020304" pitchFamily="18" charset="0"/>
                <a:cs typeface="Times New Roman" panose="02020603050405020304" pitchFamily="18" charset="0"/>
              </a:rPr>
              <a:t>It stores the results of subproblems (memoization). The process of storing the results of subproblems is known as memorization.</a:t>
            </a:r>
          </a:p>
          <a:p>
            <a:pPr marL="609600" indent="-609600" algn="just">
              <a:buFont typeface="Wingdings" panose="05000000000000000000" pitchFamily="2" charset="2"/>
              <a:buAutoNum type="arabicPeriod"/>
            </a:pPr>
            <a:r>
              <a:rPr lang="en-US" sz="2400" dirty="0">
                <a:latin typeface="Times New Roman" panose="02020603050405020304" pitchFamily="18" charset="0"/>
                <a:cs typeface="Times New Roman" panose="02020603050405020304" pitchFamily="18" charset="0"/>
              </a:rPr>
              <a:t>It reuses them so that same sub-problem is calculated more than once.</a:t>
            </a:r>
          </a:p>
          <a:p>
            <a:pPr marL="609600" indent="-609600" algn="just">
              <a:buFont typeface="Wingdings" panose="05000000000000000000" pitchFamily="2" charset="2"/>
              <a:buAutoNum type="arabicPeriod"/>
            </a:pPr>
            <a:r>
              <a:rPr lang="en-US" sz="2400" dirty="0">
                <a:latin typeface="Times New Roman" panose="02020603050405020304" pitchFamily="18" charset="0"/>
                <a:cs typeface="Times New Roman" panose="02020603050405020304" pitchFamily="18" charset="0"/>
              </a:rPr>
              <a:t>Finally, calculate the result of the complex problem.</a:t>
            </a:r>
          </a:p>
        </p:txBody>
      </p:sp>
      <p:sp>
        <p:nvSpPr>
          <p:cNvPr id="4" name="Slide Number Placeholder 3"/>
          <p:cNvSpPr>
            <a:spLocks noGrp="1"/>
          </p:cNvSpPr>
          <p:nvPr>
            <p:ph type="sldNum" sz="quarter" idx="12"/>
          </p:nvPr>
        </p:nvSpPr>
        <p:spPr/>
        <p:txBody>
          <a:bodyPr/>
          <a:lstStyle/>
          <a:p>
            <a:fld id="{BDCDBBEF-AA6C-4BA6-85B2-A17D7F280E38}" type="slidenum">
              <a:rPr lang="en-US" smtClean="0"/>
              <a:t>6</a:t>
            </a:fld>
            <a:endParaRPr lang="en-US"/>
          </a:p>
        </p:txBody>
      </p:sp>
      <p:sp>
        <p:nvSpPr>
          <p:cNvPr id="5" name="Rectangle 4"/>
          <p:cNvSpPr/>
          <p:nvPr/>
        </p:nvSpPr>
        <p:spPr>
          <a:xfrm>
            <a:off x="838200" y="1527726"/>
            <a:ext cx="10515600" cy="464447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2608" y="1248212"/>
            <a:ext cx="11223516" cy="4900339"/>
          </a:xfrm>
          <a:ln>
            <a:solidFill>
              <a:schemeClr val="tx1"/>
            </a:solidFill>
          </a:ln>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 A </a:t>
            </a:r>
            <a:r>
              <a:rPr lang="en-US" sz="2400" b="1" dirty="0">
                <a:latin typeface="Times New Roman" panose="02020603050405020304" pitchFamily="18" charset="0"/>
                <a:cs typeface="Times New Roman" panose="02020603050405020304" pitchFamily="18" charset="0"/>
              </a:rPr>
              <a:t>Multistage graph </a:t>
            </a:r>
            <a:r>
              <a:rPr lang="en-US" sz="2400" dirty="0">
                <a:latin typeface="Times New Roman" panose="02020603050405020304" pitchFamily="18" charset="0"/>
                <a:cs typeface="Times New Roman" panose="02020603050405020304" pitchFamily="18" charset="0"/>
              </a:rPr>
              <a:t>is a directed graph. </a:t>
            </a:r>
          </a:p>
          <a:p>
            <a:pPr marL="0" indent="0" algn="just">
              <a:buNone/>
            </a:pPr>
            <a:r>
              <a:rPr lang="en-US" sz="2400" dirty="0">
                <a:latin typeface="Times New Roman" panose="02020603050405020304" pitchFamily="18" charset="0"/>
                <a:cs typeface="Times New Roman" panose="02020603050405020304" pitchFamily="18" charset="0"/>
              </a:rPr>
              <a:t>• The nodes can be divided into a set of stages. </a:t>
            </a:r>
          </a:p>
          <a:p>
            <a:pPr marL="0" indent="0" algn="just">
              <a:buNone/>
            </a:pPr>
            <a:r>
              <a:rPr lang="en-US" sz="2400" dirty="0">
                <a:latin typeface="Times New Roman" panose="02020603050405020304" pitchFamily="18" charset="0"/>
                <a:cs typeface="Times New Roman" panose="02020603050405020304" pitchFamily="18" charset="0"/>
              </a:rPr>
              <a:t>• All edges from a stage to next stage . </a:t>
            </a:r>
          </a:p>
          <a:p>
            <a:pPr marL="0" indent="0" algn="just">
              <a:buNone/>
            </a:pPr>
            <a:r>
              <a:rPr lang="en-US" sz="2400" dirty="0">
                <a:latin typeface="Times New Roman" panose="02020603050405020304" pitchFamily="18" charset="0"/>
                <a:cs typeface="Times New Roman" panose="02020603050405020304" pitchFamily="18" charset="0"/>
              </a:rPr>
              <a:t>• There is no edge between vertices of same stage . </a:t>
            </a:r>
          </a:p>
          <a:p>
            <a:pPr marL="0" indent="0" algn="just">
              <a:buNone/>
            </a:pPr>
            <a:r>
              <a:rPr lang="en-US" sz="2400" dirty="0">
                <a:latin typeface="Times New Roman" panose="02020603050405020304" pitchFamily="18" charset="0"/>
                <a:cs typeface="Times New Roman" panose="02020603050405020304" pitchFamily="18" charset="0"/>
              </a:rPr>
              <a:t>• A vertex of current stage to previous stage </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lnSpc>
                <a:spcPct val="150000"/>
              </a:lnSpc>
              <a:buNone/>
            </a:pPr>
            <a:r>
              <a:rPr lang="en-US" sz="2400" dirty="0">
                <a:latin typeface="Times New Roman" panose="02020603050405020304" pitchFamily="18" charset="0"/>
                <a:cs typeface="Times New Roman" panose="02020603050405020304" pitchFamily="18" charset="0"/>
              </a:rPr>
              <a:t>In a multistage graph, a source and a destination, we need to find shortest path from source to destination.</a:t>
            </a:r>
          </a:p>
          <a:p>
            <a:pPr marL="0" indent="0" algn="just" fontAlgn="base">
              <a:buNone/>
            </a:pPr>
            <a:endParaRPr lang="en-US" sz="24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idx="4294967295"/>
          </p:nvPr>
        </p:nvSpPr>
        <p:spPr>
          <a:xfrm>
            <a:off x="807720" y="134938"/>
            <a:ext cx="8730418" cy="904875"/>
          </a:xfrm>
          <a:ln>
            <a:solidFill>
              <a:schemeClr val="tx1"/>
            </a:solidFill>
          </a:ln>
        </p:spPr>
        <p:txBody>
          <a:bodyPr>
            <a:normAutofit/>
          </a:bodyPr>
          <a:lstStyle/>
          <a:p>
            <a:pPr algn="ctr" fontAlgn="base"/>
            <a:r>
              <a:rPr lang="en-IN" b="1" dirty="0">
                <a:latin typeface="Times New Roman" panose="02020603050405020304" pitchFamily="18" charset="0"/>
                <a:cs typeface="Times New Roman" panose="02020603050405020304" pitchFamily="18" charset="0"/>
              </a:rPr>
              <a:t>Multi-Stage Graph</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4294967295"/>
          </p:nvPr>
        </p:nvSpPr>
        <p:spPr>
          <a:xfrm>
            <a:off x="9448800" y="6356350"/>
            <a:ext cx="2743200" cy="365125"/>
          </a:xfrm>
        </p:spPr>
        <p:txBody>
          <a:bodyPr/>
          <a:lstStyle/>
          <a:p>
            <a:pPr>
              <a:defRPr/>
            </a:pPr>
            <a:fld id="{E91321DF-4391-4A0E-9FFF-793DE4722964}" type="slidenum">
              <a:rPr lang="en-IN" altLang="en-US" smtClean="0"/>
              <a:t>7</a:t>
            </a:fld>
            <a:endParaRPr lang="en-IN" alt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7956" y="73581"/>
            <a:ext cx="8610600" cy="1067879"/>
          </a:xfrm>
          <a:ln>
            <a:solidFill>
              <a:schemeClr val="tx1"/>
            </a:solidFill>
          </a:ln>
        </p:spPr>
        <p:txBody>
          <a:bodyPr/>
          <a:lstStyle/>
          <a:p>
            <a:pPr algn="ctr"/>
            <a:r>
              <a:rPr lang="en-US" b="1" dirty="0">
                <a:latin typeface="Times New Roman" panose="02020603050405020304" pitchFamily="18" charset="0"/>
                <a:cs typeface="Times New Roman" panose="02020603050405020304" pitchFamily="18" charset="0"/>
              </a:rPr>
              <a:t>Multistage Graphs</a:t>
            </a:r>
            <a:endParaRPr lang="en-US" dirty="0"/>
          </a:p>
        </p:txBody>
      </p:sp>
      <p:sp>
        <p:nvSpPr>
          <p:cNvPr id="3" name="Content Placeholder 2"/>
          <p:cNvSpPr>
            <a:spLocks noGrp="1"/>
          </p:cNvSpPr>
          <p:nvPr>
            <p:ph idx="1"/>
          </p:nvPr>
        </p:nvSpPr>
        <p:spPr>
          <a:xfrm>
            <a:off x="838200" y="1325610"/>
            <a:ext cx="10515600" cy="4851353"/>
          </a:xfrm>
          <a:ln>
            <a:solidFill>
              <a:schemeClr val="tx1"/>
            </a:solidFill>
          </a:ln>
        </p:spPr>
        <p:txBody>
          <a:bodyPr>
            <a:normAutofit/>
          </a:bodyPr>
          <a:lstStyle/>
          <a:p>
            <a:r>
              <a:rPr lang="en-US" altLang="zh-TW" sz="2400" dirty="0">
                <a:latin typeface="Times New Roman" panose="02020603050405020304" pitchFamily="18" charset="0"/>
                <a:cs typeface="Times New Roman" panose="02020603050405020304" pitchFamily="18" charset="0"/>
              </a:rPr>
              <a:t>To find a shortest path in a multi-stage graph</a:t>
            </a:r>
          </a:p>
          <a:p>
            <a:r>
              <a:rPr lang="en-US" altLang="zh-TW" sz="2400" dirty="0">
                <a:latin typeface="Times New Roman" panose="02020603050405020304" pitchFamily="18" charset="0"/>
                <a:cs typeface="Times New Roman" panose="02020603050405020304" pitchFamily="18" charset="0"/>
              </a:rPr>
              <a:t>Apply the greedy method :</a:t>
            </a:r>
          </a:p>
          <a:p>
            <a:r>
              <a:rPr lang="en-US" altLang="zh-TW" sz="2400" dirty="0">
                <a:latin typeface="Times New Roman" panose="02020603050405020304" pitchFamily="18" charset="0"/>
                <a:cs typeface="Times New Roman" panose="02020603050405020304" pitchFamily="18" charset="0"/>
              </a:rPr>
              <a:t>The shortest path from S to T :</a:t>
            </a:r>
          </a:p>
          <a:p>
            <a:pPr marL="0" indent="0">
              <a:buNone/>
            </a:pPr>
            <a:r>
              <a:rPr lang="en-US" altLang="zh-TW" sz="2400" dirty="0">
                <a:latin typeface="Times New Roman" panose="02020603050405020304" pitchFamily="18" charset="0"/>
                <a:cs typeface="Times New Roman" panose="02020603050405020304" pitchFamily="18" charset="0"/>
              </a:rPr>
              <a:t>       1 + 2 + 5 = 8 </a:t>
            </a:r>
            <a:endParaRPr lang="zh-TW" alt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8</a:t>
            </a:fld>
            <a:endParaRPr lang="en-US"/>
          </a:p>
        </p:txBody>
      </p:sp>
      <p:pic>
        <p:nvPicPr>
          <p:cNvPr id="5" name="Picture 4"/>
          <p:cNvPicPr>
            <a:picLocks noChangeAspect="1"/>
          </p:cNvPicPr>
          <p:nvPr/>
        </p:nvPicPr>
        <p:blipFill>
          <a:blip r:embed="rId2" cstate="print"/>
          <a:stretch>
            <a:fillRect/>
          </a:stretch>
        </p:blipFill>
        <p:spPr>
          <a:xfrm>
            <a:off x="1787481" y="3473260"/>
            <a:ext cx="6962601" cy="2037000"/>
          </a:xfrm>
          <a:prstGeom prst="rect">
            <a:avLst/>
          </a:prstGeom>
        </p:spPr>
      </p:pic>
      <p:sp>
        <p:nvSpPr>
          <p:cNvPr id="6" name="TextBox 5"/>
          <p:cNvSpPr txBox="1"/>
          <p:nvPr/>
        </p:nvSpPr>
        <p:spPr>
          <a:xfrm>
            <a:off x="4416972" y="5807631"/>
            <a:ext cx="335805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 3.1: </a:t>
            </a:r>
            <a:r>
              <a:rPr lang="en-US" dirty="0">
                <a:latin typeface="Times New Roman" panose="02020603050405020304" pitchFamily="18" charset="0"/>
                <a:cs typeface="Times New Roman" panose="02020603050405020304" pitchFamily="18" charset="0"/>
              </a:rPr>
              <a:t>Multistage Graph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36525"/>
            <a:ext cx="8806069" cy="936901"/>
          </a:xfrm>
          <a:ln>
            <a:solidFill>
              <a:schemeClr val="tx1"/>
            </a:solidFill>
          </a:ln>
        </p:spPr>
        <p:txBody>
          <a:bodyPr/>
          <a:lstStyle/>
          <a:p>
            <a:pPr algn="ctr"/>
            <a:r>
              <a:rPr lang="en-US" altLang="zh-TW" b="1" dirty="0">
                <a:latin typeface="Times New Roman" panose="02020603050405020304" pitchFamily="18" charset="0"/>
                <a:cs typeface="Times New Roman" panose="02020603050405020304" pitchFamily="18" charset="0"/>
              </a:rPr>
              <a:t>Shortest Paths in Multi stage Graph</a:t>
            </a:r>
            <a:endParaRPr lang="en-US" dirty="0"/>
          </a:p>
        </p:txBody>
      </p:sp>
      <p:sp>
        <p:nvSpPr>
          <p:cNvPr id="3" name="Content Placeholder 2"/>
          <p:cNvSpPr>
            <a:spLocks noGrp="1"/>
          </p:cNvSpPr>
          <p:nvPr>
            <p:ph idx="1"/>
          </p:nvPr>
        </p:nvSpPr>
        <p:spPr>
          <a:xfrm>
            <a:off x="838199" y="1285461"/>
            <a:ext cx="10515601" cy="4891502"/>
          </a:xfrm>
          <a:ln>
            <a:solidFill>
              <a:schemeClr val="tx1"/>
            </a:solidFill>
          </a:ln>
        </p:spPr>
        <p:txBody>
          <a:bodyPr>
            <a:normAutofit/>
          </a:bodyPr>
          <a:lstStyle/>
          <a:p>
            <a:r>
              <a:rPr lang="en-US" altLang="zh-TW" sz="2400" dirty="0">
                <a:latin typeface="Times New Roman" panose="02020603050405020304" pitchFamily="18" charset="0"/>
                <a:cs typeface="Times New Roman" panose="02020603050405020304" pitchFamily="18" charset="0"/>
              </a:rPr>
              <a:t>The greedy method can not be applied to this case:  (S, A, D, T)    1+4+18 = 23.</a:t>
            </a:r>
          </a:p>
          <a:p>
            <a:r>
              <a:rPr lang="en-US" altLang="zh-TW" sz="2400" dirty="0">
                <a:latin typeface="Times New Roman" panose="02020603050405020304" pitchFamily="18" charset="0"/>
                <a:cs typeface="Times New Roman" panose="02020603050405020304" pitchFamily="18" charset="0"/>
              </a:rPr>
              <a:t>The real shortest path is:</a:t>
            </a:r>
          </a:p>
          <a:p>
            <a:r>
              <a:rPr lang="en-US" altLang="zh-TW" sz="2400" dirty="0">
                <a:latin typeface="Times New Roman" panose="02020603050405020304" pitchFamily="18" charset="0"/>
                <a:cs typeface="Times New Roman" panose="02020603050405020304" pitchFamily="18" charset="0"/>
              </a:rPr>
              <a:t>            (S, C, F, T)    5+2+2 = 9. </a:t>
            </a:r>
            <a:endParaRPr lang="zh-TW" alt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9</a:t>
            </a:fld>
            <a:endParaRPr lang="en-US"/>
          </a:p>
        </p:txBody>
      </p:sp>
      <p:pic>
        <p:nvPicPr>
          <p:cNvPr id="5" name="Picture 4"/>
          <p:cNvPicPr>
            <a:picLocks noChangeAspect="1"/>
          </p:cNvPicPr>
          <p:nvPr/>
        </p:nvPicPr>
        <p:blipFill>
          <a:blip r:embed="rId2" cstate="print"/>
          <a:stretch>
            <a:fillRect/>
          </a:stretch>
        </p:blipFill>
        <p:spPr>
          <a:xfrm>
            <a:off x="2274968" y="2883086"/>
            <a:ext cx="7369300" cy="2689453"/>
          </a:xfrm>
          <a:prstGeom prst="rect">
            <a:avLst/>
          </a:prstGeom>
        </p:spPr>
      </p:pic>
      <p:sp>
        <p:nvSpPr>
          <p:cNvPr id="6" name="TextBox 5"/>
          <p:cNvSpPr txBox="1"/>
          <p:nvPr/>
        </p:nvSpPr>
        <p:spPr>
          <a:xfrm>
            <a:off x="4416971" y="5807631"/>
            <a:ext cx="335805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 3.2: </a:t>
            </a:r>
            <a:r>
              <a:rPr lang="en-US" dirty="0">
                <a:latin typeface="Times New Roman" panose="02020603050405020304" pitchFamily="18" charset="0"/>
                <a:cs typeface="Times New Roman" panose="02020603050405020304" pitchFamily="18" charset="0"/>
              </a:rPr>
              <a:t>Implementation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0326"/>
            <a:ext cx="8676861" cy="995468"/>
          </a:xfrm>
          <a:ln>
            <a:solidFill>
              <a:schemeClr val="tx1"/>
            </a:solidFill>
          </a:ln>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Dynamic Programming</a:t>
            </a:r>
            <a:br>
              <a:rPr lang="en-US" altLang="zh-TW" b="1" dirty="0">
                <a:latin typeface="Times New Roman" panose="02020603050405020304" pitchFamily="18" charset="0"/>
                <a:cs typeface="Times New Roman" panose="02020603050405020304" pitchFamily="18" charset="0"/>
              </a:rPr>
            </a:br>
            <a:r>
              <a:rPr lang="en-US" altLang="zh-TW" b="1" dirty="0">
                <a:latin typeface="Times New Roman" panose="02020603050405020304" pitchFamily="18" charset="0"/>
                <a:cs typeface="Times New Roman" panose="02020603050405020304" pitchFamily="18" charset="0"/>
              </a:rPr>
              <a:t>(Forward Approach)</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t>10</a:t>
            </a:fld>
            <a:endParaRPr lang="en-US"/>
          </a:p>
        </p:txBody>
      </p:sp>
      <p:graphicFrame>
        <p:nvGraphicFramePr>
          <p:cNvPr id="5" name="Object 8"/>
          <p:cNvGraphicFramePr>
            <a:graphicFrameLocks noGrp="1" noChangeAspect="1"/>
          </p:cNvGraphicFramePr>
          <p:nvPr>
            <p:ph idx="1"/>
          </p:nvPr>
        </p:nvGraphicFramePr>
        <p:xfrm>
          <a:off x="838200" y="1495061"/>
          <a:ext cx="4648200" cy="2654831"/>
        </p:xfrm>
        <a:graphic>
          <a:graphicData uri="http://schemas.openxmlformats.org/presentationml/2006/ole">
            <mc:AlternateContent xmlns:mc="http://schemas.openxmlformats.org/markup-compatibility/2006">
              <mc:Choice xmlns:v="urn:schemas-microsoft-com:vml" Requires="v">
                <p:oleObj name="VISIO" r:id="rId2" imgW="30051375" imgH="16916400" progId="">
                  <p:embed/>
                </p:oleObj>
              </mc:Choice>
              <mc:Fallback>
                <p:oleObj name="VISIO" r:id="rId2" imgW="30051375" imgH="16916400" progId="">
                  <p:embed/>
                  <p:pic>
                    <p:nvPicPr>
                      <p:cNvPr id="0" name="Object 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495061"/>
                        <a:ext cx="4648200" cy="2654831"/>
                      </a:xfrm>
                      <a:prstGeom prst="rect">
                        <a:avLst/>
                      </a:prstGeom>
                      <a:noFill/>
                      <a:ln>
                        <a:noFill/>
                      </a:ln>
                      <a:effectLst/>
                    </p:spPr>
                  </p:pic>
                </p:oleObj>
              </mc:Fallback>
            </mc:AlternateContent>
          </a:graphicData>
        </a:graphic>
      </p:graphicFrame>
      <p:graphicFrame>
        <p:nvGraphicFramePr>
          <p:cNvPr id="6" name="Object 4"/>
          <p:cNvGraphicFramePr>
            <a:graphicFrameLocks noChangeAspect="1"/>
          </p:cNvGraphicFramePr>
          <p:nvPr/>
        </p:nvGraphicFramePr>
        <p:xfrm>
          <a:off x="5350733" y="1619632"/>
          <a:ext cx="6003067" cy="2251351"/>
        </p:xfrm>
        <a:graphic>
          <a:graphicData uri="http://schemas.openxmlformats.org/presentationml/2006/ole">
            <mc:AlternateContent xmlns:mc="http://schemas.openxmlformats.org/markup-compatibility/2006">
              <mc:Choice xmlns:v="urn:schemas-microsoft-com:vml" Requires="v">
                <p:oleObj name="VISIO" r:id="rId4" imgW="18497550" imgH="11306175" progId="">
                  <p:embed/>
                </p:oleObj>
              </mc:Choice>
              <mc:Fallback>
                <p:oleObj name="VISIO" r:id="rId4" imgW="18497550" imgH="11306175"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50733" y="1619632"/>
                        <a:ext cx="6003067" cy="2251351"/>
                      </a:xfrm>
                      <a:prstGeom prst="rect">
                        <a:avLst/>
                      </a:prstGeom>
                      <a:noFill/>
                      <a:ln>
                        <a:noFill/>
                      </a:ln>
                      <a:effectLst/>
                    </p:spPr>
                  </p:pic>
                </p:oleObj>
              </mc:Fallback>
            </mc:AlternateContent>
          </a:graphicData>
        </a:graphic>
      </p:graphicFrame>
      <p:sp>
        <p:nvSpPr>
          <p:cNvPr id="7" name="Rectangle 6"/>
          <p:cNvSpPr/>
          <p:nvPr/>
        </p:nvSpPr>
        <p:spPr>
          <a:xfrm>
            <a:off x="1033858" y="4264711"/>
            <a:ext cx="5442296" cy="369332"/>
          </a:xfrm>
          <a:prstGeom prst="rect">
            <a:avLst/>
          </a:prstGeom>
        </p:spPr>
        <p:txBody>
          <a:bodyPr wrap="square">
            <a:spAutoFit/>
          </a:bodyPr>
          <a:lstStyle/>
          <a:p>
            <a:r>
              <a:rPr lang="en-US" altLang="zh-TW" b="1" dirty="0">
                <a:latin typeface="Times New Roman" panose="02020603050405020304" pitchFamily="18" charset="0"/>
                <a:cs typeface="Times New Roman" panose="02020603050405020304" pitchFamily="18" charset="0"/>
              </a:rPr>
              <a:t>d(S, T) = min{1+d(A, T), 2+d(B, T), 5+d(C, T)} </a:t>
            </a:r>
          </a:p>
        </p:txBody>
      </p:sp>
      <p:sp>
        <p:nvSpPr>
          <p:cNvPr id="8" name="Text Box 7"/>
          <p:cNvSpPr txBox="1">
            <a:spLocks noChangeArrowheads="1"/>
          </p:cNvSpPr>
          <p:nvPr/>
        </p:nvSpPr>
        <p:spPr bwMode="auto">
          <a:xfrm>
            <a:off x="1033857" y="4969730"/>
            <a:ext cx="5278744"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anose="020B0604030504040204" pitchFamily="34" charset="0"/>
                <a:ea typeface="PMingLiU" pitchFamily="18" charset="-120"/>
              </a:defRPr>
            </a:lvl1pPr>
            <a:lvl2pPr marL="742950" indent="-285750" eaLnBrk="0" hangingPunct="0">
              <a:defRPr kumimoji="1" sz="2400">
                <a:solidFill>
                  <a:schemeClr val="tx1"/>
                </a:solidFill>
                <a:latin typeface="Tahoma" panose="020B0604030504040204" pitchFamily="34" charset="0"/>
                <a:ea typeface="PMingLiU" pitchFamily="18" charset="-120"/>
              </a:defRPr>
            </a:lvl2pPr>
            <a:lvl3pPr marL="1143000" indent="-228600" eaLnBrk="0" hangingPunct="0">
              <a:defRPr kumimoji="1" sz="2400">
                <a:solidFill>
                  <a:schemeClr val="tx1"/>
                </a:solidFill>
                <a:latin typeface="Tahoma" panose="020B0604030504040204" pitchFamily="34" charset="0"/>
                <a:ea typeface="PMingLiU" pitchFamily="18" charset="-120"/>
              </a:defRPr>
            </a:lvl3pPr>
            <a:lvl4pPr marL="1600200" indent="-228600" eaLnBrk="0" hangingPunct="0">
              <a:defRPr kumimoji="1" sz="2400">
                <a:solidFill>
                  <a:schemeClr val="tx1"/>
                </a:solidFill>
                <a:latin typeface="Tahoma" panose="020B0604030504040204" pitchFamily="34" charset="0"/>
                <a:ea typeface="PMingLiU" pitchFamily="18" charset="-120"/>
              </a:defRPr>
            </a:lvl4pPr>
            <a:lvl5pPr marL="2057400" indent="-228600" eaLnBrk="0" hangingPunct="0">
              <a:defRPr kumimoji="1" sz="2400">
                <a:solidFill>
                  <a:schemeClr val="tx1"/>
                </a:solidFill>
                <a:latin typeface="Tahoma" panose="020B0604030504040204" pitchFamily="34" charset="0"/>
                <a:ea typeface="PMingLiU" pitchFamily="18"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PMingLiU" pitchFamily="18"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PMingLiU" pitchFamily="18"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PMingLiU" pitchFamily="18"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PMingLiU" pitchFamily="18" charset="-120"/>
              </a:defRPr>
            </a:lvl9pPr>
          </a:lstStyle>
          <a:p>
            <a:pPr eaLnBrk="1" hangingPunct="1">
              <a:lnSpc>
                <a:spcPct val="90000"/>
              </a:lnSpc>
              <a:spcBef>
                <a:spcPct val="20000"/>
              </a:spcBef>
              <a:buClr>
                <a:schemeClr val="folHlink"/>
              </a:buClr>
              <a:buSzPct val="60000"/>
              <a:buFont typeface="Wingdings" panose="05000000000000000000" pitchFamily="2" charset="2"/>
              <a:buChar char="n"/>
            </a:pPr>
            <a:r>
              <a:rPr lang="en-US" altLang="zh-TW" sz="2000" dirty="0">
                <a:latin typeface="Times New Roman" panose="02020603050405020304" pitchFamily="18" charset="0"/>
                <a:cs typeface="Times New Roman" panose="02020603050405020304" pitchFamily="18" charset="0"/>
              </a:rPr>
              <a:t> d(A,T) = min{4+d(D,T), 11+d(E,T)}</a:t>
            </a:r>
          </a:p>
          <a:p>
            <a:pPr eaLnBrk="1" hangingPunct="1">
              <a:lnSpc>
                <a:spcPct val="90000"/>
              </a:lnSpc>
              <a:spcBef>
                <a:spcPct val="20000"/>
              </a:spcBef>
              <a:buClr>
                <a:schemeClr val="folHlink"/>
              </a:buClr>
              <a:buSzPct val="60000"/>
              <a:buFont typeface="Wingdings" panose="05000000000000000000" pitchFamily="2" charset="2"/>
              <a:buNone/>
            </a:pPr>
            <a:r>
              <a:rPr lang="en-US" altLang="zh-TW" sz="2000" dirty="0">
                <a:latin typeface="Times New Roman" panose="02020603050405020304" pitchFamily="18" charset="0"/>
                <a:cs typeface="Times New Roman" panose="02020603050405020304" pitchFamily="18" charset="0"/>
              </a:rPr>
              <a:t>  = min{4+18, 11+13} = 22.</a:t>
            </a:r>
            <a:endParaRPr lang="zh-TW" altLang="en-US" sz="2000" dirty="0">
              <a:latin typeface="Times New Roman" panose="02020603050405020304" pitchFamily="18" charset="0"/>
              <a:cs typeface="Times New Roman" panose="02020603050405020304" pitchFamily="18" charset="0"/>
            </a:endParaRPr>
          </a:p>
          <a:p>
            <a:pPr eaLnBrk="1" hangingPunct="1">
              <a:spcBef>
                <a:spcPct val="50000"/>
              </a:spcBef>
            </a:pPr>
            <a:endParaRPr lang="zh-TW" altLang="en-US" sz="2000"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2822026" y="5738648"/>
            <a:ext cx="335805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 3.3: </a:t>
            </a:r>
            <a:r>
              <a:rPr lang="en-US" dirty="0">
                <a:latin typeface="Times New Roman" panose="02020603050405020304" pitchFamily="18" charset="0"/>
                <a:cs typeface="Times New Roman" panose="02020603050405020304" pitchFamily="18" charset="0"/>
              </a:rPr>
              <a:t>Dynamic Programming</a:t>
            </a:r>
          </a:p>
        </p:txBody>
      </p:sp>
      <p:graphicFrame>
        <p:nvGraphicFramePr>
          <p:cNvPr id="11" name="Object 6"/>
          <p:cNvGraphicFramePr>
            <a:graphicFrameLocks noChangeAspect="1"/>
          </p:cNvGraphicFramePr>
          <p:nvPr/>
        </p:nvGraphicFramePr>
        <p:xfrm>
          <a:off x="6476153" y="4622173"/>
          <a:ext cx="4673600" cy="1465263"/>
        </p:xfrm>
        <a:graphic>
          <a:graphicData uri="http://schemas.openxmlformats.org/presentationml/2006/ole">
            <mc:AlternateContent xmlns:mc="http://schemas.openxmlformats.org/markup-compatibility/2006">
              <mc:Choice xmlns:v="urn:schemas-microsoft-com:vml" Requires="v">
                <p:oleObj name="Visio" r:id="rId6" imgW="18497550" imgH="7724775" progId="">
                  <p:embed/>
                </p:oleObj>
              </mc:Choice>
              <mc:Fallback>
                <p:oleObj name="Visio" r:id="rId6" imgW="18497550" imgH="7724775" progId="">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76153" y="4622173"/>
                        <a:ext cx="4673600" cy="146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Rectangle 12"/>
          <p:cNvSpPr/>
          <p:nvPr/>
        </p:nvSpPr>
        <p:spPr>
          <a:xfrm>
            <a:off x="838200" y="1470991"/>
            <a:ext cx="10515600" cy="470120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98712"/>
            <a:ext cx="10515600" cy="4931259"/>
          </a:xfrm>
          <a:ln>
            <a:solidFill>
              <a:schemeClr val="tx1"/>
            </a:solidFill>
          </a:ln>
        </p:spPr>
        <p:txBody>
          <a:bodyPr>
            <a:normAutofit/>
          </a:bodyPr>
          <a:lstStyle/>
          <a:p>
            <a:pPr algn="just"/>
            <a:r>
              <a:rPr lang="en-US" altLang="zh-TW" sz="2000" dirty="0">
                <a:latin typeface="Times New Roman" panose="02020603050405020304" pitchFamily="18" charset="0"/>
                <a:cs typeface="Times New Roman" panose="02020603050405020304" pitchFamily="18" charset="0"/>
              </a:rPr>
              <a:t>d(B, T) = min{9+d(D, T), 5+d(E, T), 16+d(F, T)}</a:t>
            </a:r>
          </a:p>
          <a:p>
            <a:pPr algn="just">
              <a:buNone/>
            </a:pPr>
            <a:r>
              <a:rPr lang="en-US" altLang="zh-TW" sz="2000" dirty="0">
                <a:latin typeface="Times New Roman" panose="02020603050405020304" pitchFamily="18" charset="0"/>
                <a:cs typeface="Times New Roman" panose="02020603050405020304" pitchFamily="18" charset="0"/>
              </a:rPr>
              <a:t>              = min{9+18, 5+13, 16+2} = 18.</a:t>
            </a:r>
          </a:p>
          <a:p>
            <a:pPr algn="just"/>
            <a:r>
              <a:rPr lang="en-US" altLang="zh-TW" sz="2000" dirty="0">
                <a:latin typeface="Times New Roman" panose="02020603050405020304" pitchFamily="18" charset="0"/>
                <a:cs typeface="Times New Roman" panose="02020603050405020304" pitchFamily="18" charset="0"/>
              </a:rPr>
              <a:t>d(C, T) = min{ 2+d(F, T) } = 2+2 = 4</a:t>
            </a:r>
          </a:p>
          <a:p>
            <a:pPr algn="just"/>
            <a:r>
              <a:rPr lang="en-US" altLang="zh-TW" sz="2000" dirty="0">
                <a:latin typeface="Times New Roman" panose="02020603050405020304" pitchFamily="18" charset="0"/>
                <a:cs typeface="Times New Roman" panose="02020603050405020304" pitchFamily="18" charset="0"/>
              </a:rPr>
              <a:t>d(S, T) = min{1+d(A, T), 2+d(B, T), 5+d(C, T)}</a:t>
            </a:r>
          </a:p>
          <a:p>
            <a:pPr algn="just">
              <a:buNone/>
            </a:pPr>
            <a:r>
              <a:rPr lang="en-US" altLang="zh-TW" sz="2000" dirty="0">
                <a:latin typeface="Times New Roman" panose="02020603050405020304" pitchFamily="18" charset="0"/>
                <a:cs typeface="Times New Roman" panose="02020603050405020304" pitchFamily="18" charset="0"/>
              </a:rPr>
              <a:t>              = min{1+22, 2+18, 5+4} = 9.  </a:t>
            </a:r>
          </a:p>
          <a:p>
            <a:pPr algn="just"/>
            <a:r>
              <a:rPr lang="en-US" altLang="zh-TW" sz="2000" dirty="0">
                <a:latin typeface="Times New Roman" panose="02020603050405020304" pitchFamily="18" charset="0"/>
                <a:cs typeface="Times New Roman" panose="02020603050405020304" pitchFamily="18" charset="0"/>
              </a:rPr>
              <a:t>The above way of reasoning is called forward reasoning.</a:t>
            </a:r>
          </a:p>
          <a:p>
            <a:pPr marL="0" indent="0" algn="just">
              <a:buNone/>
            </a:pPr>
            <a:endParaRPr lang="zh-TW" altLang="en-US" sz="1800" dirty="0">
              <a:latin typeface="Times New Roman" panose="02020603050405020304" pitchFamily="18"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11</a:t>
            </a:fld>
            <a:endParaRPr lang="en-US"/>
          </a:p>
        </p:txBody>
      </p:sp>
      <p:graphicFrame>
        <p:nvGraphicFramePr>
          <p:cNvPr id="5" name="Object 6"/>
          <p:cNvGraphicFramePr>
            <a:graphicFrameLocks noChangeAspect="1"/>
          </p:cNvGraphicFramePr>
          <p:nvPr/>
        </p:nvGraphicFramePr>
        <p:xfrm>
          <a:off x="2420650" y="3899883"/>
          <a:ext cx="5892800" cy="2143125"/>
        </p:xfrm>
        <a:graphic>
          <a:graphicData uri="http://schemas.openxmlformats.org/presentationml/2006/ole">
            <mc:AlternateContent xmlns:mc="http://schemas.openxmlformats.org/markup-compatibility/2006">
              <mc:Choice xmlns:v="urn:schemas-microsoft-com:vml" Requires="v">
                <p:oleObj name="VISIO" r:id="rId2" imgW="30051375" imgH="16916400" progId="">
                  <p:embed/>
                </p:oleObj>
              </mc:Choice>
              <mc:Fallback>
                <p:oleObj name="VISIO" r:id="rId2" imgW="30051375" imgH="16916400" progId="">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0650" y="3899883"/>
                        <a:ext cx="5892800"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4"/>
          <p:cNvGraphicFramePr>
            <a:graphicFrameLocks noChangeAspect="1"/>
          </p:cNvGraphicFramePr>
          <p:nvPr/>
        </p:nvGraphicFramePr>
        <p:xfrm>
          <a:off x="6019029" y="1739527"/>
          <a:ext cx="5283200" cy="2133600"/>
        </p:xfrm>
        <a:graphic>
          <a:graphicData uri="http://schemas.openxmlformats.org/presentationml/2006/ole">
            <mc:AlternateContent xmlns:mc="http://schemas.openxmlformats.org/markup-compatibility/2006">
              <mc:Choice xmlns:v="urn:schemas-microsoft-com:vml" Requires="v">
                <p:oleObj r:id="rId4" imgW="9839325" imgH="5934075" progId="">
                  <p:embed/>
                </p:oleObj>
              </mc:Choice>
              <mc:Fallback>
                <p:oleObj r:id="rId4" imgW="9839325" imgH="5934075"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t="-3612" r="3389" b="-2408"/>
                      <a:stretch>
                        <a:fillRect/>
                      </a:stretch>
                    </p:blipFill>
                    <p:spPr bwMode="auto">
                      <a:xfrm>
                        <a:off x="6019029" y="1739527"/>
                        <a:ext cx="5283200" cy="213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8313450" y="5751695"/>
            <a:ext cx="335805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 3.4</a:t>
            </a:r>
            <a:r>
              <a:rPr lang="en-US" b="1">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Forward </a:t>
            </a:r>
            <a:r>
              <a:rPr lang="en-US" dirty="0">
                <a:latin typeface="Times New Roman" panose="02020603050405020304" pitchFamily="18" charset="0"/>
                <a:cs typeface="Times New Roman" panose="02020603050405020304" pitchFamily="18" charset="0"/>
              </a:rPr>
              <a:t>Reasoning</a:t>
            </a:r>
          </a:p>
        </p:txBody>
      </p:sp>
      <p:sp>
        <p:nvSpPr>
          <p:cNvPr id="12" name="Title 1"/>
          <p:cNvSpPr>
            <a:spLocks noGrp="1"/>
          </p:cNvSpPr>
          <p:nvPr>
            <p:ph type="title"/>
          </p:nvPr>
        </p:nvSpPr>
        <p:spPr>
          <a:xfrm>
            <a:off x="838200" y="47074"/>
            <a:ext cx="8796130" cy="1105865"/>
          </a:xfrm>
          <a:ln>
            <a:solidFill>
              <a:schemeClr val="tx1"/>
            </a:solidFill>
          </a:ln>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Dynamic Programming</a:t>
            </a:r>
            <a:br>
              <a:rPr lang="en-US" altLang="zh-TW" b="1" dirty="0">
                <a:latin typeface="Times New Roman" panose="02020603050405020304" pitchFamily="18" charset="0"/>
                <a:cs typeface="Times New Roman" panose="02020603050405020304" pitchFamily="18" charset="0"/>
              </a:rPr>
            </a:br>
            <a:r>
              <a:rPr lang="en-US" altLang="zh-TW" b="1" dirty="0">
                <a:latin typeface="Times New Roman" panose="02020603050405020304" pitchFamily="18" charset="0"/>
                <a:cs typeface="Times New Roman" panose="02020603050405020304" pitchFamily="18" charset="0"/>
              </a:rPr>
              <a:t>(Forward Approach) </a:t>
            </a:r>
            <a:r>
              <a:rPr lang="en-US" altLang="zh-TW" b="1" dirty="0" err="1">
                <a:latin typeface="Times New Roman" panose="02020603050405020304" pitchFamily="18" charset="0"/>
                <a:cs typeface="Times New Roman" panose="02020603050405020304" pitchFamily="18" charset="0"/>
              </a:rPr>
              <a:t>Contd</a:t>
            </a:r>
            <a:r>
              <a:rPr lang="en-US" altLang="zh-TW" b="1" dirty="0">
                <a:latin typeface="Times New Roman" panose="02020603050405020304" pitchFamily="18" charset="0"/>
                <a:cs typeface="Times New Roman" panose="02020603050405020304" pitchFamily="18" charset="0"/>
              </a:rPr>
              <a:t>…</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37089"/>
            <a:ext cx="10515600" cy="4839874"/>
          </a:xfrm>
          <a:ln>
            <a:solidFill>
              <a:schemeClr val="tx1"/>
            </a:solidFill>
          </a:ln>
        </p:spPr>
        <p:txBody>
          <a:bodyPr>
            <a:normAutofit/>
          </a:bodyPr>
          <a:lstStyle/>
          <a:p>
            <a:pPr>
              <a:buNone/>
            </a:pPr>
            <a:r>
              <a:rPr lang="en-US" altLang="zh-TW" sz="2000" dirty="0">
                <a:latin typeface="Times New Roman" panose="02020603050405020304" pitchFamily="18" charset="0"/>
                <a:cs typeface="Times New Roman" panose="02020603050405020304" pitchFamily="18" charset="0"/>
              </a:rPr>
              <a:t>d(S, A) = 1</a:t>
            </a:r>
          </a:p>
          <a:p>
            <a:pPr algn="just">
              <a:buNone/>
            </a:pPr>
            <a:r>
              <a:rPr lang="en-US" altLang="zh-TW" sz="2000" dirty="0">
                <a:latin typeface="Times New Roman" panose="02020603050405020304" pitchFamily="18" charset="0"/>
                <a:cs typeface="Times New Roman" panose="02020603050405020304" pitchFamily="18" charset="0"/>
              </a:rPr>
              <a:t>	d(S, B) = 2</a:t>
            </a:r>
          </a:p>
          <a:p>
            <a:pPr algn="just">
              <a:buNone/>
            </a:pPr>
            <a:r>
              <a:rPr lang="en-US" altLang="zh-TW" sz="2000" dirty="0">
                <a:latin typeface="Times New Roman" panose="02020603050405020304" pitchFamily="18" charset="0"/>
                <a:cs typeface="Times New Roman" panose="02020603050405020304" pitchFamily="18" charset="0"/>
              </a:rPr>
              <a:t>	d(S, C) = 5</a:t>
            </a:r>
          </a:p>
          <a:p>
            <a:pPr algn="just">
              <a:buNone/>
            </a:pPr>
            <a:r>
              <a:rPr lang="en-US" altLang="zh-TW" sz="2000" dirty="0">
                <a:latin typeface="Times New Roman" panose="02020603050405020304" pitchFamily="18" charset="0"/>
                <a:cs typeface="Times New Roman" panose="02020603050405020304" pitchFamily="18" charset="0"/>
              </a:rPr>
              <a:t>	d(S,D)=min{d(S,A)+d(A,D), d(S,B)+d(B,D)}</a:t>
            </a:r>
          </a:p>
          <a:p>
            <a:pPr>
              <a:buNone/>
            </a:pPr>
            <a:r>
              <a:rPr lang="en-US" altLang="zh-TW" sz="2000" dirty="0">
                <a:latin typeface="Times New Roman" panose="02020603050405020304" pitchFamily="18" charset="0"/>
                <a:cs typeface="Times New Roman" panose="02020603050405020304" pitchFamily="18" charset="0"/>
              </a:rPr>
              <a:t>            = min{ 1+4, 2+9 } = 5</a:t>
            </a:r>
          </a:p>
          <a:p>
            <a:pPr>
              <a:buNone/>
            </a:pPr>
            <a:r>
              <a:rPr lang="en-US" altLang="zh-TW" sz="2000" dirty="0">
                <a:latin typeface="Times New Roman" panose="02020603050405020304" pitchFamily="18" charset="0"/>
                <a:cs typeface="Times New Roman" panose="02020603050405020304" pitchFamily="18" charset="0"/>
              </a:rPr>
              <a:t>   d(S,E)=min{d(S,A)+d(A,E), d(S,B)+d(B,E)}</a:t>
            </a:r>
          </a:p>
          <a:p>
            <a:pPr>
              <a:buNone/>
            </a:pPr>
            <a:r>
              <a:rPr lang="en-US" altLang="zh-TW" sz="2000" dirty="0">
                <a:latin typeface="Times New Roman" panose="02020603050405020304" pitchFamily="18" charset="0"/>
                <a:cs typeface="Times New Roman" panose="02020603050405020304" pitchFamily="18" charset="0"/>
              </a:rPr>
              <a:t>            = min{ 1+11, 2+5 } = 7</a:t>
            </a:r>
          </a:p>
          <a:p>
            <a:pPr>
              <a:buNone/>
            </a:pPr>
            <a:r>
              <a:rPr lang="en-US" altLang="zh-TW" sz="2000" dirty="0">
                <a:latin typeface="Times New Roman" panose="02020603050405020304" pitchFamily="18" charset="0"/>
                <a:cs typeface="Times New Roman" panose="02020603050405020304" pitchFamily="18" charset="0"/>
              </a:rPr>
              <a:t>   d(S,F)=min{d(S,B)+d(B,F), d(S,C)+d(C,F)}</a:t>
            </a:r>
          </a:p>
          <a:p>
            <a:pPr>
              <a:buNone/>
            </a:pPr>
            <a:r>
              <a:rPr lang="en-US" altLang="zh-TW" sz="2000" dirty="0">
                <a:latin typeface="Times New Roman" panose="02020603050405020304" pitchFamily="18" charset="0"/>
                <a:cs typeface="Times New Roman" panose="02020603050405020304" pitchFamily="18" charset="0"/>
              </a:rPr>
              <a:t>            = min{ 2+16, 5+2 } = 7</a:t>
            </a:r>
          </a:p>
          <a:p>
            <a:endParaRPr 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12</a:t>
            </a:fld>
            <a:endParaRPr lang="en-US"/>
          </a:p>
        </p:txBody>
      </p:sp>
      <p:graphicFrame>
        <p:nvGraphicFramePr>
          <p:cNvPr id="5" name="Object 4"/>
          <p:cNvGraphicFramePr>
            <a:graphicFrameLocks noChangeAspect="1"/>
          </p:cNvGraphicFramePr>
          <p:nvPr/>
        </p:nvGraphicFramePr>
        <p:xfrm>
          <a:off x="5076623" y="3662363"/>
          <a:ext cx="6348549" cy="2514600"/>
        </p:xfrm>
        <a:graphic>
          <a:graphicData uri="http://schemas.openxmlformats.org/presentationml/2006/ole">
            <mc:AlternateContent xmlns:mc="http://schemas.openxmlformats.org/markup-compatibility/2006">
              <mc:Choice xmlns:v="urn:schemas-microsoft-com:vml" Requires="v">
                <p:oleObj name="VISIO" r:id="rId2" imgW="30051375" imgH="16916400" progId="">
                  <p:embed/>
                </p:oleObj>
              </mc:Choice>
              <mc:Fallback>
                <p:oleObj name="VISIO" r:id="rId2" imgW="30051375" imgH="16916400" progId="">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623" y="3662363"/>
                        <a:ext cx="6348549" cy="2514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itle 1"/>
          <p:cNvSpPr>
            <a:spLocks noGrp="1"/>
          </p:cNvSpPr>
          <p:nvPr>
            <p:ph type="title"/>
          </p:nvPr>
        </p:nvSpPr>
        <p:spPr>
          <a:xfrm>
            <a:off x="838200" y="47074"/>
            <a:ext cx="8796130" cy="1105865"/>
          </a:xfrm>
          <a:ln>
            <a:solidFill>
              <a:schemeClr val="tx1"/>
            </a:solidFill>
          </a:ln>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Dynamic Programming</a:t>
            </a:r>
            <a:br>
              <a:rPr lang="en-US" altLang="zh-TW" b="1" dirty="0">
                <a:latin typeface="Times New Roman" panose="02020603050405020304" pitchFamily="18" charset="0"/>
                <a:cs typeface="Times New Roman" panose="02020603050405020304" pitchFamily="18" charset="0"/>
              </a:rPr>
            </a:br>
            <a:r>
              <a:rPr lang="en-US" altLang="zh-TW" b="1" dirty="0">
                <a:latin typeface="Times New Roman" panose="02020603050405020304" pitchFamily="18" charset="0"/>
                <a:cs typeface="Times New Roman" panose="02020603050405020304" pitchFamily="18" charset="0"/>
              </a:rPr>
              <a:t>(Forward Approach) </a:t>
            </a:r>
            <a:r>
              <a:rPr lang="en-US" altLang="zh-TW" b="1" dirty="0" err="1">
                <a:latin typeface="Times New Roman" panose="02020603050405020304" pitchFamily="18" charset="0"/>
                <a:cs typeface="Times New Roman" panose="02020603050405020304" pitchFamily="18" charset="0"/>
              </a:rPr>
              <a:t>Contd</a:t>
            </a:r>
            <a:r>
              <a:rPr lang="en-US" altLang="zh-TW" b="1" dirty="0">
                <a:latin typeface="Times New Roman" panose="02020603050405020304" pitchFamily="18" charset="0"/>
                <a:cs typeface="Times New Roman" panose="02020603050405020304" pitchFamily="18" charset="0"/>
              </a:rPr>
              <a:t>…</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37089"/>
            <a:ext cx="10515600" cy="4839874"/>
          </a:xfrm>
          <a:ln>
            <a:solidFill>
              <a:schemeClr val="tx1"/>
            </a:solidFill>
          </a:ln>
        </p:spPr>
        <p:txBody>
          <a:bodyPr>
            <a:normAutofit/>
          </a:bodyPr>
          <a:lstStyle/>
          <a:p>
            <a:pPr algn="just"/>
            <a:r>
              <a:rPr lang="en-US" altLang="zh-TW" sz="2400" dirty="0">
                <a:latin typeface="Times New Roman" panose="02020603050405020304" pitchFamily="18" charset="0"/>
                <a:cs typeface="Times New Roman" panose="02020603050405020304" pitchFamily="18" charset="0"/>
              </a:rPr>
              <a:t>d(S,T) = min{d(S, D)+d(D, T), d(S,E)+d(E,T), d(S, F)+d(F, T)}</a:t>
            </a:r>
          </a:p>
          <a:p>
            <a:pPr algn="just">
              <a:buFont typeface="Wingdings" panose="05000000000000000000" pitchFamily="2" charset="2"/>
              <a:buNone/>
            </a:pPr>
            <a:r>
              <a:rPr lang="en-US" altLang="zh-TW" sz="2400" dirty="0">
                <a:latin typeface="Times New Roman" panose="02020603050405020304" pitchFamily="18" charset="0"/>
                <a:cs typeface="Times New Roman" panose="02020603050405020304" pitchFamily="18" charset="0"/>
              </a:rPr>
              <a:t>             = min{ 5+18, 7+13, 7+2 } </a:t>
            </a:r>
          </a:p>
          <a:p>
            <a:pPr algn="just">
              <a:buFont typeface="Wingdings" panose="05000000000000000000" pitchFamily="2" charset="2"/>
              <a:buNone/>
            </a:pPr>
            <a:r>
              <a:rPr lang="en-US" altLang="zh-TW" sz="2400" dirty="0">
                <a:latin typeface="Times New Roman" panose="02020603050405020304" pitchFamily="18" charset="0"/>
                <a:cs typeface="Times New Roman" panose="02020603050405020304" pitchFamily="18" charset="0"/>
              </a:rPr>
              <a:t>             = 9 </a:t>
            </a:r>
            <a:endParaRPr lang="zh-TW" alt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13</a:t>
            </a:fld>
            <a:endParaRPr lang="en-US"/>
          </a:p>
        </p:txBody>
      </p:sp>
      <p:graphicFrame>
        <p:nvGraphicFramePr>
          <p:cNvPr id="5" name="Object 5"/>
          <p:cNvGraphicFramePr>
            <a:graphicFrameLocks noChangeAspect="1"/>
          </p:cNvGraphicFramePr>
          <p:nvPr/>
        </p:nvGraphicFramePr>
        <p:xfrm>
          <a:off x="1918365" y="3087758"/>
          <a:ext cx="7424417" cy="2830448"/>
        </p:xfrm>
        <a:graphic>
          <a:graphicData uri="http://schemas.openxmlformats.org/presentationml/2006/ole">
            <mc:AlternateContent xmlns:mc="http://schemas.openxmlformats.org/markup-compatibility/2006">
              <mc:Choice xmlns:v="urn:schemas-microsoft-com:vml" Requires="v">
                <p:oleObj name="VISIO" r:id="rId2" imgW="30051375" imgH="16916400" progId="">
                  <p:embed/>
                </p:oleObj>
              </mc:Choice>
              <mc:Fallback>
                <p:oleObj name="VISIO" r:id="rId2" imgW="30051375" imgH="16916400" progId="">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8365" y="3087758"/>
                        <a:ext cx="7424417" cy="2830448"/>
                      </a:xfrm>
                      <a:prstGeom prst="rect">
                        <a:avLst/>
                      </a:prstGeom>
                      <a:noFill/>
                      <a:ln>
                        <a:noFill/>
                      </a:ln>
                      <a:effectLst/>
                    </p:spPr>
                  </p:pic>
                </p:oleObj>
              </mc:Fallback>
            </mc:AlternateContent>
          </a:graphicData>
        </a:graphic>
      </p:graphicFrame>
      <p:sp>
        <p:nvSpPr>
          <p:cNvPr id="10" name="Title 1"/>
          <p:cNvSpPr>
            <a:spLocks noGrp="1"/>
          </p:cNvSpPr>
          <p:nvPr>
            <p:ph type="title"/>
          </p:nvPr>
        </p:nvSpPr>
        <p:spPr>
          <a:xfrm>
            <a:off x="838200" y="47074"/>
            <a:ext cx="8796130" cy="1105865"/>
          </a:xfrm>
          <a:ln>
            <a:solidFill>
              <a:schemeClr val="tx1"/>
            </a:solidFill>
          </a:ln>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Dynamic Programming</a:t>
            </a:r>
            <a:br>
              <a:rPr lang="en-US" altLang="zh-TW" b="1" dirty="0">
                <a:latin typeface="Times New Roman" panose="02020603050405020304" pitchFamily="18" charset="0"/>
                <a:cs typeface="Times New Roman" panose="02020603050405020304" pitchFamily="18" charset="0"/>
              </a:rPr>
            </a:br>
            <a:r>
              <a:rPr lang="en-US" altLang="zh-TW" b="1" dirty="0">
                <a:latin typeface="Times New Roman" panose="02020603050405020304" pitchFamily="18" charset="0"/>
                <a:cs typeface="Times New Roman" panose="02020603050405020304" pitchFamily="18" charset="0"/>
              </a:rPr>
              <a:t>(Forward Approach) </a:t>
            </a:r>
            <a:r>
              <a:rPr lang="en-US" altLang="zh-TW" b="1" dirty="0" err="1">
                <a:latin typeface="Times New Roman" panose="02020603050405020304" pitchFamily="18" charset="0"/>
                <a:cs typeface="Times New Roman" panose="02020603050405020304" pitchFamily="18" charset="0"/>
              </a:rPr>
              <a:t>Contd</a:t>
            </a:r>
            <a:r>
              <a:rPr lang="en-US" altLang="zh-TW" b="1" dirty="0">
                <a:latin typeface="Times New Roman" panose="02020603050405020304" pitchFamily="18" charset="0"/>
                <a:cs typeface="Times New Roman" panose="02020603050405020304" pitchFamily="18" charset="0"/>
              </a:rPr>
              <a:t>…</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37089"/>
            <a:ext cx="10515600" cy="4839874"/>
          </a:xfrm>
          <a:ln>
            <a:solidFill>
              <a:schemeClr val="tx1"/>
            </a:solidFill>
          </a:ln>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Find shortest path</a:t>
            </a:r>
          </a:p>
        </p:txBody>
      </p:sp>
      <p:sp>
        <p:nvSpPr>
          <p:cNvPr id="4" name="Slide Number Placeholder 3"/>
          <p:cNvSpPr>
            <a:spLocks noGrp="1"/>
          </p:cNvSpPr>
          <p:nvPr>
            <p:ph type="sldNum" sz="quarter" idx="12"/>
          </p:nvPr>
        </p:nvSpPr>
        <p:spPr/>
        <p:txBody>
          <a:bodyPr/>
          <a:lstStyle/>
          <a:p>
            <a:fld id="{BDCDBBEF-AA6C-4BA6-85B2-A17D7F280E38}" type="slidenum">
              <a:rPr lang="en-US" smtClean="0"/>
              <a:t>14</a:t>
            </a:fld>
            <a:endParaRPr lang="en-US"/>
          </a:p>
        </p:txBody>
      </p:sp>
      <p:sp>
        <p:nvSpPr>
          <p:cNvPr id="10" name="Title 1"/>
          <p:cNvSpPr>
            <a:spLocks noGrp="1"/>
          </p:cNvSpPr>
          <p:nvPr>
            <p:ph type="title"/>
          </p:nvPr>
        </p:nvSpPr>
        <p:spPr>
          <a:xfrm>
            <a:off x="838200" y="47074"/>
            <a:ext cx="8796130" cy="1105865"/>
          </a:xfrm>
          <a:ln>
            <a:solidFill>
              <a:schemeClr val="tx1"/>
            </a:solidFill>
          </a:ln>
        </p:spPr>
        <p:txBody>
          <a:bodyPr>
            <a:normAutofit fontScale="90000"/>
          </a:bodyPr>
          <a:lstStyle/>
          <a:p>
            <a:pPr algn="ctr"/>
            <a:br>
              <a:rPr lang="en-US" altLang="zh-TW" b="1" dirty="0">
                <a:latin typeface="Times New Roman" panose="02020603050405020304" pitchFamily="18" charset="0"/>
                <a:cs typeface="Times New Roman" panose="02020603050405020304" pitchFamily="18" charset="0"/>
              </a:rPr>
            </a:br>
            <a:r>
              <a:rPr lang="en-US" altLang="zh-TW" b="1" dirty="0">
                <a:latin typeface="Times New Roman" panose="02020603050405020304" pitchFamily="18" charset="0"/>
                <a:cs typeface="Times New Roman" panose="02020603050405020304" pitchFamily="18" charset="0"/>
              </a:rPr>
              <a:t>Multistage Graph</a:t>
            </a:r>
            <a:br>
              <a:rPr lang="en-US" altLang="zh-TW" b="1" dirty="0">
                <a:latin typeface="Times New Roman" panose="02020603050405020304" pitchFamily="18" charset="0"/>
                <a:cs typeface="Times New Roman" panose="02020603050405020304" pitchFamily="18" charset="0"/>
              </a:rPr>
            </a:br>
            <a:endParaRPr lang="en-US" dirty="0"/>
          </a:p>
        </p:txBody>
      </p:sp>
      <p:pic>
        <p:nvPicPr>
          <p:cNvPr id="6" name="Picture 5" descr="Diagram&#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6739" y="1786246"/>
            <a:ext cx="7857591" cy="401820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37089"/>
            <a:ext cx="10515600" cy="4839874"/>
          </a:xfrm>
          <a:ln>
            <a:solidFill>
              <a:schemeClr val="tx1"/>
            </a:solidFill>
          </a:ln>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Find shortest path</a:t>
            </a:r>
          </a:p>
        </p:txBody>
      </p:sp>
      <p:sp>
        <p:nvSpPr>
          <p:cNvPr id="4" name="Slide Number Placeholder 3"/>
          <p:cNvSpPr>
            <a:spLocks noGrp="1"/>
          </p:cNvSpPr>
          <p:nvPr>
            <p:ph type="sldNum" sz="quarter" idx="12"/>
          </p:nvPr>
        </p:nvSpPr>
        <p:spPr/>
        <p:txBody>
          <a:bodyPr/>
          <a:lstStyle/>
          <a:p>
            <a:fld id="{BDCDBBEF-AA6C-4BA6-85B2-A17D7F280E38}" type="slidenum">
              <a:rPr lang="en-US" smtClean="0"/>
              <a:t>15</a:t>
            </a:fld>
            <a:endParaRPr lang="en-US"/>
          </a:p>
        </p:txBody>
      </p:sp>
      <p:sp>
        <p:nvSpPr>
          <p:cNvPr id="10" name="Title 1"/>
          <p:cNvSpPr>
            <a:spLocks noGrp="1"/>
          </p:cNvSpPr>
          <p:nvPr>
            <p:ph type="title"/>
          </p:nvPr>
        </p:nvSpPr>
        <p:spPr>
          <a:xfrm>
            <a:off x="838200" y="47074"/>
            <a:ext cx="8796130" cy="1105865"/>
          </a:xfrm>
          <a:ln>
            <a:solidFill>
              <a:schemeClr val="tx1"/>
            </a:solidFill>
          </a:ln>
        </p:spPr>
        <p:txBody>
          <a:bodyPr>
            <a:normAutofit fontScale="90000"/>
          </a:bodyPr>
          <a:lstStyle/>
          <a:p>
            <a:pPr algn="ctr"/>
            <a:br>
              <a:rPr lang="en-US" altLang="zh-TW" b="1" dirty="0">
                <a:latin typeface="Times New Roman" panose="02020603050405020304" pitchFamily="18" charset="0"/>
                <a:cs typeface="Times New Roman" panose="02020603050405020304" pitchFamily="18" charset="0"/>
              </a:rPr>
            </a:br>
            <a:r>
              <a:rPr lang="en-US" altLang="zh-TW" b="1" dirty="0">
                <a:latin typeface="Times New Roman" panose="02020603050405020304" pitchFamily="18" charset="0"/>
                <a:cs typeface="Times New Roman" panose="02020603050405020304" pitchFamily="18" charset="0"/>
              </a:rPr>
              <a:t>Multistage Graph</a:t>
            </a:r>
            <a:br>
              <a:rPr lang="en-US" altLang="zh-TW" b="1" dirty="0">
                <a:latin typeface="Times New Roman" panose="02020603050405020304" pitchFamily="18" charset="0"/>
                <a:cs typeface="Times New Roman" panose="02020603050405020304" pitchFamily="18" charset="0"/>
              </a:rPr>
            </a:br>
            <a:endParaRPr lang="en-US" dirty="0"/>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5024" r="-2686" b="55942"/>
          <a:stretch>
            <a:fillRect/>
          </a:stretch>
        </p:blipFill>
        <p:spPr>
          <a:xfrm>
            <a:off x="2756452" y="1662786"/>
            <a:ext cx="6520069" cy="439534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98712"/>
            <a:ext cx="10515600" cy="5057637"/>
          </a:xfrm>
          <a:ln>
            <a:solidFill>
              <a:schemeClr val="tx1"/>
            </a:solidFill>
          </a:ln>
        </p:spPr>
        <p:txBody>
          <a:bodyPr>
            <a:normAutofit/>
          </a:bodyPr>
          <a:lstStyle/>
          <a:p>
            <a:pPr algn="just">
              <a:buFontTx/>
              <a:buChar char="•"/>
            </a:pP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sz="2400" dirty="0">
                <a:latin typeface="Times New Roman" panose="02020603050405020304" pitchFamily="18" charset="0"/>
                <a:ea typeface="SimSun" panose="02010600030101010101" pitchFamily="2" charset="-122"/>
                <a:cs typeface="Times New Roman" panose="02020603050405020304" pitchFamily="18" charset="0"/>
              </a:rPr>
              <a:t>Computes the transitive closure of a relation</a:t>
            </a:r>
          </a:p>
          <a:p>
            <a:pPr algn="just">
              <a:buFontTx/>
              <a:buChar char="•"/>
            </a:pPr>
            <a:r>
              <a:rPr lang="en-US" altLang="zh-CN" sz="2400" dirty="0">
                <a:latin typeface="Times New Roman" panose="02020603050405020304" pitchFamily="18" charset="0"/>
                <a:ea typeface="SimSun" panose="02010600030101010101" pitchFamily="2" charset="-122"/>
                <a:cs typeface="Times New Roman" panose="02020603050405020304" pitchFamily="18" charset="0"/>
              </a:rPr>
              <a:t> (Alternatively: all paths in a directed graph)</a:t>
            </a:r>
          </a:p>
          <a:p>
            <a:pPr algn="just">
              <a:buFontTx/>
              <a:buChar char="•"/>
            </a:pPr>
            <a:r>
              <a:rPr lang="en-US" altLang="zh-CN" sz="2400" dirty="0">
                <a:latin typeface="Times New Roman" panose="02020603050405020304" pitchFamily="18" charset="0"/>
                <a:ea typeface="SimSun" panose="02010600030101010101" pitchFamily="2" charset="-122"/>
                <a:cs typeface="Times New Roman" panose="02020603050405020304" pitchFamily="18" charset="0"/>
              </a:rPr>
              <a:t> Example of transitive closure:</a:t>
            </a:r>
          </a:p>
          <a:p>
            <a:pPr algn="just">
              <a:buFontTx/>
              <a:buChar char="•"/>
            </a:pPr>
            <a:endParaRPr lang="en-US" altLang="zh-CN" sz="2400" i="1" dirty="0">
              <a:latin typeface="Times New Roman" panose="02020603050405020304" pitchFamily="18" charset="0"/>
              <a:ea typeface="SimSun" panose="02010600030101010101" pitchFamily="2" charset="-122"/>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16</a:t>
            </a:fld>
            <a:endParaRPr lang="en-US"/>
          </a:p>
        </p:txBody>
      </p:sp>
      <p:grpSp>
        <p:nvGrpSpPr>
          <p:cNvPr id="5" name="Group 4"/>
          <p:cNvGrpSpPr/>
          <p:nvPr/>
        </p:nvGrpSpPr>
        <p:grpSpPr bwMode="auto">
          <a:xfrm>
            <a:off x="1196894" y="3021121"/>
            <a:ext cx="2946400" cy="2057400"/>
            <a:chOff x="576" y="1824"/>
            <a:chExt cx="1392" cy="1296"/>
          </a:xfrm>
        </p:grpSpPr>
        <p:sp>
          <p:nvSpPr>
            <p:cNvPr id="6" name="Oval 5"/>
            <p:cNvSpPr>
              <a:spLocks noChangeArrowheads="1"/>
            </p:cNvSpPr>
            <p:nvPr/>
          </p:nvSpPr>
          <p:spPr bwMode="auto">
            <a:xfrm>
              <a:off x="1392" y="1824"/>
              <a:ext cx="192" cy="192"/>
            </a:xfrm>
            <a:prstGeom prst="ellipse">
              <a:avLst/>
            </a:prstGeom>
            <a:solidFill>
              <a:schemeClr val="accent1"/>
            </a:solidFill>
            <a:ln w="6350">
              <a:solidFill>
                <a:schemeClr val="tx1"/>
              </a:solidFill>
              <a:rou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CN" dirty="0">
                  <a:solidFill>
                    <a:schemeClr val="bg2"/>
                  </a:solidFill>
                  <a:ea typeface="SimSun" panose="02010600030101010101" pitchFamily="2" charset="-122"/>
                </a:rPr>
                <a:t>3</a:t>
              </a:r>
            </a:p>
          </p:txBody>
        </p:sp>
        <p:sp>
          <p:nvSpPr>
            <p:cNvPr id="7" name="Oval 6"/>
            <p:cNvSpPr>
              <a:spLocks noChangeArrowheads="1"/>
            </p:cNvSpPr>
            <p:nvPr/>
          </p:nvSpPr>
          <p:spPr bwMode="auto">
            <a:xfrm>
              <a:off x="1776" y="2832"/>
              <a:ext cx="192" cy="192"/>
            </a:xfrm>
            <a:prstGeom prst="ellipse">
              <a:avLst/>
            </a:prstGeom>
            <a:solidFill>
              <a:schemeClr val="accent1"/>
            </a:solidFill>
            <a:ln w="6350">
              <a:solidFill>
                <a:schemeClr val="tx1"/>
              </a:solidFill>
              <a:rou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CN">
                  <a:solidFill>
                    <a:schemeClr val="bg2"/>
                  </a:solidFill>
                  <a:ea typeface="SimSun" panose="02010600030101010101" pitchFamily="2" charset="-122"/>
                </a:rPr>
                <a:t>4</a:t>
              </a:r>
            </a:p>
          </p:txBody>
        </p:sp>
        <p:sp>
          <p:nvSpPr>
            <p:cNvPr id="8" name="Oval 7"/>
            <p:cNvSpPr>
              <a:spLocks noChangeArrowheads="1"/>
            </p:cNvSpPr>
            <p:nvPr/>
          </p:nvSpPr>
          <p:spPr bwMode="auto">
            <a:xfrm>
              <a:off x="720" y="2928"/>
              <a:ext cx="192" cy="192"/>
            </a:xfrm>
            <a:prstGeom prst="ellipse">
              <a:avLst/>
            </a:prstGeom>
            <a:solidFill>
              <a:schemeClr val="accent1"/>
            </a:solidFill>
            <a:ln w="6350">
              <a:solidFill>
                <a:schemeClr val="tx1"/>
              </a:solidFill>
              <a:rou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CN" dirty="0">
                  <a:solidFill>
                    <a:schemeClr val="bg2"/>
                  </a:solidFill>
                  <a:ea typeface="SimSun" panose="02010600030101010101" pitchFamily="2" charset="-122"/>
                </a:rPr>
                <a:t>2</a:t>
              </a:r>
            </a:p>
          </p:txBody>
        </p:sp>
        <p:sp>
          <p:nvSpPr>
            <p:cNvPr id="9" name="Oval 8"/>
            <p:cNvSpPr>
              <a:spLocks noChangeArrowheads="1"/>
            </p:cNvSpPr>
            <p:nvPr/>
          </p:nvSpPr>
          <p:spPr bwMode="auto">
            <a:xfrm>
              <a:off x="576" y="2064"/>
              <a:ext cx="192" cy="192"/>
            </a:xfrm>
            <a:prstGeom prst="ellipse">
              <a:avLst/>
            </a:prstGeom>
            <a:solidFill>
              <a:schemeClr val="accent1"/>
            </a:solidFill>
            <a:ln w="6350">
              <a:solidFill>
                <a:schemeClr val="tx1"/>
              </a:solidFill>
              <a:rou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CN">
                  <a:solidFill>
                    <a:schemeClr val="bg2"/>
                  </a:solidFill>
                  <a:ea typeface="SimSun" panose="02010600030101010101" pitchFamily="2" charset="-122"/>
                </a:rPr>
                <a:t>1</a:t>
              </a:r>
            </a:p>
          </p:txBody>
        </p:sp>
        <p:sp>
          <p:nvSpPr>
            <p:cNvPr id="10" name="Line 9"/>
            <p:cNvSpPr>
              <a:spLocks noChangeShapeType="1"/>
            </p:cNvSpPr>
            <p:nvPr/>
          </p:nvSpPr>
          <p:spPr bwMode="auto">
            <a:xfrm flipV="1">
              <a:off x="768" y="1968"/>
              <a:ext cx="624" cy="144"/>
            </a:xfrm>
            <a:prstGeom prst="line">
              <a:avLst/>
            </a:prstGeom>
            <a:noFill/>
            <a:ln w="63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cxnSp>
          <p:nvCxnSpPr>
            <p:cNvPr id="11" name="AutoShape 10"/>
            <p:cNvCxnSpPr>
              <a:cxnSpLocks noChangeShapeType="1"/>
            </p:cNvCxnSpPr>
            <p:nvPr/>
          </p:nvCxnSpPr>
          <p:spPr bwMode="auto">
            <a:xfrm flipV="1">
              <a:off x="912" y="2976"/>
              <a:ext cx="892" cy="28"/>
            </a:xfrm>
            <a:prstGeom prst="curvedConnector4">
              <a:avLst>
                <a:gd name="adj1" fmla="val -338"/>
                <a:gd name="adj2" fmla="val -514287"/>
              </a:avLst>
            </a:prstGeom>
            <a:noFill/>
            <a:ln w="6350">
              <a:solidFill>
                <a:schemeClr val="tx1"/>
              </a:solidFill>
              <a:round/>
              <a:tailEnd type="triangle" w="med" len="med"/>
            </a:ln>
            <a:extLst>
              <a:ext uri="{909E8E84-426E-40DD-AFC4-6F175D3DCCD1}">
                <a14:hiddenFill xmlns:a14="http://schemas.microsoft.com/office/drawing/2010/main">
                  <a:noFill/>
                </a14:hiddenFill>
              </a:ext>
            </a:extLst>
          </p:spPr>
        </p:cxnSp>
        <p:cxnSp>
          <p:nvCxnSpPr>
            <p:cNvPr id="12" name="AutoShape 11"/>
            <p:cNvCxnSpPr>
              <a:cxnSpLocks noChangeShapeType="1"/>
              <a:stCxn id="7" idx="1"/>
              <a:endCxn id="8" idx="7"/>
            </p:cNvCxnSpPr>
            <p:nvPr/>
          </p:nvCxnSpPr>
          <p:spPr bwMode="auto">
            <a:xfrm rot="-5400000" flipH="1" flipV="1">
              <a:off x="1296" y="2448"/>
              <a:ext cx="96" cy="920"/>
            </a:xfrm>
            <a:prstGeom prst="curvedConnector3">
              <a:avLst>
                <a:gd name="adj1" fmla="val -179167"/>
              </a:avLst>
            </a:prstGeom>
            <a:noFill/>
            <a:ln w="6350">
              <a:solidFill>
                <a:schemeClr val="tx1"/>
              </a:solidFill>
              <a:round/>
              <a:tailEnd type="triangle" w="med" len="med"/>
            </a:ln>
            <a:extLst>
              <a:ext uri="{909E8E84-426E-40DD-AFC4-6F175D3DCCD1}">
                <a14:hiddenFill xmlns:a14="http://schemas.microsoft.com/office/drawing/2010/main">
                  <a:noFill/>
                </a14:hiddenFill>
              </a:ext>
            </a:extLst>
          </p:spPr>
        </p:cxnSp>
        <p:sp>
          <p:nvSpPr>
            <p:cNvPr id="13" name="Line 12"/>
            <p:cNvSpPr>
              <a:spLocks noChangeShapeType="1"/>
            </p:cNvSpPr>
            <p:nvPr/>
          </p:nvSpPr>
          <p:spPr bwMode="auto">
            <a:xfrm flipH="1" flipV="1">
              <a:off x="672" y="2256"/>
              <a:ext cx="96" cy="672"/>
            </a:xfrm>
            <a:prstGeom prst="line">
              <a:avLst/>
            </a:prstGeom>
            <a:noFill/>
            <a:ln w="63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14" name="Text Box 13"/>
          <p:cNvSpPr txBox="1">
            <a:spLocks noChangeArrowheads="1"/>
          </p:cNvSpPr>
          <p:nvPr/>
        </p:nvSpPr>
        <p:spPr bwMode="auto">
          <a:xfrm>
            <a:off x="4403932" y="3465441"/>
            <a:ext cx="99257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l"/>
            <a:r>
              <a:rPr lang="en-US" altLang="zh-CN" sz="1800" dirty="0">
                <a:ea typeface="SimSun" panose="02010600030101010101" pitchFamily="2" charset="-122"/>
              </a:rPr>
              <a:t>0  0  1  0</a:t>
            </a:r>
          </a:p>
          <a:p>
            <a:pPr algn="l"/>
            <a:r>
              <a:rPr lang="en-US" altLang="zh-CN" sz="1800" dirty="0">
                <a:ea typeface="SimSun" panose="02010600030101010101" pitchFamily="2" charset="-122"/>
              </a:rPr>
              <a:t>1  0  0  1</a:t>
            </a:r>
          </a:p>
          <a:p>
            <a:pPr algn="l"/>
            <a:r>
              <a:rPr lang="en-US" altLang="zh-CN" sz="1800" dirty="0">
                <a:ea typeface="SimSun" panose="02010600030101010101" pitchFamily="2" charset="-122"/>
              </a:rPr>
              <a:t>0  0  0  0</a:t>
            </a:r>
          </a:p>
          <a:p>
            <a:pPr algn="l"/>
            <a:r>
              <a:rPr lang="en-US" altLang="zh-CN" sz="1800" dirty="0">
                <a:ea typeface="SimSun" panose="02010600030101010101" pitchFamily="2" charset="-122"/>
              </a:rPr>
              <a:t>0  1  0  0</a:t>
            </a:r>
          </a:p>
        </p:txBody>
      </p:sp>
      <p:grpSp>
        <p:nvGrpSpPr>
          <p:cNvPr id="15" name="Group 15"/>
          <p:cNvGrpSpPr/>
          <p:nvPr/>
        </p:nvGrpSpPr>
        <p:grpSpPr bwMode="auto">
          <a:xfrm>
            <a:off x="6299200" y="3021121"/>
            <a:ext cx="2946400" cy="2057400"/>
            <a:chOff x="2928" y="1824"/>
            <a:chExt cx="1392" cy="1296"/>
          </a:xfrm>
        </p:grpSpPr>
        <p:sp>
          <p:nvSpPr>
            <p:cNvPr id="16" name="Oval 16"/>
            <p:cNvSpPr>
              <a:spLocks noChangeArrowheads="1"/>
            </p:cNvSpPr>
            <p:nvPr/>
          </p:nvSpPr>
          <p:spPr bwMode="auto">
            <a:xfrm>
              <a:off x="3744" y="1824"/>
              <a:ext cx="192" cy="192"/>
            </a:xfrm>
            <a:prstGeom prst="ellipse">
              <a:avLst/>
            </a:prstGeom>
            <a:solidFill>
              <a:schemeClr val="accent1"/>
            </a:solidFill>
            <a:ln w="6350">
              <a:solidFill>
                <a:schemeClr val="tx1"/>
              </a:solidFill>
              <a:rou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CN">
                  <a:solidFill>
                    <a:schemeClr val="bg2"/>
                  </a:solidFill>
                  <a:ea typeface="SimSun" panose="02010600030101010101" pitchFamily="2" charset="-122"/>
                </a:rPr>
                <a:t>3</a:t>
              </a:r>
            </a:p>
          </p:txBody>
        </p:sp>
        <p:sp>
          <p:nvSpPr>
            <p:cNvPr id="17" name="Oval 17"/>
            <p:cNvSpPr>
              <a:spLocks noChangeArrowheads="1"/>
            </p:cNvSpPr>
            <p:nvPr/>
          </p:nvSpPr>
          <p:spPr bwMode="auto">
            <a:xfrm>
              <a:off x="4128" y="2832"/>
              <a:ext cx="192" cy="192"/>
            </a:xfrm>
            <a:prstGeom prst="ellipse">
              <a:avLst/>
            </a:prstGeom>
            <a:solidFill>
              <a:schemeClr val="accent1"/>
            </a:solidFill>
            <a:ln w="6350">
              <a:solidFill>
                <a:schemeClr val="tx1"/>
              </a:solidFill>
              <a:rou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CN">
                  <a:solidFill>
                    <a:schemeClr val="bg2"/>
                  </a:solidFill>
                  <a:ea typeface="SimSun" panose="02010600030101010101" pitchFamily="2" charset="-122"/>
                </a:rPr>
                <a:t>4</a:t>
              </a:r>
            </a:p>
          </p:txBody>
        </p:sp>
        <p:sp>
          <p:nvSpPr>
            <p:cNvPr id="18" name="Oval 18"/>
            <p:cNvSpPr>
              <a:spLocks noChangeArrowheads="1"/>
            </p:cNvSpPr>
            <p:nvPr/>
          </p:nvSpPr>
          <p:spPr bwMode="auto">
            <a:xfrm>
              <a:off x="3072" y="2928"/>
              <a:ext cx="192" cy="192"/>
            </a:xfrm>
            <a:prstGeom prst="ellipse">
              <a:avLst/>
            </a:prstGeom>
            <a:solidFill>
              <a:schemeClr val="accent1"/>
            </a:solidFill>
            <a:ln w="6350">
              <a:solidFill>
                <a:schemeClr val="tx1"/>
              </a:solidFill>
              <a:rou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CN">
                  <a:solidFill>
                    <a:schemeClr val="bg2"/>
                  </a:solidFill>
                  <a:ea typeface="SimSun" panose="02010600030101010101" pitchFamily="2" charset="-122"/>
                </a:rPr>
                <a:t>2</a:t>
              </a:r>
            </a:p>
          </p:txBody>
        </p:sp>
        <p:sp>
          <p:nvSpPr>
            <p:cNvPr id="19" name="Oval 19"/>
            <p:cNvSpPr>
              <a:spLocks noChangeArrowheads="1"/>
            </p:cNvSpPr>
            <p:nvPr/>
          </p:nvSpPr>
          <p:spPr bwMode="auto">
            <a:xfrm>
              <a:off x="2928" y="2064"/>
              <a:ext cx="192" cy="192"/>
            </a:xfrm>
            <a:prstGeom prst="ellipse">
              <a:avLst/>
            </a:prstGeom>
            <a:solidFill>
              <a:schemeClr val="accent1"/>
            </a:solidFill>
            <a:ln w="6350">
              <a:solidFill>
                <a:schemeClr val="tx1"/>
              </a:solidFill>
              <a:rou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CN">
                  <a:solidFill>
                    <a:schemeClr val="bg2"/>
                  </a:solidFill>
                  <a:ea typeface="SimSun" panose="02010600030101010101" pitchFamily="2" charset="-122"/>
                </a:rPr>
                <a:t>1</a:t>
              </a:r>
            </a:p>
          </p:txBody>
        </p:sp>
        <p:sp>
          <p:nvSpPr>
            <p:cNvPr id="20" name="Line 20"/>
            <p:cNvSpPr>
              <a:spLocks noChangeShapeType="1"/>
            </p:cNvSpPr>
            <p:nvPr/>
          </p:nvSpPr>
          <p:spPr bwMode="auto">
            <a:xfrm flipV="1">
              <a:off x="3120" y="1968"/>
              <a:ext cx="624" cy="144"/>
            </a:xfrm>
            <a:prstGeom prst="line">
              <a:avLst/>
            </a:prstGeom>
            <a:noFill/>
            <a:ln w="63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cxnSp>
          <p:nvCxnSpPr>
            <p:cNvPr id="21" name="AutoShape 21"/>
            <p:cNvCxnSpPr>
              <a:cxnSpLocks noChangeShapeType="1"/>
            </p:cNvCxnSpPr>
            <p:nvPr/>
          </p:nvCxnSpPr>
          <p:spPr bwMode="auto">
            <a:xfrm flipV="1">
              <a:off x="3264" y="2976"/>
              <a:ext cx="892" cy="28"/>
            </a:xfrm>
            <a:prstGeom prst="curvedConnector4">
              <a:avLst>
                <a:gd name="adj1" fmla="val -338"/>
                <a:gd name="adj2" fmla="val -514287"/>
              </a:avLst>
            </a:prstGeom>
            <a:noFill/>
            <a:ln w="6350">
              <a:solidFill>
                <a:schemeClr val="tx1"/>
              </a:solidFill>
              <a:round/>
              <a:tailEnd type="triangle" w="med" len="med"/>
            </a:ln>
            <a:extLst>
              <a:ext uri="{909E8E84-426E-40DD-AFC4-6F175D3DCCD1}">
                <a14:hiddenFill xmlns:a14="http://schemas.microsoft.com/office/drawing/2010/main">
                  <a:noFill/>
                </a14:hiddenFill>
              </a:ext>
            </a:extLst>
          </p:spPr>
        </p:cxnSp>
        <p:cxnSp>
          <p:nvCxnSpPr>
            <p:cNvPr id="22" name="AutoShape 22"/>
            <p:cNvCxnSpPr>
              <a:cxnSpLocks noChangeShapeType="1"/>
              <a:stCxn id="17" idx="1"/>
              <a:endCxn id="18" idx="7"/>
            </p:cNvCxnSpPr>
            <p:nvPr/>
          </p:nvCxnSpPr>
          <p:spPr bwMode="auto">
            <a:xfrm rot="-5400000" flipH="1" flipV="1">
              <a:off x="3648" y="2448"/>
              <a:ext cx="96" cy="920"/>
            </a:xfrm>
            <a:prstGeom prst="curvedConnector3">
              <a:avLst>
                <a:gd name="adj1" fmla="val -179167"/>
              </a:avLst>
            </a:prstGeom>
            <a:noFill/>
            <a:ln w="6350">
              <a:solidFill>
                <a:schemeClr val="tx1"/>
              </a:solidFill>
              <a:round/>
              <a:tailEnd type="triangle" w="med" len="med"/>
            </a:ln>
            <a:extLst>
              <a:ext uri="{909E8E84-426E-40DD-AFC4-6F175D3DCCD1}">
                <a14:hiddenFill xmlns:a14="http://schemas.microsoft.com/office/drawing/2010/main">
                  <a:noFill/>
                </a14:hiddenFill>
              </a:ext>
            </a:extLst>
          </p:spPr>
        </p:cxnSp>
        <p:sp>
          <p:nvSpPr>
            <p:cNvPr id="23" name="Line 23"/>
            <p:cNvSpPr>
              <a:spLocks noChangeShapeType="1"/>
            </p:cNvSpPr>
            <p:nvPr/>
          </p:nvSpPr>
          <p:spPr bwMode="auto">
            <a:xfrm flipH="1" flipV="1">
              <a:off x="3024" y="2256"/>
              <a:ext cx="96" cy="672"/>
            </a:xfrm>
            <a:prstGeom prst="line">
              <a:avLst/>
            </a:prstGeom>
            <a:noFill/>
            <a:ln w="63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24"/>
            <p:cNvSpPr>
              <a:spLocks noChangeShapeType="1"/>
            </p:cNvSpPr>
            <p:nvPr/>
          </p:nvSpPr>
          <p:spPr bwMode="auto">
            <a:xfrm flipV="1">
              <a:off x="3168" y="2016"/>
              <a:ext cx="624" cy="912"/>
            </a:xfrm>
            <a:prstGeom prst="line">
              <a:avLst/>
            </a:prstGeom>
            <a:noFill/>
            <a:ln w="6350">
              <a:solidFill>
                <a:schemeClr val="tx1"/>
              </a:solidFill>
              <a:prstDash val="sysDot"/>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25"/>
            <p:cNvSpPr>
              <a:spLocks noChangeShapeType="1"/>
            </p:cNvSpPr>
            <p:nvPr/>
          </p:nvSpPr>
          <p:spPr bwMode="auto">
            <a:xfrm flipH="1" flipV="1">
              <a:off x="3840" y="2016"/>
              <a:ext cx="384" cy="816"/>
            </a:xfrm>
            <a:prstGeom prst="line">
              <a:avLst/>
            </a:prstGeom>
            <a:noFill/>
            <a:ln w="6350">
              <a:solidFill>
                <a:schemeClr val="tx1"/>
              </a:solidFill>
              <a:prstDash val="sysDot"/>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cxnSp>
          <p:nvCxnSpPr>
            <p:cNvPr id="26" name="AutoShape 26"/>
            <p:cNvCxnSpPr>
              <a:cxnSpLocks noChangeShapeType="1"/>
              <a:stCxn id="18" idx="2"/>
              <a:endCxn id="18" idx="3"/>
            </p:cNvCxnSpPr>
            <p:nvPr/>
          </p:nvCxnSpPr>
          <p:spPr bwMode="auto">
            <a:xfrm rot="10800000" flipH="1" flipV="1">
              <a:off x="3072" y="3024"/>
              <a:ext cx="28" cy="68"/>
            </a:xfrm>
            <a:prstGeom prst="curvedConnector4">
              <a:avLst>
                <a:gd name="adj1" fmla="val -514287"/>
                <a:gd name="adj2" fmla="val 352940"/>
              </a:avLst>
            </a:prstGeom>
            <a:noFill/>
            <a:ln w="6350">
              <a:solidFill>
                <a:schemeClr val="tx1"/>
              </a:solidFill>
              <a:prstDash val="sysDot"/>
              <a:round/>
              <a:tailEnd type="triangle" w="med" len="med"/>
            </a:ln>
            <a:extLst>
              <a:ext uri="{909E8E84-426E-40DD-AFC4-6F175D3DCCD1}">
                <a14:hiddenFill xmlns:a14="http://schemas.microsoft.com/office/drawing/2010/main">
                  <a:noFill/>
                </a14:hiddenFill>
              </a:ext>
            </a:extLst>
          </p:spPr>
        </p:cxnSp>
        <p:cxnSp>
          <p:nvCxnSpPr>
            <p:cNvPr id="27" name="AutoShape 27"/>
            <p:cNvCxnSpPr>
              <a:cxnSpLocks noChangeShapeType="1"/>
              <a:stCxn id="17" idx="7"/>
              <a:endCxn id="17" idx="6"/>
            </p:cNvCxnSpPr>
            <p:nvPr/>
          </p:nvCxnSpPr>
          <p:spPr bwMode="auto">
            <a:xfrm rot="5400000" flipV="1">
              <a:off x="4272" y="2880"/>
              <a:ext cx="68" cy="28"/>
            </a:xfrm>
            <a:prstGeom prst="curvedConnector4">
              <a:avLst>
                <a:gd name="adj1" fmla="val -252940"/>
                <a:gd name="adj2" fmla="val 614287"/>
              </a:avLst>
            </a:prstGeom>
            <a:noFill/>
            <a:ln w="6350">
              <a:solidFill>
                <a:schemeClr val="tx1"/>
              </a:solidFill>
              <a:prstDash val="sysDot"/>
              <a:round/>
              <a:tailEnd type="triangle" w="med" len="med"/>
            </a:ln>
            <a:extLst>
              <a:ext uri="{909E8E84-426E-40DD-AFC4-6F175D3DCCD1}">
                <a14:hiddenFill xmlns:a14="http://schemas.microsoft.com/office/drawing/2010/main">
                  <a:noFill/>
                </a14:hiddenFill>
              </a:ext>
            </a:extLst>
          </p:spPr>
        </p:cxnSp>
        <p:sp>
          <p:nvSpPr>
            <p:cNvPr id="28" name="Line 28"/>
            <p:cNvSpPr>
              <a:spLocks noChangeShapeType="1"/>
            </p:cNvSpPr>
            <p:nvPr/>
          </p:nvSpPr>
          <p:spPr bwMode="auto">
            <a:xfrm flipH="1" flipV="1">
              <a:off x="3120" y="2208"/>
              <a:ext cx="1056" cy="624"/>
            </a:xfrm>
            <a:prstGeom prst="line">
              <a:avLst/>
            </a:prstGeom>
            <a:noFill/>
            <a:ln w="6350">
              <a:solidFill>
                <a:schemeClr val="tx1"/>
              </a:solidFill>
              <a:prstDash val="sysDot"/>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29" name="Text Box 14"/>
          <p:cNvSpPr txBox="1">
            <a:spLocks noChangeArrowheads="1"/>
          </p:cNvSpPr>
          <p:nvPr/>
        </p:nvSpPr>
        <p:spPr bwMode="auto">
          <a:xfrm>
            <a:off x="9982200" y="3495001"/>
            <a:ext cx="992579" cy="1200329"/>
          </a:xfrm>
          <a:prstGeom prst="rect">
            <a:avLst/>
          </a:prstGeom>
          <a:noFill/>
          <a:ln w="9525">
            <a:noFill/>
            <a:miter lim="800000"/>
          </a:ln>
          <a:effectLst/>
        </p:spPr>
        <p:txBody>
          <a:bodyPr wrap="none">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l">
              <a:defRPr/>
            </a:pPr>
            <a:r>
              <a:rPr lang="en-US" altLang="zh-CN" sz="1800" dirty="0">
                <a:ea typeface="SimSun" panose="02010600030101010101" pitchFamily="2" charset="-122"/>
              </a:rPr>
              <a:t>0  0  1  0</a:t>
            </a:r>
          </a:p>
          <a:p>
            <a:pPr algn="l">
              <a:defRPr/>
            </a:pPr>
            <a:r>
              <a:rPr lang="en-US" altLang="zh-CN" sz="1800" dirty="0">
                <a:ea typeface="SimSun" panose="02010600030101010101" pitchFamily="2" charset="-122"/>
              </a:rPr>
              <a:t>1  </a:t>
            </a:r>
            <a:r>
              <a:rPr lang="en-US" altLang="zh-CN" sz="1800" b="1" dirty="0">
                <a:effectLst>
                  <a:outerShdw blurRad="38100" dist="38100" dir="2700000" algn="tl">
                    <a:srgbClr val="000000"/>
                  </a:outerShdw>
                </a:effectLst>
                <a:ea typeface="SimSun" panose="02010600030101010101" pitchFamily="2" charset="-122"/>
              </a:rPr>
              <a:t>1  1</a:t>
            </a:r>
            <a:r>
              <a:rPr lang="en-US" altLang="zh-CN" sz="1800" dirty="0">
                <a:ea typeface="SimSun" panose="02010600030101010101" pitchFamily="2" charset="-122"/>
              </a:rPr>
              <a:t>  1</a:t>
            </a:r>
          </a:p>
          <a:p>
            <a:pPr algn="l">
              <a:defRPr/>
            </a:pPr>
            <a:r>
              <a:rPr lang="en-US" altLang="zh-CN" sz="1800" dirty="0">
                <a:ea typeface="SimSun" panose="02010600030101010101" pitchFamily="2" charset="-122"/>
              </a:rPr>
              <a:t>0  0  0  0</a:t>
            </a:r>
          </a:p>
          <a:p>
            <a:pPr algn="l">
              <a:defRPr/>
            </a:pPr>
            <a:r>
              <a:rPr lang="en-US" altLang="zh-CN" sz="1800" b="1" dirty="0">
                <a:effectLst>
                  <a:outerShdw blurRad="38100" dist="38100" dir="2700000" algn="tl">
                    <a:srgbClr val="000000"/>
                  </a:outerShdw>
                </a:effectLst>
                <a:ea typeface="SimSun" panose="02010600030101010101" pitchFamily="2" charset="-122"/>
              </a:rPr>
              <a:t>1</a:t>
            </a:r>
            <a:r>
              <a:rPr lang="en-US" altLang="zh-CN" sz="1800" dirty="0">
                <a:ea typeface="SimSun" panose="02010600030101010101" pitchFamily="2" charset="-122"/>
              </a:rPr>
              <a:t>  1  </a:t>
            </a:r>
            <a:r>
              <a:rPr lang="en-US" altLang="zh-CN" sz="1800" b="1" dirty="0">
                <a:effectLst>
                  <a:outerShdw blurRad="38100" dist="38100" dir="2700000" algn="tl">
                    <a:srgbClr val="000000"/>
                  </a:outerShdw>
                </a:effectLst>
                <a:ea typeface="SimSun" panose="02010600030101010101" pitchFamily="2" charset="-122"/>
              </a:rPr>
              <a:t>1  1</a:t>
            </a:r>
          </a:p>
        </p:txBody>
      </p:sp>
      <p:sp>
        <p:nvSpPr>
          <p:cNvPr id="30" name="TextBox 29"/>
          <p:cNvSpPr txBox="1"/>
          <p:nvPr/>
        </p:nvSpPr>
        <p:spPr>
          <a:xfrm>
            <a:off x="4243686" y="5824576"/>
            <a:ext cx="335805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 3.5: </a:t>
            </a:r>
            <a:r>
              <a:rPr lang="en-US" dirty="0">
                <a:latin typeface="Times New Roman" panose="02020603050405020304" pitchFamily="18" charset="0"/>
                <a:cs typeface="Times New Roman" panose="02020603050405020304" pitchFamily="18" charset="0"/>
              </a:rPr>
              <a:t>Transitive closure</a:t>
            </a:r>
          </a:p>
        </p:txBody>
      </p:sp>
      <p:sp>
        <p:nvSpPr>
          <p:cNvPr id="35" name="Title 1"/>
          <p:cNvSpPr>
            <a:spLocks noGrp="1"/>
          </p:cNvSpPr>
          <p:nvPr>
            <p:ph type="title"/>
          </p:nvPr>
        </p:nvSpPr>
        <p:spPr>
          <a:xfrm>
            <a:off x="838200" y="47074"/>
            <a:ext cx="8796130" cy="1105865"/>
          </a:xfrm>
          <a:ln>
            <a:solidFill>
              <a:schemeClr val="tx1"/>
            </a:solidFill>
          </a:ln>
        </p:spPr>
        <p:txBody>
          <a:bodyPr>
            <a:normAutofit/>
          </a:bodyPr>
          <a:lstStyle/>
          <a:p>
            <a:pPr algn="ctr"/>
            <a:r>
              <a:rPr lang="en-US" b="1" dirty="0">
                <a:latin typeface="Times New Roman" panose="02020603050405020304" pitchFamily="18" charset="0"/>
                <a:cs typeface="Times New Roman" panose="02020603050405020304" pitchFamily="18" charset="0"/>
              </a:rPr>
              <a:t>Transitive Closure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8756374" cy="804381"/>
          </a:xfrm>
          <a:ln>
            <a:solidFill>
              <a:schemeClr val="tx1"/>
            </a:solidFill>
          </a:ln>
        </p:spPr>
        <p:txBody>
          <a:bodyPr/>
          <a:lstStyle/>
          <a:p>
            <a:pPr algn="ctr"/>
            <a:r>
              <a:rPr lang="en-US" b="1" dirty="0" err="1">
                <a:latin typeface="Times New Roman" panose="02020603050405020304" pitchFamily="18" charset="0"/>
                <a:cs typeface="Times New Roman" panose="02020603050405020304" pitchFamily="18" charset="0"/>
              </a:rPr>
              <a:t>Warshall’s</a:t>
            </a:r>
            <a:r>
              <a:rPr lang="en-US" b="1" dirty="0">
                <a:latin typeface="Times New Roman" panose="02020603050405020304" pitchFamily="18" charset="0"/>
                <a:cs typeface="Times New Roman" panose="02020603050405020304" pitchFamily="18" charset="0"/>
              </a:rPr>
              <a:t> Algorithm</a:t>
            </a:r>
            <a:endParaRPr lang="en-US" dirty="0"/>
          </a:p>
        </p:txBody>
      </p:sp>
      <p:sp>
        <p:nvSpPr>
          <p:cNvPr id="3" name="Content Placeholder 2"/>
          <p:cNvSpPr>
            <a:spLocks noGrp="1"/>
          </p:cNvSpPr>
          <p:nvPr>
            <p:ph idx="1"/>
          </p:nvPr>
        </p:nvSpPr>
        <p:spPr>
          <a:xfrm>
            <a:off x="838200" y="1125056"/>
            <a:ext cx="10515600" cy="5051907"/>
          </a:xfrm>
        </p:spPr>
        <p:txBody>
          <a:bodyPr>
            <a:noAutofit/>
          </a:bodyPr>
          <a:lstStyle/>
          <a:p>
            <a:pPr algn="just">
              <a:buFontTx/>
              <a:buChar char="•"/>
            </a:pPr>
            <a:r>
              <a:rPr lang="en-US" sz="2400" b="0" i="0" dirty="0" err="1">
                <a:effectLst/>
                <a:latin typeface="Times New Roman" panose="02020603050405020304" pitchFamily="18" charset="0"/>
                <a:cs typeface="Times New Roman" panose="02020603050405020304" pitchFamily="18" charset="0"/>
              </a:rPr>
              <a:t>Warshall's</a:t>
            </a:r>
            <a:r>
              <a:rPr lang="en-US" sz="2400" b="0" i="0" dirty="0">
                <a:effectLst/>
                <a:latin typeface="Times New Roman" panose="02020603050405020304" pitchFamily="18" charset="0"/>
                <a:cs typeface="Times New Roman" panose="02020603050405020304" pitchFamily="18" charset="0"/>
              </a:rPr>
              <a:t> algorithm is used to determine the transitive closure of a directed graph or all paths in a directed graph by using the adjacency matrix. For this, it generates a sequence of </a:t>
            </a:r>
            <a:r>
              <a:rPr lang="en-US" sz="2400" b="1" i="0" dirty="0">
                <a:effectLst/>
                <a:latin typeface="Times New Roman" panose="02020603050405020304" pitchFamily="18" charset="0"/>
                <a:cs typeface="Times New Roman" panose="02020603050405020304" pitchFamily="18" charset="0"/>
              </a:rPr>
              <a:t>n matrices</a:t>
            </a:r>
            <a:r>
              <a:rPr lang="en-US" sz="2400" b="0" i="0" dirty="0">
                <a:effectLst/>
                <a:latin typeface="Times New Roman" panose="02020603050405020304" pitchFamily="18" charset="0"/>
                <a:cs typeface="Times New Roman" panose="02020603050405020304" pitchFamily="18" charset="0"/>
              </a:rPr>
              <a:t>. Where, n is used to describe the number of vertices.</a:t>
            </a:r>
            <a:endParaRPr lang="en-US" sz="2400" dirty="0">
              <a:latin typeface="Times New Roman" panose="02020603050405020304" pitchFamily="18" charset="0"/>
              <a:cs typeface="Times New Roman" panose="02020603050405020304" pitchFamily="18" charset="0"/>
            </a:endParaRPr>
          </a:p>
          <a:p>
            <a:pPr marL="0" indent="0" algn="just">
              <a:buNone/>
            </a:pPr>
            <a:r>
              <a:rPr lang="pt-BR" sz="2400" dirty="0">
                <a:latin typeface="Times New Roman" panose="02020603050405020304" pitchFamily="18" charset="0"/>
                <a:cs typeface="Times New Roman" panose="02020603050405020304" pitchFamily="18" charset="0"/>
              </a:rPr>
              <a:t>	R(0), ..., R(k-1), R(k), ... , R(n)</a:t>
            </a:r>
          </a:p>
          <a:p>
            <a:pPr algn="just">
              <a:buFontTx/>
              <a:buChar char="•"/>
            </a:pPr>
            <a:endParaRPr lang="pt-BR" sz="2400" dirty="0">
              <a:latin typeface="Times New Roman" panose="02020603050405020304" pitchFamily="18" charset="0"/>
              <a:cs typeface="Times New Roman" panose="02020603050405020304" pitchFamily="18" charset="0"/>
            </a:endParaRPr>
          </a:p>
          <a:p>
            <a:pPr algn="just">
              <a:buFontTx/>
              <a:buChar char="•"/>
            </a:pPr>
            <a:r>
              <a:rPr lang="en-US" sz="2400" b="0" i="0" dirty="0">
                <a:effectLst/>
                <a:latin typeface="Times New Roman" panose="02020603050405020304" pitchFamily="18" charset="0"/>
                <a:cs typeface="Times New Roman" panose="02020603050405020304" pitchFamily="18" charset="0"/>
              </a:rPr>
              <a:t>A sequence of vertices is used to define a path in a simple graph. In the k</a:t>
            </a:r>
            <a:r>
              <a:rPr lang="en-US" sz="2400" b="0" i="0" baseline="30000" dirty="0">
                <a:effectLst/>
                <a:latin typeface="Times New Roman" panose="02020603050405020304" pitchFamily="18" charset="0"/>
                <a:cs typeface="Times New Roman" panose="02020603050405020304" pitchFamily="18" charset="0"/>
              </a:rPr>
              <a:t>th</a:t>
            </a:r>
            <a:r>
              <a:rPr lang="en-US" sz="2400" b="0" i="0" dirty="0">
                <a:effectLst/>
                <a:latin typeface="Times New Roman" panose="02020603050405020304" pitchFamily="18" charset="0"/>
                <a:cs typeface="Times New Roman" panose="02020603050405020304" pitchFamily="18" charset="0"/>
              </a:rPr>
              <a:t> matrix (R</a:t>
            </a:r>
            <a:r>
              <a:rPr lang="en-US" sz="2400" b="0" i="0" baseline="30000" dirty="0">
                <a:effectLst/>
                <a:latin typeface="Times New Roman" panose="02020603050405020304" pitchFamily="18" charset="0"/>
                <a:cs typeface="Times New Roman" panose="02020603050405020304" pitchFamily="18" charset="0"/>
              </a:rPr>
              <a:t>(k)</a:t>
            </a:r>
            <a:r>
              <a:rPr lang="en-US" sz="2400" b="0" i="0" dirty="0">
                <a:effectLst/>
                <a:latin typeface="Times New Roman" panose="02020603050405020304" pitchFamily="18" charset="0"/>
                <a:cs typeface="Times New Roman" panose="02020603050405020304" pitchFamily="18" charset="0"/>
              </a:rPr>
              <a:t>), (</a:t>
            </a:r>
            <a:r>
              <a:rPr lang="en-US" sz="2400" b="0" i="0" dirty="0" err="1">
                <a:effectLst/>
                <a:latin typeface="Times New Roman" panose="02020603050405020304" pitchFamily="18" charset="0"/>
                <a:cs typeface="Times New Roman" panose="02020603050405020304" pitchFamily="18" charset="0"/>
              </a:rPr>
              <a:t>r</a:t>
            </a:r>
            <a:r>
              <a:rPr lang="en-US" sz="2400" b="0" i="0" baseline="-25000" dirty="0" err="1">
                <a:effectLst/>
                <a:latin typeface="Times New Roman" panose="02020603050405020304" pitchFamily="18" charset="0"/>
                <a:cs typeface="Times New Roman" panose="02020603050405020304" pitchFamily="18" charset="0"/>
              </a:rPr>
              <a:t>ij</a:t>
            </a:r>
            <a:r>
              <a:rPr lang="en-US" sz="2400" b="0" i="0" baseline="30000" dirty="0">
                <a:effectLst/>
                <a:latin typeface="Times New Roman" panose="02020603050405020304" pitchFamily="18" charset="0"/>
                <a:cs typeface="Times New Roman" panose="02020603050405020304" pitchFamily="18" charset="0"/>
              </a:rPr>
              <a:t>(k)</a:t>
            </a:r>
            <a:r>
              <a:rPr lang="en-US" sz="2400" b="0" i="0" dirty="0">
                <a:effectLst/>
                <a:latin typeface="Times New Roman" panose="02020603050405020304" pitchFamily="18" charset="0"/>
                <a:cs typeface="Times New Roman" panose="02020603050405020304" pitchFamily="18" charset="0"/>
              </a:rPr>
              <a:t>), the element's definition at the </a:t>
            </a:r>
            <a:r>
              <a:rPr lang="en-US" sz="2400" b="0" i="0" dirty="0" err="1">
                <a:effectLst/>
                <a:latin typeface="Times New Roman" panose="02020603050405020304" pitchFamily="18" charset="0"/>
                <a:cs typeface="Times New Roman" panose="02020603050405020304" pitchFamily="18" charset="0"/>
              </a:rPr>
              <a:t>i</a:t>
            </a:r>
            <a:r>
              <a:rPr lang="en-US" sz="2400" b="0" i="0" baseline="30000" dirty="0" err="1">
                <a:effectLst/>
                <a:latin typeface="Times New Roman" panose="02020603050405020304" pitchFamily="18" charset="0"/>
                <a:cs typeface="Times New Roman" panose="02020603050405020304" pitchFamily="18" charset="0"/>
              </a:rPr>
              <a:t>th</a:t>
            </a:r>
            <a:r>
              <a:rPr lang="en-US" sz="2400" b="0" i="0" dirty="0">
                <a:effectLst/>
                <a:latin typeface="Times New Roman" panose="02020603050405020304" pitchFamily="18" charset="0"/>
                <a:cs typeface="Times New Roman" panose="02020603050405020304" pitchFamily="18" charset="0"/>
              </a:rPr>
              <a:t> row and </a:t>
            </a:r>
            <a:r>
              <a:rPr lang="en-US" sz="2400" b="0" i="0" dirty="0" err="1">
                <a:effectLst/>
                <a:latin typeface="Times New Roman" panose="02020603050405020304" pitchFamily="18" charset="0"/>
                <a:cs typeface="Times New Roman" panose="02020603050405020304" pitchFamily="18" charset="0"/>
              </a:rPr>
              <a:t>j</a:t>
            </a:r>
            <a:r>
              <a:rPr lang="en-US" sz="2400" b="0" i="0" baseline="30000" dirty="0" err="1">
                <a:effectLst/>
                <a:latin typeface="Times New Roman" panose="02020603050405020304" pitchFamily="18" charset="0"/>
                <a:cs typeface="Times New Roman" panose="02020603050405020304" pitchFamily="18" charset="0"/>
              </a:rPr>
              <a:t>th</a:t>
            </a:r>
            <a:r>
              <a:rPr lang="en-US" sz="2400" b="0" i="0" dirty="0">
                <a:effectLst/>
                <a:latin typeface="Times New Roman" panose="02020603050405020304" pitchFamily="18" charset="0"/>
                <a:cs typeface="Times New Roman" panose="02020603050405020304" pitchFamily="18" charset="0"/>
              </a:rPr>
              <a:t> column will be one if it contains a path from v</a:t>
            </a:r>
            <a:r>
              <a:rPr lang="en-US" sz="2400" b="0" i="0" baseline="-25000" dirty="0">
                <a:effectLst/>
                <a:latin typeface="Times New Roman" panose="02020603050405020304" pitchFamily="18" charset="0"/>
                <a:cs typeface="Times New Roman" panose="02020603050405020304" pitchFamily="18" charset="0"/>
              </a:rPr>
              <a:t>i</a:t>
            </a:r>
            <a:r>
              <a:rPr lang="en-US" sz="2400" b="0" i="0" dirty="0">
                <a:effectLst/>
                <a:latin typeface="Times New Roman" panose="02020603050405020304" pitchFamily="18" charset="0"/>
                <a:cs typeface="Times New Roman" panose="02020603050405020304" pitchFamily="18" charset="0"/>
              </a:rPr>
              <a:t> to </a:t>
            </a:r>
            <a:r>
              <a:rPr lang="en-US" sz="2400" b="0" i="0" dirty="0" err="1">
                <a:effectLst/>
                <a:latin typeface="Times New Roman" panose="02020603050405020304" pitchFamily="18" charset="0"/>
                <a:cs typeface="Times New Roman" panose="02020603050405020304" pitchFamily="18" charset="0"/>
              </a:rPr>
              <a:t>v</a:t>
            </a:r>
            <a:r>
              <a:rPr lang="en-US" sz="2400" b="0" i="0" baseline="-25000" dirty="0" err="1">
                <a:effectLst/>
                <a:latin typeface="Times New Roman" panose="02020603050405020304" pitchFamily="18" charset="0"/>
                <a:cs typeface="Times New Roman" panose="02020603050405020304" pitchFamily="18" charset="0"/>
              </a:rPr>
              <a:t>j</a:t>
            </a:r>
            <a:r>
              <a:rPr lang="en-US" sz="2400" b="0" i="0" dirty="0">
                <a:effectLst/>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algn="just">
              <a:buFontTx/>
              <a:buChar char="•"/>
            </a:pPr>
            <a:r>
              <a:rPr lang="en-US" sz="2400" b="0" i="0" dirty="0">
                <a:effectLst/>
                <a:latin typeface="Times New Roman" panose="02020603050405020304" pitchFamily="18" charset="0"/>
                <a:cs typeface="Times New Roman" panose="02020603050405020304" pitchFamily="18" charset="0"/>
              </a:rPr>
              <a:t>The R</a:t>
            </a:r>
            <a:r>
              <a:rPr lang="en-US" sz="2400" b="0" i="0" baseline="30000" dirty="0">
                <a:effectLst/>
                <a:latin typeface="Times New Roman" panose="02020603050405020304" pitchFamily="18" charset="0"/>
                <a:cs typeface="Times New Roman" panose="02020603050405020304" pitchFamily="18" charset="0"/>
              </a:rPr>
              <a:t>(0)</a:t>
            </a:r>
            <a:r>
              <a:rPr lang="en-US" sz="2400" b="0" i="0" dirty="0">
                <a:effectLst/>
                <a:latin typeface="Times New Roman" panose="02020603050405020304" pitchFamily="18" charset="0"/>
                <a:cs typeface="Times New Roman" panose="02020603050405020304" pitchFamily="18" charset="0"/>
              </a:rPr>
              <a:t> matrix is used to describe the path without any intermediate vertices. So we can say that it is an adjacency matrix. The R</a:t>
            </a:r>
            <a:r>
              <a:rPr lang="en-US" sz="2400" b="0" i="0" baseline="30000" dirty="0">
                <a:effectLst/>
                <a:latin typeface="Times New Roman" panose="02020603050405020304" pitchFamily="18" charset="0"/>
                <a:cs typeface="Times New Roman" panose="02020603050405020304" pitchFamily="18" charset="0"/>
              </a:rPr>
              <a:t>(n)</a:t>
            </a:r>
            <a:r>
              <a:rPr lang="en-US" sz="2400" b="0" i="0" dirty="0">
                <a:effectLst/>
                <a:latin typeface="Times New Roman" panose="02020603050405020304" pitchFamily="18" charset="0"/>
                <a:cs typeface="Times New Roman" panose="02020603050405020304" pitchFamily="18" charset="0"/>
              </a:rPr>
              <a:t> matrix will contain ones if it contains a path between vertices with intermediate vertices from any of the n vertices of a graph. So we can say that it is a transitive closure.</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17</a:t>
            </a:fld>
            <a:endParaRPr lang="en-US"/>
          </a:p>
        </p:txBody>
      </p:sp>
      <p:sp>
        <p:nvSpPr>
          <p:cNvPr id="6" name="Rectangle 5"/>
          <p:cNvSpPr/>
          <p:nvPr/>
        </p:nvSpPr>
        <p:spPr>
          <a:xfrm>
            <a:off x="838200" y="1120293"/>
            <a:ext cx="10515600" cy="505190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3088"/>
            <a:ext cx="10515600" cy="880579"/>
          </a:xfrm>
          <a:ln>
            <a:solidFill>
              <a:schemeClr val="tx1"/>
            </a:solidFill>
          </a:ln>
        </p:spPr>
        <p:txBody>
          <a:bodyPr/>
          <a:lstStyle/>
          <a:p>
            <a:pPr algn="ctr"/>
            <a:r>
              <a:rPr lang="en-US" b="1" dirty="0" err="1">
                <a:latin typeface="Times New Roman" panose="02020603050405020304" pitchFamily="18" charset="0"/>
                <a:cs typeface="Times New Roman" panose="02020603050405020304" pitchFamily="18" charset="0"/>
              </a:rPr>
              <a:t>Warshall’s</a:t>
            </a:r>
            <a:r>
              <a:rPr lang="en-US" b="1" dirty="0">
                <a:latin typeface="Times New Roman" panose="02020603050405020304" pitchFamily="18" charset="0"/>
                <a:cs typeface="Times New Roman" panose="02020603050405020304" pitchFamily="18" charset="0"/>
              </a:rPr>
              <a:t> Algorithm</a:t>
            </a:r>
            <a:endParaRPr lang="en-US" dirty="0"/>
          </a:p>
        </p:txBody>
      </p:sp>
      <p:sp>
        <p:nvSpPr>
          <p:cNvPr id="3" name="Content Placeholder 2"/>
          <p:cNvSpPr>
            <a:spLocks noGrp="1"/>
          </p:cNvSpPr>
          <p:nvPr>
            <p:ph idx="1"/>
          </p:nvPr>
        </p:nvSpPr>
        <p:spPr>
          <a:xfrm>
            <a:off x="838200" y="1213053"/>
            <a:ext cx="10515600" cy="4941683"/>
          </a:xfrm>
        </p:spPr>
        <p:txBody>
          <a:bodyPr>
            <a:normAutofit/>
          </a:bodyPr>
          <a:lstStyle/>
          <a:p>
            <a:pPr algn="just">
              <a:buFontTx/>
              <a:buChar char="•"/>
            </a:pPr>
            <a:r>
              <a:rPr lang="en-US" altLang="zh-CN" sz="2200" dirty="0">
                <a:latin typeface="Times New Roman" panose="02020603050405020304" pitchFamily="18" charset="0"/>
                <a:ea typeface="SimSun" panose="02010600030101010101" pitchFamily="2" charset="-122"/>
                <a:cs typeface="Times New Roman" panose="02020603050405020304" pitchFamily="18" charset="0"/>
              </a:rPr>
              <a:t>Main idea: a path exists between two vertices </a:t>
            </a:r>
            <a:r>
              <a:rPr lang="en-US" altLang="zh-CN" sz="2200" dirty="0" err="1">
                <a:latin typeface="Times New Roman" panose="02020603050405020304" pitchFamily="18" charset="0"/>
                <a:ea typeface="SimSun" panose="02010600030101010101" pitchFamily="2" charset="-122"/>
                <a:cs typeface="Times New Roman" panose="02020603050405020304" pitchFamily="18" charset="0"/>
              </a:rPr>
              <a:t>i</a:t>
            </a:r>
            <a:r>
              <a:rPr lang="en-US" altLang="zh-CN" sz="2200" dirty="0">
                <a:latin typeface="Times New Roman" panose="02020603050405020304" pitchFamily="18" charset="0"/>
                <a:ea typeface="SimSun" panose="02010600030101010101" pitchFamily="2" charset="-122"/>
                <a:cs typeface="Times New Roman" panose="02020603050405020304" pitchFamily="18" charset="0"/>
              </a:rPr>
              <a:t>, j, </a:t>
            </a:r>
            <a:r>
              <a:rPr lang="en-US" altLang="zh-CN" sz="2200" dirty="0" err="1">
                <a:latin typeface="Times New Roman" panose="02020603050405020304" pitchFamily="18" charset="0"/>
                <a:ea typeface="SimSun" panose="02010600030101010101" pitchFamily="2" charset="-122"/>
                <a:cs typeface="Times New Roman" panose="02020603050405020304" pitchFamily="18" charset="0"/>
              </a:rPr>
              <a:t>iff</a:t>
            </a:r>
            <a:endParaRPr lang="en-US" altLang="zh-CN" sz="2200" dirty="0">
              <a:latin typeface="Times New Roman" panose="02020603050405020304" pitchFamily="18" charset="0"/>
              <a:ea typeface="SimSun" panose="02010600030101010101" pitchFamily="2" charset="-122"/>
              <a:cs typeface="Times New Roman" panose="02020603050405020304" pitchFamily="18" charset="0"/>
            </a:endParaRPr>
          </a:p>
          <a:p>
            <a:pPr marL="0" indent="0" algn="just">
              <a:buNone/>
            </a:pPr>
            <a:r>
              <a:rPr lang="en-US" altLang="zh-CN" sz="2200" dirty="0">
                <a:latin typeface="Times New Roman" panose="02020603050405020304" pitchFamily="18" charset="0"/>
                <a:ea typeface="SimSun" panose="02010600030101010101" pitchFamily="2" charset="-122"/>
                <a:cs typeface="Times New Roman" panose="02020603050405020304" pitchFamily="18" charset="0"/>
              </a:rPr>
              <a:t>	• there is an edge from </a:t>
            </a:r>
            <a:r>
              <a:rPr lang="en-US" altLang="zh-CN" sz="2200" dirty="0" err="1">
                <a:latin typeface="Times New Roman" panose="02020603050405020304" pitchFamily="18" charset="0"/>
                <a:ea typeface="SimSun" panose="02010600030101010101" pitchFamily="2" charset="-122"/>
                <a:cs typeface="Times New Roman" panose="02020603050405020304" pitchFamily="18" charset="0"/>
              </a:rPr>
              <a:t>i</a:t>
            </a:r>
            <a:r>
              <a:rPr lang="en-US" altLang="zh-CN" sz="2200" dirty="0">
                <a:latin typeface="Times New Roman" panose="02020603050405020304" pitchFamily="18" charset="0"/>
                <a:ea typeface="SimSun" panose="02010600030101010101" pitchFamily="2" charset="-122"/>
                <a:cs typeface="Times New Roman" panose="02020603050405020304" pitchFamily="18" charset="0"/>
              </a:rPr>
              <a:t> to j; or</a:t>
            </a:r>
          </a:p>
          <a:p>
            <a:pPr marL="0" indent="0" algn="just">
              <a:buNone/>
            </a:pPr>
            <a:r>
              <a:rPr lang="en-US" altLang="zh-CN" sz="2200" dirty="0">
                <a:latin typeface="Times New Roman" panose="02020603050405020304" pitchFamily="18" charset="0"/>
                <a:ea typeface="SimSun" panose="02010600030101010101" pitchFamily="2" charset="-122"/>
                <a:cs typeface="Times New Roman" panose="02020603050405020304" pitchFamily="18" charset="0"/>
              </a:rPr>
              <a:t>	• there is a path from </a:t>
            </a:r>
            <a:r>
              <a:rPr lang="en-US" altLang="zh-CN" sz="2200" dirty="0" err="1">
                <a:latin typeface="Times New Roman" panose="02020603050405020304" pitchFamily="18" charset="0"/>
                <a:ea typeface="SimSun" panose="02010600030101010101" pitchFamily="2" charset="-122"/>
                <a:cs typeface="Times New Roman" panose="02020603050405020304" pitchFamily="18" charset="0"/>
              </a:rPr>
              <a:t>i</a:t>
            </a:r>
            <a:r>
              <a:rPr lang="en-US" altLang="zh-CN" sz="2200" dirty="0">
                <a:latin typeface="Times New Roman" panose="02020603050405020304" pitchFamily="18" charset="0"/>
                <a:ea typeface="SimSun" panose="02010600030101010101" pitchFamily="2" charset="-122"/>
                <a:cs typeface="Times New Roman" panose="02020603050405020304" pitchFamily="18" charset="0"/>
              </a:rPr>
              <a:t> to j going through vertex 1; or</a:t>
            </a:r>
          </a:p>
          <a:p>
            <a:pPr marL="0" indent="0" algn="just">
              <a:buNone/>
            </a:pPr>
            <a:r>
              <a:rPr lang="en-US" altLang="zh-CN" sz="2200" dirty="0">
                <a:latin typeface="Times New Roman" panose="02020603050405020304" pitchFamily="18" charset="0"/>
                <a:ea typeface="SimSun" panose="02010600030101010101" pitchFamily="2" charset="-122"/>
                <a:cs typeface="Times New Roman" panose="02020603050405020304" pitchFamily="18" charset="0"/>
              </a:rPr>
              <a:t>	• there is a path from </a:t>
            </a:r>
            <a:r>
              <a:rPr lang="en-US" altLang="zh-CN" sz="2200" dirty="0" err="1">
                <a:latin typeface="Times New Roman" panose="02020603050405020304" pitchFamily="18" charset="0"/>
                <a:ea typeface="SimSun" panose="02010600030101010101" pitchFamily="2" charset="-122"/>
                <a:cs typeface="Times New Roman" panose="02020603050405020304" pitchFamily="18" charset="0"/>
              </a:rPr>
              <a:t>i</a:t>
            </a:r>
            <a:r>
              <a:rPr lang="en-US" altLang="zh-CN" sz="2200" dirty="0">
                <a:latin typeface="Times New Roman" panose="02020603050405020304" pitchFamily="18" charset="0"/>
                <a:ea typeface="SimSun" panose="02010600030101010101" pitchFamily="2" charset="-122"/>
                <a:cs typeface="Times New Roman" panose="02020603050405020304" pitchFamily="18" charset="0"/>
              </a:rPr>
              <a:t> to j going through vertex 1 and/or 2; or</a:t>
            </a:r>
          </a:p>
          <a:p>
            <a:pPr marL="0" indent="0" algn="just">
              <a:buNone/>
            </a:pPr>
            <a:r>
              <a:rPr lang="en-US" altLang="zh-CN" sz="2200" dirty="0">
                <a:latin typeface="Times New Roman" panose="02020603050405020304" pitchFamily="18" charset="0"/>
                <a:ea typeface="SimSun" panose="02010600030101010101" pitchFamily="2" charset="-122"/>
                <a:cs typeface="Times New Roman" panose="02020603050405020304" pitchFamily="18" charset="0"/>
              </a:rPr>
              <a:t>	• there is a path from </a:t>
            </a:r>
            <a:r>
              <a:rPr lang="en-US" altLang="zh-CN" sz="2200" dirty="0" err="1">
                <a:latin typeface="Times New Roman" panose="02020603050405020304" pitchFamily="18" charset="0"/>
                <a:ea typeface="SimSun" panose="02010600030101010101" pitchFamily="2" charset="-122"/>
                <a:cs typeface="Times New Roman" panose="02020603050405020304" pitchFamily="18" charset="0"/>
              </a:rPr>
              <a:t>i</a:t>
            </a:r>
            <a:r>
              <a:rPr lang="en-US" altLang="zh-CN" sz="2200" dirty="0">
                <a:latin typeface="Times New Roman" panose="02020603050405020304" pitchFamily="18" charset="0"/>
                <a:ea typeface="SimSun" panose="02010600030101010101" pitchFamily="2" charset="-122"/>
                <a:cs typeface="Times New Roman" panose="02020603050405020304" pitchFamily="18" charset="0"/>
              </a:rPr>
              <a:t> to j going through vertex 1, 2, and/or 3; or</a:t>
            </a:r>
          </a:p>
          <a:p>
            <a:pPr marL="0" indent="0" algn="just">
              <a:buNone/>
            </a:pPr>
            <a:r>
              <a:rPr lang="en-US" altLang="zh-CN" sz="2200" dirty="0">
                <a:latin typeface="Times New Roman" panose="02020603050405020304" pitchFamily="18" charset="0"/>
                <a:ea typeface="SimSun" panose="02010600030101010101" pitchFamily="2" charset="-122"/>
                <a:cs typeface="Times New Roman" panose="02020603050405020304" pitchFamily="18" charset="0"/>
              </a:rPr>
              <a:t>	•...</a:t>
            </a:r>
          </a:p>
          <a:p>
            <a:pPr marL="0" indent="0" algn="just">
              <a:buNone/>
            </a:pPr>
            <a:r>
              <a:rPr lang="en-US" altLang="zh-CN" sz="2200" dirty="0">
                <a:latin typeface="Times New Roman" panose="02020603050405020304" pitchFamily="18" charset="0"/>
                <a:ea typeface="SimSun" panose="02010600030101010101" pitchFamily="2" charset="-122"/>
                <a:cs typeface="Times New Roman" panose="02020603050405020304" pitchFamily="18" charset="0"/>
              </a:rPr>
              <a:t>	• there is a path from </a:t>
            </a:r>
            <a:r>
              <a:rPr lang="en-US" altLang="zh-CN" sz="2200" dirty="0" err="1">
                <a:latin typeface="Times New Roman" panose="02020603050405020304" pitchFamily="18" charset="0"/>
                <a:ea typeface="SimSun" panose="02010600030101010101" pitchFamily="2" charset="-122"/>
                <a:cs typeface="Times New Roman" panose="02020603050405020304" pitchFamily="18" charset="0"/>
              </a:rPr>
              <a:t>i</a:t>
            </a:r>
            <a:r>
              <a:rPr lang="en-US" altLang="zh-CN" sz="2200" dirty="0">
                <a:latin typeface="Times New Roman" panose="02020603050405020304" pitchFamily="18" charset="0"/>
                <a:ea typeface="SimSun" panose="02010600030101010101" pitchFamily="2" charset="-122"/>
                <a:cs typeface="Times New Roman" panose="02020603050405020304" pitchFamily="18" charset="0"/>
              </a:rPr>
              <a:t> to j going through any of the other vertices</a:t>
            </a:r>
            <a:endParaRPr lang="en-US" sz="2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18</a:t>
            </a:fld>
            <a:endParaRPr lang="en-US"/>
          </a:p>
        </p:txBody>
      </p:sp>
      <p:sp>
        <p:nvSpPr>
          <p:cNvPr id="6" name="Rectangle 5"/>
          <p:cNvSpPr/>
          <p:nvPr/>
        </p:nvSpPr>
        <p:spPr>
          <a:xfrm>
            <a:off x="838200" y="1213054"/>
            <a:ext cx="10515600" cy="5307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2"/>
          <a:stretch>
            <a:fillRect/>
          </a:stretch>
        </p:blipFill>
        <p:spPr>
          <a:xfrm>
            <a:off x="1434169" y="3304305"/>
            <a:ext cx="9452192" cy="312043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8756374" cy="804381"/>
          </a:xfrm>
          <a:ln>
            <a:solidFill>
              <a:schemeClr val="tx1"/>
            </a:solidFill>
          </a:ln>
        </p:spPr>
        <p:txBody>
          <a:bodyPr/>
          <a:lstStyle/>
          <a:p>
            <a:pPr algn="ctr"/>
            <a:r>
              <a:rPr lang="en-US" b="1" dirty="0" err="1">
                <a:latin typeface="Times New Roman" panose="02020603050405020304" pitchFamily="18" charset="0"/>
                <a:cs typeface="Times New Roman" panose="02020603050405020304" pitchFamily="18" charset="0"/>
              </a:rPr>
              <a:t>Warshall’s</a:t>
            </a:r>
            <a:r>
              <a:rPr lang="en-US" b="1" dirty="0">
                <a:latin typeface="Times New Roman" panose="02020603050405020304" pitchFamily="18" charset="0"/>
                <a:cs typeface="Times New Roman" panose="02020603050405020304" pitchFamily="18" charset="0"/>
              </a:rPr>
              <a:t> Algorithm</a:t>
            </a:r>
            <a:endParaRPr lang="en-US" dirty="0"/>
          </a:p>
        </p:txBody>
      </p:sp>
      <p:sp>
        <p:nvSpPr>
          <p:cNvPr id="3" name="Content Placeholder 2"/>
          <p:cNvSpPr>
            <a:spLocks noGrp="1"/>
          </p:cNvSpPr>
          <p:nvPr>
            <p:ph idx="1"/>
          </p:nvPr>
        </p:nvSpPr>
        <p:spPr>
          <a:xfrm>
            <a:off x="838200" y="1258957"/>
            <a:ext cx="10515600" cy="4918006"/>
          </a:xfrm>
        </p:spPr>
        <p:txBody>
          <a:bodyPr>
            <a:noAutofit/>
          </a:bodyPr>
          <a:lstStyle/>
          <a:p>
            <a:pPr algn="just">
              <a:buFontTx/>
              <a:buChar char="•"/>
            </a:pPr>
            <a:r>
              <a:rPr lang="en-US" sz="2400" dirty="0">
                <a:latin typeface="Times New Roman" panose="02020603050405020304" pitchFamily="18" charset="0"/>
                <a:cs typeface="Times New Roman" panose="02020603050405020304" pitchFamily="18" charset="0"/>
              </a:rPr>
              <a:t>On the kth iteration, the algorithm determine if a path exists between two vertices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j using just vertices among 1,…,k allowed as intermediate.</a:t>
            </a:r>
          </a:p>
          <a:p>
            <a:pPr algn="just">
              <a:buFontTx/>
              <a:buChar char="•"/>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19</a:t>
            </a:fld>
            <a:endParaRPr lang="en-US"/>
          </a:p>
        </p:txBody>
      </p:sp>
      <p:sp>
        <p:nvSpPr>
          <p:cNvPr id="6" name="Rectangle 5"/>
          <p:cNvSpPr/>
          <p:nvPr/>
        </p:nvSpPr>
        <p:spPr>
          <a:xfrm>
            <a:off x="838200" y="1120293"/>
            <a:ext cx="10515600" cy="505190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2"/>
          <a:stretch>
            <a:fillRect/>
          </a:stretch>
        </p:blipFill>
        <p:spPr>
          <a:xfrm>
            <a:off x="2533027" y="2474879"/>
            <a:ext cx="7803668" cy="324191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8756374" cy="804381"/>
          </a:xfrm>
          <a:ln>
            <a:solidFill>
              <a:schemeClr val="tx1"/>
            </a:solidFill>
          </a:ln>
        </p:spPr>
        <p:txBody>
          <a:bodyPr/>
          <a:lstStyle/>
          <a:p>
            <a:pPr algn="ctr"/>
            <a:r>
              <a:rPr lang="en-US" b="1" dirty="0" err="1">
                <a:latin typeface="Times New Roman" panose="02020603050405020304" pitchFamily="18" charset="0"/>
                <a:cs typeface="Times New Roman" panose="02020603050405020304" pitchFamily="18" charset="0"/>
              </a:rPr>
              <a:t>Warshall’s</a:t>
            </a:r>
            <a:r>
              <a:rPr lang="en-US" b="1" dirty="0">
                <a:latin typeface="Times New Roman" panose="02020603050405020304" pitchFamily="18" charset="0"/>
                <a:cs typeface="Times New Roman" panose="02020603050405020304" pitchFamily="18" charset="0"/>
              </a:rPr>
              <a:t> Algorithm</a:t>
            </a:r>
            <a:endParaRPr lang="en-US" dirty="0"/>
          </a:p>
        </p:txBody>
      </p:sp>
      <p:sp>
        <p:nvSpPr>
          <p:cNvPr id="3" name="Content Placeholder 2"/>
          <p:cNvSpPr>
            <a:spLocks noGrp="1"/>
          </p:cNvSpPr>
          <p:nvPr>
            <p:ph idx="1"/>
          </p:nvPr>
        </p:nvSpPr>
        <p:spPr>
          <a:xfrm>
            <a:off x="838200" y="1125056"/>
            <a:ext cx="10515600" cy="5051907"/>
          </a:xfrm>
        </p:spPr>
        <p:txBody>
          <a:bodyPr>
            <a:noAutofit/>
          </a:bodyPr>
          <a:lstStyle/>
          <a:p>
            <a:pPr algn="just">
              <a:buFontTx/>
              <a:buChar char="•"/>
            </a:pPr>
            <a:r>
              <a:rPr lang="en-US" sz="2400" dirty="0">
                <a:latin typeface="Times New Roman" panose="02020603050405020304" pitchFamily="18" charset="0"/>
                <a:cs typeface="Times New Roman" panose="02020603050405020304" pitchFamily="18" charset="0"/>
              </a:rPr>
              <a:t>Recurrence relating elements R(k) to elements of R(k-1) is:</a:t>
            </a:r>
          </a:p>
          <a:p>
            <a:pPr marL="0" indent="0" algn="just">
              <a:buNone/>
            </a:pPr>
            <a:r>
              <a:rPr lang="en-US" sz="2400" dirty="0">
                <a:latin typeface="Times New Roman" panose="02020603050405020304" pitchFamily="18" charset="0"/>
                <a:cs typeface="Times New Roman" panose="02020603050405020304" pitchFamily="18" charset="0"/>
              </a:rPr>
              <a:t>	R(k)[</a:t>
            </a:r>
            <a:r>
              <a:rPr lang="en-US" sz="2400" dirty="0" err="1">
                <a:latin typeface="Times New Roman" panose="02020603050405020304" pitchFamily="18" charset="0"/>
                <a:cs typeface="Times New Roman" panose="02020603050405020304" pitchFamily="18" charset="0"/>
              </a:rPr>
              <a:t>i,j</a:t>
            </a:r>
            <a:r>
              <a:rPr lang="en-US" sz="2400" dirty="0">
                <a:latin typeface="Times New Roman" panose="02020603050405020304" pitchFamily="18" charset="0"/>
                <a:cs typeface="Times New Roman" panose="02020603050405020304" pitchFamily="18" charset="0"/>
              </a:rPr>
              <a:t>] = R(k-1)[</a:t>
            </a:r>
            <a:r>
              <a:rPr lang="en-US" sz="2400" dirty="0" err="1">
                <a:latin typeface="Times New Roman" panose="02020603050405020304" pitchFamily="18" charset="0"/>
                <a:cs typeface="Times New Roman" panose="02020603050405020304" pitchFamily="18" charset="0"/>
              </a:rPr>
              <a:t>i,j</a:t>
            </a:r>
            <a:r>
              <a:rPr lang="en-US" sz="2400" dirty="0">
                <a:latin typeface="Times New Roman" panose="02020603050405020304" pitchFamily="18" charset="0"/>
                <a:cs typeface="Times New Roman" panose="02020603050405020304" pitchFamily="18" charset="0"/>
              </a:rPr>
              <a:t>] or (R(k-1)[</a:t>
            </a:r>
            <a:r>
              <a:rPr lang="en-US" sz="2400" dirty="0" err="1">
                <a:latin typeface="Times New Roman" panose="02020603050405020304" pitchFamily="18" charset="0"/>
                <a:cs typeface="Times New Roman" panose="02020603050405020304" pitchFamily="18" charset="0"/>
              </a:rPr>
              <a:t>i,k</a:t>
            </a:r>
            <a:r>
              <a:rPr lang="en-US" sz="2400" dirty="0">
                <a:latin typeface="Times New Roman" panose="02020603050405020304" pitchFamily="18" charset="0"/>
                <a:cs typeface="Times New Roman" panose="02020603050405020304" pitchFamily="18" charset="0"/>
              </a:rPr>
              <a:t>] and R(k-1)[</a:t>
            </a:r>
            <a:r>
              <a:rPr lang="en-US" sz="2400" dirty="0" err="1">
                <a:latin typeface="Times New Roman" panose="02020603050405020304" pitchFamily="18" charset="0"/>
                <a:cs typeface="Times New Roman" panose="02020603050405020304" pitchFamily="18" charset="0"/>
              </a:rPr>
              <a:t>k,j</a:t>
            </a:r>
            <a:r>
              <a:rPr lang="en-US" sz="2400" dirty="0">
                <a:latin typeface="Times New Roman" panose="02020603050405020304" pitchFamily="18" charset="0"/>
                <a:cs typeface="Times New Roman" panose="02020603050405020304" pitchFamily="18" charset="0"/>
              </a:rPr>
              <a:t>])</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It implies the following rules for generating R(k) from R(k-1):</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buFontTx/>
              <a:buChar char="•"/>
            </a:pPr>
            <a:r>
              <a:rPr lang="en-US" sz="2400" b="1" dirty="0">
                <a:latin typeface="Times New Roman" panose="02020603050405020304" pitchFamily="18" charset="0"/>
                <a:cs typeface="Times New Roman" panose="02020603050405020304" pitchFamily="18" charset="0"/>
              </a:rPr>
              <a:t>Rule 1</a:t>
            </a:r>
            <a:r>
              <a:rPr lang="en-US" sz="2400" dirty="0">
                <a:latin typeface="Times New Roman" panose="02020603050405020304" pitchFamily="18" charset="0"/>
                <a:cs typeface="Times New Roman" panose="02020603050405020304" pitchFamily="18" charset="0"/>
              </a:rPr>
              <a:t> If an element in row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and column j is 1 in R(k-1),</a:t>
            </a:r>
          </a:p>
          <a:p>
            <a:pPr marL="0" indent="0" algn="just">
              <a:buNone/>
            </a:pPr>
            <a:r>
              <a:rPr lang="en-US" sz="2400" dirty="0">
                <a:latin typeface="Times New Roman" panose="02020603050405020304" pitchFamily="18" charset="0"/>
                <a:cs typeface="Times New Roman" panose="02020603050405020304" pitchFamily="18" charset="0"/>
              </a:rPr>
              <a:t>	it remains 1 in R(k)</a:t>
            </a:r>
          </a:p>
          <a:p>
            <a:pPr algn="just">
              <a:buFontTx/>
              <a:buChar char="•"/>
            </a:pPr>
            <a:r>
              <a:rPr lang="en-US" sz="2400" b="1" dirty="0">
                <a:latin typeface="Times New Roman" panose="02020603050405020304" pitchFamily="18" charset="0"/>
                <a:cs typeface="Times New Roman" panose="02020603050405020304" pitchFamily="18" charset="0"/>
              </a:rPr>
              <a:t>Rule 2</a:t>
            </a:r>
            <a:r>
              <a:rPr lang="en-US" sz="2400" dirty="0">
                <a:latin typeface="Times New Roman" panose="02020603050405020304" pitchFamily="18" charset="0"/>
                <a:cs typeface="Times New Roman" panose="02020603050405020304" pitchFamily="18" charset="0"/>
              </a:rPr>
              <a:t> If an element in row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and column j is 0 in R(k-1),</a:t>
            </a:r>
          </a:p>
          <a:p>
            <a:pPr marL="0" indent="0" algn="just">
              <a:buNone/>
            </a:pPr>
            <a:r>
              <a:rPr lang="en-US" sz="2400" dirty="0">
                <a:latin typeface="Times New Roman" panose="02020603050405020304" pitchFamily="18" charset="0"/>
                <a:cs typeface="Times New Roman" panose="02020603050405020304" pitchFamily="18" charset="0"/>
              </a:rPr>
              <a:t>	it has to be changed to 1 in R(k) it has to be changed to 1 in R if and only if 	(k) if and only if the element in its row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and column k and the element in its 	column j and row k are both 1’s in R(k-1)</a:t>
            </a:r>
          </a:p>
        </p:txBody>
      </p:sp>
      <p:sp>
        <p:nvSpPr>
          <p:cNvPr id="4" name="Slide Number Placeholder 3"/>
          <p:cNvSpPr>
            <a:spLocks noGrp="1"/>
          </p:cNvSpPr>
          <p:nvPr>
            <p:ph type="sldNum" sz="quarter" idx="12"/>
          </p:nvPr>
        </p:nvSpPr>
        <p:spPr/>
        <p:txBody>
          <a:bodyPr/>
          <a:lstStyle/>
          <a:p>
            <a:fld id="{BDCDBBEF-AA6C-4BA6-85B2-A17D7F280E38}" type="slidenum">
              <a:rPr lang="en-US" smtClean="0"/>
              <a:t>20</a:t>
            </a:fld>
            <a:endParaRPr lang="en-US"/>
          </a:p>
        </p:txBody>
      </p:sp>
      <p:sp>
        <p:nvSpPr>
          <p:cNvPr id="6" name="Rectangle 5"/>
          <p:cNvSpPr/>
          <p:nvPr/>
        </p:nvSpPr>
        <p:spPr>
          <a:xfrm>
            <a:off x="838200" y="1120293"/>
            <a:ext cx="10515600" cy="505190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8756374" cy="804381"/>
          </a:xfrm>
          <a:ln>
            <a:solidFill>
              <a:schemeClr val="tx1"/>
            </a:solidFill>
          </a:ln>
        </p:spPr>
        <p:txBody>
          <a:bodyPr/>
          <a:lstStyle/>
          <a:p>
            <a:pPr algn="ctr"/>
            <a:r>
              <a:rPr lang="en-US" b="1" dirty="0" err="1">
                <a:latin typeface="Times New Roman" panose="02020603050405020304" pitchFamily="18" charset="0"/>
                <a:cs typeface="Times New Roman" panose="02020603050405020304" pitchFamily="18" charset="0"/>
              </a:rPr>
              <a:t>Warshall’s</a:t>
            </a:r>
            <a:r>
              <a:rPr lang="en-US" b="1" dirty="0">
                <a:latin typeface="Times New Roman" panose="02020603050405020304" pitchFamily="18" charset="0"/>
                <a:cs typeface="Times New Roman" panose="02020603050405020304" pitchFamily="18" charset="0"/>
              </a:rPr>
              <a:t> Algorithm</a:t>
            </a:r>
            <a:endParaRPr lang="en-US" dirty="0"/>
          </a:p>
        </p:txBody>
      </p:sp>
      <p:pic>
        <p:nvPicPr>
          <p:cNvPr id="7" name="Content Placeholder 6"/>
          <p:cNvPicPr>
            <a:picLocks noGrp="1" noChangeAspect="1"/>
          </p:cNvPicPr>
          <p:nvPr>
            <p:ph idx="1"/>
          </p:nvPr>
        </p:nvPicPr>
        <p:blipFill>
          <a:blip r:embed="rId2"/>
          <a:stretch>
            <a:fillRect/>
          </a:stretch>
        </p:blipFill>
        <p:spPr>
          <a:xfrm>
            <a:off x="1151898" y="1886756"/>
            <a:ext cx="9343823" cy="3391708"/>
          </a:xfrm>
        </p:spPr>
      </p:pic>
      <p:sp>
        <p:nvSpPr>
          <p:cNvPr id="4" name="Slide Number Placeholder 3"/>
          <p:cNvSpPr>
            <a:spLocks noGrp="1"/>
          </p:cNvSpPr>
          <p:nvPr>
            <p:ph type="sldNum" sz="quarter" idx="12"/>
          </p:nvPr>
        </p:nvSpPr>
        <p:spPr/>
        <p:txBody>
          <a:bodyPr/>
          <a:lstStyle/>
          <a:p>
            <a:fld id="{BDCDBBEF-AA6C-4BA6-85B2-A17D7F280E38}" type="slidenum">
              <a:rPr lang="en-US" smtClean="0"/>
              <a:t>21</a:t>
            </a:fld>
            <a:endParaRPr lang="en-US"/>
          </a:p>
        </p:txBody>
      </p:sp>
      <p:sp>
        <p:nvSpPr>
          <p:cNvPr id="6" name="Rectangle 5"/>
          <p:cNvSpPr/>
          <p:nvPr/>
        </p:nvSpPr>
        <p:spPr>
          <a:xfrm>
            <a:off x="838200" y="1120293"/>
            <a:ext cx="10515600" cy="505190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p:cNvSpPr txBox="1"/>
          <p:nvPr/>
        </p:nvSpPr>
        <p:spPr>
          <a:xfrm>
            <a:off x="901150" y="1245704"/>
            <a:ext cx="10293626"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Rule for changing zeros in </a:t>
            </a:r>
            <a:r>
              <a:rPr lang="en-US" sz="2400" dirty="0" err="1">
                <a:latin typeface="Times New Roman" panose="02020603050405020304" pitchFamily="18" charset="0"/>
                <a:cs typeface="Times New Roman" panose="02020603050405020304" pitchFamily="18" charset="0"/>
              </a:rPr>
              <a:t>Warshall’s</a:t>
            </a:r>
            <a:r>
              <a:rPr lang="en-US" sz="2400" dirty="0">
                <a:latin typeface="Times New Roman" panose="02020603050405020304" pitchFamily="18" charset="0"/>
                <a:cs typeface="Times New Roman" panose="02020603050405020304" pitchFamily="18" charset="0"/>
              </a:rPr>
              <a:t> Algorithm</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p:cNvPicPr>
            <a:picLocks noGrp="1" noChangeAspect="1"/>
          </p:cNvPicPr>
          <p:nvPr>
            <p:ph idx="1"/>
          </p:nvPr>
        </p:nvPicPr>
        <p:blipFill>
          <a:blip r:embed="rId2"/>
          <a:stretch>
            <a:fillRect/>
          </a:stretch>
        </p:blipFill>
        <p:spPr>
          <a:xfrm>
            <a:off x="864784" y="1120127"/>
            <a:ext cx="10489015" cy="5472352"/>
          </a:xfrm>
        </p:spPr>
      </p:pic>
      <p:sp>
        <p:nvSpPr>
          <p:cNvPr id="2" name="Title 1"/>
          <p:cNvSpPr>
            <a:spLocks noGrp="1"/>
          </p:cNvSpPr>
          <p:nvPr>
            <p:ph type="title"/>
          </p:nvPr>
        </p:nvSpPr>
        <p:spPr>
          <a:xfrm>
            <a:off x="838200" y="136525"/>
            <a:ext cx="8756374" cy="804381"/>
          </a:xfrm>
          <a:ln>
            <a:solidFill>
              <a:schemeClr val="tx1"/>
            </a:solidFill>
          </a:ln>
        </p:spPr>
        <p:txBody>
          <a:bodyPr/>
          <a:lstStyle/>
          <a:p>
            <a:pPr algn="ctr"/>
            <a:r>
              <a:rPr lang="en-US" b="1" dirty="0" err="1">
                <a:latin typeface="Times New Roman" panose="02020603050405020304" pitchFamily="18" charset="0"/>
                <a:cs typeface="Times New Roman" panose="02020603050405020304" pitchFamily="18" charset="0"/>
              </a:rPr>
              <a:t>Warshall’s</a:t>
            </a:r>
            <a:r>
              <a:rPr lang="en-US" b="1" dirty="0">
                <a:latin typeface="Times New Roman" panose="02020603050405020304" pitchFamily="18" charset="0"/>
                <a:cs typeface="Times New Roman" panose="02020603050405020304" pitchFamily="18" charset="0"/>
              </a:rPr>
              <a:t> Algorithm</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t>22</a:t>
            </a:fld>
            <a:endParaRPr lang="en-US"/>
          </a:p>
        </p:txBody>
      </p:sp>
      <p:sp>
        <p:nvSpPr>
          <p:cNvPr id="6" name="Rectangle 5"/>
          <p:cNvSpPr/>
          <p:nvPr/>
        </p:nvSpPr>
        <p:spPr>
          <a:xfrm>
            <a:off x="838200" y="1120293"/>
            <a:ext cx="10515600" cy="560118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p:cNvSpPr txBox="1"/>
          <p:nvPr/>
        </p:nvSpPr>
        <p:spPr>
          <a:xfrm>
            <a:off x="851535" y="2597150"/>
            <a:ext cx="2450465" cy="2306955"/>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For R1, </a:t>
            </a:r>
          </a:p>
          <a:p>
            <a:endParaRPr lang="en-US" b="1" dirty="0">
              <a:solidFill>
                <a:srgbClr val="FF0000"/>
              </a:solidFill>
              <a:latin typeface="Times New Roman" panose="02020603050405020304" pitchFamily="18" charset="0"/>
              <a:cs typeface="Times New Roman" panose="02020603050405020304" pitchFamily="18" charset="0"/>
            </a:endParaRPr>
          </a:p>
          <a:p>
            <a:r>
              <a:rPr lang="en-US" b="1" dirty="0" err="1">
                <a:solidFill>
                  <a:srgbClr val="FF0000"/>
                </a:solidFill>
                <a:latin typeface="Times New Roman" panose="02020603050405020304" pitchFamily="18" charset="0"/>
                <a:cs typeface="Times New Roman" panose="02020603050405020304" pitchFamily="18" charset="0"/>
              </a:rPr>
              <a:t>Eg.</a:t>
            </a:r>
            <a:r>
              <a:rPr lang="en-US" b="1" dirty="0">
                <a:solidFill>
                  <a:srgbClr val="FF0000"/>
                </a:solidFill>
                <a:latin typeface="Times New Roman" panose="02020603050405020304" pitchFamily="18" charset="0"/>
                <a:cs typeface="Times New Roman" panose="02020603050405020304" pitchFamily="18" charset="0"/>
              </a:rPr>
              <a:t> R1(4,2)=R0(4,2) or R0(4,1) and R0(1,2)</a:t>
            </a:r>
          </a:p>
          <a:p>
            <a:endParaRPr lang="en-US" b="1" dirty="0">
              <a:solidFill>
                <a:srgbClr val="FF0000"/>
              </a:solidFill>
              <a:latin typeface="Times New Roman" panose="02020603050405020304" pitchFamily="18" charset="0"/>
              <a:cs typeface="Times New Roman" panose="02020603050405020304" pitchFamily="18" charset="0"/>
            </a:endParaRPr>
          </a:p>
          <a:p>
            <a:r>
              <a:rPr lang="en-US" b="1" dirty="0">
                <a:solidFill>
                  <a:srgbClr val="FF0000"/>
                </a:solidFill>
                <a:latin typeface="Times New Roman" panose="02020603050405020304" pitchFamily="18" charset="0"/>
                <a:cs typeface="Times New Roman" panose="02020603050405020304" pitchFamily="18" charset="0"/>
              </a:rPr>
              <a:t>R1(4,2)=0 or (1 and 1)</a:t>
            </a:r>
          </a:p>
          <a:p>
            <a:endParaRPr lang="en-US" b="1" dirty="0">
              <a:solidFill>
                <a:srgbClr val="FF0000"/>
              </a:solidFill>
              <a:latin typeface="Times New Roman" panose="02020603050405020304" pitchFamily="18" charset="0"/>
              <a:cs typeface="Times New Roman" panose="02020603050405020304" pitchFamily="18" charset="0"/>
            </a:endParaRPr>
          </a:p>
          <a:p>
            <a:r>
              <a:rPr lang="en-US" b="1" dirty="0">
                <a:solidFill>
                  <a:srgbClr val="FF0000"/>
                </a:solidFill>
                <a:latin typeface="Times New Roman" panose="02020603050405020304" pitchFamily="18" charset="0"/>
                <a:cs typeface="Times New Roman" panose="02020603050405020304" pitchFamily="18" charset="0"/>
              </a:rPr>
              <a:t>R1(4,2)=1</a:t>
            </a:r>
            <a:endParaRPr lang="en-IN"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8280"/>
            <a:ext cx="8697595" cy="769620"/>
          </a:xfrm>
          <a:ln>
            <a:solidFill>
              <a:schemeClr val="tx1"/>
            </a:solidFill>
          </a:ln>
        </p:spPr>
        <p:txBody>
          <a:bodyPr>
            <a:normAutofit/>
          </a:bodyPr>
          <a:lstStyle/>
          <a:p>
            <a:pPr algn="ctr"/>
            <a:r>
              <a:rPr lang="en-US" b="1" dirty="0" err="1">
                <a:latin typeface="Times New Roman" panose="02020603050405020304" pitchFamily="18" charset="0"/>
                <a:cs typeface="Times New Roman" panose="02020603050405020304" pitchFamily="18" charset="0"/>
              </a:rPr>
              <a:t>Warshall’s</a:t>
            </a:r>
            <a:r>
              <a:rPr lang="en-US" b="1" dirty="0">
                <a:latin typeface="Times New Roman" panose="02020603050405020304" pitchFamily="18" charset="0"/>
                <a:cs typeface="Times New Roman" panose="02020603050405020304" pitchFamily="18" charset="0"/>
              </a:rPr>
              <a:t> Algorithm</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t>23</a:t>
            </a:fld>
            <a:endParaRPr lang="en-US"/>
          </a:p>
        </p:txBody>
      </p:sp>
      <p:sp>
        <p:nvSpPr>
          <p:cNvPr id="6" name="Rectangle 5"/>
          <p:cNvSpPr/>
          <p:nvPr/>
        </p:nvSpPr>
        <p:spPr>
          <a:xfrm>
            <a:off x="838200" y="1120293"/>
            <a:ext cx="10515600" cy="560118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 Box 6"/>
          <p:cNvSpPr txBox="1"/>
          <p:nvPr/>
        </p:nvSpPr>
        <p:spPr>
          <a:xfrm>
            <a:off x="4001770" y="1213485"/>
            <a:ext cx="7352030" cy="922020"/>
          </a:xfrm>
          <a:prstGeom prst="rect">
            <a:avLst/>
          </a:prstGeom>
          <a:noFill/>
        </p:spPr>
        <p:txBody>
          <a:bodyPr wrap="square" rtlCol="0" anchor="t">
            <a:spAutoFit/>
          </a:bodyPr>
          <a:lstStyle/>
          <a:p>
            <a:r>
              <a:rPr lang="en-US"/>
              <a:t>Here R(0) shows the adjacency matrix. In R(0), we can see the existence of a path, which has no intermediate vertices. We will get R(1) with the help of a boxed row and column in R(0).</a:t>
            </a:r>
          </a:p>
        </p:txBody>
      </p:sp>
      <p:sp>
        <p:nvSpPr>
          <p:cNvPr id="8" name="Text Box 7"/>
          <p:cNvSpPr txBox="1"/>
          <p:nvPr/>
        </p:nvSpPr>
        <p:spPr>
          <a:xfrm>
            <a:off x="4001770" y="2168525"/>
            <a:ext cx="7352030" cy="1198880"/>
          </a:xfrm>
          <a:prstGeom prst="rect">
            <a:avLst/>
          </a:prstGeom>
          <a:noFill/>
        </p:spPr>
        <p:txBody>
          <a:bodyPr wrap="square" rtlCol="0" anchor="t">
            <a:spAutoFit/>
          </a:bodyPr>
          <a:lstStyle/>
          <a:p>
            <a:r>
              <a:rPr lang="en-US"/>
              <a:t>In R(1), we can see the existence of a path, which has intermediate vertices. The number of the vertices is not greater than 1, which means just a vertex. It contains a new path from d to b. We will get R(2) with the help of a boxed row and column in R(1).</a:t>
            </a:r>
          </a:p>
        </p:txBody>
      </p:sp>
      <p:sp>
        <p:nvSpPr>
          <p:cNvPr id="9" name="Text Box 8"/>
          <p:cNvSpPr txBox="1"/>
          <p:nvPr/>
        </p:nvSpPr>
        <p:spPr>
          <a:xfrm>
            <a:off x="3997325" y="3321685"/>
            <a:ext cx="7356475" cy="1198880"/>
          </a:xfrm>
          <a:prstGeom prst="rect">
            <a:avLst/>
          </a:prstGeom>
          <a:noFill/>
        </p:spPr>
        <p:txBody>
          <a:bodyPr wrap="square" rtlCol="0" anchor="t">
            <a:spAutoFit/>
          </a:bodyPr>
          <a:lstStyle/>
          <a:p>
            <a:r>
              <a:rPr lang="en-US"/>
              <a:t>In R(2), we can see the existence of a path, which has intermediate vertices. The number of the vertices is not greater than 2, which means a and b. It contains two new paths. We will get R(3) with the help of a boxed row and column in R(2).</a:t>
            </a:r>
          </a:p>
        </p:txBody>
      </p:sp>
      <p:sp>
        <p:nvSpPr>
          <p:cNvPr id="11" name="Text Box 10"/>
          <p:cNvSpPr txBox="1"/>
          <p:nvPr/>
        </p:nvSpPr>
        <p:spPr>
          <a:xfrm>
            <a:off x="3997960" y="4472305"/>
            <a:ext cx="7356475" cy="1198880"/>
          </a:xfrm>
          <a:prstGeom prst="rect">
            <a:avLst/>
          </a:prstGeom>
          <a:noFill/>
        </p:spPr>
        <p:txBody>
          <a:bodyPr wrap="square" rtlCol="0" anchor="t">
            <a:spAutoFit/>
          </a:bodyPr>
          <a:lstStyle/>
          <a:p>
            <a:r>
              <a:rPr lang="en-US"/>
              <a:t>In R(3), we can see the existence of a path, which has intermediate vertices. The number of the vertices is not greater than 3, which means a, b and c. It does not contain any new paths. We will get R(4) with the help of a boxed row and column in R(3).</a:t>
            </a:r>
          </a:p>
        </p:txBody>
      </p:sp>
      <p:sp>
        <p:nvSpPr>
          <p:cNvPr id="12" name="Text Box 11"/>
          <p:cNvSpPr txBox="1"/>
          <p:nvPr/>
        </p:nvSpPr>
        <p:spPr>
          <a:xfrm>
            <a:off x="3997325" y="5706745"/>
            <a:ext cx="7356475" cy="922020"/>
          </a:xfrm>
          <a:prstGeom prst="rect">
            <a:avLst/>
          </a:prstGeom>
          <a:noFill/>
        </p:spPr>
        <p:txBody>
          <a:bodyPr wrap="square" rtlCol="0" anchor="t">
            <a:spAutoFit/>
          </a:bodyPr>
          <a:lstStyle/>
          <a:p>
            <a:r>
              <a:rPr lang="en-US"/>
              <a:t>In R(4), we can see the existence of a path, which has intermediate vertices. The number of the vertices is not greater than 4, which means a, b, c and d. It contains five new paths.</a:t>
            </a:r>
          </a:p>
        </p:txBody>
      </p:sp>
      <p:pic>
        <p:nvPicPr>
          <p:cNvPr id="17" name="Content Placeholder 16"/>
          <p:cNvPicPr>
            <a:picLocks noGrp="1" noChangeAspect="1"/>
          </p:cNvPicPr>
          <p:nvPr>
            <p:ph sz="half" idx="2"/>
          </p:nvPr>
        </p:nvPicPr>
        <p:blipFill>
          <a:blip r:embed="rId2"/>
          <a:stretch>
            <a:fillRect/>
          </a:stretch>
        </p:blipFill>
        <p:spPr>
          <a:xfrm>
            <a:off x="894080" y="1210945"/>
            <a:ext cx="2988945" cy="541845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8756374" cy="804381"/>
          </a:xfrm>
          <a:ln>
            <a:solidFill>
              <a:schemeClr val="tx1"/>
            </a:solidFill>
          </a:ln>
        </p:spPr>
        <p:txBody>
          <a:bodyPr/>
          <a:lstStyle/>
          <a:p>
            <a:pPr algn="ctr"/>
            <a:r>
              <a:rPr lang="en-US" b="1" dirty="0" err="1">
                <a:latin typeface="Times New Roman" panose="02020603050405020304" pitchFamily="18" charset="0"/>
                <a:cs typeface="Times New Roman" panose="02020603050405020304" pitchFamily="18" charset="0"/>
              </a:rPr>
              <a:t>Warshall’s</a:t>
            </a:r>
            <a:r>
              <a:rPr lang="en-US" b="1" dirty="0">
                <a:latin typeface="Times New Roman" panose="02020603050405020304" pitchFamily="18" charset="0"/>
                <a:cs typeface="Times New Roman" panose="02020603050405020304" pitchFamily="18" charset="0"/>
              </a:rPr>
              <a:t> Algorithm</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t>24</a:t>
            </a:fld>
            <a:endParaRPr lang="en-US"/>
          </a:p>
        </p:txBody>
      </p:sp>
      <p:sp>
        <p:nvSpPr>
          <p:cNvPr id="6" name="Rectangle 5"/>
          <p:cNvSpPr/>
          <p:nvPr/>
        </p:nvSpPr>
        <p:spPr>
          <a:xfrm>
            <a:off x="838200" y="1120293"/>
            <a:ext cx="10515600" cy="505190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ontent Placeholder 4"/>
          <p:cNvSpPr>
            <a:spLocks noGrp="1"/>
          </p:cNvSpPr>
          <p:nvPr>
            <p:ph idx="1"/>
          </p:nvPr>
        </p:nvSpPr>
        <p:spPr>
          <a:xfrm>
            <a:off x="838200" y="1120293"/>
            <a:ext cx="10515600" cy="5056670"/>
          </a:xfrm>
        </p:spPr>
        <p:txBody>
          <a:bodyPr>
            <a:normAutofit/>
          </a:bodyPr>
          <a:lstStyle/>
          <a:p>
            <a:r>
              <a:rPr lang="en-US" sz="2400" dirty="0">
                <a:latin typeface="Times New Roman" panose="02020603050405020304" pitchFamily="18" charset="0"/>
                <a:cs typeface="Times New Roman" panose="02020603050405020304" pitchFamily="18" charset="0"/>
              </a:rPr>
              <a:t>Time efficiency: (n3)</a:t>
            </a:r>
          </a:p>
          <a:p>
            <a:r>
              <a:rPr lang="en-US" sz="2400" dirty="0">
                <a:latin typeface="Times New Roman" panose="02020603050405020304" pitchFamily="18" charset="0"/>
                <a:cs typeface="Times New Roman" panose="02020603050405020304" pitchFamily="18" charset="0"/>
              </a:rPr>
              <a:t>Space efficiency: Matrices can be written over their predecessors</a:t>
            </a:r>
            <a:endParaRPr lang="en-IN" sz="2400"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stretch>
            <a:fillRect/>
          </a:stretch>
        </p:blipFill>
        <p:spPr>
          <a:xfrm>
            <a:off x="1113182" y="2133600"/>
            <a:ext cx="9542794" cy="390890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7ED94D3-05E4-1916-A358-7410C37CCDF2}"/>
              </a:ext>
            </a:extLst>
          </p:cNvPr>
          <p:cNvSpPr>
            <a:spLocks noGrp="1"/>
          </p:cNvSpPr>
          <p:nvPr>
            <p:ph type="sldNum" sz="quarter" idx="12"/>
          </p:nvPr>
        </p:nvSpPr>
        <p:spPr/>
        <p:txBody>
          <a:bodyPr/>
          <a:lstStyle/>
          <a:p>
            <a:fld id="{BDCDBBEF-AA6C-4BA6-85B2-A17D7F280E38}" type="slidenum">
              <a:rPr lang="en-US" smtClean="0"/>
              <a:t>25</a:t>
            </a:fld>
            <a:endParaRPr lang="en-US"/>
          </a:p>
        </p:txBody>
      </p:sp>
      <p:sp>
        <p:nvSpPr>
          <p:cNvPr id="5" name="TextBox 4">
            <a:extLst>
              <a:ext uri="{FF2B5EF4-FFF2-40B4-BE49-F238E27FC236}">
                <a16:creationId xmlns:a16="http://schemas.microsoft.com/office/drawing/2014/main" id="{F80F4F0A-A318-2D23-0113-F54EC062D228}"/>
              </a:ext>
            </a:extLst>
          </p:cNvPr>
          <p:cNvSpPr txBox="1"/>
          <p:nvPr/>
        </p:nvSpPr>
        <p:spPr>
          <a:xfrm>
            <a:off x="900546" y="831270"/>
            <a:ext cx="10453254" cy="1569660"/>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In this example, we will assume A = {1, 2, 3, 4} and let R be the relation on A whose matrix is described as follows:</a:t>
            </a: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Apply </a:t>
            </a:r>
            <a:r>
              <a:rPr lang="en-US" sz="2400" b="1" dirty="0" err="1">
                <a:latin typeface="Times New Roman" panose="02020603050405020304" pitchFamily="18" charset="0"/>
                <a:cs typeface="Times New Roman" panose="02020603050405020304" pitchFamily="18" charset="0"/>
              </a:rPr>
              <a:t>Warshall's</a:t>
            </a:r>
            <a:r>
              <a:rPr lang="en-US" sz="2400" b="1" dirty="0">
                <a:latin typeface="Times New Roman" panose="02020603050405020304" pitchFamily="18" charset="0"/>
                <a:cs typeface="Times New Roman" panose="02020603050405020304" pitchFamily="18" charset="0"/>
              </a:rPr>
              <a:t> Algorithm to path matrix.</a:t>
            </a:r>
            <a:endParaRPr lang="en-IN" sz="2400" b="1" dirty="0">
              <a:latin typeface="Times New Roman" panose="02020603050405020304" pitchFamily="18" charset="0"/>
              <a:cs typeface="Times New Roman" panose="02020603050405020304" pitchFamily="18" charset="0"/>
            </a:endParaRPr>
          </a:p>
        </p:txBody>
      </p:sp>
      <p:pic>
        <p:nvPicPr>
          <p:cNvPr id="1032" name="Picture 8" descr="Warshall's Algorithm">
            <a:extLst>
              <a:ext uri="{FF2B5EF4-FFF2-40B4-BE49-F238E27FC236}">
                <a16:creationId xmlns:a16="http://schemas.microsoft.com/office/drawing/2014/main" id="{D6A4648C-F12A-5B03-6B7A-FF180AF16DE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100" t="13715" r="16401" b="16948"/>
          <a:stretch/>
        </p:blipFill>
        <p:spPr bwMode="auto">
          <a:xfrm>
            <a:off x="4287982" y="2516514"/>
            <a:ext cx="2182093" cy="3532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51610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4C79A-E3A3-7A04-10D1-329AF3FC04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BC3960-F141-61FB-92C2-053E6EB5F630}"/>
              </a:ext>
            </a:extLst>
          </p:cNvPr>
          <p:cNvSpPr>
            <a:spLocks noGrp="1"/>
          </p:cNvSpPr>
          <p:nvPr>
            <p:ph type="title"/>
          </p:nvPr>
        </p:nvSpPr>
        <p:spPr>
          <a:xfrm>
            <a:off x="838200" y="47076"/>
            <a:ext cx="8769626" cy="1055538"/>
          </a:xfrm>
          <a:ln>
            <a:solidFill>
              <a:schemeClr val="tx1"/>
            </a:solidFill>
          </a:ln>
        </p:spPr>
        <p:txBody>
          <a:bodyPr>
            <a:normAutofit fontScale="90000"/>
          </a:bodyPr>
          <a:lstStyle/>
          <a:p>
            <a:pPr algn="ctr"/>
            <a:r>
              <a:rPr lang="en-US" b="1" dirty="0">
                <a:latin typeface="Times New Roman" panose="02020603050405020304" pitchFamily="18" charset="0"/>
                <a:cs typeface="Times New Roman" panose="02020603050405020304" pitchFamily="18" charset="0"/>
              </a:rPr>
              <a:t>Algorithms used to solve the All-Pairs Shortest Paths problem</a:t>
            </a:r>
            <a:endParaRPr lang="en-US" dirty="0"/>
          </a:p>
        </p:txBody>
      </p:sp>
      <p:sp>
        <p:nvSpPr>
          <p:cNvPr id="3" name="Content Placeholder 2">
            <a:extLst>
              <a:ext uri="{FF2B5EF4-FFF2-40B4-BE49-F238E27FC236}">
                <a16:creationId xmlns:a16="http://schemas.microsoft.com/office/drawing/2014/main" id="{E1A4E73B-6ADD-7161-0432-BDE6EE2876CB}"/>
              </a:ext>
            </a:extLst>
          </p:cNvPr>
          <p:cNvSpPr>
            <a:spLocks noGrp="1"/>
          </p:cNvSpPr>
          <p:nvPr>
            <p:ph idx="1"/>
          </p:nvPr>
        </p:nvSpPr>
        <p:spPr>
          <a:xfrm>
            <a:off x="838200" y="1286764"/>
            <a:ext cx="10515600" cy="4890199"/>
          </a:xfrm>
        </p:spPr>
        <p:txBody>
          <a:bodyPr>
            <a:normAutofit/>
          </a:bodyPr>
          <a:lstStyle/>
          <a:p>
            <a:r>
              <a:rPr lang="en-US" sz="2400" dirty="0">
                <a:latin typeface="Times New Roman" panose="02020603050405020304" pitchFamily="18" charset="0"/>
                <a:cs typeface="Times New Roman" panose="02020603050405020304" pitchFamily="18" charset="0"/>
              </a:rPr>
              <a:t>Floyd–</a:t>
            </a:r>
            <a:r>
              <a:rPr lang="en-US" sz="2400" dirty="0" err="1">
                <a:latin typeface="Times New Roman" panose="02020603050405020304" pitchFamily="18" charset="0"/>
                <a:cs typeface="Times New Roman" panose="02020603050405020304" pitchFamily="18" charset="0"/>
              </a:rPr>
              <a:t>Warshall</a:t>
            </a:r>
            <a:r>
              <a:rPr lang="en-US" sz="2400" dirty="0">
                <a:latin typeface="Times New Roman" panose="02020603050405020304" pitchFamily="18" charset="0"/>
                <a:cs typeface="Times New Roman" panose="02020603050405020304" pitchFamily="18" charset="0"/>
              </a:rPr>
              <a:t> Algorithm</a:t>
            </a:r>
          </a:p>
          <a:p>
            <a:r>
              <a:rPr lang="en-US" sz="2400" dirty="0">
                <a:latin typeface="Times New Roman" panose="02020603050405020304" pitchFamily="18" charset="0"/>
                <a:cs typeface="Times New Roman" panose="02020603050405020304" pitchFamily="18" charset="0"/>
              </a:rPr>
              <a:t>Johnson’s Algorithm</a:t>
            </a:r>
          </a:p>
          <a:p>
            <a:r>
              <a:rPr lang="en-US" sz="2400">
                <a:latin typeface="Times New Roman" panose="02020603050405020304" pitchFamily="18" charset="0"/>
                <a:cs typeface="Times New Roman" panose="02020603050405020304" pitchFamily="18" charset="0"/>
              </a:rPr>
              <a:t>Matrix Multiplication Method</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057833C-51F6-A514-1D9B-20361F930221}"/>
              </a:ext>
            </a:extLst>
          </p:cNvPr>
          <p:cNvSpPr>
            <a:spLocks noGrp="1"/>
          </p:cNvSpPr>
          <p:nvPr>
            <p:ph type="sldNum" sz="quarter" idx="12"/>
          </p:nvPr>
        </p:nvSpPr>
        <p:spPr/>
        <p:txBody>
          <a:bodyPr/>
          <a:lstStyle/>
          <a:p>
            <a:fld id="{BDCDBBEF-AA6C-4BA6-85B2-A17D7F280E38}" type="slidenum">
              <a:rPr lang="en-US" smtClean="0"/>
              <a:t>26</a:t>
            </a:fld>
            <a:endParaRPr lang="en-US"/>
          </a:p>
        </p:txBody>
      </p:sp>
      <p:sp>
        <p:nvSpPr>
          <p:cNvPr id="24" name="Rectangle 23">
            <a:extLst>
              <a:ext uri="{FF2B5EF4-FFF2-40B4-BE49-F238E27FC236}">
                <a16:creationId xmlns:a16="http://schemas.microsoft.com/office/drawing/2014/main" id="{3F99CE30-4C65-F162-4D27-53E689FD04DA}"/>
              </a:ext>
            </a:extLst>
          </p:cNvPr>
          <p:cNvSpPr/>
          <p:nvPr/>
        </p:nvSpPr>
        <p:spPr>
          <a:xfrm>
            <a:off x="838200" y="1282001"/>
            <a:ext cx="10515600" cy="489019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80624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7076"/>
            <a:ext cx="8769626" cy="1055538"/>
          </a:xfrm>
          <a:ln>
            <a:solidFill>
              <a:schemeClr val="tx1"/>
            </a:solidFill>
          </a:ln>
        </p:spPr>
        <p:txBody>
          <a:bodyPr>
            <a:normAutofit fontScale="90000"/>
          </a:bodyPr>
          <a:lstStyle/>
          <a:p>
            <a:pPr algn="ctr"/>
            <a:r>
              <a:rPr lang="en-US" b="1" dirty="0">
                <a:latin typeface="Times New Roman" panose="02020603050405020304" pitchFamily="18" charset="0"/>
                <a:cs typeface="Times New Roman" panose="02020603050405020304" pitchFamily="18" charset="0"/>
              </a:rPr>
              <a:t>Floyd’s Algorithm: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All Pair Shortest Paths</a:t>
            </a:r>
            <a:endParaRPr lang="en-US" dirty="0"/>
          </a:p>
        </p:txBody>
      </p:sp>
      <p:sp>
        <p:nvSpPr>
          <p:cNvPr id="3" name="Content Placeholder 2"/>
          <p:cNvSpPr>
            <a:spLocks noGrp="1"/>
          </p:cNvSpPr>
          <p:nvPr>
            <p:ph idx="1"/>
          </p:nvPr>
        </p:nvSpPr>
        <p:spPr>
          <a:xfrm>
            <a:off x="838200" y="1286764"/>
            <a:ext cx="10515600" cy="4890199"/>
          </a:xfrm>
        </p:spPr>
        <p:txBody>
          <a:bodyPr>
            <a:normAutofit/>
          </a:bodyPr>
          <a:lstStyle/>
          <a:p>
            <a:pPr marL="0" indent="0">
              <a:buNone/>
            </a:pPr>
            <a:r>
              <a:rPr lang="en-US" altLang="zh-CN" sz="2400" dirty="0">
                <a:latin typeface="Times New Roman" panose="02020603050405020304" pitchFamily="18" charset="0"/>
                <a:ea typeface="SimSun" panose="02010600030101010101" pitchFamily="2" charset="-122"/>
                <a:cs typeface="Times New Roman" panose="02020603050405020304" pitchFamily="18" charset="0"/>
              </a:rPr>
              <a:t>In a weighted graph, find shortest paths between every pair of vertices</a:t>
            </a:r>
          </a:p>
          <a:p>
            <a:r>
              <a:rPr lang="en-US" altLang="zh-CN" sz="2400" dirty="0">
                <a:latin typeface="Times New Roman" panose="02020603050405020304" pitchFamily="18" charset="0"/>
                <a:ea typeface="SimSun" panose="02010600030101010101" pitchFamily="2" charset="-122"/>
                <a:cs typeface="Times New Roman" panose="02020603050405020304" pitchFamily="18" charset="0"/>
              </a:rPr>
              <a:t>Same idea: construct solution through series of matrices D</a:t>
            </a:r>
            <a:r>
              <a:rPr lang="en-US" altLang="zh-CN" sz="2400" baseline="30000" dirty="0">
                <a:latin typeface="Times New Roman" panose="02020603050405020304" pitchFamily="18" charset="0"/>
                <a:ea typeface="SimSun" panose="02010600030101010101" pitchFamily="2" charset="-122"/>
                <a:cs typeface="Times New Roman" panose="02020603050405020304" pitchFamily="18" charset="0"/>
              </a:rPr>
              <a:t>(0)</a:t>
            </a:r>
            <a:r>
              <a:rPr lang="en-US" altLang="zh-CN" sz="2400" dirty="0">
                <a:latin typeface="Times New Roman" panose="02020603050405020304" pitchFamily="18" charset="0"/>
                <a:ea typeface="SimSun" panose="02010600030101010101" pitchFamily="2" charset="-122"/>
                <a:cs typeface="Times New Roman" panose="02020603050405020304" pitchFamily="18" charset="0"/>
              </a:rPr>
              <a:t>, D</a:t>
            </a:r>
            <a:r>
              <a:rPr lang="en-US" altLang="zh-CN" sz="2400" baseline="30000" dirty="0">
                <a:latin typeface="Times New Roman" panose="02020603050405020304" pitchFamily="18" charset="0"/>
                <a:ea typeface="SimSun" panose="02010600030101010101" pitchFamily="2" charset="-122"/>
                <a:cs typeface="Times New Roman" panose="02020603050405020304" pitchFamily="18" charset="0"/>
              </a:rPr>
              <a:t>(1)</a:t>
            </a:r>
            <a:r>
              <a:rPr lang="en-US" altLang="zh-CN" sz="2400" dirty="0">
                <a:latin typeface="Times New Roman" panose="02020603050405020304" pitchFamily="18" charset="0"/>
                <a:ea typeface="SimSun" panose="02010600030101010101" pitchFamily="2" charset="-122"/>
                <a:cs typeface="Times New Roman" panose="02020603050405020304" pitchFamily="18" charset="0"/>
              </a:rPr>
              <a:t>,  using an initial subset of the vertices as intermediate. </a:t>
            </a:r>
          </a:p>
          <a:p>
            <a:pPr marL="0" lvl="1">
              <a:buFontTx/>
              <a:buChar char="•"/>
            </a:pPr>
            <a:r>
              <a:rPr kumimoji="1" lang="en-US" altLang="zh-CN" dirty="0">
                <a:latin typeface="Times New Roman" panose="02020603050405020304" pitchFamily="18" charset="0"/>
                <a:ea typeface="SimSun" panose="02010600030101010101" pitchFamily="2" charset="-122"/>
                <a:cs typeface="Times New Roman" panose="02020603050405020304" pitchFamily="18" charset="0"/>
              </a:rPr>
              <a:t>In D</a:t>
            </a:r>
            <a:r>
              <a:rPr kumimoji="1" lang="en-US" altLang="zh-CN" baseline="30000" dirty="0">
                <a:latin typeface="Times New Roman" panose="02020603050405020304" pitchFamily="18" charset="0"/>
                <a:ea typeface="SimSun" panose="02010600030101010101" pitchFamily="2" charset="-122"/>
                <a:cs typeface="Times New Roman" panose="02020603050405020304" pitchFamily="18" charset="0"/>
              </a:rPr>
              <a:t>(k)</a:t>
            </a:r>
            <a:r>
              <a:rPr kumimoji="1" lang="en-US" altLang="zh-CN" dirty="0">
                <a:latin typeface="Times New Roman" panose="02020603050405020304" pitchFamily="18" charset="0"/>
                <a:ea typeface="SimSun" panose="02010600030101010101" pitchFamily="2" charset="-122"/>
                <a:cs typeface="Times New Roman" panose="02020603050405020304" pitchFamily="18" charset="0"/>
              </a:rPr>
              <a:t>, </a:t>
            </a:r>
            <a:r>
              <a:rPr kumimoji="1" lang="en-US" altLang="zh-CN" dirty="0" err="1">
                <a:latin typeface="Times New Roman" panose="02020603050405020304" pitchFamily="18" charset="0"/>
                <a:ea typeface="SimSun" panose="02010600030101010101" pitchFamily="2" charset="-122"/>
                <a:cs typeface="Times New Roman" panose="02020603050405020304" pitchFamily="18" charset="0"/>
              </a:rPr>
              <a:t>d</a:t>
            </a:r>
            <a:r>
              <a:rPr kumimoji="1" lang="en-US" altLang="zh-CN" baseline="-25000" dirty="0" err="1">
                <a:latin typeface="Times New Roman" panose="02020603050405020304" pitchFamily="18" charset="0"/>
                <a:ea typeface="SimSun" panose="02010600030101010101" pitchFamily="2" charset="-122"/>
                <a:cs typeface="Times New Roman" panose="02020603050405020304" pitchFamily="18" charset="0"/>
              </a:rPr>
              <a:t>ij</a:t>
            </a:r>
            <a:r>
              <a:rPr kumimoji="1" lang="en-US" altLang="zh-CN" baseline="30000" dirty="0">
                <a:latin typeface="Times New Roman" panose="02020603050405020304" pitchFamily="18" charset="0"/>
                <a:ea typeface="SimSun" panose="02010600030101010101" pitchFamily="2" charset="-122"/>
                <a:cs typeface="Times New Roman" panose="02020603050405020304" pitchFamily="18" charset="0"/>
              </a:rPr>
              <a:t>(k)</a:t>
            </a:r>
            <a:r>
              <a:rPr kumimoji="1" lang="en-US" altLang="zh-CN" dirty="0">
                <a:latin typeface="Times New Roman" panose="02020603050405020304" pitchFamily="18" charset="0"/>
                <a:ea typeface="SimSun" panose="02010600030101010101" pitchFamily="2" charset="-122"/>
                <a:cs typeface="Times New Roman" panose="02020603050405020304" pitchFamily="18" charset="0"/>
              </a:rPr>
              <a:t>: weight of the shortest path from </a:t>
            </a:r>
            <a:r>
              <a:rPr kumimoji="1" lang="en-US" altLang="zh-CN" dirty="0" err="1">
                <a:latin typeface="Times New Roman" panose="02020603050405020304" pitchFamily="18" charset="0"/>
                <a:ea typeface="SimSun" panose="02010600030101010101" pitchFamily="2" charset="-122"/>
                <a:cs typeface="Times New Roman" panose="02020603050405020304" pitchFamily="18" charset="0"/>
              </a:rPr>
              <a:t>u</a:t>
            </a:r>
            <a:r>
              <a:rPr kumimoji="1" lang="en-US" altLang="zh-CN" baseline="-25000" dirty="0" err="1">
                <a:latin typeface="Times New Roman" panose="02020603050405020304" pitchFamily="18" charset="0"/>
                <a:ea typeface="SimSun" panose="02010600030101010101" pitchFamily="2" charset="-122"/>
                <a:cs typeface="Times New Roman" panose="02020603050405020304" pitchFamily="18" charset="0"/>
              </a:rPr>
              <a:t>i</a:t>
            </a:r>
            <a:r>
              <a:rPr kumimoji="1" lang="en-US" altLang="zh-CN" dirty="0">
                <a:latin typeface="Times New Roman" panose="02020603050405020304" pitchFamily="18" charset="0"/>
                <a:ea typeface="SimSun" panose="02010600030101010101" pitchFamily="2" charset="-122"/>
                <a:cs typeface="Times New Roman" panose="02020603050405020304" pitchFamily="18" charset="0"/>
              </a:rPr>
              <a:t> to </a:t>
            </a:r>
            <a:r>
              <a:rPr kumimoji="1" lang="en-US" altLang="zh-CN" dirty="0" err="1">
                <a:latin typeface="Times New Roman" panose="02020603050405020304" pitchFamily="18" charset="0"/>
                <a:ea typeface="SimSun" panose="02010600030101010101" pitchFamily="2" charset="-122"/>
                <a:cs typeface="Times New Roman" panose="02020603050405020304" pitchFamily="18" charset="0"/>
              </a:rPr>
              <a:t>u</a:t>
            </a:r>
            <a:r>
              <a:rPr kumimoji="1" lang="en-US" altLang="zh-CN" baseline="-25000" dirty="0" err="1">
                <a:latin typeface="Times New Roman" panose="02020603050405020304" pitchFamily="18" charset="0"/>
                <a:ea typeface="SimSun" panose="02010600030101010101" pitchFamily="2" charset="-122"/>
                <a:cs typeface="Times New Roman" panose="02020603050405020304" pitchFamily="18" charset="0"/>
              </a:rPr>
              <a:t>j</a:t>
            </a:r>
            <a:r>
              <a:rPr kumimoji="1" lang="en-US" altLang="zh-CN" dirty="0">
                <a:latin typeface="Times New Roman" panose="02020603050405020304" pitchFamily="18" charset="0"/>
                <a:ea typeface="SimSun" panose="02010600030101010101" pitchFamily="2" charset="-122"/>
                <a:cs typeface="Times New Roman" panose="02020603050405020304" pitchFamily="18" charset="0"/>
              </a:rPr>
              <a:t> with all intermediate vertices in an initial subset {u</a:t>
            </a:r>
            <a:r>
              <a:rPr kumimoji="1" lang="en-US" altLang="zh-CN" baseline="-25000" dirty="0">
                <a:latin typeface="Times New Roman" panose="02020603050405020304" pitchFamily="18" charset="0"/>
                <a:ea typeface="SimSun" panose="02010600030101010101" pitchFamily="2" charset="-122"/>
                <a:cs typeface="Times New Roman" panose="02020603050405020304" pitchFamily="18" charset="0"/>
              </a:rPr>
              <a:t>1</a:t>
            </a:r>
            <a:r>
              <a:rPr kumimoji="1" lang="en-US" altLang="zh-CN" dirty="0">
                <a:latin typeface="Times New Roman" panose="02020603050405020304" pitchFamily="18" charset="0"/>
                <a:ea typeface="SimSun" panose="02010600030101010101" pitchFamily="2" charset="-122"/>
                <a:cs typeface="Times New Roman" panose="02020603050405020304" pitchFamily="18" charset="0"/>
              </a:rPr>
              <a:t>, u</a:t>
            </a:r>
            <a:r>
              <a:rPr kumimoji="1" lang="en-US" altLang="zh-CN" baseline="-25000" dirty="0">
                <a:latin typeface="Times New Roman" panose="02020603050405020304" pitchFamily="18" charset="0"/>
                <a:ea typeface="SimSun" panose="02010600030101010101" pitchFamily="2" charset="-122"/>
                <a:cs typeface="Times New Roman" panose="02020603050405020304" pitchFamily="18" charset="0"/>
              </a:rPr>
              <a:t>2</a:t>
            </a:r>
            <a:r>
              <a:rPr kumimoji="1" lang="en-US" altLang="zh-CN" dirty="0">
                <a:latin typeface="Times New Roman" panose="02020603050405020304" pitchFamily="18" charset="0"/>
                <a:ea typeface="SimSun" panose="02010600030101010101" pitchFamily="2" charset="-122"/>
                <a:cs typeface="Times New Roman" panose="02020603050405020304" pitchFamily="18" charset="0"/>
              </a:rPr>
              <a:t>, … </a:t>
            </a:r>
            <a:r>
              <a:rPr kumimoji="1" lang="en-US" altLang="zh-CN" dirty="0" err="1">
                <a:latin typeface="Times New Roman" panose="02020603050405020304" pitchFamily="18" charset="0"/>
                <a:ea typeface="SimSun" panose="02010600030101010101" pitchFamily="2" charset="-122"/>
                <a:cs typeface="Times New Roman" panose="02020603050405020304" pitchFamily="18" charset="0"/>
              </a:rPr>
              <a:t>u</a:t>
            </a:r>
            <a:r>
              <a:rPr kumimoji="1" lang="en-US" altLang="zh-CN" baseline="-25000" dirty="0" err="1">
                <a:latin typeface="Times New Roman" panose="02020603050405020304" pitchFamily="18" charset="0"/>
                <a:ea typeface="SimSun" panose="02010600030101010101" pitchFamily="2" charset="-122"/>
                <a:cs typeface="Times New Roman" panose="02020603050405020304" pitchFamily="18" charset="0"/>
              </a:rPr>
              <a:t>k</a:t>
            </a:r>
            <a:r>
              <a:rPr kumimoji="1" lang="en-US" altLang="zh-CN" dirty="0">
                <a:latin typeface="Times New Roman" panose="02020603050405020304" pitchFamily="18" charset="0"/>
                <a:ea typeface="SimSun" panose="02010600030101010101" pitchFamily="2" charset="-122"/>
                <a:cs typeface="Times New Roman" panose="02020603050405020304" pitchFamily="18" charset="0"/>
              </a:rPr>
              <a:t>}</a:t>
            </a:r>
            <a:endParaRPr kumimoji="1" lang="en-US" altLang="zh-CN" baseline="-25000" dirty="0">
              <a:latin typeface="Times New Roman" panose="02020603050405020304" pitchFamily="18" charset="0"/>
              <a:ea typeface="SimSun" panose="02010600030101010101" pitchFamily="2" charset="-122"/>
              <a:cs typeface="Times New Roman" panose="02020603050405020304" pitchFamily="18" charset="0"/>
            </a:endParaRPr>
          </a:p>
          <a:p>
            <a:pPr>
              <a:buFontTx/>
              <a:buChar char="•"/>
            </a:pPr>
            <a:r>
              <a:rPr lang="en-US" altLang="zh-CN" sz="2400" b="1" dirty="0">
                <a:latin typeface="Times New Roman" panose="02020603050405020304" pitchFamily="18" charset="0"/>
                <a:ea typeface="SimSun" panose="02010600030101010101" pitchFamily="2" charset="-122"/>
                <a:cs typeface="Times New Roman" panose="02020603050405020304" pitchFamily="18" charset="0"/>
              </a:rPr>
              <a:t> Example: </a:t>
            </a:r>
            <a:endParaRPr lang="en-US" altLang="zh-CN" sz="2400" b="1" i="1" dirty="0">
              <a:latin typeface="Times New Roman" panose="02020603050405020304" pitchFamily="18" charset="0"/>
              <a:ea typeface="SimSun" panose="02010600030101010101" pitchFamily="2" charset="-122"/>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27</a:t>
            </a:fld>
            <a:endParaRPr lang="en-US"/>
          </a:p>
        </p:txBody>
      </p:sp>
      <p:grpSp>
        <p:nvGrpSpPr>
          <p:cNvPr id="5" name="Group 4"/>
          <p:cNvGrpSpPr/>
          <p:nvPr/>
        </p:nvGrpSpPr>
        <p:grpSpPr bwMode="auto">
          <a:xfrm>
            <a:off x="3999580" y="3528774"/>
            <a:ext cx="3048000" cy="2157413"/>
            <a:chOff x="4032" y="1800"/>
            <a:chExt cx="1440" cy="1359"/>
          </a:xfrm>
        </p:grpSpPr>
        <p:sp>
          <p:nvSpPr>
            <p:cNvPr id="6" name="Oval 5"/>
            <p:cNvSpPr>
              <a:spLocks noChangeArrowheads="1"/>
            </p:cNvSpPr>
            <p:nvPr/>
          </p:nvSpPr>
          <p:spPr bwMode="auto">
            <a:xfrm>
              <a:off x="4896" y="1824"/>
              <a:ext cx="192" cy="192"/>
            </a:xfrm>
            <a:prstGeom prst="ellipse">
              <a:avLst/>
            </a:prstGeom>
            <a:solidFill>
              <a:schemeClr val="accent1"/>
            </a:solidFill>
            <a:ln w="9525">
              <a:solidFill>
                <a:schemeClr val="tx1"/>
              </a:solidFill>
              <a:rou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CN">
                  <a:solidFill>
                    <a:schemeClr val="bg2"/>
                  </a:solidFill>
                  <a:ea typeface="SimSun" panose="02010600030101010101" pitchFamily="2" charset="-122"/>
                </a:rPr>
                <a:t>3</a:t>
              </a:r>
            </a:p>
          </p:txBody>
        </p:sp>
        <p:sp>
          <p:nvSpPr>
            <p:cNvPr id="7" name="Oval 6"/>
            <p:cNvSpPr>
              <a:spLocks noChangeArrowheads="1"/>
            </p:cNvSpPr>
            <p:nvPr/>
          </p:nvSpPr>
          <p:spPr bwMode="auto">
            <a:xfrm>
              <a:off x="5280" y="2832"/>
              <a:ext cx="192" cy="192"/>
            </a:xfrm>
            <a:prstGeom prst="ellipse">
              <a:avLst/>
            </a:prstGeom>
            <a:solidFill>
              <a:schemeClr val="accent1"/>
            </a:solidFill>
            <a:ln w="9525">
              <a:solidFill>
                <a:schemeClr val="tx1"/>
              </a:solidFill>
              <a:rou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CN">
                  <a:solidFill>
                    <a:schemeClr val="bg2"/>
                  </a:solidFill>
                  <a:ea typeface="SimSun" panose="02010600030101010101" pitchFamily="2" charset="-122"/>
                </a:rPr>
                <a:t>4</a:t>
              </a:r>
            </a:p>
          </p:txBody>
        </p:sp>
        <p:sp>
          <p:nvSpPr>
            <p:cNvPr id="8" name="Oval 7"/>
            <p:cNvSpPr>
              <a:spLocks noChangeArrowheads="1"/>
            </p:cNvSpPr>
            <p:nvPr/>
          </p:nvSpPr>
          <p:spPr bwMode="auto">
            <a:xfrm>
              <a:off x="4224" y="2928"/>
              <a:ext cx="192" cy="192"/>
            </a:xfrm>
            <a:prstGeom prst="ellipse">
              <a:avLst/>
            </a:prstGeom>
            <a:solidFill>
              <a:schemeClr val="accent1"/>
            </a:solidFill>
            <a:ln w="9525">
              <a:solidFill>
                <a:schemeClr val="tx1"/>
              </a:solidFill>
              <a:rou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CN">
                  <a:solidFill>
                    <a:schemeClr val="bg2"/>
                  </a:solidFill>
                  <a:ea typeface="SimSun" panose="02010600030101010101" pitchFamily="2" charset="-122"/>
                </a:rPr>
                <a:t>2</a:t>
              </a:r>
            </a:p>
          </p:txBody>
        </p:sp>
        <p:sp>
          <p:nvSpPr>
            <p:cNvPr id="9" name="Oval 8"/>
            <p:cNvSpPr>
              <a:spLocks noChangeArrowheads="1"/>
            </p:cNvSpPr>
            <p:nvPr/>
          </p:nvSpPr>
          <p:spPr bwMode="auto">
            <a:xfrm>
              <a:off x="4080" y="2064"/>
              <a:ext cx="192" cy="192"/>
            </a:xfrm>
            <a:prstGeom prst="ellipse">
              <a:avLst/>
            </a:prstGeom>
            <a:solidFill>
              <a:schemeClr val="accent1"/>
            </a:solidFill>
            <a:ln w="9525">
              <a:solidFill>
                <a:schemeClr val="tx1"/>
              </a:solidFill>
              <a:rou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CN">
                  <a:solidFill>
                    <a:schemeClr val="bg2"/>
                  </a:solidFill>
                  <a:ea typeface="SimSun" panose="02010600030101010101" pitchFamily="2" charset="-122"/>
                </a:rPr>
                <a:t>1</a:t>
              </a:r>
            </a:p>
          </p:txBody>
        </p:sp>
        <p:sp>
          <p:nvSpPr>
            <p:cNvPr id="10" name="Line 9"/>
            <p:cNvSpPr>
              <a:spLocks noChangeShapeType="1"/>
            </p:cNvSpPr>
            <p:nvPr/>
          </p:nvSpPr>
          <p:spPr bwMode="auto">
            <a:xfrm flipV="1">
              <a:off x="4272" y="1968"/>
              <a:ext cx="624" cy="14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cxnSp>
          <p:nvCxnSpPr>
            <p:cNvPr id="11" name="AutoShape 10"/>
            <p:cNvCxnSpPr>
              <a:cxnSpLocks noChangeShapeType="1"/>
            </p:cNvCxnSpPr>
            <p:nvPr/>
          </p:nvCxnSpPr>
          <p:spPr bwMode="auto">
            <a:xfrm flipV="1">
              <a:off x="4416" y="2976"/>
              <a:ext cx="892" cy="28"/>
            </a:xfrm>
            <a:prstGeom prst="curvedConnector4">
              <a:avLst>
                <a:gd name="adj1" fmla="val -338"/>
                <a:gd name="adj2" fmla="val -514287"/>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2" name="AutoShape 11"/>
            <p:cNvCxnSpPr>
              <a:cxnSpLocks noChangeShapeType="1"/>
              <a:stCxn id="7" idx="1"/>
              <a:endCxn id="8" idx="7"/>
            </p:cNvCxnSpPr>
            <p:nvPr/>
          </p:nvCxnSpPr>
          <p:spPr bwMode="auto">
            <a:xfrm rot="-5400000" flipH="1" flipV="1">
              <a:off x="4800" y="2448"/>
              <a:ext cx="96" cy="920"/>
            </a:xfrm>
            <a:prstGeom prst="curvedConnector3">
              <a:avLst>
                <a:gd name="adj1" fmla="val -179167"/>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13" name="Line 12"/>
            <p:cNvSpPr>
              <a:spLocks noChangeShapeType="1"/>
            </p:cNvSpPr>
            <p:nvPr/>
          </p:nvSpPr>
          <p:spPr bwMode="auto">
            <a:xfrm flipH="1" flipV="1">
              <a:off x="4176" y="2256"/>
              <a:ext cx="96" cy="67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13"/>
            <p:cNvSpPr>
              <a:spLocks noChangeShapeType="1"/>
            </p:cNvSpPr>
            <p:nvPr/>
          </p:nvSpPr>
          <p:spPr bwMode="auto">
            <a:xfrm flipV="1">
              <a:off x="4320" y="2016"/>
              <a:ext cx="624" cy="91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14"/>
            <p:cNvSpPr>
              <a:spLocks noChangeShapeType="1"/>
            </p:cNvSpPr>
            <p:nvPr/>
          </p:nvSpPr>
          <p:spPr bwMode="auto">
            <a:xfrm flipH="1" flipV="1">
              <a:off x="4992" y="2016"/>
              <a:ext cx="384" cy="81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 name="Text Box 15"/>
            <p:cNvSpPr txBox="1">
              <a:spLocks noChangeArrowheads="1"/>
            </p:cNvSpPr>
            <p:nvPr/>
          </p:nvSpPr>
          <p:spPr bwMode="auto">
            <a:xfrm>
              <a:off x="4454" y="1800"/>
              <a:ext cx="14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l"/>
              <a:r>
                <a:rPr lang="en-US" altLang="zh-CN" sz="1800">
                  <a:solidFill>
                    <a:schemeClr val="bg2"/>
                  </a:solidFill>
                  <a:ea typeface="SimSun" panose="02010600030101010101" pitchFamily="2" charset="-122"/>
                </a:rPr>
                <a:t>4</a:t>
              </a:r>
            </a:p>
          </p:txBody>
        </p:sp>
        <p:sp>
          <p:nvSpPr>
            <p:cNvPr id="17" name="Text Box 16"/>
            <p:cNvSpPr txBox="1">
              <a:spLocks noChangeArrowheads="1"/>
            </p:cNvSpPr>
            <p:nvPr/>
          </p:nvSpPr>
          <p:spPr bwMode="auto">
            <a:xfrm>
              <a:off x="4032" y="2496"/>
              <a:ext cx="14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l"/>
              <a:r>
                <a:rPr lang="en-US" altLang="zh-CN" sz="1800" dirty="0">
                  <a:ea typeface="SimSun" panose="02010600030101010101" pitchFamily="2" charset="-122"/>
                </a:rPr>
                <a:t>1</a:t>
              </a:r>
            </a:p>
          </p:txBody>
        </p:sp>
        <p:sp>
          <p:nvSpPr>
            <p:cNvPr id="18" name="Text Box 17"/>
            <p:cNvSpPr txBox="1">
              <a:spLocks noChangeArrowheads="1"/>
            </p:cNvSpPr>
            <p:nvPr/>
          </p:nvSpPr>
          <p:spPr bwMode="auto">
            <a:xfrm>
              <a:off x="4512" y="2304"/>
              <a:ext cx="14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l"/>
              <a:r>
                <a:rPr lang="en-US" altLang="zh-CN" sz="1800">
                  <a:ea typeface="SimSun" panose="02010600030101010101" pitchFamily="2" charset="-122"/>
                </a:rPr>
                <a:t>6</a:t>
              </a:r>
            </a:p>
          </p:txBody>
        </p:sp>
        <p:sp>
          <p:nvSpPr>
            <p:cNvPr id="19" name="Text Box 18"/>
            <p:cNvSpPr txBox="1">
              <a:spLocks noChangeArrowheads="1"/>
            </p:cNvSpPr>
            <p:nvPr/>
          </p:nvSpPr>
          <p:spPr bwMode="auto">
            <a:xfrm>
              <a:off x="5136" y="2208"/>
              <a:ext cx="14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l"/>
              <a:r>
                <a:rPr lang="en-US" altLang="zh-CN" sz="1800">
                  <a:ea typeface="SimSun" panose="02010600030101010101" pitchFamily="2" charset="-122"/>
                </a:rPr>
                <a:t>1</a:t>
              </a:r>
            </a:p>
          </p:txBody>
        </p:sp>
        <p:sp>
          <p:nvSpPr>
            <p:cNvPr id="20" name="Text Box 19"/>
            <p:cNvSpPr txBox="1">
              <a:spLocks noChangeArrowheads="1"/>
            </p:cNvSpPr>
            <p:nvPr/>
          </p:nvSpPr>
          <p:spPr bwMode="auto">
            <a:xfrm>
              <a:off x="4752" y="2496"/>
              <a:ext cx="14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l"/>
              <a:r>
                <a:rPr lang="en-US" altLang="zh-CN" sz="1800" dirty="0">
                  <a:ea typeface="SimSun" panose="02010600030101010101" pitchFamily="2" charset="-122"/>
                </a:rPr>
                <a:t>5</a:t>
              </a:r>
            </a:p>
          </p:txBody>
        </p:sp>
        <p:sp>
          <p:nvSpPr>
            <p:cNvPr id="21" name="Text Box 20"/>
            <p:cNvSpPr txBox="1">
              <a:spLocks noChangeArrowheads="1"/>
            </p:cNvSpPr>
            <p:nvPr/>
          </p:nvSpPr>
          <p:spPr bwMode="auto">
            <a:xfrm>
              <a:off x="4752" y="2928"/>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l"/>
              <a:r>
                <a:rPr lang="en-US" altLang="zh-CN" sz="1800" dirty="0">
                  <a:ea typeface="SimSun" panose="02010600030101010101" pitchFamily="2" charset="-122"/>
                </a:rPr>
                <a:t>3</a:t>
              </a:r>
            </a:p>
          </p:txBody>
        </p:sp>
      </p:grpSp>
      <p:sp>
        <p:nvSpPr>
          <p:cNvPr id="56" name="TextBox 55"/>
          <p:cNvSpPr txBox="1"/>
          <p:nvPr/>
        </p:nvSpPr>
        <p:spPr>
          <a:xfrm>
            <a:off x="3999580" y="5870337"/>
            <a:ext cx="335805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 3.6: </a:t>
            </a:r>
            <a:r>
              <a:rPr lang="en-US" dirty="0">
                <a:latin typeface="Times New Roman" panose="02020603050405020304" pitchFamily="18" charset="0"/>
                <a:cs typeface="Times New Roman" panose="02020603050405020304" pitchFamily="18" charset="0"/>
              </a:rPr>
              <a:t>Floyd’s Implementation</a:t>
            </a:r>
          </a:p>
        </p:txBody>
      </p:sp>
      <p:sp>
        <p:nvSpPr>
          <p:cNvPr id="24" name="Rectangle 23"/>
          <p:cNvSpPr/>
          <p:nvPr/>
        </p:nvSpPr>
        <p:spPr>
          <a:xfrm>
            <a:off x="838200" y="1282001"/>
            <a:ext cx="10515600" cy="489019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7076"/>
            <a:ext cx="8769626" cy="1055538"/>
          </a:xfrm>
          <a:ln>
            <a:solidFill>
              <a:schemeClr val="tx1"/>
            </a:solidFill>
          </a:ln>
        </p:spPr>
        <p:txBody>
          <a:bodyPr>
            <a:normAutofit fontScale="90000"/>
          </a:bodyPr>
          <a:lstStyle/>
          <a:p>
            <a:pPr algn="ctr"/>
            <a:r>
              <a:rPr lang="en-US" b="1" dirty="0">
                <a:latin typeface="Times New Roman" panose="02020603050405020304" pitchFamily="18" charset="0"/>
                <a:cs typeface="Times New Roman" panose="02020603050405020304" pitchFamily="18" charset="0"/>
              </a:rPr>
              <a:t>Floyd’s </a:t>
            </a:r>
            <a:r>
              <a:rPr lang="en-US" b="1" dirty="0" err="1">
                <a:latin typeface="Times New Roman" panose="02020603050405020304" pitchFamily="18" charset="0"/>
                <a:cs typeface="Times New Roman" panose="02020603050405020304" pitchFamily="18" charset="0"/>
              </a:rPr>
              <a:t>Warshall</a:t>
            </a:r>
            <a:r>
              <a:rPr lang="en-US" b="1" dirty="0">
                <a:latin typeface="Times New Roman" panose="02020603050405020304" pitchFamily="18" charset="0"/>
                <a:cs typeface="Times New Roman" panose="02020603050405020304" pitchFamily="18" charset="0"/>
              </a:rPr>
              <a:t> Algorithm: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All Pair Shortest Paths</a:t>
            </a:r>
            <a:endParaRPr lang="en-US" dirty="0"/>
          </a:p>
        </p:txBody>
      </p:sp>
      <p:sp>
        <p:nvSpPr>
          <p:cNvPr id="3" name="Content Placeholder 2"/>
          <p:cNvSpPr>
            <a:spLocks noGrp="1"/>
          </p:cNvSpPr>
          <p:nvPr>
            <p:ph idx="1"/>
          </p:nvPr>
        </p:nvSpPr>
        <p:spPr>
          <a:xfrm>
            <a:off x="838200" y="1282001"/>
            <a:ext cx="10515600" cy="5439474"/>
          </a:xfrm>
        </p:spPr>
        <p:txBody>
          <a:bodyPr>
            <a:normAutofit fontScale="92500"/>
          </a:bodyPr>
          <a:lstStyle/>
          <a:p>
            <a:pPr algn="just"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Floyd </a:t>
            </a:r>
            <a:r>
              <a:rPr lang="en-US" sz="2400" b="0" i="0" dirty="0" err="1">
                <a:solidFill>
                  <a:srgbClr val="303030"/>
                </a:solidFill>
                <a:effectLst/>
                <a:latin typeface="Times New Roman" panose="02020603050405020304" pitchFamily="18" charset="0"/>
                <a:cs typeface="Times New Roman" panose="02020603050405020304" pitchFamily="18" charset="0"/>
              </a:rPr>
              <a:t>Warshall</a:t>
            </a:r>
            <a:r>
              <a:rPr lang="en-US" sz="2400" b="0" i="0" dirty="0">
                <a:solidFill>
                  <a:srgbClr val="303030"/>
                </a:solidFill>
                <a:effectLst/>
                <a:latin typeface="Times New Roman" panose="02020603050405020304" pitchFamily="18" charset="0"/>
                <a:cs typeface="Times New Roman" panose="02020603050405020304" pitchFamily="18" charset="0"/>
              </a:rPr>
              <a:t> Algorithm is a famous algorithm.</a:t>
            </a:r>
          </a:p>
          <a:p>
            <a:pPr algn="just"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It is used to solve All Pairs Shortest Path Problem.</a:t>
            </a:r>
          </a:p>
          <a:p>
            <a:pPr algn="just"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It computes the shortest path between every pair of vertices of the given graph.</a:t>
            </a:r>
          </a:p>
          <a:p>
            <a:pPr algn="just"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It is extremely simple and easy to implement.</a:t>
            </a:r>
          </a:p>
          <a:p>
            <a:pPr marL="0" indent="0" algn="just" fontAlgn="base">
              <a:buNone/>
            </a:pPr>
            <a:r>
              <a:rPr lang="en-US" sz="2400" b="1" i="0" u="sng" dirty="0">
                <a:solidFill>
                  <a:srgbClr val="303030"/>
                </a:solidFill>
                <a:effectLst/>
                <a:latin typeface="Times New Roman" panose="02020603050405020304" pitchFamily="18" charset="0"/>
                <a:cs typeface="Times New Roman" panose="02020603050405020304" pitchFamily="18" charset="0"/>
              </a:rPr>
              <a:t>Time Complexity-</a:t>
            </a:r>
            <a:endParaRPr lang="en-US" sz="2400" b="0" i="0" dirty="0">
              <a:solidFill>
                <a:srgbClr val="303030"/>
              </a:solidFill>
              <a:effectLst/>
              <a:latin typeface="Times New Roman" panose="02020603050405020304" pitchFamily="18" charset="0"/>
              <a:cs typeface="Times New Roman" panose="02020603050405020304" pitchFamily="18" charset="0"/>
            </a:endParaRPr>
          </a:p>
          <a:p>
            <a:pPr algn="just" fontAlgn="base"/>
            <a:r>
              <a:rPr lang="en-US" sz="2400" b="0" i="0" dirty="0">
                <a:solidFill>
                  <a:srgbClr val="303030"/>
                </a:solidFill>
                <a:effectLst/>
                <a:latin typeface="Times New Roman" panose="02020603050405020304" pitchFamily="18" charset="0"/>
                <a:cs typeface="Times New Roman" panose="02020603050405020304" pitchFamily="18" charset="0"/>
              </a:rPr>
              <a:t>Floyd </a:t>
            </a:r>
            <a:r>
              <a:rPr lang="en-US" sz="2400" b="0" i="0" dirty="0" err="1">
                <a:solidFill>
                  <a:srgbClr val="303030"/>
                </a:solidFill>
                <a:effectLst/>
                <a:latin typeface="Times New Roman" panose="02020603050405020304" pitchFamily="18" charset="0"/>
                <a:cs typeface="Times New Roman" panose="02020603050405020304" pitchFamily="18" charset="0"/>
              </a:rPr>
              <a:t>Warshall</a:t>
            </a:r>
            <a:r>
              <a:rPr lang="en-US" sz="2400" b="0" i="0" dirty="0">
                <a:solidFill>
                  <a:srgbClr val="303030"/>
                </a:solidFill>
                <a:effectLst/>
                <a:latin typeface="Times New Roman" panose="02020603050405020304" pitchFamily="18" charset="0"/>
                <a:cs typeface="Times New Roman" panose="02020603050405020304" pitchFamily="18" charset="0"/>
              </a:rPr>
              <a:t> Algorithm consists of three loops over all the nodes. Hence, the asymptotic complexity of Floyd </a:t>
            </a:r>
            <a:r>
              <a:rPr lang="en-US" sz="2400" b="0" i="0" dirty="0" err="1">
                <a:solidFill>
                  <a:srgbClr val="303030"/>
                </a:solidFill>
                <a:effectLst/>
                <a:latin typeface="Times New Roman" panose="02020603050405020304" pitchFamily="18" charset="0"/>
                <a:cs typeface="Times New Roman" panose="02020603050405020304" pitchFamily="18" charset="0"/>
              </a:rPr>
              <a:t>Warshall</a:t>
            </a:r>
            <a:r>
              <a:rPr lang="en-US" sz="2400" b="0" i="0" dirty="0">
                <a:solidFill>
                  <a:srgbClr val="303030"/>
                </a:solidFill>
                <a:effectLst/>
                <a:latin typeface="Times New Roman" panose="02020603050405020304" pitchFamily="18" charset="0"/>
                <a:cs typeface="Times New Roman" panose="02020603050405020304" pitchFamily="18" charset="0"/>
              </a:rPr>
              <a:t> algorithm is O(n</a:t>
            </a:r>
            <a:r>
              <a:rPr lang="en-US" sz="2400" b="0" i="0" baseline="30000" dirty="0">
                <a:solidFill>
                  <a:srgbClr val="303030"/>
                </a:solidFill>
                <a:effectLst/>
                <a:latin typeface="Times New Roman" panose="02020603050405020304" pitchFamily="18" charset="0"/>
                <a:cs typeface="Times New Roman" panose="02020603050405020304" pitchFamily="18" charset="0"/>
              </a:rPr>
              <a:t>3</a:t>
            </a:r>
            <a:r>
              <a:rPr lang="en-US" sz="2400" b="0" i="0" dirty="0">
                <a:solidFill>
                  <a:srgbClr val="303030"/>
                </a:solidFill>
                <a:effectLst/>
                <a:latin typeface="Times New Roman" panose="02020603050405020304" pitchFamily="18" charset="0"/>
                <a:cs typeface="Times New Roman" panose="02020603050405020304" pitchFamily="18" charset="0"/>
              </a:rPr>
              <a:t>). Here, n is the number of nodes in the given graph.</a:t>
            </a:r>
          </a:p>
          <a:p>
            <a:pPr algn="just"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Floyd </a:t>
            </a:r>
            <a:r>
              <a:rPr lang="en-US" sz="2400" b="0" i="0" dirty="0" err="1">
                <a:solidFill>
                  <a:srgbClr val="303030"/>
                </a:solidFill>
                <a:effectLst/>
                <a:latin typeface="Times New Roman" panose="02020603050405020304" pitchFamily="18" charset="0"/>
                <a:cs typeface="Times New Roman" panose="02020603050405020304" pitchFamily="18" charset="0"/>
              </a:rPr>
              <a:t>Warshall</a:t>
            </a:r>
            <a:r>
              <a:rPr lang="en-US" sz="2400" b="0" i="0" dirty="0">
                <a:solidFill>
                  <a:srgbClr val="303030"/>
                </a:solidFill>
                <a:effectLst/>
                <a:latin typeface="Times New Roman" panose="02020603050405020304" pitchFamily="18" charset="0"/>
                <a:cs typeface="Times New Roman" panose="02020603050405020304" pitchFamily="18" charset="0"/>
              </a:rPr>
              <a:t> Algorithm is an example of dynamic programming approach.</a:t>
            </a:r>
            <a:endParaRPr lang="en-US" sz="2400" b="1" i="0" u="sng" dirty="0">
              <a:solidFill>
                <a:srgbClr val="303030"/>
              </a:solidFill>
              <a:effectLst/>
              <a:latin typeface="Times New Roman" panose="02020603050405020304" pitchFamily="18" charset="0"/>
              <a:cs typeface="Times New Roman" panose="02020603050405020304" pitchFamily="18" charset="0"/>
            </a:endParaRPr>
          </a:p>
          <a:p>
            <a:pPr marL="0" indent="0" algn="just" fontAlgn="base">
              <a:buNone/>
            </a:pPr>
            <a:r>
              <a:rPr lang="en-US" sz="2400" b="1" i="0" u="sng" dirty="0">
                <a:solidFill>
                  <a:srgbClr val="303030"/>
                </a:solidFill>
                <a:effectLst/>
                <a:latin typeface="Times New Roman" panose="02020603050405020304" pitchFamily="18" charset="0"/>
                <a:cs typeface="Times New Roman" panose="02020603050405020304" pitchFamily="18" charset="0"/>
              </a:rPr>
              <a:t>When Floyd </a:t>
            </a:r>
            <a:r>
              <a:rPr lang="en-US" sz="2400" b="1" i="0" u="sng" dirty="0" err="1">
                <a:solidFill>
                  <a:srgbClr val="303030"/>
                </a:solidFill>
                <a:effectLst/>
                <a:latin typeface="Times New Roman" panose="02020603050405020304" pitchFamily="18" charset="0"/>
                <a:cs typeface="Times New Roman" panose="02020603050405020304" pitchFamily="18" charset="0"/>
              </a:rPr>
              <a:t>Warshall</a:t>
            </a:r>
            <a:r>
              <a:rPr lang="en-US" sz="2400" b="1" i="0" u="sng" dirty="0">
                <a:solidFill>
                  <a:srgbClr val="303030"/>
                </a:solidFill>
                <a:effectLst/>
                <a:latin typeface="Times New Roman" panose="02020603050405020304" pitchFamily="18" charset="0"/>
                <a:cs typeface="Times New Roman" panose="02020603050405020304" pitchFamily="18" charset="0"/>
              </a:rPr>
              <a:t> Algorithm Is Used?</a:t>
            </a:r>
            <a:endParaRPr lang="en-US" sz="2400" b="0" i="0" dirty="0">
              <a:solidFill>
                <a:srgbClr val="303030"/>
              </a:solidFill>
              <a:effectLst/>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Floyd </a:t>
            </a:r>
            <a:r>
              <a:rPr lang="en-US" sz="2400" b="0" i="0" dirty="0" err="1">
                <a:solidFill>
                  <a:srgbClr val="303030"/>
                </a:solidFill>
                <a:effectLst/>
                <a:latin typeface="Times New Roman" panose="02020603050405020304" pitchFamily="18" charset="0"/>
                <a:cs typeface="Times New Roman" panose="02020603050405020304" pitchFamily="18" charset="0"/>
              </a:rPr>
              <a:t>Warshall</a:t>
            </a:r>
            <a:r>
              <a:rPr lang="en-US" sz="2400" b="0" i="0" dirty="0">
                <a:solidFill>
                  <a:srgbClr val="303030"/>
                </a:solidFill>
                <a:effectLst/>
                <a:latin typeface="Times New Roman" panose="02020603050405020304" pitchFamily="18" charset="0"/>
                <a:cs typeface="Times New Roman" panose="02020603050405020304" pitchFamily="18" charset="0"/>
              </a:rPr>
              <a:t> Algorithm is best suited for dense graphs.</a:t>
            </a:r>
          </a:p>
          <a:p>
            <a:pPr algn="just"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This is because its complexity depends only on the number of vertices in the given graph.</a:t>
            </a:r>
          </a:p>
          <a:p>
            <a:pPr algn="just"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For sparse graphs, Johnson’s Algorithm is more suitable.</a:t>
            </a:r>
          </a:p>
        </p:txBody>
      </p:sp>
      <p:sp>
        <p:nvSpPr>
          <p:cNvPr id="4" name="Slide Number Placeholder 3"/>
          <p:cNvSpPr>
            <a:spLocks noGrp="1"/>
          </p:cNvSpPr>
          <p:nvPr>
            <p:ph type="sldNum" sz="quarter" idx="12"/>
          </p:nvPr>
        </p:nvSpPr>
        <p:spPr/>
        <p:txBody>
          <a:bodyPr/>
          <a:lstStyle/>
          <a:p>
            <a:fld id="{BDCDBBEF-AA6C-4BA6-85B2-A17D7F280E38}" type="slidenum">
              <a:rPr lang="en-US" smtClean="0"/>
              <a:t>28</a:t>
            </a:fld>
            <a:endParaRPr lang="en-US"/>
          </a:p>
        </p:txBody>
      </p:sp>
      <p:sp>
        <p:nvSpPr>
          <p:cNvPr id="24" name="Rectangle 23"/>
          <p:cNvSpPr/>
          <p:nvPr/>
        </p:nvSpPr>
        <p:spPr>
          <a:xfrm>
            <a:off x="838200" y="1282001"/>
            <a:ext cx="10515600" cy="543947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6"/>
            <a:ext cx="8769626" cy="966088"/>
          </a:xfrm>
          <a:ln>
            <a:solidFill>
              <a:schemeClr val="tx1"/>
            </a:solidFill>
          </a:ln>
        </p:spPr>
        <p:txBody>
          <a:bodyPr>
            <a:normAutofit fontScale="90000"/>
          </a:bodyPr>
          <a:lstStyle/>
          <a:p>
            <a:pPr algn="ct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Floyd’s </a:t>
            </a:r>
            <a:r>
              <a:rPr lang="en-US" b="1" dirty="0" err="1">
                <a:latin typeface="Times New Roman" panose="02020603050405020304" pitchFamily="18" charset="0"/>
                <a:cs typeface="Times New Roman" panose="02020603050405020304" pitchFamily="18" charset="0"/>
              </a:rPr>
              <a:t>Warshall</a:t>
            </a:r>
            <a:r>
              <a:rPr lang="en-US" b="1" dirty="0">
                <a:latin typeface="Times New Roman" panose="02020603050405020304" pitchFamily="18" charset="0"/>
                <a:cs typeface="Times New Roman" panose="02020603050405020304" pitchFamily="18" charset="0"/>
              </a:rPr>
              <a:t> Algorithm: </a:t>
            </a:r>
            <a:br>
              <a:rPr lang="en-US" b="1"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838200" y="1286764"/>
            <a:ext cx="10515600" cy="4890199"/>
          </a:xfrm>
        </p:spPr>
        <p:txBody>
          <a:bodyPr>
            <a:normAutofit/>
          </a:bodyPr>
          <a:lstStyle/>
          <a:p>
            <a:pPr marL="0" indent="0">
              <a:buNone/>
            </a:pPr>
            <a:endParaRPr lang="en-US" altLang="zh-CN" sz="2400" b="1" i="1" dirty="0">
              <a:latin typeface="Times New Roman" panose="02020603050405020304" pitchFamily="18" charset="0"/>
              <a:ea typeface="SimSun" panose="02010600030101010101" pitchFamily="2" charset="-122"/>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29</a:t>
            </a:fld>
            <a:endParaRPr lang="en-US"/>
          </a:p>
        </p:txBody>
      </p:sp>
      <p:sp>
        <p:nvSpPr>
          <p:cNvPr id="24" name="Rectangle 23"/>
          <p:cNvSpPr/>
          <p:nvPr/>
        </p:nvSpPr>
        <p:spPr>
          <a:xfrm>
            <a:off x="838200" y="1282001"/>
            <a:ext cx="10515600" cy="489019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p:cNvPicPr>
            <a:picLocks noChangeAspect="1"/>
          </p:cNvPicPr>
          <p:nvPr/>
        </p:nvPicPr>
        <p:blipFill rotWithShape="1">
          <a:blip r:embed="rId2"/>
          <a:srcRect l="12989" r="10091"/>
          <a:stretch>
            <a:fillRect/>
          </a:stretch>
        </p:blipFill>
        <p:spPr>
          <a:xfrm>
            <a:off x="3193775" y="1927816"/>
            <a:ext cx="5141842" cy="3762506"/>
          </a:xfrm>
          <a:prstGeom prst="rect">
            <a:avLst/>
          </a:prstGeom>
        </p:spPr>
      </p:pic>
      <p:sp>
        <p:nvSpPr>
          <p:cNvPr id="28" name="TextBox 27"/>
          <p:cNvSpPr txBox="1"/>
          <p:nvPr/>
        </p:nvSpPr>
        <p:spPr>
          <a:xfrm>
            <a:off x="838200" y="1286764"/>
            <a:ext cx="10267122" cy="461665"/>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Consider the following directed weighted graph-</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86764"/>
            <a:ext cx="10515600" cy="4890199"/>
          </a:xfrm>
        </p:spPr>
        <p:txBody>
          <a:bodyPr>
            <a:normAutofit/>
          </a:bodyPr>
          <a:lstStyle/>
          <a:p>
            <a:pPr marL="0" indent="0">
              <a:buNone/>
            </a:pPr>
            <a:endParaRPr lang="en-US" altLang="zh-CN" sz="2400" b="1" i="1" dirty="0">
              <a:latin typeface="Times New Roman" panose="02020603050405020304" pitchFamily="18" charset="0"/>
              <a:ea typeface="SimSun" panose="02010600030101010101" pitchFamily="2" charset="-122"/>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30</a:t>
            </a:fld>
            <a:endParaRPr lang="en-US"/>
          </a:p>
        </p:txBody>
      </p:sp>
      <p:sp>
        <p:nvSpPr>
          <p:cNvPr id="24" name="Rectangle 23"/>
          <p:cNvSpPr/>
          <p:nvPr/>
        </p:nvSpPr>
        <p:spPr>
          <a:xfrm>
            <a:off x="838200" y="1282001"/>
            <a:ext cx="10515600" cy="489019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838200" y="1277238"/>
            <a:ext cx="10214115" cy="4893647"/>
          </a:xfrm>
          <a:prstGeom prst="rect">
            <a:avLst/>
          </a:prstGeom>
          <a:noFill/>
        </p:spPr>
        <p:txBody>
          <a:bodyPr wrap="square">
            <a:spAutoFit/>
          </a:bodyPr>
          <a:lstStyle/>
          <a:p>
            <a:pPr algn="just" fontAlgn="base"/>
            <a:r>
              <a:rPr lang="en-US" sz="2400" b="1" i="0" u="sng" dirty="0">
                <a:solidFill>
                  <a:srgbClr val="303030"/>
                </a:solidFill>
                <a:effectLst/>
                <a:latin typeface="Times New Roman" panose="02020603050405020304" pitchFamily="18" charset="0"/>
                <a:cs typeface="Times New Roman" panose="02020603050405020304" pitchFamily="18" charset="0"/>
              </a:rPr>
              <a:t>Step-01:</a:t>
            </a:r>
            <a:endParaRPr lang="en-US" sz="2400" b="0" i="0" dirty="0">
              <a:solidFill>
                <a:srgbClr val="303030"/>
              </a:solidFill>
              <a:effectLst/>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Remove all the self loops and parallel edges (keeping the lowest weight edge) from the graph.</a:t>
            </a:r>
          </a:p>
          <a:p>
            <a:pPr algn="just"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In the given graph, there are neither self edges nor parallel edges.</a:t>
            </a:r>
          </a:p>
          <a:p>
            <a:pPr algn="just" fontAlgn="base">
              <a:buFont typeface="Arial" panose="020B0604020202020204" pitchFamily="34" charset="0"/>
              <a:buChar char="•"/>
            </a:pPr>
            <a:endParaRPr lang="en-US" sz="2400" dirty="0">
              <a:solidFill>
                <a:srgbClr val="303030"/>
              </a:solidFill>
              <a:latin typeface="Times New Roman" panose="02020603050405020304" pitchFamily="18" charset="0"/>
              <a:cs typeface="Times New Roman" panose="02020603050405020304" pitchFamily="18" charset="0"/>
            </a:endParaRPr>
          </a:p>
          <a:p>
            <a:pPr algn="just" fontAlgn="base"/>
            <a:r>
              <a:rPr lang="en-US" sz="2400" b="1" i="0" u="sng" dirty="0">
                <a:solidFill>
                  <a:srgbClr val="303030"/>
                </a:solidFill>
                <a:effectLst/>
                <a:latin typeface="Times New Roman" panose="02020603050405020304" pitchFamily="18" charset="0"/>
                <a:cs typeface="Times New Roman" panose="02020603050405020304" pitchFamily="18" charset="0"/>
              </a:rPr>
              <a:t>Step-02:</a:t>
            </a:r>
            <a:endParaRPr lang="en-US" sz="2400" b="0" i="0" dirty="0">
              <a:solidFill>
                <a:srgbClr val="303030"/>
              </a:solidFill>
              <a:effectLst/>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Write the initial distance matrix.</a:t>
            </a:r>
          </a:p>
          <a:p>
            <a:pPr algn="just"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It represents the distance between every pair of vertices in the form of given weights.</a:t>
            </a:r>
          </a:p>
          <a:p>
            <a:pPr algn="just"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For diagonal elements (representing self-loops), distance value = 0.</a:t>
            </a:r>
          </a:p>
          <a:p>
            <a:pPr algn="just"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For vertices having a direct edge between them, distance value = weight of that edge.</a:t>
            </a:r>
          </a:p>
          <a:p>
            <a:pPr algn="just"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For vertices having no direct edge between them, distance value = ∞.</a:t>
            </a:r>
          </a:p>
        </p:txBody>
      </p:sp>
      <p:sp>
        <p:nvSpPr>
          <p:cNvPr id="11" name="Title 1"/>
          <p:cNvSpPr>
            <a:spLocks noGrp="1"/>
          </p:cNvSpPr>
          <p:nvPr>
            <p:ph type="title"/>
          </p:nvPr>
        </p:nvSpPr>
        <p:spPr>
          <a:xfrm>
            <a:off x="838200" y="136526"/>
            <a:ext cx="8769626" cy="966088"/>
          </a:xfrm>
          <a:ln>
            <a:solidFill>
              <a:schemeClr val="tx1"/>
            </a:solidFill>
          </a:ln>
        </p:spPr>
        <p:txBody>
          <a:bodyPr>
            <a:normAutofit fontScale="90000"/>
          </a:bodyPr>
          <a:lstStyle/>
          <a:p>
            <a:pPr algn="ct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Floyd’s </a:t>
            </a:r>
            <a:r>
              <a:rPr lang="en-US" b="1" dirty="0" err="1">
                <a:latin typeface="Times New Roman" panose="02020603050405020304" pitchFamily="18" charset="0"/>
                <a:cs typeface="Times New Roman" panose="02020603050405020304" pitchFamily="18" charset="0"/>
              </a:rPr>
              <a:t>Warshall</a:t>
            </a:r>
            <a:r>
              <a:rPr lang="en-US" b="1" dirty="0">
                <a:latin typeface="Times New Roman" panose="02020603050405020304" pitchFamily="18" charset="0"/>
                <a:cs typeface="Times New Roman" panose="02020603050405020304" pitchFamily="18" charset="0"/>
              </a:rPr>
              <a:t> Algorithm: </a:t>
            </a:r>
            <a:br>
              <a:rPr lang="en-US" b="1" dirty="0">
                <a:latin typeface="Times New Roman" panose="02020603050405020304" pitchFamily="18" charset="0"/>
                <a:cs typeface="Times New Roman" panose="02020603050405020304" pitchFamily="18" charset="0"/>
              </a:rPr>
            </a:b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86764"/>
            <a:ext cx="10515600" cy="4890199"/>
          </a:xfrm>
        </p:spPr>
        <p:txBody>
          <a:bodyPr>
            <a:normAutofit/>
          </a:bodyPr>
          <a:lstStyle/>
          <a:p>
            <a:pPr marL="0" indent="0">
              <a:buNone/>
            </a:pPr>
            <a:endParaRPr lang="en-US" altLang="zh-CN" sz="2400" b="1" i="1" dirty="0">
              <a:latin typeface="Times New Roman" panose="02020603050405020304" pitchFamily="18" charset="0"/>
              <a:ea typeface="SimSun" panose="02010600030101010101" pitchFamily="2" charset="-122"/>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31</a:t>
            </a:fld>
            <a:endParaRPr lang="en-US"/>
          </a:p>
        </p:txBody>
      </p:sp>
      <p:sp>
        <p:nvSpPr>
          <p:cNvPr id="56" name="TextBox 55"/>
          <p:cNvSpPr txBox="1"/>
          <p:nvPr/>
        </p:nvSpPr>
        <p:spPr>
          <a:xfrm>
            <a:off x="3999580" y="5870337"/>
            <a:ext cx="335805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 3.6: </a:t>
            </a:r>
            <a:r>
              <a:rPr lang="en-US" dirty="0">
                <a:latin typeface="Times New Roman" panose="02020603050405020304" pitchFamily="18" charset="0"/>
                <a:cs typeface="Times New Roman" panose="02020603050405020304" pitchFamily="18" charset="0"/>
              </a:rPr>
              <a:t>Floyd’s Implementation</a:t>
            </a:r>
          </a:p>
        </p:txBody>
      </p:sp>
      <p:sp>
        <p:nvSpPr>
          <p:cNvPr id="24" name="Rectangle 23"/>
          <p:cNvSpPr/>
          <p:nvPr/>
        </p:nvSpPr>
        <p:spPr>
          <a:xfrm>
            <a:off x="838200" y="1282001"/>
            <a:ext cx="10515600" cy="489019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838199" y="1286764"/>
            <a:ext cx="9750287" cy="461665"/>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Consider the following directed weighted graph-</a:t>
            </a:r>
            <a:endParaRPr lang="en-IN" sz="2400" dirty="0">
              <a:latin typeface="Times New Roman" panose="02020603050405020304" pitchFamily="18" charset="0"/>
              <a:cs typeface="Times New Roman" panose="02020603050405020304" pitchFamily="18" charset="0"/>
            </a:endParaRPr>
          </a:p>
        </p:txBody>
      </p:sp>
      <p:pic>
        <p:nvPicPr>
          <p:cNvPr id="5122" name="Picture 2" descr="Creating Matrix "/>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6738" r="16088"/>
          <a:stretch>
            <a:fillRect/>
          </a:stretch>
        </p:blipFill>
        <p:spPr bwMode="auto">
          <a:xfrm>
            <a:off x="6422026" y="2359856"/>
            <a:ext cx="4886764" cy="2338733"/>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p:cNvSpPr>
            <a:spLocks noGrp="1"/>
          </p:cNvSpPr>
          <p:nvPr>
            <p:ph type="title"/>
          </p:nvPr>
        </p:nvSpPr>
        <p:spPr>
          <a:xfrm>
            <a:off x="838200" y="136526"/>
            <a:ext cx="8769626" cy="966088"/>
          </a:xfrm>
          <a:ln>
            <a:solidFill>
              <a:schemeClr val="tx1"/>
            </a:solidFill>
          </a:ln>
        </p:spPr>
        <p:txBody>
          <a:bodyPr>
            <a:normAutofit fontScale="90000"/>
          </a:bodyPr>
          <a:lstStyle/>
          <a:p>
            <a:pPr algn="ct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Floyd’s </a:t>
            </a:r>
            <a:r>
              <a:rPr lang="en-US" b="1" dirty="0" err="1">
                <a:latin typeface="Times New Roman" panose="02020603050405020304" pitchFamily="18" charset="0"/>
                <a:cs typeface="Times New Roman" panose="02020603050405020304" pitchFamily="18" charset="0"/>
              </a:rPr>
              <a:t>Warshall</a:t>
            </a:r>
            <a:r>
              <a:rPr lang="en-US" b="1" dirty="0">
                <a:latin typeface="Times New Roman" panose="02020603050405020304" pitchFamily="18" charset="0"/>
                <a:cs typeface="Times New Roman" panose="02020603050405020304" pitchFamily="18" charset="0"/>
              </a:rPr>
              <a:t> Algorithm: </a:t>
            </a:r>
            <a:br>
              <a:rPr lang="en-US" b="1" dirty="0">
                <a:latin typeface="Times New Roman" panose="02020603050405020304" pitchFamily="18" charset="0"/>
                <a:cs typeface="Times New Roman" panose="02020603050405020304" pitchFamily="18" charset="0"/>
              </a:rPr>
            </a:br>
            <a:endParaRPr lang="en-US" dirty="0"/>
          </a:p>
        </p:txBody>
      </p:sp>
      <p:pic>
        <p:nvPicPr>
          <p:cNvPr id="13" name="Picture 12"/>
          <p:cNvPicPr>
            <a:picLocks noChangeAspect="1"/>
          </p:cNvPicPr>
          <p:nvPr/>
        </p:nvPicPr>
        <p:blipFill rotWithShape="1">
          <a:blip r:embed="rId3"/>
          <a:srcRect l="12989" r="10091"/>
          <a:stretch>
            <a:fillRect/>
          </a:stretch>
        </p:blipFill>
        <p:spPr>
          <a:xfrm>
            <a:off x="1295987" y="2101403"/>
            <a:ext cx="4426723" cy="3239223"/>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alculation shortest distance"/>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6522" r="16304"/>
          <a:stretch>
            <a:fillRect/>
          </a:stretch>
        </p:blipFill>
        <p:spPr bwMode="auto">
          <a:xfrm>
            <a:off x="7522459" y="4126943"/>
            <a:ext cx="4149695" cy="196506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a:picLocks noChangeAspect="1"/>
          </p:cNvPicPr>
          <p:nvPr/>
        </p:nvPicPr>
        <p:blipFill>
          <a:blip r:embed="rId3"/>
          <a:stretch>
            <a:fillRect/>
          </a:stretch>
        </p:blipFill>
        <p:spPr>
          <a:xfrm>
            <a:off x="7435168" y="1404121"/>
            <a:ext cx="4340819" cy="1706218"/>
          </a:xfrm>
          <a:prstGeom prst="rect">
            <a:avLst/>
          </a:prstGeom>
        </p:spPr>
      </p:pic>
      <p:sp>
        <p:nvSpPr>
          <p:cNvPr id="3" name="Content Placeholder 2"/>
          <p:cNvSpPr>
            <a:spLocks noGrp="1"/>
          </p:cNvSpPr>
          <p:nvPr>
            <p:ph idx="1"/>
          </p:nvPr>
        </p:nvSpPr>
        <p:spPr>
          <a:xfrm>
            <a:off x="838200" y="1286764"/>
            <a:ext cx="10515600" cy="4890199"/>
          </a:xfrm>
        </p:spPr>
        <p:txBody>
          <a:bodyPr>
            <a:normAutofit/>
          </a:bodyPr>
          <a:lstStyle/>
          <a:p>
            <a:pPr marL="0" indent="0">
              <a:buNone/>
            </a:pPr>
            <a:endParaRPr lang="en-US" altLang="zh-CN" sz="2400" b="1" i="1" dirty="0">
              <a:latin typeface="Times New Roman" panose="02020603050405020304" pitchFamily="18" charset="0"/>
              <a:ea typeface="SimSun" panose="02010600030101010101" pitchFamily="2" charset="-122"/>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32</a:t>
            </a:fld>
            <a:endParaRPr lang="en-US"/>
          </a:p>
        </p:txBody>
      </p:sp>
      <p:sp>
        <p:nvSpPr>
          <p:cNvPr id="24" name="Rectangle 23"/>
          <p:cNvSpPr/>
          <p:nvPr/>
        </p:nvSpPr>
        <p:spPr>
          <a:xfrm>
            <a:off x="838200" y="1282001"/>
            <a:ext cx="10813474" cy="489019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838200" y="1286764"/>
            <a:ext cx="5891582" cy="4708981"/>
          </a:xfrm>
          <a:prstGeom prst="rect">
            <a:avLst/>
          </a:prstGeom>
          <a:noFill/>
        </p:spPr>
        <p:txBody>
          <a:bodyPr wrap="square">
            <a:spAutoFit/>
          </a:bodyPr>
          <a:lstStyle/>
          <a:p>
            <a:pPr algn="just"/>
            <a:r>
              <a:rPr lang="en-IN" sz="2000" b="0" i="0" dirty="0">
                <a:solidFill>
                  <a:srgbClr val="333333"/>
                </a:solidFill>
                <a:effectLst/>
                <a:latin typeface="Times New Roman" panose="02020603050405020304" pitchFamily="18" charset="0"/>
                <a:cs typeface="Times New Roman" panose="02020603050405020304" pitchFamily="18" charset="0"/>
              </a:rPr>
              <a:t>Updating matrix D</a:t>
            </a:r>
            <a:r>
              <a:rPr lang="en-IN" sz="2000" b="0" i="0" baseline="-25000" dirty="0">
                <a:solidFill>
                  <a:srgbClr val="333333"/>
                </a:solidFill>
                <a:effectLst/>
                <a:latin typeface="Times New Roman" panose="02020603050405020304" pitchFamily="18" charset="0"/>
                <a:cs typeface="Times New Roman" panose="02020603050405020304" pitchFamily="18" charset="0"/>
              </a:rPr>
              <a:t>1</a:t>
            </a:r>
            <a:r>
              <a:rPr lang="en-IN" sz="2000" b="0" i="0" dirty="0">
                <a:solidFill>
                  <a:srgbClr val="333333"/>
                </a:solidFill>
                <a:effectLst/>
                <a:latin typeface="Times New Roman" panose="02020603050405020304" pitchFamily="18" charset="0"/>
                <a:cs typeface="Times New Roman" panose="02020603050405020304" pitchFamily="18" charset="0"/>
              </a:rPr>
              <a:t> which contains the distance between each node with ‘1’ as an intermediate node. Update distance if minimum distance value smaller than existing distance value found.</a:t>
            </a:r>
          </a:p>
          <a:p>
            <a:pPr algn="just"/>
            <a:endParaRPr lang="en-IN" sz="2000" b="1" i="0" dirty="0">
              <a:solidFill>
                <a:srgbClr val="333333"/>
              </a:solidFill>
              <a:effectLst/>
              <a:latin typeface="Times New Roman" panose="02020603050405020304" pitchFamily="18" charset="0"/>
              <a:cs typeface="Times New Roman" panose="02020603050405020304" pitchFamily="18" charset="0"/>
            </a:endParaRPr>
          </a:p>
          <a:p>
            <a:pPr algn="just"/>
            <a:r>
              <a:rPr lang="en-IN" sz="2000" b="1" i="0" dirty="0">
                <a:solidFill>
                  <a:srgbClr val="333333"/>
                </a:solidFill>
                <a:effectLst/>
                <a:latin typeface="Times New Roman" panose="02020603050405020304" pitchFamily="18" charset="0"/>
                <a:cs typeface="Times New Roman" panose="02020603050405020304" pitchFamily="18" charset="0"/>
              </a:rPr>
              <a:t>D</a:t>
            </a:r>
            <a:r>
              <a:rPr lang="en-IN" sz="2000" b="1" i="0" baseline="-25000" dirty="0">
                <a:solidFill>
                  <a:srgbClr val="333333"/>
                </a:solidFill>
                <a:effectLst/>
                <a:latin typeface="Times New Roman" panose="02020603050405020304" pitchFamily="18" charset="0"/>
                <a:cs typeface="Times New Roman" panose="02020603050405020304" pitchFamily="18" charset="0"/>
              </a:rPr>
              <a:t>k</a:t>
            </a:r>
            <a:r>
              <a:rPr lang="en-IN" sz="2000" b="1" i="0" dirty="0">
                <a:solidFill>
                  <a:srgbClr val="333333"/>
                </a:solidFill>
                <a:effectLst/>
                <a:latin typeface="Times New Roman" panose="02020603050405020304" pitchFamily="18" charset="0"/>
                <a:cs typeface="Times New Roman" panose="02020603050405020304" pitchFamily="18" charset="0"/>
              </a:rPr>
              <a:t> [</a:t>
            </a:r>
            <a:r>
              <a:rPr lang="en-IN" sz="2000" b="1" i="0" dirty="0" err="1">
                <a:solidFill>
                  <a:srgbClr val="333333"/>
                </a:solidFill>
                <a:effectLst/>
                <a:latin typeface="Times New Roman" panose="02020603050405020304" pitchFamily="18" charset="0"/>
                <a:cs typeface="Times New Roman" panose="02020603050405020304" pitchFamily="18" charset="0"/>
              </a:rPr>
              <a:t>i</a:t>
            </a:r>
            <a:r>
              <a:rPr lang="en-IN" sz="2000" b="1" i="0" dirty="0">
                <a:solidFill>
                  <a:srgbClr val="333333"/>
                </a:solidFill>
                <a:effectLst/>
                <a:latin typeface="Times New Roman" panose="02020603050405020304" pitchFamily="18" charset="0"/>
                <a:cs typeface="Times New Roman" panose="02020603050405020304" pitchFamily="18" charset="0"/>
              </a:rPr>
              <a:t> , j] = min (D</a:t>
            </a:r>
            <a:r>
              <a:rPr lang="en-IN" sz="2000" b="1" i="0" baseline="-25000" dirty="0">
                <a:solidFill>
                  <a:srgbClr val="333333"/>
                </a:solidFill>
                <a:effectLst/>
                <a:latin typeface="Times New Roman" panose="02020603050405020304" pitchFamily="18" charset="0"/>
                <a:cs typeface="Times New Roman" panose="02020603050405020304" pitchFamily="18" charset="0"/>
              </a:rPr>
              <a:t>k-1 </a:t>
            </a:r>
            <a:r>
              <a:rPr lang="en-IN" sz="2000" b="1" i="0" dirty="0">
                <a:solidFill>
                  <a:srgbClr val="333333"/>
                </a:solidFill>
                <a:effectLst/>
                <a:latin typeface="Times New Roman" panose="02020603050405020304" pitchFamily="18" charset="0"/>
                <a:cs typeface="Times New Roman" panose="02020603050405020304" pitchFamily="18" charset="0"/>
              </a:rPr>
              <a:t>[</a:t>
            </a:r>
            <a:r>
              <a:rPr lang="en-IN" sz="2000" b="1" i="0" dirty="0" err="1">
                <a:solidFill>
                  <a:srgbClr val="333333"/>
                </a:solidFill>
                <a:effectLst/>
                <a:latin typeface="Times New Roman" panose="02020603050405020304" pitchFamily="18" charset="0"/>
                <a:cs typeface="Times New Roman" panose="02020603050405020304" pitchFamily="18" charset="0"/>
              </a:rPr>
              <a:t>i</a:t>
            </a:r>
            <a:r>
              <a:rPr lang="en-IN" sz="2000" b="1" i="0" dirty="0">
                <a:solidFill>
                  <a:srgbClr val="333333"/>
                </a:solidFill>
                <a:effectLst/>
                <a:latin typeface="Times New Roman" panose="02020603050405020304" pitchFamily="18" charset="0"/>
                <a:cs typeface="Times New Roman" panose="02020603050405020304" pitchFamily="18" charset="0"/>
              </a:rPr>
              <a:t> , j], D</a:t>
            </a:r>
            <a:r>
              <a:rPr lang="en-IN" sz="2000" b="1" i="0" baseline="-25000" dirty="0">
                <a:solidFill>
                  <a:srgbClr val="333333"/>
                </a:solidFill>
                <a:effectLst/>
                <a:latin typeface="Times New Roman" panose="02020603050405020304" pitchFamily="18" charset="0"/>
                <a:cs typeface="Times New Roman" panose="02020603050405020304" pitchFamily="18" charset="0"/>
              </a:rPr>
              <a:t>k-1 </a:t>
            </a:r>
            <a:r>
              <a:rPr lang="en-IN" sz="2000" b="1" i="0" dirty="0">
                <a:solidFill>
                  <a:srgbClr val="333333"/>
                </a:solidFill>
                <a:effectLst/>
                <a:latin typeface="Times New Roman" panose="02020603050405020304" pitchFamily="18" charset="0"/>
                <a:cs typeface="Times New Roman" panose="02020603050405020304" pitchFamily="18" charset="0"/>
              </a:rPr>
              <a:t>[</a:t>
            </a:r>
            <a:r>
              <a:rPr lang="en-IN" sz="2000" b="1" i="0" dirty="0" err="1">
                <a:solidFill>
                  <a:srgbClr val="333333"/>
                </a:solidFill>
                <a:effectLst/>
                <a:latin typeface="Times New Roman" panose="02020603050405020304" pitchFamily="18" charset="0"/>
                <a:cs typeface="Times New Roman" panose="02020603050405020304" pitchFamily="18" charset="0"/>
              </a:rPr>
              <a:t>i</a:t>
            </a:r>
            <a:r>
              <a:rPr lang="en-IN" sz="2000" b="1" i="0" dirty="0">
                <a:solidFill>
                  <a:srgbClr val="333333"/>
                </a:solidFill>
                <a:effectLst/>
                <a:latin typeface="Times New Roman" panose="02020603050405020304" pitchFamily="18" charset="0"/>
                <a:cs typeface="Times New Roman" panose="02020603050405020304" pitchFamily="18" charset="0"/>
              </a:rPr>
              <a:t>, k] + D</a:t>
            </a:r>
            <a:r>
              <a:rPr lang="en-IN" sz="2000" b="1" i="0" baseline="-25000" dirty="0">
                <a:solidFill>
                  <a:srgbClr val="333333"/>
                </a:solidFill>
                <a:effectLst/>
                <a:latin typeface="Times New Roman" panose="02020603050405020304" pitchFamily="18" charset="0"/>
                <a:cs typeface="Times New Roman" panose="02020603050405020304" pitchFamily="18" charset="0"/>
              </a:rPr>
              <a:t>k-1 </a:t>
            </a:r>
            <a:r>
              <a:rPr lang="en-IN" sz="2000" b="1" i="0" dirty="0">
                <a:solidFill>
                  <a:srgbClr val="333333"/>
                </a:solidFill>
                <a:effectLst/>
                <a:latin typeface="Times New Roman" panose="02020603050405020304" pitchFamily="18" charset="0"/>
                <a:cs typeface="Times New Roman" panose="02020603050405020304" pitchFamily="18" charset="0"/>
              </a:rPr>
              <a:t>[k , j])</a:t>
            </a:r>
          </a:p>
          <a:p>
            <a:pPr algn="just"/>
            <a:endParaRPr lang="en-IN" sz="2000" b="0" i="0" dirty="0">
              <a:solidFill>
                <a:srgbClr val="333333"/>
              </a:solidFill>
              <a:effectLst/>
              <a:latin typeface="Times New Roman" panose="02020603050405020304" pitchFamily="18" charset="0"/>
              <a:cs typeface="Times New Roman" panose="02020603050405020304" pitchFamily="18" charset="0"/>
            </a:endParaRPr>
          </a:p>
          <a:p>
            <a:pPr algn="just"/>
            <a:r>
              <a:rPr lang="en-IN" sz="2000" b="0" i="0" dirty="0">
                <a:solidFill>
                  <a:srgbClr val="333333"/>
                </a:solidFill>
                <a:effectLst/>
                <a:latin typeface="Times New Roman" panose="02020603050405020304" pitchFamily="18" charset="0"/>
                <a:cs typeface="Times New Roman" panose="02020603050405020304" pitchFamily="18" charset="0"/>
              </a:rPr>
              <a:t>D</a:t>
            </a:r>
            <a:r>
              <a:rPr lang="en-IN" sz="2000" b="0" i="0" baseline="-25000" dirty="0">
                <a:solidFill>
                  <a:srgbClr val="333333"/>
                </a:solidFill>
                <a:effectLst/>
                <a:latin typeface="Times New Roman" panose="02020603050405020304" pitchFamily="18" charset="0"/>
                <a:cs typeface="Times New Roman" panose="02020603050405020304" pitchFamily="18" charset="0"/>
              </a:rPr>
              <a:t>1</a:t>
            </a:r>
            <a:r>
              <a:rPr lang="en-IN" sz="2000" b="0" i="0" dirty="0">
                <a:solidFill>
                  <a:srgbClr val="333333"/>
                </a:solidFill>
                <a:effectLst/>
                <a:latin typeface="Times New Roman" panose="02020603050405020304" pitchFamily="18" charset="0"/>
                <a:cs typeface="Times New Roman" panose="02020603050405020304" pitchFamily="18" charset="0"/>
              </a:rPr>
              <a:t>[3, 2] = min(D</a:t>
            </a:r>
            <a:r>
              <a:rPr lang="en-IN" sz="2000" b="0" i="0" baseline="-25000" dirty="0">
                <a:solidFill>
                  <a:srgbClr val="333333"/>
                </a:solidFill>
                <a:effectLst/>
                <a:latin typeface="Times New Roman" panose="02020603050405020304" pitchFamily="18" charset="0"/>
                <a:cs typeface="Times New Roman" panose="02020603050405020304" pitchFamily="18" charset="0"/>
              </a:rPr>
              <a:t>1-1</a:t>
            </a:r>
            <a:r>
              <a:rPr lang="en-IN" sz="2000" b="0" i="0" dirty="0">
                <a:solidFill>
                  <a:srgbClr val="333333"/>
                </a:solidFill>
                <a:effectLst/>
                <a:latin typeface="Times New Roman" panose="02020603050405020304" pitchFamily="18" charset="0"/>
                <a:cs typeface="Times New Roman" panose="02020603050405020304" pitchFamily="18" charset="0"/>
              </a:rPr>
              <a:t>[3, 2], D</a:t>
            </a:r>
            <a:r>
              <a:rPr lang="en-IN" sz="2000" b="0" i="0" baseline="-25000" dirty="0">
                <a:solidFill>
                  <a:srgbClr val="333333"/>
                </a:solidFill>
                <a:effectLst/>
                <a:latin typeface="Times New Roman" panose="02020603050405020304" pitchFamily="18" charset="0"/>
                <a:cs typeface="Times New Roman" panose="02020603050405020304" pitchFamily="18" charset="0"/>
              </a:rPr>
              <a:t>1-1 </a:t>
            </a:r>
            <a:r>
              <a:rPr lang="en-IN" sz="2000" b="0" i="0" dirty="0">
                <a:solidFill>
                  <a:srgbClr val="333333"/>
                </a:solidFill>
                <a:effectLst/>
                <a:latin typeface="Times New Roman" panose="02020603050405020304" pitchFamily="18" charset="0"/>
                <a:cs typeface="Times New Roman" panose="02020603050405020304" pitchFamily="18" charset="0"/>
              </a:rPr>
              <a:t>[3, 1] + D</a:t>
            </a:r>
            <a:r>
              <a:rPr lang="en-IN" sz="2000" b="0" i="0" baseline="-25000" dirty="0">
                <a:solidFill>
                  <a:srgbClr val="333333"/>
                </a:solidFill>
                <a:effectLst/>
                <a:latin typeface="Times New Roman" panose="02020603050405020304" pitchFamily="18" charset="0"/>
                <a:cs typeface="Times New Roman" panose="02020603050405020304" pitchFamily="18" charset="0"/>
              </a:rPr>
              <a:t>1-1 </a:t>
            </a:r>
            <a:r>
              <a:rPr lang="en-IN" sz="2000" b="0" i="0" dirty="0">
                <a:solidFill>
                  <a:srgbClr val="333333"/>
                </a:solidFill>
                <a:effectLst/>
                <a:latin typeface="Times New Roman" panose="02020603050405020304" pitchFamily="18" charset="0"/>
                <a:cs typeface="Times New Roman" panose="02020603050405020304" pitchFamily="18" charset="0"/>
              </a:rPr>
              <a:t>[1 , 2])</a:t>
            </a:r>
          </a:p>
          <a:p>
            <a:pPr algn="just"/>
            <a:r>
              <a:rPr lang="en-IN" sz="2000" b="0" i="0" dirty="0">
                <a:solidFill>
                  <a:srgbClr val="333333"/>
                </a:solidFill>
                <a:effectLst/>
                <a:latin typeface="Times New Roman" panose="02020603050405020304" pitchFamily="18" charset="0"/>
                <a:cs typeface="Times New Roman" panose="02020603050405020304" pitchFamily="18" charset="0"/>
              </a:rPr>
              <a:t>D</a:t>
            </a:r>
            <a:r>
              <a:rPr lang="en-IN" sz="2000" b="0" i="0" baseline="-25000" dirty="0">
                <a:solidFill>
                  <a:srgbClr val="333333"/>
                </a:solidFill>
                <a:effectLst/>
                <a:latin typeface="Times New Roman" panose="02020603050405020304" pitchFamily="18" charset="0"/>
                <a:cs typeface="Times New Roman" panose="02020603050405020304" pitchFamily="18" charset="0"/>
              </a:rPr>
              <a:t>1</a:t>
            </a:r>
            <a:r>
              <a:rPr lang="en-IN" sz="2000" b="0" i="0" dirty="0">
                <a:solidFill>
                  <a:srgbClr val="333333"/>
                </a:solidFill>
                <a:effectLst/>
                <a:latin typeface="Times New Roman" panose="02020603050405020304" pitchFamily="18" charset="0"/>
                <a:cs typeface="Times New Roman" panose="02020603050405020304" pitchFamily="18" charset="0"/>
              </a:rPr>
              <a:t>[3, 2] = min(Infinity, 35)</a:t>
            </a:r>
          </a:p>
          <a:p>
            <a:pPr algn="just"/>
            <a:r>
              <a:rPr lang="en-IN" sz="2000" b="0" i="0" dirty="0">
                <a:solidFill>
                  <a:srgbClr val="333333"/>
                </a:solidFill>
                <a:effectLst/>
                <a:latin typeface="Times New Roman" panose="02020603050405020304" pitchFamily="18" charset="0"/>
                <a:cs typeface="Times New Roman" panose="02020603050405020304" pitchFamily="18" charset="0"/>
              </a:rPr>
              <a:t> </a:t>
            </a:r>
          </a:p>
          <a:p>
            <a:pPr algn="just"/>
            <a:r>
              <a:rPr lang="en-IN" sz="2000" b="0" i="0" dirty="0">
                <a:solidFill>
                  <a:srgbClr val="333333"/>
                </a:solidFill>
                <a:effectLst/>
                <a:latin typeface="Times New Roman" panose="02020603050405020304" pitchFamily="18" charset="0"/>
                <a:cs typeface="Times New Roman" panose="02020603050405020304" pitchFamily="18" charset="0"/>
              </a:rPr>
              <a:t>D</a:t>
            </a:r>
            <a:r>
              <a:rPr lang="en-IN" sz="2000" b="0" i="0" baseline="-25000" dirty="0">
                <a:solidFill>
                  <a:srgbClr val="333333"/>
                </a:solidFill>
                <a:effectLst/>
                <a:latin typeface="Times New Roman" panose="02020603050405020304" pitchFamily="18" charset="0"/>
                <a:cs typeface="Times New Roman" panose="02020603050405020304" pitchFamily="18" charset="0"/>
              </a:rPr>
              <a:t>k</a:t>
            </a:r>
            <a:r>
              <a:rPr lang="en-IN" sz="2000" b="0" i="0" dirty="0">
                <a:solidFill>
                  <a:srgbClr val="333333"/>
                </a:solidFill>
                <a:effectLst/>
                <a:latin typeface="Times New Roman" panose="02020603050405020304" pitchFamily="18" charset="0"/>
                <a:cs typeface="Times New Roman" panose="02020603050405020304" pitchFamily="18" charset="0"/>
              </a:rPr>
              <a:t> [</a:t>
            </a:r>
            <a:r>
              <a:rPr lang="en-IN" sz="2000" b="0" i="0" dirty="0" err="1">
                <a:solidFill>
                  <a:srgbClr val="333333"/>
                </a:solidFill>
                <a:effectLst/>
                <a:latin typeface="Times New Roman" panose="02020603050405020304" pitchFamily="18" charset="0"/>
                <a:cs typeface="Times New Roman" panose="02020603050405020304" pitchFamily="18" charset="0"/>
              </a:rPr>
              <a:t>i</a:t>
            </a:r>
            <a:r>
              <a:rPr lang="en-IN" sz="2000" b="0" i="0" dirty="0">
                <a:solidFill>
                  <a:srgbClr val="333333"/>
                </a:solidFill>
                <a:effectLst/>
                <a:latin typeface="Times New Roman" panose="02020603050405020304" pitchFamily="18" charset="0"/>
                <a:cs typeface="Times New Roman" panose="02020603050405020304" pitchFamily="18" charset="0"/>
              </a:rPr>
              <a:t> , j] = min (D</a:t>
            </a:r>
            <a:r>
              <a:rPr lang="en-IN" sz="2000" b="0" i="0" baseline="-25000" dirty="0">
                <a:solidFill>
                  <a:srgbClr val="333333"/>
                </a:solidFill>
                <a:effectLst/>
                <a:latin typeface="Times New Roman" panose="02020603050405020304" pitchFamily="18" charset="0"/>
                <a:cs typeface="Times New Roman" panose="02020603050405020304" pitchFamily="18" charset="0"/>
              </a:rPr>
              <a:t>k-1 </a:t>
            </a:r>
            <a:r>
              <a:rPr lang="en-IN" sz="2000" b="0" i="0" dirty="0">
                <a:solidFill>
                  <a:srgbClr val="333333"/>
                </a:solidFill>
                <a:effectLst/>
                <a:latin typeface="Times New Roman" panose="02020603050405020304" pitchFamily="18" charset="0"/>
                <a:cs typeface="Times New Roman" panose="02020603050405020304" pitchFamily="18" charset="0"/>
              </a:rPr>
              <a:t>[</a:t>
            </a:r>
            <a:r>
              <a:rPr lang="en-IN" sz="2000" b="0" i="0" dirty="0" err="1">
                <a:solidFill>
                  <a:srgbClr val="333333"/>
                </a:solidFill>
                <a:effectLst/>
                <a:latin typeface="Times New Roman" panose="02020603050405020304" pitchFamily="18" charset="0"/>
                <a:cs typeface="Times New Roman" panose="02020603050405020304" pitchFamily="18" charset="0"/>
              </a:rPr>
              <a:t>i</a:t>
            </a:r>
            <a:r>
              <a:rPr lang="en-IN" sz="2000" b="0" i="0" dirty="0">
                <a:solidFill>
                  <a:srgbClr val="333333"/>
                </a:solidFill>
                <a:effectLst/>
                <a:latin typeface="Times New Roman" panose="02020603050405020304" pitchFamily="18" charset="0"/>
                <a:cs typeface="Times New Roman" panose="02020603050405020304" pitchFamily="18" charset="0"/>
              </a:rPr>
              <a:t> , j], D</a:t>
            </a:r>
            <a:r>
              <a:rPr lang="en-IN" sz="2000" b="0" i="0" baseline="-25000" dirty="0">
                <a:solidFill>
                  <a:srgbClr val="333333"/>
                </a:solidFill>
                <a:effectLst/>
                <a:latin typeface="Times New Roman" panose="02020603050405020304" pitchFamily="18" charset="0"/>
                <a:cs typeface="Times New Roman" panose="02020603050405020304" pitchFamily="18" charset="0"/>
              </a:rPr>
              <a:t>k-1 </a:t>
            </a:r>
            <a:r>
              <a:rPr lang="en-IN" sz="2000" b="0" i="0" dirty="0">
                <a:solidFill>
                  <a:srgbClr val="333333"/>
                </a:solidFill>
                <a:effectLst/>
                <a:latin typeface="Times New Roman" panose="02020603050405020304" pitchFamily="18" charset="0"/>
                <a:cs typeface="Times New Roman" panose="02020603050405020304" pitchFamily="18" charset="0"/>
              </a:rPr>
              <a:t>[</a:t>
            </a:r>
            <a:r>
              <a:rPr lang="en-IN" sz="2000" b="0" i="0" dirty="0" err="1">
                <a:solidFill>
                  <a:srgbClr val="333333"/>
                </a:solidFill>
                <a:effectLst/>
                <a:latin typeface="Times New Roman" panose="02020603050405020304" pitchFamily="18" charset="0"/>
                <a:cs typeface="Times New Roman" panose="02020603050405020304" pitchFamily="18" charset="0"/>
              </a:rPr>
              <a:t>i</a:t>
            </a:r>
            <a:r>
              <a:rPr lang="en-IN" sz="2000" b="0" i="0" dirty="0">
                <a:solidFill>
                  <a:srgbClr val="333333"/>
                </a:solidFill>
                <a:effectLst/>
                <a:latin typeface="Times New Roman" panose="02020603050405020304" pitchFamily="18" charset="0"/>
                <a:cs typeface="Times New Roman" panose="02020603050405020304" pitchFamily="18" charset="0"/>
              </a:rPr>
              <a:t>, k] + D</a:t>
            </a:r>
            <a:r>
              <a:rPr lang="en-IN" sz="2000" b="0" i="0" baseline="-25000" dirty="0">
                <a:solidFill>
                  <a:srgbClr val="333333"/>
                </a:solidFill>
                <a:effectLst/>
                <a:latin typeface="Times New Roman" panose="02020603050405020304" pitchFamily="18" charset="0"/>
                <a:cs typeface="Times New Roman" panose="02020603050405020304" pitchFamily="18" charset="0"/>
              </a:rPr>
              <a:t>k-1 </a:t>
            </a:r>
            <a:r>
              <a:rPr lang="en-IN" sz="2000" b="0" i="0" dirty="0">
                <a:solidFill>
                  <a:srgbClr val="333333"/>
                </a:solidFill>
                <a:effectLst/>
                <a:latin typeface="Times New Roman" panose="02020603050405020304" pitchFamily="18" charset="0"/>
                <a:cs typeface="Times New Roman" panose="02020603050405020304" pitchFamily="18" charset="0"/>
              </a:rPr>
              <a:t>[k , j])</a:t>
            </a:r>
          </a:p>
          <a:p>
            <a:pPr algn="just"/>
            <a:r>
              <a:rPr lang="en-IN" sz="2000" b="0" i="0" dirty="0">
                <a:solidFill>
                  <a:srgbClr val="333333"/>
                </a:solidFill>
                <a:effectLst/>
                <a:latin typeface="Times New Roman" panose="02020603050405020304" pitchFamily="18" charset="0"/>
                <a:cs typeface="Times New Roman" panose="02020603050405020304" pitchFamily="18" charset="0"/>
              </a:rPr>
              <a:t>D</a:t>
            </a:r>
            <a:r>
              <a:rPr lang="en-IN" sz="2000" b="0" i="0" baseline="-25000" dirty="0">
                <a:solidFill>
                  <a:srgbClr val="333333"/>
                </a:solidFill>
                <a:effectLst/>
                <a:latin typeface="Times New Roman" panose="02020603050405020304" pitchFamily="18" charset="0"/>
                <a:cs typeface="Times New Roman" panose="02020603050405020304" pitchFamily="18" charset="0"/>
              </a:rPr>
              <a:t>1</a:t>
            </a:r>
            <a:r>
              <a:rPr lang="en-IN" sz="2000" b="0" i="0" dirty="0">
                <a:solidFill>
                  <a:srgbClr val="333333"/>
                </a:solidFill>
                <a:effectLst/>
                <a:latin typeface="Times New Roman" panose="02020603050405020304" pitchFamily="18" charset="0"/>
                <a:cs typeface="Times New Roman" panose="02020603050405020304" pitchFamily="18" charset="0"/>
              </a:rPr>
              <a:t>[4, 2] = min(D</a:t>
            </a:r>
            <a:r>
              <a:rPr lang="en-IN" sz="2000" b="0" i="0" baseline="-25000" dirty="0">
                <a:solidFill>
                  <a:srgbClr val="333333"/>
                </a:solidFill>
                <a:effectLst/>
                <a:latin typeface="Times New Roman" panose="02020603050405020304" pitchFamily="18" charset="0"/>
                <a:cs typeface="Times New Roman" panose="02020603050405020304" pitchFamily="18" charset="0"/>
              </a:rPr>
              <a:t>1-1</a:t>
            </a:r>
            <a:r>
              <a:rPr lang="en-IN" sz="2000" b="0" i="0" dirty="0">
                <a:solidFill>
                  <a:srgbClr val="333333"/>
                </a:solidFill>
                <a:effectLst/>
                <a:latin typeface="Times New Roman" panose="02020603050405020304" pitchFamily="18" charset="0"/>
                <a:cs typeface="Times New Roman" panose="02020603050405020304" pitchFamily="18" charset="0"/>
              </a:rPr>
              <a:t>[4, 2], D</a:t>
            </a:r>
            <a:r>
              <a:rPr lang="en-IN" sz="2000" b="0" i="0" baseline="-25000" dirty="0">
                <a:solidFill>
                  <a:srgbClr val="333333"/>
                </a:solidFill>
                <a:effectLst/>
                <a:latin typeface="Times New Roman" panose="02020603050405020304" pitchFamily="18" charset="0"/>
                <a:cs typeface="Times New Roman" panose="02020603050405020304" pitchFamily="18" charset="0"/>
              </a:rPr>
              <a:t>1-1 </a:t>
            </a:r>
            <a:r>
              <a:rPr lang="en-IN" sz="2000" b="0" i="0" dirty="0">
                <a:solidFill>
                  <a:srgbClr val="333333"/>
                </a:solidFill>
                <a:effectLst/>
                <a:latin typeface="Times New Roman" panose="02020603050405020304" pitchFamily="18" charset="0"/>
                <a:cs typeface="Times New Roman" panose="02020603050405020304" pitchFamily="18" charset="0"/>
              </a:rPr>
              <a:t>[4, 1] + D</a:t>
            </a:r>
            <a:r>
              <a:rPr lang="en-IN" sz="2000" b="0" i="0" baseline="-25000" dirty="0">
                <a:solidFill>
                  <a:srgbClr val="333333"/>
                </a:solidFill>
                <a:effectLst/>
                <a:latin typeface="Times New Roman" panose="02020603050405020304" pitchFamily="18" charset="0"/>
                <a:cs typeface="Times New Roman" panose="02020603050405020304" pitchFamily="18" charset="0"/>
              </a:rPr>
              <a:t>1-1 </a:t>
            </a:r>
            <a:r>
              <a:rPr lang="en-IN" sz="2000" b="0" i="0" dirty="0">
                <a:solidFill>
                  <a:srgbClr val="333333"/>
                </a:solidFill>
                <a:effectLst/>
                <a:latin typeface="Times New Roman" panose="02020603050405020304" pitchFamily="18" charset="0"/>
                <a:cs typeface="Times New Roman" panose="02020603050405020304" pitchFamily="18" charset="0"/>
              </a:rPr>
              <a:t>[1 , 2])</a:t>
            </a:r>
          </a:p>
          <a:p>
            <a:pPr algn="just"/>
            <a:r>
              <a:rPr lang="en-IN" sz="2000" b="0" i="0" dirty="0">
                <a:solidFill>
                  <a:srgbClr val="333333"/>
                </a:solidFill>
                <a:effectLst/>
                <a:latin typeface="Times New Roman" panose="02020603050405020304" pitchFamily="18" charset="0"/>
                <a:cs typeface="Times New Roman" panose="02020603050405020304" pitchFamily="18" charset="0"/>
              </a:rPr>
              <a:t>D</a:t>
            </a:r>
            <a:r>
              <a:rPr lang="en-IN" sz="2000" b="0" i="0" baseline="-25000" dirty="0">
                <a:solidFill>
                  <a:srgbClr val="333333"/>
                </a:solidFill>
                <a:effectLst/>
                <a:latin typeface="Times New Roman" panose="02020603050405020304" pitchFamily="18" charset="0"/>
                <a:cs typeface="Times New Roman" panose="02020603050405020304" pitchFamily="18" charset="0"/>
              </a:rPr>
              <a:t>1</a:t>
            </a:r>
            <a:r>
              <a:rPr lang="en-IN" sz="2000" b="0" i="0" dirty="0">
                <a:solidFill>
                  <a:srgbClr val="333333"/>
                </a:solidFill>
                <a:effectLst/>
                <a:latin typeface="Times New Roman" panose="02020603050405020304" pitchFamily="18" charset="0"/>
                <a:cs typeface="Times New Roman" panose="02020603050405020304" pitchFamily="18" charset="0"/>
              </a:rPr>
              <a:t>[4, 2] = min(Infinity, 20)</a:t>
            </a:r>
          </a:p>
          <a:p>
            <a:pPr algn="just"/>
            <a:r>
              <a:rPr lang="en-IN" sz="2000" b="0" i="0" dirty="0">
                <a:solidFill>
                  <a:srgbClr val="333333"/>
                </a:solidFill>
                <a:effectLst/>
                <a:latin typeface="Times New Roman" panose="02020603050405020304" pitchFamily="18" charset="0"/>
                <a:cs typeface="Times New Roman" panose="02020603050405020304" pitchFamily="18" charset="0"/>
              </a:rPr>
              <a:t>Here distance (3, 2) is updated from infinity to 35, and distance (4, 2) is updated from infinity to 20 as shown.</a:t>
            </a:r>
          </a:p>
        </p:txBody>
      </p:sp>
      <p:sp>
        <p:nvSpPr>
          <p:cNvPr id="12" name="Title 1"/>
          <p:cNvSpPr>
            <a:spLocks noGrp="1"/>
          </p:cNvSpPr>
          <p:nvPr>
            <p:ph type="title"/>
          </p:nvPr>
        </p:nvSpPr>
        <p:spPr>
          <a:xfrm>
            <a:off x="838200" y="136526"/>
            <a:ext cx="8769626" cy="966088"/>
          </a:xfrm>
          <a:ln>
            <a:solidFill>
              <a:schemeClr val="tx1"/>
            </a:solidFill>
          </a:ln>
        </p:spPr>
        <p:txBody>
          <a:bodyPr>
            <a:normAutofit fontScale="90000"/>
          </a:bodyPr>
          <a:lstStyle/>
          <a:p>
            <a:pPr algn="ct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Floyd’s </a:t>
            </a:r>
            <a:r>
              <a:rPr lang="en-US" b="1" dirty="0" err="1">
                <a:latin typeface="Times New Roman" panose="02020603050405020304" pitchFamily="18" charset="0"/>
                <a:cs typeface="Times New Roman" panose="02020603050405020304" pitchFamily="18" charset="0"/>
              </a:rPr>
              <a:t>Warshall</a:t>
            </a:r>
            <a:r>
              <a:rPr lang="en-US" b="1" dirty="0">
                <a:latin typeface="Times New Roman" panose="02020603050405020304" pitchFamily="18" charset="0"/>
                <a:cs typeface="Times New Roman" panose="02020603050405020304" pitchFamily="18" charset="0"/>
              </a:rPr>
              <a:t> Algorithm: </a:t>
            </a:r>
            <a:br>
              <a:rPr lang="en-US" b="1" dirty="0">
                <a:latin typeface="Times New Roman" panose="02020603050405020304" pitchFamily="18" charset="0"/>
                <a:cs typeface="Times New Roman" panose="02020603050405020304" pitchFamily="18" charset="0"/>
              </a:rPr>
            </a:br>
            <a:endParaRPr lang="en-US" dirty="0"/>
          </a:p>
        </p:txBody>
      </p:sp>
      <p:pic>
        <p:nvPicPr>
          <p:cNvPr id="2" name="Picture 1">
            <a:extLst>
              <a:ext uri="{FF2B5EF4-FFF2-40B4-BE49-F238E27FC236}">
                <a16:creationId xmlns:a16="http://schemas.microsoft.com/office/drawing/2014/main" id="{68DEA7C3-A35D-C3EF-0E69-4C45101A8645}"/>
              </a:ext>
            </a:extLst>
          </p:cNvPr>
          <p:cNvPicPr>
            <a:picLocks noChangeAspect="1"/>
          </p:cNvPicPr>
          <p:nvPr/>
        </p:nvPicPr>
        <p:blipFill rotWithShape="1">
          <a:blip r:embed="rId4"/>
          <a:srcRect l="12989" r="10091"/>
          <a:stretch>
            <a:fillRect/>
          </a:stretch>
        </p:blipFill>
        <p:spPr>
          <a:xfrm>
            <a:off x="6096584" y="2731056"/>
            <a:ext cx="2498627" cy="182835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Updating distance in Matrix"/>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6739" t="7788" r="16631" b="6775"/>
          <a:stretch>
            <a:fillRect/>
          </a:stretch>
        </p:blipFill>
        <p:spPr bwMode="auto">
          <a:xfrm>
            <a:off x="7256071" y="4524887"/>
            <a:ext cx="4097729" cy="172611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a:picLocks noChangeAspect="1"/>
          </p:cNvPicPr>
          <p:nvPr/>
        </p:nvPicPr>
        <p:blipFill>
          <a:blip r:embed="rId3"/>
          <a:stretch>
            <a:fillRect/>
          </a:stretch>
        </p:blipFill>
        <p:spPr>
          <a:xfrm>
            <a:off x="7100341" y="1134359"/>
            <a:ext cx="4253658" cy="1894932"/>
          </a:xfrm>
          <a:prstGeom prst="rect">
            <a:avLst/>
          </a:prstGeom>
        </p:spPr>
      </p:pic>
      <p:sp>
        <p:nvSpPr>
          <p:cNvPr id="3" name="Content Placeholder 2"/>
          <p:cNvSpPr>
            <a:spLocks noGrp="1"/>
          </p:cNvSpPr>
          <p:nvPr>
            <p:ph idx="1"/>
          </p:nvPr>
        </p:nvSpPr>
        <p:spPr>
          <a:xfrm>
            <a:off x="838200" y="1286764"/>
            <a:ext cx="10515600" cy="4890199"/>
          </a:xfrm>
        </p:spPr>
        <p:txBody>
          <a:bodyPr>
            <a:normAutofit/>
          </a:bodyPr>
          <a:lstStyle/>
          <a:p>
            <a:pPr marL="0" indent="0">
              <a:buNone/>
            </a:pPr>
            <a:endParaRPr lang="en-US" altLang="zh-CN" sz="2400" b="1" i="1" dirty="0">
              <a:latin typeface="Times New Roman" panose="02020603050405020304" pitchFamily="18" charset="0"/>
              <a:ea typeface="SimSun" panose="02010600030101010101" pitchFamily="2" charset="-122"/>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33</a:t>
            </a:fld>
            <a:endParaRPr lang="en-US"/>
          </a:p>
        </p:txBody>
      </p:sp>
      <p:sp>
        <p:nvSpPr>
          <p:cNvPr id="24" name="Rectangle 23"/>
          <p:cNvSpPr/>
          <p:nvPr/>
        </p:nvSpPr>
        <p:spPr>
          <a:xfrm>
            <a:off x="838200" y="1282001"/>
            <a:ext cx="10515600" cy="489019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838200" y="1286764"/>
            <a:ext cx="6096000" cy="4493538"/>
          </a:xfrm>
          <a:prstGeom prst="rect">
            <a:avLst/>
          </a:prstGeom>
          <a:noFill/>
        </p:spPr>
        <p:txBody>
          <a:bodyPr wrap="square">
            <a:spAutoFit/>
          </a:bodyPr>
          <a:lstStyle/>
          <a:p>
            <a:pPr algn="just"/>
            <a:r>
              <a:rPr lang="en-IN" sz="2200" b="0" i="0" dirty="0">
                <a:solidFill>
                  <a:srgbClr val="333333"/>
                </a:solidFill>
                <a:effectLst/>
                <a:latin typeface="Times New Roman" panose="02020603050405020304" pitchFamily="18" charset="0"/>
                <a:cs typeface="Times New Roman" panose="02020603050405020304" pitchFamily="18" charset="0"/>
              </a:rPr>
              <a:t>Updating matrix D</a:t>
            </a:r>
            <a:r>
              <a:rPr lang="en-IN" sz="2200" b="0" i="0" baseline="-25000" dirty="0">
                <a:solidFill>
                  <a:srgbClr val="333333"/>
                </a:solidFill>
                <a:effectLst/>
                <a:latin typeface="Times New Roman" panose="02020603050405020304" pitchFamily="18" charset="0"/>
                <a:cs typeface="Times New Roman" panose="02020603050405020304" pitchFamily="18" charset="0"/>
              </a:rPr>
              <a:t>2</a:t>
            </a:r>
            <a:r>
              <a:rPr lang="en-IN" sz="2200" b="0" i="0" dirty="0">
                <a:solidFill>
                  <a:srgbClr val="333333"/>
                </a:solidFill>
                <a:effectLst/>
                <a:latin typeface="Times New Roman" panose="02020603050405020304" pitchFamily="18" charset="0"/>
                <a:cs typeface="Times New Roman" panose="02020603050405020304" pitchFamily="18" charset="0"/>
              </a:rPr>
              <a:t> contains the distance between two nodes with ‘2’ as an intermediate node. </a:t>
            </a:r>
          </a:p>
          <a:p>
            <a:pPr algn="just"/>
            <a:r>
              <a:rPr lang="en-IN" sz="2200" b="0" i="0" dirty="0">
                <a:solidFill>
                  <a:srgbClr val="333333"/>
                </a:solidFill>
                <a:effectLst/>
                <a:latin typeface="Times New Roman" panose="02020603050405020304" pitchFamily="18" charset="0"/>
                <a:cs typeface="Times New Roman" panose="02020603050405020304" pitchFamily="18" charset="0"/>
              </a:rPr>
              <a:t>D</a:t>
            </a:r>
            <a:r>
              <a:rPr lang="en-IN" sz="2200" b="0" i="0" baseline="-25000" dirty="0">
                <a:solidFill>
                  <a:srgbClr val="333333"/>
                </a:solidFill>
                <a:effectLst/>
                <a:latin typeface="Times New Roman" panose="02020603050405020304" pitchFamily="18" charset="0"/>
                <a:cs typeface="Times New Roman" panose="02020603050405020304" pitchFamily="18" charset="0"/>
              </a:rPr>
              <a:t>2</a:t>
            </a:r>
            <a:r>
              <a:rPr lang="en-IN" sz="2200" b="0" i="0" dirty="0">
                <a:solidFill>
                  <a:srgbClr val="333333"/>
                </a:solidFill>
                <a:effectLst/>
                <a:latin typeface="Times New Roman" panose="02020603050405020304" pitchFamily="18" charset="0"/>
                <a:cs typeface="Times New Roman" panose="02020603050405020304" pitchFamily="18" charset="0"/>
              </a:rPr>
              <a:t> [</a:t>
            </a:r>
            <a:r>
              <a:rPr lang="en-IN" sz="2200" b="0" i="0" dirty="0" err="1">
                <a:solidFill>
                  <a:srgbClr val="333333"/>
                </a:solidFill>
                <a:effectLst/>
                <a:latin typeface="Times New Roman" panose="02020603050405020304" pitchFamily="18" charset="0"/>
                <a:cs typeface="Times New Roman" panose="02020603050405020304" pitchFamily="18" charset="0"/>
              </a:rPr>
              <a:t>i</a:t>
            </a:r>
            <a:r>
              <a:rPr lang="en-IN" sz="2200" b="0" i="0" dirty="0">
                <a:solidFill>
                  <a:srgbClr val="333333"/>
                </a:solidFill>
                <a:effectLst/>
                <a:latin typeface="Times New Roman" panose="02020603050405020304" pitchFamily="18" charset="0"/>
                <a:cs typeface="Times New Roman" panose="02020603050405020304" pitchFamily="18" charset="0"/>
              </a:rPr>
              <a:t> , j] = min (D</a:t>
            </a:r>
            <a:r>
              <a:rPr lang="en-IN" sz="2200" b="0" i="0" baseline="-25000" dirty="0">
                <a:solidFill>
                  <a:srgbClr val="333333"/>
                </a:solidFill>
                <a:effectLst/>
                <a:latin typeface="Times New Roman" panose="02020603050405020304" pitchFamily="18" charset="0"/>
                <a:cs typeface="Times New Roman" panose="02020603050405020304" pitchFamily="18" charset="0"/>
              </a:rPr>
              <a:t>k-1 </a:t>
            </a:r>
            <a:r>
              <a:rPr lang="en-IN" sz="2200" b="0" i="0" dirty="0">
                <a:solidFill>
                  <a:srgbClr val="333333"/>
                </a:solidFill>
                <a:effectLst/>
                <a:latin typeface="Times New Roman" panose="02020603050405020304" pitchFamily="18" charset="0"/>
                <a:cs typeface="Times New Roman" panose="02020603050405020304" pitchFamily="18" charset="0"/>
              </a:rPr>
              <a:t>[</a:t>
            </a:r>
            <a:r>
              <a:rPr lang="en-IN" sz="2200" b="0" i="0" dirty="0" err="1">
                <a:solidFill>
                  <a:srgbClr val="333333"/>
                </a:solidFill>
                <a:effectLst/>
                <a:latin typeface="Times New Roman" panose="02020603050405020304" pitchFamily="18" charset="0"/>
                <a:cs typeface="Times New Roman" panose="02020603050405020304" pitchFamily="18" charset="0"/>
              </a:rPr>
              <a:t>i</a:t>
            </a:r>
            <a:r>
              <a:rPr lang="en-IN" sz="2200" b="0" i="0" dirty="0">
                <a:solidFill>
                  <a:srgbClr val="333333"/>
                </a:solidFill>
                <a:effectLst/>
                <a:latin typeface="Times New Roman" panose="02020603050405020304" pitchFamily="18" charset="0"/>
                <a:cs typeface="Times New Roman" panose="02020603050405020304" pitchFamily="18" charset="0"/>
              </a:rPr>
              <a:t> , j], D</a:t>
            </a:r>
            <a:r>
              <a:rPr lang="en-IN" sz="2200" b="0" i="0" baseline="-25000" dirty="0">
                <a:solidFill>
                  <a:srgbClr val="333333"/>
                </a:solidFill>
                <a:effectLst/>
                <a:latin typeface="Times New Roman" panose="02020603050405020304" pitchFamily="18" charset="0"/>
                <a:cs typeface="Times New Roman" panose="02020603050405020304" pitchFamily="18" charset="0"/>
              </a:rPr>
              <a:t>k-1 </a:t>
            </a:r>
            <a:r>
              <a:rPr lang="en-IN" sz="2200" b="0" i="0" dirty="0">
                <a:solidFill>
                  <a:srgbClr val="333333"/>
                </a:solidFill>
                <a:effectLst/>
                <a:latin typeface="Times New Roman" panose="02020603050405020304" pitchFamily="18" charset="0"/>
                <a:cs typeface="Times New Roman" panose="02020603050405020304" pitchFamily="18" charset="0"/>
              </a:rPr>
              <a:t>[</a:t>
            </a:r>
            <a:r>
              <a:rPr lang="en-IN" sz="2200" b="0" i="0" dirty="0" err="1">
                <a:solidFill>
                  <a:srgbClr val="333333"/>
                </a:solidFill>
                <a:effectLst/>
                <a:latin typeface="Times New Roman" panose="02020603050405020304" pitchFamily="18" charset="0"/>
                <a:cs typeface="Times New Roman" panose="02020603050405020304" pitchFamily="18" charset="0"/>
              </a:rPr>
              <a:t>i</a:t>
            </a:r>
            <a:r>
              <a:rPr lang="en-IN" sz="2200" b="0" i="0" dirty="0">
                <a:solidFill>
                  <a:srgbClr val="333333"/>
                </a:solidFill>
                <a:effectLst/>
                <a:latin typeface="Times New Roman" panose="02020603050405020304" pitchFamily="18" charset="0"/>
                <a:cs typeface="Times New Roman" panose="02020603050405020304" pitchFamily="18" charset="0"/>
              </a:rPr>
              <a:t>, k] + D</a:t>
            </a:r>
            <a:r>
              <a:rPr lang="en-IN" sz="2200" b="0" i="0" baseline="-25000" dirty="0">
                <a:solidFill>
                  <a:srgbClr val="333333"/>
                </a:solidFill>
                <a:effectLst/>
                <a:latin typeface="Times New Roman" panose="02020603050405020304" pitchFamily="18" charset="0"/>
                <a:cs typeface="Times New Roman" panose="02020603050405020304" pitchFamily="18" charset="0"/>
              </a:rPr>
              <a:t>k-1 </a:t>
            </a:r>
            <a:r>
              <a:rPr lang="en-IN" sz="2200" b="0" i="0" dirty="0">
                <a:solidFill>
                  <a:srgbClr val="333333"/>
                </a:solidFill>
                <a:effectLst/>
                <a:latin typeface="Times New Roman" panose="02020603050405020304" pitchFamily="18" charset="0"/>
                <a:cs typeface="Times New Roman" panose="02020603050405020304" pitchFamily="18" charset="0"/>
              </a:rPr>
              <a:t>[k , j])</a:t>
            </a:r>
          </a:p>
          <a:p>
            <a:pPr algn="just"/>
            <a:r>
              <a:rPr lang="en-IN" sz="2200" b="0" i="0" dirty="0">
                <a:solidFill>
                  <a:srgbClr val="333333"/>
                </a:solidFill>
                <a:effectLst/>
                <a:latin typeface="Times New Roman" panose="02020603050405020304" pitchFamily="18" charset="0"/>
                <a:cs typeface="Times New Roman" panose="02020603050405020304" pitchFamily="18" charset="0"/>
              </a:rPr>
              <a:t>D</a:t>
            </a:r>
            <a:r>
              <a:rPr lang="en-IN" sz="2200" b="0" i="0" baseline="-25000" dirty="0">
                <a:solidFill>
                  <a:srgbClr val="333333"/>
                </a:solidFill>
                <a:effectLst/>
                <a:latin typeface="Times New Roman" panose="02020603050405020304" pitchFamily="18" charset="0"/>
                <a:cs typeface="Times New Roman" panose="02020603050405020304" pitchFamily="18" charset="0"/>
              </a:rPr>
              <a:t>2</a:t>
            </a:r>
            <a:r>
              <a:rPr lang="en-IN" sz="2200" b="0" i="0" dirty="0">
                <a:solidFill>
                  <a:srgbClr val="333333"/>
                </a:solidFill>
                <a:effectLst/>
                <a:latin typeface="Times New Roman" panose="02020603050405020304" pitchFamily="18" charset="0"/>
                <a:cs typeface="Times New Roman" panose="02020603050405020304" pitchFamily="18" charset="0"/>
              </a:rPr>
              <a:t>[1, 3] = min(D</a:t>
            </a:r>
            <a:r>
              <a:rPr lang="en-IN" sz="2200" b="0" i="0" baseline="-25000" dirty="0">
                <a:solidFill>
                  <a:srgbClr val="333333"/>
                </a:solidFill>
                <a:effectLst/>
                <a:latin typeface="Times New Roman" panose="02020603050405020304" pitchFamily="18" charset="0"/>
                <a:cs typeface="Times New Roman" panose="02020603050405020304" pitchFamily="18" charset="0"/>
              </a:rPr>
              <a:t>2-1</a:t>
            </a:r>
            <a:r>
              <a:rPr lang="en-IN" sz="2200" b="0" i="0" dirty="0">
                <a:solidFill>
                  <a:srgbClr val="333333"/>
                </a:solidFill>
                <a:effectLst/>
                <a:latin typeface="Times New Roman" panose="02020603050405020304" pitchFamily="18" charset="0"/>
                <a:cs typeface="Times New Roman" panose="02020603050405020304" pitchFamily="18" charset="0"/>
              </a:rPr>
              <a:t>[1, 3], D</a:t>
            </a:r>
            <a:r>
              <a:rPr lang="en-IN" sz="2200" b="0" i="0" baseline="-25000" dirty="0">
                <a:solidFill>
                  <a:srgbClr val="333333"/>
                </a:solidFill>
                <a:effectLst/>
                <a:latin typeface="Times New Roman" panose="02020603050405020304" pitchFamily="18" charset="0"/>
                <a:cs typeface="Times New Roman" panose="02020603050405020304" pitchFamily="18" charset="0"/>
              </a:rPr>
              <a:t>2-1 </a:t>
            </a:r>
            <a:r>
              <a:rPr lang="en-IN" sz="2200" b="0" i="0" dirty="0">
                <a:solidFill>
                  <a:srgbClr val="333333"/>
                </a:solidFill>
                <a:effectLst/>
                <a:latin typeface="Times New Roman" panose="02020603050405020304" pitchFamily="18" charset="0"/>
                <a:cs typeface="Times New Roman" panose="02020603050405020304" pitchFamily="18" charset="0"/>
              </a:rPr>
              <a:t>[1, 2] + D</a:t>
            </a:r>
            <a:r>
              <a:rPr lang="en-IN" sz="2200" b="0" i="0" baseline="-25000" dirty="0">
                <a:solidFill>
                  <a:srgbClr val="333333"/>
                </a:solidFill>
                <a:effectLst/>
                <a:latin typeface="Times New Roman" panose="02020603050405020304" pitchFamily="18" charset="0"/>
                <a:cs typeface="Times New Roman" panose="02020603050405020304" pitchFamily="18" charset="0"/>
              </a:rPr>
              <a:t>2-1 </a:t>
            </a:r>
            <a:r>
              <a:rPr lang="en-IN" sz="2200" b="0" i="0" dirty="0">
                <a:solidFill>
                  <a:srgbClr val="333333"/>
                </a:solidFill>
                <a:effectLst/>
                <a:latin typeface="Times New Roman" panose="02020603050405020304" pitchFamily="18" charset="0"/>
                <a:cs typeface="Times New Roman" panose="02020603050405020304" pitchFamily="18" charset="0"/>
              </a:rPr>
              <a:t>[2 , 3])</a:t>
            </a:r>
          </a:p>
          <a:p>
            <a:pPr algn="just"/>
            <a:r>
              <a:rPr lang="en-IN" sz="2200" b="0" i="0" dirty="0">
                <a:solidFill>
                  <a:srgbClr val="333333"/>
                </a:solidFill>
                <a:effectLst/>
                <a:latin typeface="Times New Roman" panose="02020603050405020304" pitchFamily="18" charset="0"/>
                <a:cs typeface="Times New Roman" panose="02020603050405020304" pitchFamily="18" charset="0"/>
              </a:rPr>
              <a:t>D</a:t>
            </a:r>
            <a:r>
              <a:rPr lang="en-IN" sz="2200" b="0" i="0" baseline="-25000" dirty="0">
                <a:solidFill>
                  <a:srgbClr val="333333"/>
                </a:solidFill>
                <a:effectLst/>
                <a:latin typeface="Times New Roman" panose="02020603050405020304" pitchFamily="18" charset="0"/>
                <a:cs typeface="Times New Roman" panose="02020603050405020304" pitchFamily="18" charset="0"/>
              </a:rPr>
              <a:t>2</a:t>
            </a:r>
            <a:r>
              <a:rPr lang="en-IN" sz="2200" b="0" i="0" dirty="0">
                <a:solidFill>
                  <a:srgbClr val="333333"/>
                </a:solidFill>
                <a:effectLst/>
                <a:latin typeface="Times New Roman" panose="02020603050405020304" pitchFamily="18" charset="0"/>
                <a:cs typeface="Times New Roman" panose="02020603050405020304" pitchFamily="18" charset="0"/>
              </a:rPr>
              <a:t>[1, 3] = min(Infinity, 20)</a:t>
            </a:r>
          </a:p>
          <a:p>
            <a:pPr algn="just"/>
            <a:r>
              <a:rPr lang="en-IN" sz="2200" b="0" i="0" dirty="0">
                <a:solidFill>
                  <a:srgbClr val="333333"/>
                </a:solidFill>
                <a:effectLst/>
                <a:latin typeface="Times New Roman" panose="02020603050405020304" pitchFamily="18" charset="0"/>
                <a:cs typeface="Times New Roman" panose="02020603050405020304" pitchFamily="18" charset="0"/>
              </a:rPr>
              <a:t> </a:t>
            </a:r>
          </a:p>
          <a:p>
            <a:pPr algn="just"/>
            <a:r>
              <a:rPr lang="en-IN" sz="2200" b="0" i="0" dirty="0">
                <a:solidFill>
                  <a:srgbClr val="333333"/>
                </a:solidFill>
                <a:effectLst/>
                <a:latin typeface="Times New Roman" panose="02020603050405020304" pitchFamily="18" charset="0"/>
                <a:cs typeface="Times New Roman" panose="02020603050405020304" pitchFamily="18" charset="0"/>
              </a:rPr>
              <a:t>D</a:t>
            </a:r>
            <a:r>
              <a:rPr lang="en-IN" sz="2200" b="0" i="0" baseline="-25000" dirty="0">
                <a:solidFill>
                  <a:srgbClr val="333333"/>
                </a:solidFill>
                <a:effectLst/>
                <a:latin typeface="Times New Roman" panose="02020603050405020304" pitchFamily="18" charset="0"/>
                <a:cs typeface="Times New Roman" panose="02020603050405020304" pitchFamily="18" charset="0"/>
              </a:rPr>
              <a:t>k</a:t>
            </a:r>
            <a:r>
              <a:rPr lang="en-IN" sz="2200" b="0" i="0" dirty="0">
                <a:solidFill>
                  <a:srgbClr val="333333"/>
                </a:solidFill>
                <a:effectLst/>
                <a:latin typeface="Times New Roman" panose="02020603050405020304" pitchFamily="18" charset="0"/>
                <a:cs typeface="Times New Roman" panose="02020603050405020304" pitchFamily="18" charset="0"/>
              </a:rPr>
              <a:t> [</a:t>
            </a:r>
            <a:r>
              <a:rPr lang="en-IN" sz="2200" b="0" i="0" dirty="0" err="1">
                <a:solidFill>
                  <a:srgbClr val="333333"/>
                </a:solidFill>
                <a:effectLst/>
                <a:latin typeface="Times New Roman" panose="02020603050405020304" pitchFamily="18" charset="0"/>
                <a:cs typeface="Times New Roman" panose="02020603050405020304" pitchFamily="18" charset="0"/>
              </a:rPr>
              <a:t>i</a:t>
            </a:r>
            <a:r>
              <a:rPr lang="en-IN" sz="2200" b="0" i="0" dirty="0">
                <a:solidFill>
                  <a:srgbClr val="333333"/>
                </a:solidFill>
                <a:effectLst/>
                <a:latin typeface="Times New Roman" panose="02020603050405020304" pitchFamily="18" charset="0"/>
                <a:cs typeface="Times New Roman" panose="02020603050405020304" pitchFamily="18" charset="0"/>
              </a:rPr>
              <a:t> , j] = min (D</a:t>
            </a:r>
            <a:r>
              <a:rPr lang="en-IN" sz="2200" b="0" i="0" baseline="-25000" dirty="0">
                <a:solidFill>
                  <a:srgbClr val="333333"/>
                </a:solidFill>
                <a:effectLst/>
                <a:latin typeface="Times New Roman" panose="02020603050405020304" pitchFamily="18" charset="0"/>
                <a:cs typeface="Times New Roman" panose="02020603050405020304" pitchFamily="18" charset="0"/>
              </a:rPr>
              <a:t>k-1 </a:t>
            </a:r>
            <a:r>
              <a:rPr lang="en-IN" sz="2200" b="0" i="0" dirty="0">
                <a:solidFill>
                  <a:srgbClr val="333333"/>
                </a:solidFill>
                <a:effectLst/>
                <a:latin typeface="Times New Roman" panose="02020603050405020304" pitchFamily="18" charset="0"/>
                <a:cs typeface="Times New Roman" panose="02020603050405020304" pitchFamily="18" charset="0"/>
              </a:rPr>
              <a:t>[</a:t>
            </a:r>
            <a:r>
              <a:rPr lang="en-IN" sz="2200" b="0" i="0" dirty="0" err="1">
                <a:solidFill>
                  <a:srgbClr val="333333"/>
                </a:solidFill>
                <a:effectLst/>
                <a:latin typeface="Times New Roman" panose="02020603050405020304" pitchFamily="18" charset="0"/>
                <a:cs typeface="Times New Roman" panose="02020603050405020304" pitchFamily="18" charset="0"/>
              </a:rPr>
              <a:t>i</a:t>
            </a:r>
            <a:r>
              <a:rPr lang="en-IN" sz="2200" b="0" i="0" dirty="0">
                <a:solidFill>
                  <a:srgbClr val="333333"/>
                </a:solidFill>
                <a:effectLst/>
                <a:latin typeface="Times New Roman" panose="02020603050405020304" pitchFamily="18" charset="0"/>
                <a:cs typeface="Times New Roman" panose="02020603050405020304" pitchFamily="18" charset="0"/>
              </a:rPr>
              <a:t> , j], D</a:t>
            </a:r>
            <a:r>
              <a:rPr lang="en-IN" sz="2200" b="0" i="0" baseline="-25000" dirty="0">
                <a:solidFill>
                  <a:srgbClr val="333333"/>
                </a:solidFill>
                <a:effectLst/>
                <a:latin typeface="Times New Roman" panose="02020603050405020304" pitchFamily="18" charset="0"/>
                <a:cs typeface="Times New Roman" panose="02020603050405020304" pitchFamily="18" charset="0"/>
              </a:rPr>
              <a:t>k-1 </a:t>
            </a:r>
            <a:r>
              <a:rPr lang="en-IN" sz="2200" b="0" i="0" dirty="0">
                <a:solidFill>
                  <a:srgbClr val="333333"/>
                </a:solidFill>
                <a:effectLst/>
                <a:latin typeface="Times New Roman" panose="02020603050405020304" pitchFamily="18" charset="0"/>
                <a:cs typeface="Times New Roman" panose="02020603050405020304" pitchFamily="18" charset="0"/>
              </a:rPr>
              <a:t>[</a:t>
            </a:r>
            <a:r>
              <a:rPr lang="en-IN" sz="2200" b="0" i="0" dirty="0" err="1">
                <a:solidFill>
                  <a:srgbClr val="333333"/>
                </a:solidFill>
                <a:effectLst/>
                <a:latin typeface="Times New Roman" panose="02020603050405020304" pitchFamily="18" charset="0"/>
                <a:cs typeface="Times New Roman" panose="02020603050405020304" pitchFamily="18" charset="0"/>
              </a:rPr>
              <a:t>i</a:t>
            </a:r>
            <a:r>
              <a:rPr lang="en-IN" sz="2200" b="0" i="0" dirty="0">
                <a:solidFill>
                  <a:srgbClr val="333333"/>
                </a:solidFill>
                <a:effectLst/>
                <a:latin typeface="Times New Roman" panose="02020603050405020304" pitchFamily="18" charset="0"/>
                <a:cs typeface="Times New Roman" panose="02020603050405020304" pitchFamily="18" charset="0"/>
              </a:rPr>
              <a:t>, k] + D</a:t>
            </a:r>
            <a:r>
              <a:rPr lang="en-IN" sz="2200" b="0" i="0" baseline="-25000" dirty="0">
                <a:solidFill>
                  <a:srgbClr val="333333"/>
                </a:solidFill>
                <a:effectLst/>
                <a:latin typeface="Times New Roman" panose="02020603050405020304" pitchFamily="18" charset="0"/>
                <a:cs typeface="Times New Roman" panose="02020603050405020304" pitchFamily="18" charset="0"/>
              </a:rPr>
              <a:t>k-1 </a:t>
            </a:r>
            <a:r>
              <a:rPr lang="en-IN" sz="2200" b="0" i="0" dirty="0">
                <a:solidFill>
                  <a:srgbClr val="333333"/>
                </a:solidFill>
                <a:effectLst/>
                <a:latin typeface="Times New Roman" panose="02020603050405020304" pitchFamily="18" charset="0"/>
                <a:cs typeface="Times New Roman" panose="02020603050405020304" pitchFamily="18" charset="0"/>
              </a:rPr>
              <a:t>[k , j])</a:t>
            </a:r>
          </a:p>
          <a:p>
            <a:pPr algn="just"/>
            <a:r>
              <a:rPr lang="en-IN" sz="2200" b="0" i="0" dirty="0">
                <a:solidFill>
                  <a:srgbClr val="333333"/>
                </a:solidFill>
                <a:effectLst/>
                <a:latin typeface="Times New Roman" panose="02020603050405020304" pitchFamily="18" charset="0"/>
                <a:cs typeface="Times New Roman" panose="02020603050405020304" pitchFamily="18" charset="0"/>
              </a:rPr>
              <a:t>D</a:t>
            </a:r>
            <a:r>
              <a:rPr lang="en-IN" sz="2200" b="0" i="0" baseline="-25000" dirty="0">
                <a:solidFill>
                  <a:srgbClr val="333333"/>
                </a:solidFill>
                <a:effectLst/>
                <a:latin typeface="Times New Roman" panose="02020603050405020304" pitchFamily="18" charset="0"/>
                <a:cs typeface="Times New Roman" panose="02020603050405020304" pitchFamily="18" charset="0"/>
              </a:rPr>
              <a:t>2</a:t>
            </a:r>
            <a:r>
              <a:rPr lang="en-IN" sz="2200" b="0" i="0" dirty="0">
                <a:solidFill>
                  <a:srgbClr val="333333"/>
                </a:solidFill>
                <a:effectLst/>
                <a:latin typeface="Times New Roman" panose="02020603050405020304" pitchFamily="18" charset="0"/>
                <a:cs typeface="Times New Roman" panose="02020603050405020304" pitchFamily="18" charset="0"/>
              </a:rPr>
              <a:t>[1, 4] = min(D</a:t>
            </a:r>
            <a:r>
              <a:rPr lang="en-IN" sz="2200" b="0" i="0" baseline="-25000" dirty="0">
                <a:solidFill>
                  <a:srgbClr val="333333"/>
                </a:solidFill>
                <a:effectLst/>
                <a:latin typeface="Times New Roman" panose="02020603050405020304" pitchFamily="18" charset="0"/>
                <a:cs typeface="Times New Roman" panose="02020603050405020304" pitchFamily="18" charset="0"/>
              </a:rPr>
              <a:t>2-1</a:t>
            </a:r>
            <a:r>
              <a:rPr lang="en-IN" sz="2200" b="0" i="0" dirty="0">
                <a:solidFill>
                  <a:srgbClr val="333333"/>
                </a:solidFill>
                <a:effectLst/>
                <a:latin typeface="Times New Roman" panose="02020603050405020304" pitchFamily="18" charset="0"/>
                <a:cs typeface="Times New Roman" panose="02020603050405020304" pitchFamily="18" charset="0"/>
              </a:rPr>
              <a:t>[1, 4], D</a:t>
            </a:r>
            <a:r>
              <a:rPr lang="en-IN" sz="2200" b="0" i="0" baseline="-25000" dirty="0">
                <a:solidFill>
                  <a:srgbClr val="333333"/>
                </a:solidFill>
                <a:effectLst/>
                <a:latin typeface="Times New Roman" panose="02020603050405020304" pitchFamily="18" charset="0"/>
                <a:cs typeface="Times New Roman" panose="02020603050405020304" pitchFamily="18" charset="0"/>
              </a:rPr>
              <a:t>2-1 </a:t>
            </a:r>
            <a:r>
              <a:rPr lang="en-IN" sz="2200" b="0" i="0" dirty="0">
                <a:solidFill>
                  <a:srgbClr val="333333"/>
                </a:solidFill>
                <a:effectLst/>
                <a:latin typeface="Times New Roman" panose="02020603050405020304" pitchFamily="18" charset="0"/>
                <a:cs typeface="Times New Roman" panose="02020603050405020304" pitchFamily="18" charset="0"/>
              </a:rPr>
              <a:t>[1, 2] + D</a:t>
            </a:r>
            <a:r>
              <a:rPr lang="en-IN" sz="2200" b="0" i="0" baseline="-25000" dirty="0">
                <a:solidFill>
                  <a:srgbClr val="333333"/>
                </a:solidFill>
                <a:effectLst/>
                <a:latin typeface="Times New Roman" panose="02020603050405020304" pitchFamily="18" charset="0"/>
                <a:cs typeface="Times New Roman" panose="02020603050405020304" pitchFamily="18" charset="0"/>
              </a:rPr>
              <a:t>2-1 </a:t>
            </a:r>
            <a:r>
              <a:rPr lang="en-IN" sz="2200" b="0" i="0" dirty="0">
                <a:solidFill>
                  <a:srgbClr val="333333"/>
                </a:solidFill>
                <a:effectLst/>
                <a:latin typeface="Times New Roman" panose="02020603050405020304" pitchFamily="18" charset="0"/>
                <a:cs typeface="Times New Roman" panose="02020603050405020304" pitchFamily="18" charset="0"/>
              </a:rPr>
              <a:t>[2 , 4])</a:t>
            </a:r>
          </a:p>
          <a:p>
            <a:pPr algn="just"/>
            <a:r>
              <a:rPr lang="en-IN" sz="2200" b="0" i="0" dirty="0">
                <a:solidFill>
                  <a:srgbClr val="333333"/>
                </a:solidFill>
                <a:effectLst/>
                <a:latin typeface="Times New Roman" panose="02020603050405020304" pitchFamily="18" charset="0"/>
                <a:cs typeface="Times New Roman" panose="02020603050405020304" pitchFamily="18" charset="0"/>
              </a:rPr>
              <a:t>D</a:t>
            </a:r>
            <a:r>
              <a:rPr lang="en-IN" sz="2200" b="0" i="0" baseline="-25000" dirty="0">
                <a:solidFill>
                  <a:srgbClr val="333333"/>
                </a:solidFill>
                <a:effectLst/>
                <a:latin typeface="Times New Roman" panose="02020603050405020304" pitchFamily="18" charset="0"/>
                <a:cs typeface="Times New Roman" panose="02020603050405020304" pitchFamily="18" charset="0"/>
              </a:rPr>
              <a:t>2</a:t>
            </a:r>
            <a:r>
              <a:rPr lang="en-IN" sz="2200" b="0" i="0" dirty="0">
                <a:solidFill>
                  <a:srgbClr val="333333"/>
                </a:solidFill>
                <a:effectLst/>
                <a:latin typeface="Times New Roman" panose="02020603050405020304" pitchFamily="18" charset="0"/>
                <a:cs typeface="Times New Roman" panose="02020603050405020304" pitchFamily="18" charset="0"/>
              </a:rPr>
              <a:t>[1, 4] = min(Infinity, 10)</a:t>
            </a:r>
          </a:p>
          <a:p>
            <a:pPr algn="just"/>
            <a:r>
              <a:rPr lang="en-IN" sz="2200" b="0" i="0" dirty="0">
                <a:solidFill>
                  <a:srgbClr val="333333"/>
                </a:solidFill>
                <a:effectLst/>
                <a:latin typeface="Times New Roman" panose="02020603050405020304" pitchFamily="18" charset="0"/>
                <a:cs typeface="Times New Roman" panose="02020603050405020304" pitchFamily="18" charset="0"/>
              </a:rPr>
              <a:t>Update distance if minimum distance value smaller than existing distance value found. Here distance (1, 3) is updated from infinity to 20, and distance (1, 4) is updated from infinity to 10.</a:t>
            </a:r>
          </a:p>
        </p:txBody>
      </p:sp>
      <p:sp>
        <p:nvSpPr>
          <p:cNvPr id="12" name="Title 1"/>
          <p:cNvSpPr>
            <a:spLocks noGrp="1"/>
          </p:cNvSpPr>
          <p:nvPr>
            <p:ph type="title"/>
          </p:nvPr>
        </p:nvSpPr>
        <p:spPr>
          <a:xfrm>
            <a:off x="838200" y="136526"/>
            <a:ext cx="8769626" cy="966088"/>
          </a:xfrm>
          <a:ln>
            <a:solidFill>
              <a:schemeClr val="tx1"/>
            </a:solidFill>
          </a:ln>
        </p:spPr>
        <p:txBody>
          <a:bodyPr>
            <a:normAutofit fontScale="90000"/>
          </a:bodyPr>
          <a:lstStyle/>
          <a:p>
            <a:pPr algn="ct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Floyd’s </a:t>
            </a:r>
            <a:r>
              <a:rPr lang="en-US" b="1" dirty="0" err="1">
                <a:latin typeface="Times New Roman" panose="02020603050405020304" pitchFamily="18" charset="0"/>
                <a:cs typeface="Times New Roman" panose="02020603050405020304" pitchFamily="18" charset="0"/>
              </a:rPr>
              <a:t>Warshall</a:t>
            </a:r>
            <a:r>
              <a:rPr lang="en-US" b="1" dirty="0">
                <a:latin typeface="Times New Roman" panose="02020603050405020304" pitchFamily="18" charset="0"/>
                <a:cs typeface="Times New Roman" panose="02020603050405020304" pitchFamily="18" charset="0"/>
              </a:rPr>
              <a:t> Algorithm: </a:t>
            </a:r>
            <a:br>
              <a:rPr lang="en-US" b="1" dirty="0">
                <a:latin typeface="Times New Roman" panose="02020603050405020304" pitchFamily="18" charset="0"/>
                <a:cs typeface="Times New Roman" panose="02020603050405020304" pitchFamily="18" charset="0"/>
              </a:rPr>
            </a:br>
            <a:endParaRPr lang="en-US" dirty="0"/>
          </a:p>
        </p:txBody>
      </p:sp>
      <p:pic>
        <p:nvPicPr>
          <p:cNvPr id="2" name="Picture 1">
            <a:extLst>
              <a:ext uri="{FF2B5EF4-FFF2-40B4-BE49-F238E27FC236}">
                <a16:creationId xmlns:a16="http://schemas.microsoft.com/office/drawing/2014/main" id="{0489B581-5070-3F7E-5EE3-060E8DA657B5}"/>
              </a:ext>
            </a:extLst>
          </p:cNvPr>
          <p:cNvPicPr>
            <a:picLocks noChangeAspect="1"/>
          </p:cNvPicPr>
          <p:nvPr/>
        </p:nvPicPr>
        <p:blipFill rotWithShape="1">
          <a:blip r:embed="rId4"/>
          <a:srcRect l="12989" r="10091"/>
          <a:stretch>
            <a:fillRect/>
          </a:stretch>
        </p:blipFill>
        <p:spPr>
          <a:xfrm>
            <a:off x="6872444" y="2957717"/>
            <a:ext cx="2216960" cy="162224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Updating distance in Matrix"/>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6739" t="7788" r="16631" b="6775"/>
          <a:stretch>
            <a:fillRect/>
          </a:stretch>
        </p:blipFill>
        <p:spPr bwMode="auto">
          <a:xfrm>
            <a:off x="7256071" y="1277238"/>
            <a:ext cx="4097729" cy="172611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a:picLocks noChangeAspect="1"/>
          </p:cNvPicPr>
          <p:nvPr/>
        </p:nvPicPr>
        <p:blipFill>
          <a:blip r:embed="rId3"/>
          <a:stretch>
            <a:fillRect/>
          </a:stretch>
        </p:blipFill>
        <p:spPr>
          <a:xfrm>
            <a:off x="7034335" y="4506192"/>
            <a:ext cx="4219329" cy="2037371"/>
          </a:xfrm>
          <a:prstGeom prst="rect">
            <a:avLst/>
          </a:prstGeom>
        </p:spPr>
      </p:pic>
      <p:sp>
        <p:nvSpPr>
          <p:cNvPr id="3" name="Content Placeholder 2"/>
          <p:cNvSpPr>
            <a:spLocks noGrp="1"/>
          </p:cNvSpPr>
          <p:nvPr>
            <p:ph idx="1"/>
          </p:nvPr>
        </p:nvSpPr>
        <p:spPr>
          <a:xfrm>
            <a:off x="838200" y="1286764"/>
            <a:ext cx="10515600" cy="4890199"/>
          </a:xfrm>
        </p:spPr>
        <p:txBody>
          <a:bodyPr>
            <a:normAutofit/>
          </a:bodyPr>
          <a:lstStyle/>
          <a:p>
            <a:pPr marL="0" indent="0">
              <a:buNone/>
            </a:pPr>
            <a:endParaRPr lang="en-US" altLang="zh-CN" sz="2400" b="1" i="1" dirty="0">
              <a:latin typeface="Times New Roman" panose="02020603050405020304" pitchFamily="18" charset="0"/>
              <a:ea typeface="SimSun" panose="02010600030101010101" pitchFamily="2" charset="-122"/>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34</a:t>
            </a:fld>
            <a:endParaRPr lang="en-US"/>
          </a:p>
        </p:txBody>
      </p:sp>
      <p:sp>
        <p:nvSpPr>
          <p:cNvPr id="24" name="Rectangle 23"/>
          <p:cNvSpPr/>
          <p:nvPr/>
        </p:nvSpPr>
        <p:spPr>
          <a:xfrm>
            <a:off x="838200" y="1282001"/>
            <a:ext cx="10515600" cy="489019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838200" y="1286764"/>
            <a:ext cx="6096000" cy="4031873"/>
          </a:xfrm>
          <a:prstGeom prst="rect">
            <a:avLst/>
          </a:prstGeom>
          <a:noFill/>
        </p:spPr>
        <p:txBody>
          <a:bodyPr wrap="square">
            <a:spAutoFit/>
          </a:bodyPr>
          <a:lstStyle/>
          <a:p>
            <a:pPr algn="l"/>
            <a:r>
              <a:rPr lang="en-IN" sz="2400" b="0" i="0" dirty="0">
                <a:solidFill>
                  <a:srgbClr val="333333"/>
                </a:solidFill>
                <a:effectLst/>
                <a:latin typeface="Times New Roman" panose="02020603050405020304" pitchFamily="18" charset="0"/>
                <a:cs typeface="Times New Roman" panose="02020603050405020304" pitchFamily="18" charset="0"/>
              </a:rPr>
              <a:t>Updating matrix D</a:t>
            </a:r>
            <a:r>
              <a:rPr lang="en-IN" sz="2400" b="0" i="0" baseline="-25000" dirty="0">
                <a:solidFill>
                  <a:srgbClr val="333333"/>
                </a:solidFill>
                <a:effectLst/>
                <a:latin typeface="Times New Roman" panose="02020603050405020304" pitchFamily="18" charset="0"/>
                <a:cs typeface="Times New Roman" panose="02020603050405020304" pitchFamily="18" charset="0"/>
              </a:rPr>
              <a:t>3 </a:t>
            </a:r>
            <a:r>
              <a:rPr lang="en-IN" sz="2400" b="0" i="0" dirty="0">
                <a:solidFill>
                  <a:srgbClr val="333333"/>
                </a:solidFill>
                <a:effectLst/>
                <a:latin typeface="Times New Roman" panose="02020603050405020304" pitchFamily="18" charset="0"/>
                <a:cs typeface="Times New Roman" panose="02020603050405020304" pitchFamily="18" charset="0"/>
              </a:rPr>
              <a:t> contains the distance between two nodes with ‘3’ as an intermediate node.</a:t>
            </a:r>
          </a:p>
          <a:p>
            <a:pPr algn="l"/>
            <a:endParaRPr lang="en-IN" sz="2400" b="0" i="0" dirty="0">
              <a:solidFill>
                <a:srgbClr val="333333"/>
              </a:solidFill>
              <a:effectLst/>
              <a:latin typeface="Times New Roman" panose="02020603050405020304" pitchFamily="18" charset="0"/>
              <a:cs typeface="Times New Roman" panose="02020603050405020304" pitchFamily="18" charset="0"/>
            </a:endParaRPr>
          </a:p>
          <a:p>
            <a:pPr algn="l"/>
            <a:r>
              <a:rPr lang="en-IN" sz="2200" b="0" i="0" dirty="0">
                <a:solidFill>
                  <a:srgbClr val="333333"/>
                </a:solidFill>
                <a:effectLst/>
                <a:latin typeface="Times New Roman" panose="02020603050405020304" pitchFamily="18" charset="0"/>
                <a:cs typeface="Times New Roman" panose="02020603050405020304" pitchFamily="18" charset="0"/>
              </a:rPr>
              <a:t>D</a:t>
            </a:r>
            <a:r>
              <a:rPr lang="en-IN" sz="2200" b="0" i="0" baseline="-25000" dirty="0">
                <a:solidFill>
                  <a:srgbClr val="333333"/>
                </a:solidFill>
                <a:effectLst/>
                <a:latin typeface="Times New Roman" panose="02020603050405020304" pitchFamily="18" charset="0"/>
                <a:cs typeface="Times New Roman" panose="02020603050405020304" pitchFamily="18" charset="0"/>
              </a:rPr>
              <a:t>k</a:t>
            </a:r>
            <a:r>
              <a:rPr lang="en-IN" sz="2200" b="0" i="0" dirty="0">
                <a:solidFill>
                  <a:srgbClr val="333333"/>
                </a:solidFill>
                <a:effectLst/>
                <a:latin typeface="Times New Roman" panose="02020603050405020304" pitchFamily="18" charset="0"/>
                <a:cs typeface="Times New Roman" panose="02020603050405020304" pitchFamily="18" charset="0"/>
              </a:rPr>
              <a:t> [</a:t>
            </a:r>
            <a:r>
              <a:rPr lang="en-IN" sz="2200" b="0" i="0" dirty="0" err="1">
                <a:solidFill>
                  <a:srgbClr val="333333"/>
                </a:solidFill>
                <a:effectLst/>
                <a:latin typeface="Times New Roman" panose="02020603050405020304" pitchFamily="18" charset="0"/>
                <a:cs typeface="Times New Roman" panose="02020603050405020304" pitchFamily="18" charset="0"/>
              </a:rPr>
              <a:t>i</a:t>
            </a:r>
            <a:r>
              <a:rPr lang="en-IN" sz="2200" b="0" i="0" dirty="0">
                <a:solidFill>
                  <a:srgbClr val="333333"/>
                </a:solidFill>
                <a:effectLst/>
                <a:latin typeface="Times New Roman" panose="02020603050405020304" pitchFamily="18" charset="0"/>
                <a:cs typeface="Times New Roman" panose="02020603050405020304" pitchFamily="18" charset="0"/>
              </a:rPr>
              <a:t> , j] = min (D</a:t>
            </a:r>
            <a:r>
              <a:rPr lang="en-IN" sz="2200" b="0" i="0" baseline="-25000" dirty="0">
                <a:solidFill>
                  <a:srgbClr val="333333"/>
                </a:solidFill>
                <a:effectLst/>
                <a:latin typeface="Times New Roman" panose="02020603050405020304" pitchFamily="18" charset="0"/>
                <a:cs typeface="Times New Roman" panose="02020603050405020304" pitchFamily="18" charset="0"/>
              </a:rPr>
              <a:t>k-1 </a:t>
            </a:r>
            <a:r>
              <a:rPr lang="en-IN" sz="2200" b="0" i="0" dirty="0">
                <a:solidFill>
                  <a:srgbClr val="333333"/>
                </a:solidFill>
                <a:effectLst/>
                <a:latin typeface="Times New Roman" panose="02020603050405020304" pitchFamily="18" charset="0"/>
                <a:cs typeface="Times New Roman" panose="02020603050405020304" pitchFamily="18" charset="0"/>
              </a:rPr>
              <a:t>[</a:t>
            </a:r>
            <a:r>
              <a:rPr lang="en-IN" sz="2200" b="0" i="0" dirty="0" err="1">
                <a:solidFill>
                  <a:srgbClr val="333333"/>
                </a:solidFill>
                <a:effectLst/>
                <a:latin typeface="Times New Roman" panose="02020603050405020304" pitchFamily="18" charset="0"/>
                <a:cs typeface="Times New Roman" panose="02020603050405020304" pitchFamily="18" charset="0"/>
              </a:rPr>
              <a:t>i</a:t>
            </a:r>
            <a:r>
              <a:rPr lang="en-IN" sz="2200" b="0" i="0" dirty="0">
                <a:solidFill>
                  <a:srgbClr val="333333"/>
                </a:solidFill>
                <a:effectLst/>
                <a:latin typeface="Times New Roman" panose="02020603050405020304" pitchFamily="18" charset="0"/>
                <a:cs typeface="Times New Roman" panose="02020603050405020304" pitchFamily="18" charset="0"/>
              </a:rPr>
              <a:t> , j], D</a:t>
            </a:r>
            <a:r>
              <a:rPr lang="en-IN" sz="2200" b="0" i="0" baseline="-25000" dirty="0">
                <a:solidFill>
                  <a:srgbClr val="333333"/>
                </a:solidFill>
                <a:effectLst/>
                <a:latin typeface="Times New Roman" panose="02020603050405020304" pitchFamily="18" charset="0"/>
                <a:cs typeface="Times New Roman" panose="02020603050405020304" pitchFamily="18" charset="0"/>
              </a:rPr>
              <a:t>k-1 </a:t>
            </a:r>
            <a:r>
              <a:rPr lang="en-IN" sz="2200" b="0" i="0" dirty="0">
                <a:solidFill>
                  <a:srgbClr val="333333"/>
                </a:solidFill>
                <a:effectLst/>
                <a:latin typeface="Times New Roman" panose="02020603050405020304" pitchFamily="18" charset="0"/>
                <a:cs typeface="Times New Roman" panose="02020603050405020304" pitchFamily="18" charset="0"/>
              </a:rPr>
              <a:t>[</a:t>
            </a:r>
            <a:r>
              <a:rPr lang="en-IN" sz="2200" b="0" i="0" dirty="0" err="1">
                <a:solidFill>
                  <a:srgbClr val="333333"/>
                </a:solidFill>
                <a:effectLst/>
                <a:latin typeface="Times New Roman" panose="02020603050405020304" pitchFamily="18" charset="0"/>
                <a:cs typeface="Times New Roman" panose="02020603050405020304" pitchFamily="18" charset="0"/>
              </a:rPr>
              <a:t>i</a:t>
            </a:r>
            <a:r>
              <a:rPr lang="en-IN" sz="2200" b="0" i="0" dirty="0">
                <a:solidFill>
                  <a:srgbClr val="333333"/>
                </a:solidFill>
                <a:effectLst/>
                <a:latin typeface="Times New Roman" panose="02020603050405020304" pitchFamily="18" charset="0"/>
                <a:cs typeface="Times New Roman" panose="02020603050405020304" pitchFamily="18" charset="0"/>
              </a:rPr>
              <a:t>, k] + D</a:t>
            </a:r>
            <a:r>
              <a:rPr lang="en-IN" sz="2200" b="0" i="0" baseline="-25000" dirty="0">
                <a:solidFill>
                  <a:srgbClr val="333333"/>
                </a:solidFill>
                <a:effectLst/>
                <a:latin typeface="Times New Roman" panose="02020603050405020304" pitchFamily="18" charset="0"/>
                <a:cs typeface="Times New Roman" panose="02020603050405020304" pitchFamily="18" charset="0"/>
              </a:rPr>
              <a:t>k-1 </a:t>
            </a:r>
            <a:r>
              <a:rPr lang="en-IN" sz="2200" b="0" i="0" dirty="0">
                <a:solidFill>
                  <a:srgbClr val="333333"/>
                </a:solidFill>
                <a:effectLst/>
                <a:latin typeface="Times New Roman" panose="02020603050405020304" pitchFamily="18" charset="0"/>
                <a:cs typeface="Times New Roman" panose="02020603050405020304" pitchFamily="18" charset="0"/>
              </a:rPr>
              <a:t>[k , j])</a:t>
            </a:r>
          </a:p>
          <a:p>
            <a:pPr algn="l"/>
            <a:r>
              <a:rPr lang="en-IN" sz="2200" b="0" i="0" dirty="0">
                <a:solidFill>
                  <a:srgbClr val="333333"/>
                </a:solidFill>
                <a:effectLst/>
                <a:latin typeface="Times New Roman" panose="02020603050405020304" pitchFamily="18" charset="0"/>
                <a:cs typeface="Times New Roman" panose="02020603050405020304" pitchFamily="18" charset="0"/>
              </a:rPr>
              <a:t>D</a:t>
            </a:r>
            <a:r>
              <a:rPr lang="en-IN" sz="2200" b="0" i="0" baseline="-25000" dirty="0">
                <a:solidFill>
                  <a:srgbClr val="333333"/>
                </a:solidFill>
                <a:effectLst/>
                <a:latin typeface="Times New Roman" panose="02020603050405020304" pitchFamily="18" charset="0"/>
                <a:cs typeface="Times New Roman" panose="02020603050405020304" pitchFamily="18" charset="0"/>
              </a:rPr>
              <a:t>3</a:t>
            </a:r>
            <a:r>
              <a:rPr lang="en-IN" sz="2200" b="0" i="0" dirty="0">
                <a:solidFill>
                  <a:srgbClr val="333333"/>
                </a:solidFill>
                <a:effectLst/>
                <a:latin typeface="Times New Roman" panose="02020603050405020304" pitchFamily="18" charset="0"/>
                <a:cs typeface="Times New Roman" panose="02020603050405020304" pitchFamily="18" charset="0"/>
              </a:rPr>
              <a:t>[2, 1] = min(D</a:t>
            </a:r>
            <a:r>
              <a:rPr lang="en-IN" sz="2200" b="0" i="0" baseline="-25000" dirty="0">
                <a:solidFill>
                  <a:srgbClr val="333333"/>
                </a:solidFill>
                <a:effectLst/>
                <a:latin typeface="Times New Roman" panose="02020603050405020304" pitchFamily="18" charset="0"/>
                <a:cs typeface="Times New Roman" panose="02020603050405020304" pitchFamily="18" charset="0"/>
              </a:rPr>
              <a:t>3-1</a:t>
            </a:r>
            <a:r>
              <a:rPr lang="en-IN" sz="2200" b="0" i="0" dirty="0">
                <a:solidFill>
                  <a:srgbClr val="333333"/>
                </a:solidFill>
                <a:effectLst/>
                <a:latin typeface="Times New Roman" panose="02020603050405020304" pitchFamily="18" charset="0"/>
                <a:cs typeface="Times New Roman" panose="02020603050405020304" pitchFamily="18" charset="0"/>
              </a:rPr>
              <a:t>[2, 1], D</a:t>
            </a:r>
            <a:r>
              <a:rPr lang="en-IN" sz="2200" b="0" i="0" baseline="-25000" dirty="0">
                <a:solidFill>
                  <a:srgbClr val="333333"/>
                </a:solidFill>
                <a:effectLst/>
                <a:latin typeface="Times New Roman" panose="02020603050405020304" pitchFamily="18" charset="0"/>
                <a:cs typeface="Times New Roman" panose="02020603050405020304" pitchFamily="18" charset="0"/>
              </a:rPr>
              <a:t>3-1 </a:t>
            </a:r>
            <a:r>
              <a:rPr lang="en-IN" sz="2200" b="0" i="0" dirty="0">
                <a:solidFill>
                  <a:srgbClr val="333333"/>
                </a:solidFill>
                <a:effectLst/>
                <a:latin typeface="Times New Roman" panose="02020603050405020304" pitchFamily="18" charset="0"/>
                <a:cs typeface="Times New Roman" panose="02020603050405020304" pitchFamily="18" charset="0"/>
              </a:rPr>
              <a:t>[2, 3] + D</a:t>
            </a:r>
            <a:r>
              <a:rPr lang="en-IN" sz="2200" b="0" i="0" baseline="-25000" dirty="0">
                <a:solidFill>
                  <a:srgbClr val="333333"/>
                </a:solidFill>
                <a:effectLst/>
                <a:latin typeface="Times New Roman" panose="02020603050405020304" pitchFamily="18" charset="0"/>
                <a:cs typeface="Times New Roman" panose="02020603050405020304" pitchFamily="18" charset="0"/>
              </a:rPr>
              <a:t>3-1 </a:t>
            </a:r>
            <a:r>
              <a:rPr lang="en-IN" sz="2200" b="0" i="0" dirty="0">
                <a:solidFill>
                  <a:srgbClr val="333333"/>
                </a:solidFill>
                <a:effectLst/>
                <a:latin typeface="Times New Roman" panose="02020603050405020304" pitchFamily="18" charset="0"/>
                <a:cs typeface="Times New Roman" panose="02020603050405020304" pitchFamily="18" charset="0"/>
              </a:rPr>
              <a:t>[3 , 1])</a:t>
            </a:r>
          </a:p>
          <a:p>
            <a:pPr algn="l"/>
            <a:r>
              <a:rPr lang="en-IN" sz="2200" b="0" i="0" dirty="0">
                <a:solidFill>
                  <a:srgbClr val="333333"/>
                </a:solidFill>
                <a:effectLst/>
                <a:latin typeface="Times New Roman" panose="02020603050405020304" pitchFamily="18" charset="0"/>
                <a:cs typeface="Times New Roman" panose="02020603050405020304" pitchFamily="18" charset="0"/>
              </a:rPr>
              <a:t>D</a:t>
            </a:r>
            <a:r>
              <a:rPr lang="en-IN" sz="2200" b="0" i="0" baseline="-25000" dirty="0">
                <a:solidFill>
                  <a:srgbClr val="333333"/>
                </a:solidFill>
                <a:effectLst/>
                <a:latin typeface="Times New Roman" panose="02020603050405020304" pitchFamily="18" charset="0"/>
                <a:cs typeface="Times New Roman" panose="02020603050405020304" pitchFamily="18" charset="0"/>
              </a:rPr>
              <a:t>3</a:t>
            </a:r>
            <a:r>
              <a:rPr lang="en-IN" sz="2200" b="0" i="0" dirty="0">
                <a:solidFill>
                  <a:srgbClr val="333333"/>
                </a:solidFill>
                <a:effectLst/>
                <a:latin typeface="Times New Roman" panose="02020603050405020304" pitchFamily="18" charset="0"/>
                <a:cs typeface="Times New Roman" panose="02020603050405020304" pitchFamily="18" charset="0"/>
              </a:rPr>
              <a:t>[2, 1] = min(50, 45)</a:t>
            </a:r>
          </a:p>
          <a:p>
            <a:pPr algn="l"/>
            <a:endParaRPr lang="en-IN" sz="2200" b="0" i="0" dirty="0">
              <a:solidFill>
                <a:srgbClr val="333333"/>
              </a:solidFill>
              <a:effectLst/>
              <a:latin typeface="Times New Roman" panose="02020603050405020304" pitchFamily="18" charset="0"/>
              <a:cs typeface="Times New Roman" panose="02020603050405020304" pitchFamily="18" charset="0"/>
            </a:endParaRPr>
          </a:p>
          <a:p>
            <a:pPr algn="l"/>
            <a:r>
              <a:rPr lang="en-IN" sz="2400" b="0" i="0" dirty="0">
                <a:solidFill>
                  <a:srgbClr val="333333"/>
                </a:solidFill>
                <a:effectLst/>
                <a:latin typeface="Times New Roman" panose="02020603050405020304" pitchFamily="18" charset="0"/>
                <a:cs typeface="Times New Roman" panose="02020603050405020304" pitchFamily="18" charset="0"/>
              </a:rPr>
              <a:t>Update distance if minimum distance value smaller than existing distance value found. Here distance (2, 1) is updated from 50 to 45</a:t>
            </a:r>
          </a:p>
        </p:txBody>
      </p:sp>
      <p:sp>
        <p:nvSpPr>
          <p:cNvPr id="12" name="Title 1"/>
          <p:cNvSpPr>
            <a:spLocks noGrp="1"/>
          </p:cNvSpPr>
          <p:nvPr>
            <p:ph type="title"/>
          </p:nvPr>
        </p:nvSpPr>
        <p:spPr>
          <a:xfrm>
            <a:off x="838200" y="136526"/>
            <a:ext cx="8769626" cy="966088"/>
          </a:xfrm>
          <a:ln>
            <a:solidFill>
              <a:schemeClr val="tx1"/>
            </a:solidFill>
          </a:ln>
        </p:spPr>
        <p:txBody>
          <a:bodyPr>
            <a:normAutofit fontScale="90000"/>
          </a:bodyPr>
          <a:lstStyle/>
          <a:p>
            <a:pPr algn="ct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Floyd’s </a:t>
            </a:r>
            <a:r>
              <a:rPr lang="en-US" b="1" dirty="0" err="1">
                <a:latin typeface="Times New Roman" panose="02020603050405020304" pitchFamily="18" charset="0"/>
                <a:cs typeface="Times New Roman" panose="02020603050405020304" pitchFamily="18" charset="0"/>
              </a:rPr>
              <a:t>Warshall</a:t>
            </a:r>
            <a:r>
              <a:rPr lang="en-US" b="1" dirty="0">
                <a:latin typeface="Times New Roman" panose="02020603050405020304" pitchFamily="18" charset="0"/>
                <a:cs typeface="Times New Roman" panose="02020603050405020304" pitchFamily="18" charset="0"/>
              </a:rPr>
              <a:t> Algorithm: </a:t>
            </a:r>
            <a:br>
              <a:rPr lang="en-US" b="1" dirty="0">
                <a:latin typeface="Times New Roman" panose="02020603050405020304" pitchFamily="18" charset="0"/>
                <a:cs typeface="Times New Roman" panose="02020603050405020304" pitchFamily="18" charset="0"/>
              </a:rPr>
            </a:br>
            <a:endParaRPr lang="en-US" dirty="0"/>
          </a:p>
        </p:txBody>
      </p:sp>
      <p:pic>
        <p:nvPicPr>
          <p:cNvPr id="2" name="Picture 1">
            <a:extLst>
              <a:ext uri="{FF2B5EF4-FFF2-40B4-BE49-F238E27FC236}">
                <a16:creationId xmlns:a16="http://schemas.microsoft.com/office/drawing/2014/main" id="{2C08AA02-79E9-AF83-4963-8CF683B34681}"/>
              </a:ext>
            </a:extLst>
          </p:cNvPr>
          <p:cNvPicPr>
            <a:picLocks noChangeAspect="1"/>
          </p:cNvPicPr>
          <p:nvPr/>
        </p:nvPicPr>
        <p:blipFill rotWithShape="1">
          <a:blip r:embed="rId4"/>
          <a:srcRect l="12989" r="10091"/>
          <a:stretch>
            <a:fillRect/>
          </a:stretch>
        </p:blipFill>
        <p:spPr>
          <a:xfrm>
            <a:off x="6650770" y="2843944"/>
            <a:ext cx="2354689" cy="1723027"/>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86764"/>
            <a:ext cx="10515600" cy="4890199"/>
          </a:xfrm>
        </p:spPr>
        <p:txBody>
          <a:bodyPr>
            <a:normAutofit/>
          </a:bodyPr>
          <a:lstStyle/>
          <a:p>
            <a:pPr marL="0" indent="0">
              <a:buNone/>
            </a:pPr>
            <a:endParaRPr lang="en-US" altLang="zh-CN" sz="2400" b="1" i="1" dirty="0">
              <a:latin typeface="Times New Roman" panose="02020603050405020304" pitchFamily="18" charset="0"/>
              <a:ea typeface="SimSun" panose="02010600030101010101" pitchFamily="2" charset="-122"/>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35</a:t>
            </a:fld>
            <a:endParaRPr lang="en-US"/>
          </a:p>
        </p:txBody>
      </p:sp>
      <p:sp>
        <p:nvSpPr>
          <p:cNvPr id="24" name="Rectangle 23"/>
          <p:cNvSpPr/>
          <p:nvPr/>
        </p:nvSpPr>
        <p:spPr>
          <a:xfrm>
            <a:off x="838200" y="1282001"/>
            <a:ext cx="10515600" cy="489019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838200" y="1247008"/>
            <a:ext cx="7563678" cy="5016758"/>
          </a:xfrm>
          <a:prstGeom prst="rect">
            <a:avLst/>
          </a:prstGeom>
          <a:noFill/>
        </p:spPr>
        <p:txBody>
          <a:bodyPr wrap="square">
            <a:spAutoFit/>
          </a:bodyPr>
          <a:lstStyle/>
          <a:p>
            <a:pPr algn="l"/>
            <a:r>
              <a:rPr lang="en-IN" sz="2000" b="0" i="0" dirty="0">
                <a:solidFill>
                  <a:srgbClr val="333333"/>
                </a:solidFill>
                <a:effectLst/>
                <a:latin typeface="Times New Roman" panose="02020603050405020304" pitchFamily="18" charset="0"/>
                <a:cs typeface="Times New Roman" panose="02020603050405020304" pitchFamily="18" charset="0"/>
              </a:rPr>
              <a:t>Updating matrix D</a:t>
            </a:r>
            <a:r>
              <a:rPr lang="en-IN" sz="2000" b="0" i="0" baseline="-25000" dirty="0">
                <a:solidFill>
                  <a:srgbClr val="333333"/>
                </a:solidFill>
                <a:effectLst/>
                <a:latin typeface="Times New Roman" panose="02020603050405020304" pitchFamily="18" charset="0"/>
                <a:cs typeface="Times New Roman" panose="02020603050405020304" pitchFamily="18" charset="0"/>
              </a:rPr>
              <a:t>4 </a:t>
            </a:r>
            <a:r>
              <a:rPr lang="en-IN" sz="2000" b="0" i="0" dirty="0">
                <a:solidFill>
                  <a:srgbClr val="333333"/>
                </a:solidFill>
                <a:effectLst/>
                <a:latin typeface="Times New Roman" panose="02020603050405020304" pitchFamily="18" charset="0"/>
                <a:cs typeface="Times New Roman" panose="02020603050405020304" pitchFamily="18" charset="0"/>
              </a:rPr>
              <a:t>contains the distance between two nodes with ‘4’ as an intermediate node. Update distance if minimum distance value smaller than existing distance value found.</a:t>
            </a:r>
          </a:p>
          <a:p>
            <a:pPr algn="l"/>
            <a:r>
              <a:rPr lang="en-IN" sz="2000" b="0" i="0" dirty="0">
                <a:solidFill>
                  <a:srgbClr val="333333"/>
                </a:solidFill>
                <a:effectLst/>
                <a:latin typeface="Times New Roman" panose="02020603050405020304" pitchFamily="18" charset="0"/>
                <a:cs typeface="Times New Roman" panose="02020603050405020304" pitchFamily="18" charset="0"/>
              </a:rPr>
              <a:t>D</a:t>
            </a:r>
            <a:r>
              <a:rPr lang="en-IN" sz="2000" b="0" i="0" baseline="-25000" dirty="0">
                <a:solidFill>
                  <a:srgbClr val="333333"/>
                </a:solidFill>
                <a:effectLst/>
                <a:latin typeface="Times New Roman" panose="02020603050405020304" pitchFamily="18" charset="0"/>
                <a:cs typeface="Times New Roman" panose="02020603050405020304" pitchFamily="18" charset="0"/>
              </a:rPr>
              <a:t>k</a:t>
            </a:r>
            <a:r>
              <a:rPr lang="en-IN" sz="2000" b="0" i="0" dirty="0">
                <a:solidFill>
                  <a:srgbClr val="333333"/>
                </a:solidFill>
                <a:effectLst/>
                <a:latin typeface="Times New Roman" panose="02020603050405020304" pitchFamily="18" charset="0"/>
                <a:cs typeface="Times New Roman" panose="02020603050405020304" pitchFamily="18" charset="0"/>
              </a:rPr>
              <a:t> [</a:t>
            </a:r>
            <a:r>
              <a:rPr lang="en-IN" sz="2000" b="0" i="0" dirty="0" err="1">
                <a:solidFill>
                  <a:srgbClr val="333333"/>
                </a:solidFill>
                <a:effectLst/>
                <a:latin typeface="Times New Roman" panose="02020603050405020304" pitchFamily="18" charset="0"/>
                <a:cs typeface="Times New Roman" panose="02020603050405020304" pitchFamily="18" charset="0"/>
              </a:rPr>
              <a:t>i</a:t>
            </a:r>
            <a:r>
              <a:rPr lang="en-IN" sz="2000" b="0" i="0" dirty="0">
                <a:solidFill>
                  <a:srgbClr val="333333"/>
                </a:solidFill>
                <a:effectLst/>
                <a:latin typeface="Times New Roman" panose="02020603050405020304" pitchFamily="18" charset="0"/>
                <a:cs typeface="Times New Roman" panose="02020603050405020304" pitchFamily="18" charset="0"/>
              </a:rPr>
              <a:t> , j] = min (D</a:t>
            </a:r>
            <a:r>
              <a:rPr lang="en-IN" sz="2000" b="0" i="0" baseline="-25000" dirty="0">
                <a:solidFill>
                  <a:srgbClr val="333333"/>
                </a:solidFill>
                <a:effectLst/>
                <a:latin typeface="Times New Roman" panose="02020603050405020304" pitchFamily="18" charset="0"/>
                <a:cs typeface="Times New Roman" panose="02020603050405020304" pitchFamily="18" charset="0"/>
              </a:rPr>
              <a:t>k-1 </a:t>
            </a:r>
            <a:r>
              <a:rPr lang="en-IN" sz="2000" b="0" i="0" dirty="0">
                <a:solidFill>
                  <a:srgbClr val="333333"/>
                </a:solidFill>
                <a:effectLst/>
                <a:latin typeface="Times New Roman" panose="02020603050405020304" pitchFamily="18" charset="0"/>
                <a:cs typeface="Times New Roman" panose="02020603050405020304" pitchFamily="18" charset="0"/>
              </a:rPr>
              <a:t>[</a:t>
            </a:r>
            <a:r>
              <a:rPr lang="en-IN" sz="2000" b="0" i="0" dirty="0" err="1">
                <a:solidFill>
                  <a:srgbClr val="333333"/>
                </a:solidFill>
                <a:effectLst/>
                <a:latin typeface="Times New Roman" panose="02020603050405020304" pitchFamily="18" charset="0"/>
                <a:cs typeface="Times New Roman" panose="02020603050405020304" pitchFamily="18" charset="0"/>
              </a:rPr>
              <a:t>i</a:t>
            </a:r>
            <a:r>
              <a:rPr lang="en-IN" sz="2000" b="0" i="0" dirty="0">
                <a:solidFill>
                  <a:srgbClr val="333333"/>
                </a:solidFill>
                <a:effectLst/>
                <a:latin typeface="Times New Roman" panose="02020603050405020304" pitchFamily="18" charset="0"/>
                <a:cs typeface="Times New Roman" panose="02020603050405020304" pitchFamily="18" charset="0"/>
              </a:rPr>
              <a:t> , j], D</a:t>
            </a:r>
            <a:r>
              <a:rPr lang="en-IN" sz="2000" b="0" i="0" baseline="-25000" dirty="0">
                <a:solidFill>
                  <a:srgbClr val="333333"/>
                </a:solidFill>
                <a:effectLst/>
                <a:latin typeface="Times New Roman" panose="02020603050405020304" pitchFamily="18" charset="0"/>
                <a:cs typeface="Times New Roman" panose="02020603050405020304" pitchFamily="18" charset="0"/>
              </a:rPr>
              <a:t>k-1 </a:t>
            </a:r>
            <a:r>
              <a:rPr lang="en-IN" sz="2000" b="0" i="0" dirty="0">
                <a:solidFill>
                  <a:srgbClr val="333333"/>
                </a:solidFill>
                <a:effectLst/>
                <a:latin typeface="Times New Roman" panose="02020603050405020304" pitchFamily="18" charset="0"/>
                <a:cs typeface="Times New Roman" panose="02020603050405020304" pitchFamily="18" charset="0"/>
              </a:rPr>
              <a:t>[</a:t>
            </a:r>
            <a:r>
              <a:rPr lang="en-IN" sz="2000" b="0" i="0" dirty="0" err="1">
                <a:solidFill>
                  <a:srgbClr val="333333"/>
                </a:solidFill>
                <a:effectLst/>
                <a:latin typeface="Times New Roman" panose="02020603050405020304" pitchFamily="18" charset="0"/>
                <a:cs typeface="Times New Roman" panose="02020603050405020304" pitchFamily="18" charset="0"/>
              </a:rPr>
              <a:t>i</a:t>
            </a:r>
            <a:r>
              <a:rPr lang="en-IN" sz="2000" b="0" i="0" dirty="0">
                <a:solidFill>
                  <a:srgbClr val="333333"/>
                </a:solidFill>
                <a:effectLst/>
                <a:latin typeface="Times New Roman" panose="02020603050405020304" pitchFamily="18" charset="0"/>
                <a:cs typeface="Times New Roman" panose="02020603050405020304" pitchFamily="18" charset="0"/>
              </a:rPr>
              <a:t>, k] + D</a:t>
            </a:r>
            <a:r>
              <a:rPr lang="en-IN" sz="2000" b="0" i="0" baseline="-25000" dirty="0">
                <a:solidFill>
                  <a:srgbClr val="333333"/>
                </a:solidFill>
                <a:effectLst/>
                <a:latin typeface="Times New Roman" panose="02020603050405020304" pitchFamily="18" charset="0"/>
                <a:cs typeface="Times New Roman" panose="02020603050405020304" pitchFamily="18" charset="0"/>
              </a:rPr>
              <a:t>k-1 </a:t>
            </a:r>
            <a:r>
              <a:rPr lang="en-IN" sz="2000" b="0" i="0" dirty="0">
                <a:solidFill>
                  <a:srgbClr val="333333"/>
                </a:solidFill>
                <a:effectLst/>
                <a:latin typeface="Times New Roman" panose="02020603050405020304" pitchFamily="18" charset="0"/>
                <a:cs typeface="Times New Roman" panose="02020603050405020304" pitchFamily="18" charset="0"/>
              </a:rPr>
              <a:t>[k , j])</a:t>
            </a:r>
          </a:p>
          <a:p>
            <a:pPr algn="l"/>
            <a:r>
              <a:rPr lang="en-IN" sz="2000" b="0" i="0" dirty="0">
                <a:solidFill>
                  <a:srgbClr val="333333"/>
                </a:solidFill>
                <a:effectLst/>
                <a:latin typeface="Times New Roman" panose="02020603050405020304" pitchFamily="18" charset="0"/>
                <a:cs typeface="Times New Roman" panose="02020603050405020304" pitchFamily="18" charset="0"/>
              </a:rPr>
              <a:t>D</a:t>
            </a:r>
            <a:r>
              <a:rPr lang="en-IN" sz="2000" b="0" i="0" baseline="-25000" dirty="0">
                <a:solidFill>
                  <a:srgbClr val="333333"/>
                </a:solidFill>
                <a:effectLst/>
                <a:latin typeface="Times New Roman" panose="02020603050405020304" pitchFamily="18" charset="0"/>
                <a:cs typeface="Times New Roman" panose="02020603050405020304" pitchFamily="18" charset="0"/>
              </a:rPr>
              <a:t>4</a:t>
            </a:r>
            <a:r>
              <a:rPr lang="en-IN" sz="2000" b="0" i="0" dirty="0">
                <a:solidFill>
                  <a:srgbClr val="333333"/>
                </a:solidFill>
                <a:effectLst/>
                <a:latin typeface="Times New Roman" panose="02020603050405020304" pitchFamily="18" charset="0"/>
                <a:cs typeface="Times New Roman" panose="02020603050405020304" pitchFamily="18" charset="0"/>
              </a:rPr>
              <a:t>[1, 3] = min(D</a:t>
            </a:r>
            <a:r>
              <a:rPr lang="en-IN" sz="2000" b="0" i="0" baseline="-25000" dirty="0">
                <a:solidFill>
                  <a:srgbClr val="333333"/>
                </a:solidFill>
                <a:effectLst/>
                <a:latin typeface="Times New Roman" panose="02020603050405020304" pitchFamily="18" charset="0"/>
                <a:cs typeface="Times New Roman" panose="02020603050405020304" pitchFamily="18" charset="0"/>
              </a:rPr>
              <a:t>4-1</a:t>
            </a:r>
            <a:r>
              <a:rPr lang="en-IN" sz="2000" b="0" i="0" dirty="0">
                <a:solidFill>
                  <a:srgbClr val="333333"/>
                </a:solidFill>
                <a:effectLst/>
                <a:latin typeface="Times New Roman" panose="02020603050405020304" pitchFamily="18" charset="0"/>
                <a:cs typeface="Times New Roman" panose="02020603050405020304" pitchFamily="18" charset="0"/>
              </a:rPr>
              <a:t>[1, 3], D</a:t>
            </a:r>
            <a:r>
              <a:rPr lang="en-IN" sz="2000" b="0" i="0" baseline="-25000" dirty="0">
                <a:solidFill>
                  <a:srgbClr val="333333"/>
                </a:solidFill>
                <a:effectLst/>
                <a:latin typeface="Times New Roman" panose="02020603050405020304" pitchFamily="18" charset="0"/>
                <a:cs typeface="Times New Roman" panose="02020603050405020304" pitchFamily="18" charset="0"/>
              </a:rPr>
              <a:t>4-1 </a:t>
            </a:r>
            <a:r>
              <a:rPr lang="en-IN" sz="2000" b="0" i="0" dirty="0">
                <a:solidFill>
                  <a:srgbClr val="333333"/>
                </a:solidFill>
                <a:effectLst/>
                <a:latin typeface="Times New Roman" panose="02020603050405020304" pitchFamily="18" charset="0"/>
                <a:cs typeface="Times New Roman" panose="02020603050405020304" pitchFamily="18" charset="0"/>
              </a:rPr>
              <a:t>[1, 4] + D</a:t>
            </a:r>
            <a:r>
              <a:rPr lang="en-IN" sz="2000" b="0" i="0" baseline="-25000" dirty="0">
                <a:solidFill>
                  <a:srgbClr val="333333"/>
                </a:solidFill>
                <a:effectLst/>
                <a:latin typeface="Times New Roman" panose="02020603050405020304" pitchFamily="18" charset="0"/>
                <a:cs typeface="Times New Roman" panose="02020603050405020304" pitchFamily="18" charset="0"/>
              </a:rPr>
              <a:t>4-1 </a:t>
            </a:r>
            <a:r>
              <a:rPr lang="en-IN" sz="2000" b="0" i="0" dirty="0">
                <a:solidFill>
                  <a:srgbClr val="333333"/>
                </a:solidFill>
                <a:effectLst/>
                <a:latin typeface="Times New Roman" panose="02020603050405020304" pitchFamily="18" charset="0"/>
                <a:cs typeface="Times New Roman" panose="02020603050405020304" pitchFamily="18" charset="0"/>
              </a:rPr>
              <a:t>[4 , 3])</a:t>
            </a:r>
          </a:p>
          <a:p>
            <a:pPr algn="l"/>
            <a:r>
              <a:rPr lang="en-IN" sz="2000" b="0" i="0" dirty="0">
                <a:solidFill>
                  <a:srgbClr val="333333"/>
                </a:solidFill>
                <a:effectLst/>
                <a:latin typeface="Times New Roman" panose="02020603050405020304" pitchFamily="18" charset="0"/>
                <a:cs typeface="Times New Roman" panose="02020603050405020304" pitchFamily="18" charset="0"/>
              </a:rPr>
              <a:t>D</a:t>
            </a:r>
            <a:r>
              <a:rPr lang="en-IN" sz="2000" b="0" i="0" baseline="-25000" dirty="0">
                <a:solidFill>
                  <a:srgbClr val="333333"/>
                </a:solidFill>
                <a:effectLst/>
                <a:latin typeface="Times New Roman" panose="02020603050405020304" pitchFamily="18" charset="0"/>
                <a:cs typeface="Times New Roman" panose="02020603050405020304" pitchFamily="18" charset="0"/>
              </a:rPr>
              <a:t>4</a:t>
            </a:r>
            <a:r>
              <a:rPr lang="en-IN" sz="2000" b="0" i="0" dirty="0">
                <a:solidFill>
                  <a:srgbClr val="333333"/>
                </a:solidFill>
                <a:effectLst/>
                <a:latin typeface="Times New Roman" panose="02020603050405020304" pitchFamily="18" charset="0"/>
                <a:cs typeface="Times New Roman" panose="02020603050405020304" pitchFamily="18" charset="0"/>
              </a:rPr>
              <a:t>[1, 3] = min(20, 15)</a:t>
            </a:r>
          </a:p>
          <a:p>
            <a:pPr algn="l"/>
            <a:r>
              <a:rPr lang="en-IN" sz="2000" b="0" i="0" dirty="0">
                <a:solidFill>
                  <a:srgbClr val="333333"/>
                </a:solidFill>
                <a:effectLst/>
                <a:latin typeface="Times New Roman" panose="02020603050405020304" pitchFamily="18" charset="0"/>
                <a:cs typeface="Times New Roman" panose="02020603050405020304" pitchFamily="18" charset="0"/>
              </a:rPr>
              <a:t> </a:t>
            </a:r>
          </a:p>
          <a:p>
            <a:pPr algn="l"/>
            <a:r>
              <a:rPr lang="en-IN" sz="2000" b="0" i="0" dirty="0">
                <a:solidFill>
                  <a:srgbClr val="333333"/>
                </a:solidFill>
                <a:effectLst/>
                <a:latin typeface="Times New Roman" panose="02020603050405020304" pitchFamily="18" charset="0"/>
                <a:cs typeface="Times New Roman" panose="02020603050405020304" pitchFamily="18" charset="0"/>
              </a:rPr>
              <a:t>D</a:t>
            </a:r>
            <a:r>
              <a:rPr lang="en-IN" sz="2000" b="0" i="0" baseline="-25000" dirty="0">
                <a:solidFill>
                  <a:srgbClr val="333333"/>
                </a:solidFill>
                <a:effectLst/>
                <a:latin typeface="Times New Roman" panose="02020603050405020304" pitchFamily="18" charset="0"/>
                <a:cs typeface="Times New Roman" panose="02020603050405020304" pitchFamily="18" charset="0"/>
              </a:rPr>
              <a:t>k</a:t>
            </a:r>
            <a:r>
              <a:rPr lang="en-IN" sz="2000" b="0" i="0" dirty="0">
                <a:solidFill>
                  <a:srgbClr val="333333"/>
                </a:solidFill>
                <a:effectLst/>
                <a:latin typeface="Times New Roman" panose="02020603050405020304" pitchFamily="18" charset="0"/>
                <a:cs typeface="Times New Roman" panose="02020603050405020304" pitchFamily="18" charset="0"/>
              </a:rPr>
              <a:t> [</a:t>
            </a:r>
            <a:r>
              <a:rPr lang="en-IN" sz="2000" b="0" i="0" dirty="0" err="1">
                <a:solidFill>
                  <a:srgbClr val="333333"/>
                </a:solidFill>
                <a:effectLst/>
                <a:latin typeface="Times New Roman" panose="02020603050405020304" pitchFamily="18" charset="0"/>
                <a:cs typeface="Times New Roman" panose="02020603050405020304" pitchFamily="18" charset="0"/>
              </a:rPr>
              <a:t>i</a:t>
            </a:r>
            <a:r>
              <a:rPr lang="en-IN" sz="2000" b="0" i="0" dirty="0">
                <a:solidFill>
                  <a:srgbClr val="333333"/>
                </a:solidFill>
                <a:effectLst/>
                <a:latin typeface="Times New Roman" panose="02020603050405020304" pitchFamily="18" charset="0"/>
                <a:cs typeface="Times New Roman" panose="02020603050405020304" pitchFamily="18" charset="0"/>
              </a:rPr>
              <a:t> , j] = min (D</a:t>
            </a:r>
            <a:r>
              <a:rPr lang="en-IN" sz="2000" b="0" i="0" baseline="-25000" dirty="0">
                <a:solidFill>
                  <a:srgbClr val="333333"/>
                </a:solidFill>
                <a:effectLst/>
                <a:latin typeface="Times New Roman" panose="02020603050405020304" pitchFamily="18" charset="0"/>
                <a:cs typeface="Times New Roman" panose="02020603050405020304" pitchFamily="18" charset="0"/>
              </a:rPr>
              <a:t>k-1 </a:t>
            </a:r>
            <a:r>
              <a:rPr lang="en-IN" sz="2000" b="0" i="0" dirty="0">
                <a:solidFill>
                  <a:srgbClr val="333333"/>
                </a:solidFill>
                <a:effectLst/>
                <a:latin typeface="Times New Roman" panose="02020603050405020304" pitchFamily="18" charset="0"/>
                <a:cs typeface="Times New Roman" panose="02020603050405020304" pitchFamily="18" charset="0"/>
              </a:rPr>
              <a:t>[</a:t>
            </a:r>
            <a:r>
              <a:rPr lang="en-IN" sz="2000" b="0" i="0" dirty="0" err="1">
                <a:solidFill>
                  <a:srgbClr val="333333"/>
                </a:solidFill>
                <a:effectLst/>
                <a:latin typeface="Times New Roman" panose="02020603050405020304" pitchFamily="18" charset="0"/>
                <a:cs typeface="Times New Roman" panose="02020603050405020304" pitchFamily="18" charset="0"/>
              </a:rPr>
              <a:t>i</a:t>
            </a:r>
            <a:r>
              <a:rPr lang="en-IN" sz="2000" b="0" i="0" dirty="0">
                <a:solidFill>
                  <a:srgbClr val="333333"/>
                </a:solidFill>
                <a:effectLst/>
                <a:latin typeface="Times New Roman" panose="02020603050405020304" pitchFamily="18" charset="0"/>
                <a:cs typeface="Times New Roman" panose="02020603050405020304" pitchFamily="18" charset="0"/>
              </a:rPr>
              <a:t> , j], D</a:t>
            </a:r>
            <a:r>
              <a:rPr lang="en-IN" sz="2000" b="0" i="0" baseline="-25000" dirty="0">
                <a:solidFill>
                  <a:srgbClr val="333333"/>
                </a:solidFill>
                <a:effectLst/>
                <a:latin typeface="Times New Roman" panose="02020603050405020304" pitchFamily="18" charset="0"/>
                <a:cs typeface="Times New Roman" panose="02020603050405020304" pitchFamily="18" charset="0"/>
              </a:rPr>
              <a:t>k-1 </a:t>
            </a:r>
            <a:r>
              <a:rPr lang="en-IN" sz="2000" b="0" i="0" dirty="0">
                <a:solidFill>
                  <a:srgbClr val="333333"/>
                </a:solidFill>
                <a:effectLst/>
                <a:latin typeface="Times New Roman" panose="02020603050405020304" pitchFamily="18" charset="0"/>
                <a:cs typeface="Times New Roman" panose="02020603050405020304" pitchFamily="18" charset="0"/>
              </a:rPr>
              <a:t>[</a:t>
            </a:r>
            <a:r>
              <a:rPr lang="en-IN" sz="2000" b="0" i="0" dirty="0" err="1">
                <a:solidFill>
                  <a:srgbClr val="333333"/>
                </a:solidFill>
                <a:effectLst/>
                <a:latin typeface="Times New Roman" panose="02020603050405020304" pitchFamily="18" charset="0"/>
                <a:cs typeface="Times New Roman" panose="02020603050405020304" pitchFamily="18" charset="0"/>
              </a:rPr>
              <a:t>i</a:t>
            </a:r>
            <a:r>
              <a:rPr lang="en-IN" sz="2000" b="0" i="0" dirty="0">
                <a:solidFill>
                  <a:srgbClr val="333333"/>
                </a:solidFill>
                <a:effectLst/>
                <a:latin typeface="Times New Roman" panose="02020603050405020304" pitchFamily="18" charset="0"/>
                <a:cs typeface="Times New Roman" panose="02020603050405020304" pitchFamily="18" charset="0"/>
              </a:rPr>
              <a:t>, k] + D</a:t>
            </a:r>
            <a:r>
              <a:rPr lang="en-IN" sz="2000" b="0" i="0" baseline="-25000" dirty="0">
                <a:solidFill>
                  <a:srgbClr val="333333"/>
                </a:solidFill>
                <a:effectLst/>
                <a:latin typeface="Times New Roman" panose="02020603050405020304" pitchFamily="18" charset="0"/>
                <a:cs typeface="Times New Roman" panose="02020603050405020304" pitchFamily="18" charset="0"/>
              </a:rPr>
              <a:t>k-1 </a:t>
            </a:r>
            <a:r>
              <a:rPr lang="en-IN" sz="2000" b="0" i="0" dirty="0">
                <a:solidFill>
                  <a:srgbClr val="333333"/>
                </a:solidFill>
                <a:effectLst/>
                <a:latin typeface="Times New Roman" panose="02020603050405020304" pitchFamily="18" charset="0"/>
                <a:cs typeface="Times New Roman" panose="02020603050405020304" pitchFamily="18" charset="0"/>
              </a:rPr>
              <a:t>[k , j])</a:t>
            </a:r>
          </a:p>
          <a:p>
            <a:pPr algn="l"/>
            <a:r>
              <a:rPr lang="en-IN" sz="2000" b="0" i="0" dirty="0">
                <a:solidFill>
                  <a:srgbClr val="333333"/>
                </a:solidFill>
                <a:effectLst/>
                <a:latin typeface="Times New Roman" panose="02020603050405020304" pitchFamily="18" charset="0"/>
                <a:cs typeface="Times New Roman" panose="02020603050405020304" pitchFamily="18" charset="0"/>
              </a:rPr>
              <a:t>D</a:t>
            </a:r>
            <a:r>
              <a:rPr lang="en-IN" sz="2000" b="0" i="0" baseline="-25000" dirty="0">
                <a:solidFill>
                  <a:srgbClr val="333333"/>
                </a:solidFill>
                <a:effectLst/>
                <a:latin typeface="Times New Roman" panose="02020603050405020304" pitchFamily="18" charset="0"/>
                <a:cs typeface="Times New Roman" panose="02020603050405020304" pitchFamily="18" charset="0"/>
              </a:rPr>
              <a:t>4</a:t>
            </a:r>
            <a:r>
              <a:rPr lang="en-IN" sz="2000" b="0" i="0" dirty="0">
                <a:solidFill>
                  <a:srgbClr val="333333"/>
                </a:solidFill>
                <a:effectLst/>
                <a:latin typeface="Times New Roman" panose="02020603050405020304" pitchFamily="18" charset="0"/>
                <a:cs typeface="Times New Roman" panose="02020603050405020304" pitchFamily="18" charset="0"/>
              </a:rPr>
              <a:t>[2, 1] = min(D</a:t>
            </a:r>
            <a:r>
              <a:rPr lang="en-IN" sz="2000" b="0" i="0" baseline="-25000" dirty="0">
                <a:solidFill>
                  <a:srgbClr val="333333"/>
                </a:solidFill>
                <a:effectLst/>
                <a:latin typeface="Times New Roman" panose="02020603050405020304" pitchFamily="18" charset="0"/>
                <a:cs typeface="Times New Roman" panose="02020603050405020304" pitchFamily="18" charset="0"/>
              </a:rPr>
              <a:t>4-1</a:t>
            </a:r>
            <a:r>
              <a:rPr lang="en-IN" sz="2000" b="0" i="0" dirty="0">
                <a:solidFill>
                  <a:srgbClr val="333333"/>
                </a:solidFill>
                <a:effectLst/>
                <a:latin typeface="Times New Roman" panose="02020603050405020304" pitchFamily="18" charset="0"/>
                <a:cs typeface="Times New Roman" panose="02020603050405020304" pitchFamily="18" charset="0"/>
              </a:rPr>
              <a:t>[2, 1], D</a:t>
            </a:r>
            <a:r>
              <a:rPr lang="en-IN" sz="2000" b="0" i="0" baseline="-25000" dirty="0">
                <a:solidFill>
                  <a:srgbClr val="333333"/>
                </a:solidFill>
                <a:effectLst/>
                <a:latin typeface="Times New Roman" panose="02020603050405020304" pitchFamily="18" charset="0"/>
                <a:cs typeface="Times New Roman" panose="02020603050405020304" pitchFamily="18" charset="0"/>
              </a:rPr>
              <a:t>4-1 </a:t>
            </a:r>
            <a:r>
              <a:rPr lang="en-IN" sz="2000" b="0" i="0" dirty="0">
                <a:solidFill>
                  <a:srgbClr val="333333"/>
                </a:solidFill>
                <a:effectLst/>
                <a:latin typeface="Times New Roman" panose="02020603050405020304" pitchFamily="18" charset="0"/>
                <a:cs typeface="Times New Roman" panose="02020603050405020304" pitchFamily="18" charset="0"/>
              </a:rPr>
              <a:t>[2, 4] + D</a:t>
            </a:r>
            <a:r>
              <a:rPr lang="en-IN" sz="2000" b="0" i="0" baseline="-25000" dirty="0">
                <a:solidFill>
                  <a:srgbClr val="333333"/>
                </a:solidFill>
                <a:effectLst/>
                <a:latin typeface="Times New Roman" panose="02020603050405020304" pitchFamily="18" charset="0"/>
                <a:cs typeface="Times New Roman" panose="02020603050405020304" pitchFamily="18" charset="0"/>
              </a:rPr>
              <a:t>4-1 </a:t>
            </a:r>
            <a:r>
              <a:rPr lang="en-IN" sz="2000" b="0" i="0" dirty="0">
                <a:solidFill>
                  <a:srgbClr val="333333"/>
                </a:solidFill>
                <a:effectLst/>
                <a:latin typeface="Times New Roman" panose="02020603050405020304" pitchFamily="18" charset="0"/>
                <a:cs typeface="Times New Roman" panose="02020603050405020304" pitchFamily="18" charset="0"/>
              </a:rPr>
              <a:t>[4 , 1])</a:t>
            </a:r>
          </a:p>
          <a:p>
            <a:pPr algn="l"/>
            <a:r>
              <a:rPr lang="en-IN" sz="2000" b="0" i="0" dirty="0">
                <a:solidFill>
                  <a:srgbClr val="333333"/>
                </a:solidFill>
                <a:effectLst/>
                <a:latin typeface="Times New Roman" panose="02020603050405020304" pitchFamily="18" charset="0"/>
                <a:cs typeface="Times New Roman" panose="02020603050405020304" pitchFamily="18" charset="0"/>
              </a:rPr>
              <a:t>D</a:t>
            </a:r>
            <a:r>
              <a:rPr lang="en-IN" sz="2000" b="0" i="0" baseline="-25000" dirty="0">
                <a:solidFill>
                  <a:srgbClr val="333333"/>
                </a:solidFill>
                <a:effectLst/>
                <a:latin typeface="Times New Roman" panose="02020603050405020304" pitchFamily="18" charset="0"/>
                <a:cs typeface="Times New Roman" panose="02020603050405020304" pitchFamily="18" charset="0"/>
              </a:rPr>
              <a:t>4</a:t>
            </a:r>
            <a:r>
              <a:rPr lang="en-IN" sz="2000" b="0" i="0" dirty="0">
                <a:solidFill>
                  <a:srgbClr val="333333"/>
                </a:solidFill>
                <a:effectLst/>
                <a:latin typeface="Times New Roman" panose="02020603050405020304" pitchFamily="18" charset="0"/>
                <a:cs typeface="Times New Roman" panose="02020603050405020304" pitchFamily="18" charset="0"/>
              </a:rPr>
              <a:t>[1, 3] = min(45, 20)</a:t>
            </a:r>
          </a:p>
          <a:p>
            <a:pPr algn="l"/>
            <a:r>
              <a:rPr lang="en-IN" sz="2000" b="0" i="0" dirty="0">
                <a:solidFill>
                  <a:srgbClr val="333333"/>
                </a:solidFill>
                <a:effectLst/>
                <a:latin typeface="Times New Roman" panose="02020603050405020304" pitchFamily="18" charset="0"/>
                <a:cs typeface="Times New Roman" panose="02020603050405020304" pitchFamily="18" charset="0"/>
              </a:rPr>
              <a:t> </a:t>
            </a:r>
          </a:p>
          <a:p>
            <a:pPr algn="l"/>
            <a:r>
              <a:rPr lang="en-IN" sz="2000" b="0" i="0" dirty="0">
                <a:solidFill>
                  <a:srgbClr val="333333"/>
                </a:solidFill>
                <a:effectLst/>
                <a:latin typeface="Times New Roman" panose="02020603050405020304" pitchFamily="18" charset="0"/>
                <a:cs typeface="Times New Roman" panose="02020603050405020304" pitchFamily="18" charset="0"/>
              </a:rPr>
              <a:t>D</a:t>
            </a:r>
            <a:r>
              <a:rPr lang="en-IN" sz="2000" b="0" i="0" baseline="-25000" dirty="0">
                <a:solidFill>
                  <a:srgbClr val="333333"/>
                </a:solidFill>
                <a:effectLst/>
                <a:latin typeface="Times New Roman" panose="02020603050405020304" pitchFamily="18" charset="0"/>
                <a:cs typeface="Times New Roman" panose="02020603050405020304" pitchFamily="18" charset="0"/>
              </a:rPr>
              <a:t>k</a:t>
            </a:r>
            <a:r>
              <a:rPr lang="en-IN" sz="2000" b="0" i="0" dirty="0">
                <a:solidFill>
                  <a:srgbClr val="333333"/>
                </a:solidFill>
                <a:effectLst/>
                <a:latin typeface="Times New Roman" panose="02020603050405020304" pitchFamily="18" charset="0"/>
                <a:cs typeface="Times New Roman" panose="02020603050405020304" pitchFamily="18" charset="0"/>
              </a:rPr>
              <a:t> [</a:t>
            </a:r>
            <a:r>
              <a:rPr lang="en-IN" sz="2000" b="0" i="0" dirty="0" err="1">
                <a:solidFill>
                  <a:srgbClr val="333333"/>
                </a:solidFill>
                <a:effectLst/>
                <a:latin typeface="Times New Roman" panose="02020603050405020304" pitchFamily="18" charset="0"/>
                <a:cs typeface="Times New Roman" panose="02020603050405020304" pitchFamily="18" charset="0"/>
              </a:rPr>
              <a:t>i</a:t>
            </a:r>
            <a:r>
              <a:rPr lang="en-IN" sz="2000" b="0" i="0" dirty="0">
                <a:solidFill>
                  <a:srgbClr val="333333"/>
                </a:solidFill>
                <a:effectLst/>
                <a:latin typeface="Times New Roman" panose="02020603050405020304" pitchFamily="18" charset="0"/>
                <a:cs typeface="Times New Roman" panose="02020603050405020304" pitchFamily="18" charset="0"/>
              </a:rPr>
              <a:t> , j] = min (D</a:t>
            </a:r>
            <a:r>
              <a:rPr lang="en-IN" sz="2000" b="0" i="0" baseline="-25000" dirty="0">
                <a:solidFill>
                  <a:srgbClr val="333333"/>
                </a:solidFill>
                <a:effectLst/>
                <a:latin typeface="Times New Roman" panose="02020603050405020304" pitchFamily="18" charset="0"/>
                <a:cs typeface="Times New Roman" panose="02020603050405020304" pitchFamily="18" charset="0"/>
              </a:rPr>
              <a:t>k-1 </a:t>
            </a:r>
            <a:r>
              <a:rPr lang="en-IN" sz="2000" b="0" i="0" dirty="0">
                <a:solidFill>
                  <a:srgbClr val="333333"/>
                </a:solidFill>
                <a:effectLst/>
                <a:latin typeface="Times New Roman" panose="02020603050405020304" pitchFamily="18" charset="0"/>
                <a:cs typeface="Times New Roman" panose="02020603050405020304" pitchFamily="18" charset="0"/>
              </a:rPr>
              <a:t>[</a:t>
            </a:r>
            <a:r>
              <a:rPr lang="en-IN" sz="2000" b="0" i="0" dirty="0" err="1">
                <a:solidFill>
                  <a:srgbClr val="333333"/>
                </a:solidFill>
                <a:effectLst/>
                <a:latin typeface="Times New Roman" panose="02020603050405020304" pitchFamily="18" charset="0"/>
                <a:cs typeface="Times New Roman" panose="02020603050405020304" pitchFamily="18" charset="0"/>
              </a:rPr>
              <a:t>i</a:t>
            </a:r>
            <a:r>
              <a:rPr lang="en-IN" sz="2000" b="0" i="0" dirty="0">
                <a:solidFill>
                  <a:srgbClr val="333333"/>
                </a:solidFill>
                <a:effectLst/>
                <a:latin typeface="Times New Roman" panose="02020603050405020304" pitchFamily="18" charset="0"/>
                <a:cs typeface="Times New Roman" panose="02020603050405020304" pitchFamily="18" charset="0"/>
              </a:rPr>
              <a:t> , j], D</a:t>
            </a:r>
            <a:r>
              <a:rPr lang="en-IN" sz="2000" b="0" i="0" baseline="-25000" dirty="0">
                <a:solidFill>
                  <a:srgbClr val="333333"/>
                </a:solidFill>
                <a:effectLst/>
                <a:latin typeface="Times New Roman" panose="02020603050405020304" pitchFamily="18" charset="0"/>
                <a:cs typeface="Times New Roman" panose="02020603050405020304" pitchFamily="18" charset="0"/>
              </a:rPr>
              <a:t>k-1 </a:t>
            </a:r>
            <a:r>
              <a:rPr lang="en-IN" sz="2000" b="0" i="0" dirty="0">
                <a:solidFill>
                  <a:srgbClr val="333333"/>
                </a:solidFill>
                <a:effectLst/>
                <a:latin typeface="Times New Roman" panose="02020603050405020304" pitchFamily="18" charset="0"/>
                <a:cs typeface="Times New Roman" panose="02020603050405020304" pitchFamily="18" charset="0"/>
              </a:rPr>
              <a:t>[</a:t>
            </a:r>
            <a:r>
              <a:rPr lang="en-IN" sz="2000" b="0" i="0" dirty="0" err="1">
                <a:solidFill>
                  <a:srgbClr val="333333"/>
                </a:solidFill>
                <a:effectLst/>
                <a:latin typeface="Times New Roman" panose="02020603050405020304" pitchFamily="18" charset="0"/>
                <a:cs typeface="Times New Roman" panose="02020603050405020304" pitchFamily="18" charset="0"/>
              </a:rPr>
              <a:t>i</a:t>
            </a:r>
            <a:r>
              <a:rPr lang="en-IN" sz="2000" b="0" i="0" dirty="0">
                <a:solidFill>
                  <a:srgbClr val="333333"/>
                </a:solidFill>
                <a:effectLst/>
                <a:latin typeface="Times New Roman" panose="02020603050405020304" pitchFamily="18" charset="0"/>
                <a:cs typeface="Times New Roman" panose="02020603050405020304" pitchFamily="18" charset="0"/>
              </a:rPr>
              <a:t>, k] + D</a:t>
            </a:r>
            <a:r>
              <a:rPr lang="en-IN" sz="2000" b="0" i="0" baseline="-25000" dirty="0">
                <a:solidFill>
                  <a:srgbClr val="333333"/>
                </a:solidFill>
                <a:effectLst/>
                <a:latin typeface="Times New Roman" panose="02020603050405020304" pitchFamily="18" charset="0"/>
                <a:cs typeface="Times New Roman" panose="02020603050405020304" pitchFamily="18" charset="0"/>
              </a:rPr>
              <a:t>k-1 </a:t>
            </a:r>
            <a:r>
              <a:rPr lang="en-IN" sz="2000" b="0" i="0" dirty="0">
                <a:solidFill>
                  <a:srgbClr val="333333"/>
                </a:solidFill>
                <a:effectLst/>
                <a:latin typeface="Times New Roman" panose="02020603050405020304" pitchFamily="18" charset="0"/>
                <a:cs typeface="Times New Roman" panose="02020603050405020304" pitchFamily="18" charset="0"/>
              </a:rPr>
              <a:t>[k , j])</a:t>
            </a:r>
          </a:p>
          <a:p>
            <a:pPr algn="l"/>
            <a:r>
              <a:rPr lang="en-IN" sz="2000" b="0" i="0" dirty="0">
                <a:solidFill>
                  <a:srgbClr val="333333"/>
                </a:solidFill>
                <a:effectLst/>
                <a:latin typeface="Times New Roman" panose="02020603050405020304" pitchFamily="18" charset="0"/>
                <a:cs typeface="Times New Roman" panose="02020603050405020304" pitchFamily="18" charset="0"/>
              </a:rPr>
              <a:t>D</a:t>
            </a:r>
            <a:r>
              <a:rPr lang="en-IN" sz="2000" b="0" i="0" baseline="-25000" dirty="0">
                <a:solidFill>
                  <a:srgbClr val="333333"/>
                </a:solidFill>
                <a:effectLst/>
                <a:latin typeface="Times New Roman" panose="02020603050405020304" pitchFamily="18" charset="0"/>
                <a:cs typeface="Times New Roman" panose="02020603050405020304" pitchFamily="18" charset="0"/>
              </a:rPr>
              <a:t>4</a:t>
            </a:r>
            <a:r>
              <a:rPr lang="en-IN" sz="2000" b="0" i="0" dirty="0">
                <a:solidFill>
                  <a:srgbClr val="333333"/>
                </a:solidFill>
                <a:effectLst/>
                <a:latin typeface="Times New Roman" panose="02020603050405020304" pitchFamily="18" charset="0"/>
                <a:cs typeface="Times New Roman" panose="02020603050405020304" pitchFamily="18" charset="0"/>
              </a:rPr>
              <a:t>[2, 3] = min(D</a:t>
            </a:r>
            <a:r>
              <a:rPr lang="en-IN" sz="2000" b="0" i="0" baseline="-25000" dirty="0">
                <a:solidFill>
                  <a:srgbClr val="333333"/>
                </a:solidFill>
                <a:effectLst/>
                <a:latin typeface="Times New Roman" panose="02020603050405020304" pitchFamily="18" charset="0"/>
                <a:cs typeface="Times New Roman" panose="02020603050405020304" pitchFamily="18" charset="0"/>
              </a:rPr>
              <a:t>4-1</a:t>
            </a:r>
            <a:r>
              <a:rPr lang="en-IN" sz="2000" b="0" i="0" dirty="0">
                <a:solidFill>
                  <a:srgbClr val="333333"/>
                </a:solidFill>
                <a:effectLst/>
                <a:latin typeface="Times New Roman" panose="02020603050405020304" pitchFamily="18" charset="0"/>
                <a:cs typeface="Times New Roman" panose="02020603050405020304" pitchFamily="18" charset="0"/>
              </a:rPr>
              <a:t>[2, 3], D</a:t>
            </a:r>
            <a:r>
              <a:rPr lang="en-IN" sz="2000" b="0" i="0" baseline="-25000" dirty="0">
                <a:solidFill>
                  <a:srgbClr val="333333"/>
                </a:solidFill>
                <a:effectLst/>
                <a:latin typeface="Times New Roman" panose="02020603050405020304" pitchFamily="18" charset="0"/>
                <a:cs typeface="Times New Roman" panose="02020603050405020304" pitchFamily="18" charset="0"/>
              </a:rPr>
              <a:t>4-1 </a:t>
            </a:r>
            <a:r>
              <a:rPr lang="en-IN" sz="2000" b="0" i="0" dirty="0">
                <a:solidFill>
                  <a:srgbClr val="333333"/>
                </a:solidFill>
                <a:effectLst/>
                <a:latin typeface="Times New Roman" panose="02020603050405020304" pitchFamily="18" charset="0"/>
                <a:cs typeface="Times New Roman" panose="02020603050405020304" pitchFamily="18" charset="0"/>
              </a:rPr>
              <a:t>[2, 4] + D</a:t>
            </a:r>
            <a:r>
              <a:rPr lang="en-IN" sz="2000" b="0" i="0" baseline="-25000" dirty="0">
                <a:solidFill>
                  <a:srgbClr val="333333"/>
                </a:solidFill>
                <a:effectLst/>
                <a:latin typeface="Times New Roman" panose="02020603050405020304" pitchFamily="18" charset="0"/>
                <a:cs typeface="Times New Roman" panose="02020603050405020304" pitchFamily="18" charset="0"/>
              </a:rPr>
              <a:t>4-1 </a:t>
            </a:r>
            <a:r>
              <a:rPr lang="en-IN" sz="2000" b="0" i="0" dirty="0">
                <a:solidFill>
                  <a:srgbClr val="333333"/>
                </a:solidFill>
                <a:effectLst/>
                <a:latin typeface="Times New Roman" panose="02020603050405020304" pitchFamily="18" charset="0"/>
                <a:cs typeface="Times New Roman" panose="02020603050405020304" pitchFamily="18" charset="0"/>
              </a:rPr>
              <a:t>[4 , 3])</a:t>
            </a:r>
          </a:p>
          <a:p>
            <a:pPr algn="l"/>
            <a:r>
              <a:rPr lang="en-IN" sz="2000" b="0" i="0" dirty="0">
                <a:solidFill>
                  <a:srgbClr val="333333"/>
                </a:solidFill>
                <a:effectLst/>
                <a:latin typeface="Times New Roman" panose="02020603050405020304" pitchFamily="18" charset="0"/>
                <a:cs typeface="Times New Roman" panose="02020603050405020304" pitchFamily="18" charset="0"/>
              </a:rPr>
              <a:t>D</a:t>
            </a:r>
            <a:r>
              <a:rPr lang="en-IN" sz="2000" b="0" i="0" baseline="-25000" dirty="0">
                <a:solidFill>
                  <a:srgbClr val="333333"/>
                </a:solidFill>
                <a:effectLst/>
                <a:latin typeface="Times New Roman" panose="02020603050405020304" pitchFamily="18" charset="0"/>
                <a:cs typeface="Times New Roman" panose="02020603050405020304" pitchFamily="18" charset="0"/>
              </a:rPr>
              <a:t>4</a:t>
            </a:r>
            <a:r>
              <a:rPr lang="en-IN" sz="2000" b="0" i="0" dirty="0">
                <a:solidFill>
                  <a:srgbClr val="333333"/>
                </a:solidFill>
                <a:effectLst/>
                <a:latin typeface="Times New Roman" panose="02020603050405020304" pitchFamily="18" charset="0"/>
                <a:cs typeface="Times New Roman" panose="02020603050405020304" pitchFamily="18" charset="0"/>
              </a:rPr>
              <a:t>[2, 3] = min(15, 10)</a:t>
            </a:r>
          </a:p>
          <a:p>
            <a:pPr algn="l"/>
            <a:r>
              <a:rPr lang="en-IN" sz="2000" b="0" i="0" dirty="0">
                <a:solidFill>
                  <a:srgbClr val="333333"/>
                </a:solidFill>
                <a:effectLst/>
                <a:latin typeface="Times New Roman" panose="02020603050405020304" pitchFamily="18" charset="0"/>
                <a:cs typeface="Times New Roman" panose="02020603050405020304" pitchFamily="18" charset="0"/>
              </a:rPr>
              <a:t>Here distance (1, 3) is updated from 20 to 15; distance (2, 1) is updated from 45 to 20, and distance (2, 3) is updated from 15 to 10</a:t>
            </a:r>
          </a:p>
        </p:txBody>
      </p:sp>
      <p:pic>
        <p:nvPicPr>
          <p:cNvPr id="8196" name="Picture 4" descr="final output "/>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6413" t="7069" r="16739" b="11014"/>
          <a:stretch>
            <a:fillRect/>
          </a:stretch>
        </p:blipFill>
        <p:spPr bwMode="auto">
          <a:xfrm>
            <a:off x="6957390" y="3797162"/>
            <a:ext cx="4396409" cy="1837198"/>
          </a:xfrm>
          <a:prstGeom prst="rect">
            <a:avLst/>
          </a:prstGeom>
          <a:noFill/>
          <a:extLst>
            <a:ext uri="{909E8E84-426E-40DD-AFC4-6F175D3DCCD1}">
              <a14:hiddenFill xmlns:a14="http://schemas.microsoft.com/office/drawing/2010/main">
                <a:solidFill>
                  <a:srgbClr val="FFFFFF"/>
                </a:solidFill>
              </a14:hiddenFill>
            </a:ext>
          </a:extLst>
        </p:spPr>
      </p:pic>
      <p:sp>
        <p:nvSpPr>
          <p:cNvPr id="14" name="Title 1"/>
          <p:cNvSpPr>
            <a:spLocks noGrp="1"/>
          </p:cNvSpPr>
          <p:nvPr>
            <p:ph type="title"/>
          </p:nvPr>
        </p:nvSpPr>
        <p:spPr>
          <a:xfrm>
            <a:off x="838200" y="136526"/>
            <a:ext cx="8769626" cy="966088"/>
          </a:xfrm>
          <a:ln>
            <a:solidFill>
              <a:schemeClr val="tx1"/>
            </a:solidFill>
          </a:ln>
        </p:spPr>
        <p:txBody>
          <a:bodyPr>
            <a:normAutofit fontScale="90000"/>
          </a:bodyPr>
          <a:lstStyle/>
          <a:p>
            <a:pPr algn="ct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Floyd’s </a:t>
            </a:r>
            <a:r>
              <a:rPr lang="en-US" b="1" dirty="0" err="1">
                <a:latin typeface="Times New Roman" panose="02020603050405020304" pitchFamily="18" charset="0"/>
                <a:cs typeface="Times New Roman" panose="02020603050405020304" pitchFamily="18" charset="0"/>
              </a:rPr>
              <a:t>Warshall</a:t>
            </a:r>
            <a:r>
              <a:rPr lang="en-US" b="1" dirty="0">
                <a:latin typeface="Times New Roman" panose="02020603050405020304" pitchFamily="18" charset="0"/>
                <a:cs typeface="Times New Roman" panose="02020603050405020304" pitchFamily="18" charset="0"/>
              </a:rPr>
              <a:t> Algorithm: </a:t>
            </a:r>
            <a:br>
              <a:rPr lang="en-US" b="1" dirty="0">
                <a:latin typeface="Times New Roman" panose="02020603050405020304" pitchFamily="18" charset="0"/>
                <a:cs typeface="Times New Roman" panose="02020603050405020304" pitchFamily="18" charset="0"/>
              </a:rPr>
            </a:br>
            <a:endParaRPr lang="en-US" dirty="0"/>
          </a:p>
        </p:txBody>
      </p:sp>
      <p:pic>
        <p:nvPicPr>
          <p:cNvPr id="11" name="Picture 10"/>
          <p:cNvPicPr>
            <a:picLocks noChangeAspect="1"/>
          </p:cNvPicPr>
          <p:nvPr/>
        </p:nvPicPr>
        <p:blipFill>
          <a:blip r:embed="rId3"/>
          <a:stretch>
            <a:fillRect/>
          </a:stretch>
        </p:blipFill>
        <p:spPr>
          <a:xfrm>
            <a:off x="6903698" y="1904097"/>
            <a:ext cx="4450101" cy="1837198"/>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86764"/>
            <a:ext cx="10515600" cy="4890199"/>
          </a:xfrm>
        </p:spPr>
        <p:txBody>
          <a:bodyPr>
            <a:normAutofit/>
          </a:bodyPr>
          <a:lstStyle/>
          <a:p>
            <a:pPr marL="0" indent="0">
              <a:buNone/>
            </a:pPr>
            <a:endParaRPr lang="en-US" altLang="zh-CN" sz="2400" b="1" i="1" dirty="0">
              <a:latin typeface="Times New Roman" panose="02020603050405020304" pitchFamily="18" charset="0"/>
              <a:ea typeface="SimSun" panose="02010600030101010101" pitchFamily="2" charset="-122"/>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36</a:t>
            </a:fld>
            <a:endParaRPr lang="en-US"/>
          </a:p>
        </p:txBody>
      </p:sp>
      <p:sp>
        <p:nvSpPr>
          <p:cNvPr id="24" name="Rectangle 23"/>
          <p:cNvSpPr/>
          <p:nvPr/>
        </p:nvSpPr>
        <p:spPr>
          <a:xfrm>
            <a:off x="838200" y="1282001"/>
            <a:ext cx="10515600" cy="489019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p:cNvSpPr>
            <a:spLocks noGrp="1"/>
          </p:cNvSpPr>
          <p:nvPr>
            <p:ph type="title"/>
          </p:nvPr>
        </p:nvSpPr>
        <p:spPr>
          <a:xfrm>
            <a:off x="838200" y="136526"/>
            <a:ext cx="8769626" cy="966088"/>
          </a:xfrm>
          <a:ln>
            <a:solidFill>
              <a:schemeClr val="tx1"/>
            </a:solidFill>
          </a:ln>
        </p:spPr>
        <p:txBody>
          <a:bodyPr>
            <a:noAutofit/>
          </a:bodyPr>
          <a:lstStyle/>
          <a:p>
            <a:pPr algn="ctr"/>
            <a:br>
              <a:rPr lang="en-US" b="1" dirty="0">
                <a:latin typeface="Times New Roman" panose="02020603050405020304" pitchFamily="18" charset="0"/>
                <a:cs typeface="Times New Roman" panose="02020603050405020304" pitchFamily="18" charset="0"/>
              </a:rPr>
            </a:br>
            <a:r>
              <a:rPr lang="en-US" altLang="zh-TW" b="1" dirty="0">
                <a:latin typeface="Times New Roman" panose="02020603050405020304" pitchFamily="18" charset="0"/>
                <a:cs typeface="Times New Roman" panose="02020603050405020304" pitchFamily="18" charset="0"/>
              </a:rPr>
              <a:t>Optimal Binary Search Trees </a:t>
            </a:r>
            <a:r>
              <a:rPr lang="en-US" b="1" dirty="0">
                <a:latin typeface="Times New Roman" panose="02020603050405020304" pitchFamily="18" charset="0"/>
                <a:cs typeface="Times New Roman" panose="02020603050405020304" pitchFamily="18" charset="0"/>
              </a:rPr>
              <a:t> </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838200" y="1326083"/>
            <a:ext cx="10515600" cy="4893647"/>
          </a:xfrm>
          <a:prstGeom prst="rect">
            <a:avLst/>
          </a:prstGeom>
          <a:noFill/>
        </p:spPr>
        <p:txBody>
          <a:bodyPr wrap="square">
            <a:spAutoFit/>
          </a:bodyPr>
          <a:lstStyle/>
          <a:p>
            <a:pPr marL="342900" indent="-342900" algn="just" fontAlgn="base">
              <a:buFont typeface="Arial" panose="020B0604020202020204" pitchFamily="34" charset="0"/>
              <a:buChar char="•"/>
            </a:pPr>
            <a:r>
              <a:rPr lang="en-US" sz="2400" b="0" i="0" dirty="0">
                <a:solidFill>
                  <a:srgbClr val="333333"/>
                </a:solidFill>
                <a:effectLst/>
                <a:latin typeface="Times New Roman" panose="02020603050405020304" pitchFamily="18" charset="0"/>
                <a:cs typeface="Times New Roman" panose="02020603050405020304" pitchFamily="18" charset="0"/>
              </a:rPr>
              <a:t>In binary search tree, the nodes in the left subtree have lesser value than the root node and the nodes in the right subtree have greater value than the root node.</a:t>
            </a:r>
          </a:p>
          <a:p>
            <a:pPr marL="342900" indent="-342900" algn="just" fontAlgn="base">
              <a:buFont typeface="Arial" panose="020B0604020202020204" pitchFamily="34" charset="0"/>
              <a:buChar char="•"/>
            </a:pPr>
            <a:endParaRPr lang="en-US" sz="2400" b="0" i="0" dirty="0">
              <a:solidFill>
                <a:srgbClr val="333333"/>
              </a:solidFill>
              <a:effectLst/>
              <a:latin typeface="Times New Roman" panose="02020603050405020304" pitchFamily="18" charset="0"/>
              <a:cs typeface="Times New Roman" panose="02020603050405020304" pitchFamily="18" charset="0"/>
            </a:endParaRPr>
          </a:p>
          <a:p>
            <a:pPr marL="342900" indent="-342900" algn="just" fontAlgn="base">
              <a:buFont typeface="Arial" panose="020B0604020202020204" pitchFamily="34" charset="0"/>
              <a:buChar char="•"/>
            </a:pPr>
            <a:r>
              <a:rPr lang="en-US" sz="2400" b="0" i="0" dirty="0">
                <a:solidFill>
                  <a:srgbClr val="333333"/>
                </a:solidFill>
                <a:effectLst/>
                <a:latin typeface="Times New Roman" panose="02020603050405020304" pitchFamily="18" charset="0"/>
                <a:cs typeface="Times New Roman" panose="02020603050405020304" pitchFamily="18" charset="0"/>
              </a:rPr>
              <a:t>We know the key values of each node in the tree, and we also know the frequencies of each node in terms of searching means how much time is required to search a node. The frequency and key-value determine the overall cost of searching a node. The cost of searching is a very important factor in various applications. The overall cost of searching a node should be less.</a:t>
            </a:r>
          </a:p>
          <a:p>
            <a:pPr marL="342900" indent="-342900" algn="just" fontAlgn="base">
              <a:buFont typeface="Arial" panose="020B0604020202020204" pitchFamily="34" charset="0"/>
              <a:buChar char="•"/>
            </a:pPr>
            <a:endParaRPr lang="en-US" sz="2400" b="0" i="0" dirty="0">
              <a:solidFill>
                <a:srgbClr val="333333"/>
              </a:solidFill>
              <a:effectLst/>
              <a:latin typeface="Times New Roman" panose="02020603050405020304" pitchFamily="18" charset="0"/>
              <a:cs typeface="Times New Roman" panose="02020603050405020304" pitchFamily="18" charset="0"/>
            </a:endParaRPr>
          </a:p>
          <a:p>
            <a:pPr marL="342900" indent="-342900" algn="just" fontAlgn="base">
              <a:buFont typeface="Arial" panose="020B0604020202020204" pitchFamily="34" charset="0"/>
              <a:buChar char="•"/>
            </a:pPr>
            <a:r>
              <a:rPr lang="en-US" sz="2400" b="0" i="0" dirty="0">
                <a:solidFill>
                  <a:srgbClr val="333333"/>
                </a:solidFill>
                <a:effectLst/>
                <a:latin typeface="Times New Roman" panose="02020603050405020304" pitchFamily="18" charset="0"/>
                <a:cs typeface="Times New Roman" panose="02020603050405020304" pitchFamily="18" charset="0"/>
              </a:rPr>
              <a:t>The time required to search a node in BST is more than the balanced binary search tree as a balanced binary search tree contains a lesser number of levels than the BST. There is one way that can reduce the cost of a binary Search Tree is known as an </a:t>
            </a:r>
            <a:r>
              <a:rPr lang="en-US" sz="2400" b="1" i="0" dirty="0">
                <a:solidFill>
                  <a:srgbClr val="333333"/>
                </a:solidFill>
                <a:effectLst/>
                <a:latin typeface="Times New Roman" panose="02020603050405020304" pitchFamily="18" charset="0"/>
                <a:cs typeface="Times New Roman" panose="02020603050405020304" pitchFamily="18" charset="0"/>
              </a:rPr>
              <a:t>optimal binary search tree</a:t>
            </a:r>
            <a:r>
              <a:rPr lang="en-US" sz="2400" b="0" i="0" dirty="0">
                <a:solidFill>
                  <a:srgbClr val="333333"/>
                </a:solidFill>
                <a:effectLst/>
                <a:latin typeface="Times New Roman" panose="02020603050405020304" pitchFamily="18" charset="0"/>
                <a:cs typeface="Times New Roman" panose="02020603050405020304" pitchFamily="18" charset="0"/>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86764"/>
            <a:ext cx="10515600" cy="4890199"/>
          </a:xfrm>
        </p:spPr>
        <p:txBody>
          <a:bodyPr>
            <a:normAutofit/>
          </a:bodyPr>
          <a:lstStyle/>
          <a:p>
            <a:pPr marL="0" indent="0">
              <a:buNone/>
            </a:pPr>
            <a:endParaRPr lang="en-US" altLang="zh-CN" sz="2400" b="1" i="1" dirty="0">
              <a:latin typeface="Times New Roman" panose="02020603050405020304" pitchFamily="18" charset="0"/>
              <a:ea typeface="SimSun" panose="02010600030101010101" pitchFamily="2" charset="-122"/>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37</a:t>
            </a:fld>
            <a:endParaRPr lang="en-US"/>
          </a:p>
        </p:txBody>
      </p:sp>
      <p:sp>
        <p:nvSpPr>
          <p:cNvPr id="24" name="Rectangle 23"/>
          <p:cNvSpPr/>
          <p:nvPr/>
        </p:nvSpPr>
        <p:spPr>
          <a:xfrm>
            <a:off x="838200" y="1282001"/>
            <a:ext cx="10515600" cy="489019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p:cNvSpPr>
            <a:spLocks noGrp="1"/>
          </p:cNvSpPr>
          <p:nvPr>
            <p:ph type="title"/>
          </p:nvPr>
        </p:nvSpPr>
        <p:spPr>
          <a:xfrm>
            <a:off x="838200" y="136526"/>
            <a:ext cx="8769626" cy="966088"/>
          </a:xfrm>
          <a:ln>
            <a:solidFill>
              <a:schemeClr val="tx1"/>
            </a:solidFill>
          </a:ln>
        </p:spPr>
        <p:txBody>
          <a:bodyPr>
            <a:noAutofit/>
          </a:bodyPr>
          <a:lstStyle/>
          <a:p>
            <a:pPr algn="ctr"/>
            <a:br>
              <a:rPr lang="en-US" b="1" dirty="0">
                <a:latin typeface="Times New Roman" panose="02020603050405020304" pitchFamily="18" charset="0"/>
                <a:cs typeface="Times New Roman" panose="02020603050405020304" pitchFamily="18" charset="0"/>
              </a:rPr>
            </a:br>
            <a:r>
              <a:rPr lang="en-US" altLang="zh-TW" b="1" dirty="0">
                <a:latin typeface="Times New Roman" panose="02020603050405020304" pitchFamily="18" charset="0"/>
                <a:cs typeface="Times New Roman" panose="02020603050405020304" pitchFamily="18" charset="0"/>
              </a:rPr>
              <a:t>Optimal Binary Search Trees </a:t>
            </a:r>
            <a:r>
              <a:rPr lang="en-US" b="1" dirty="0">
                <a:latin typeface="Times New Roman" panose="02020603050405020304" pitchFamily="18" charset="0"/>
                <a:cs typeface="Times New Roman" panose="02020603050405020304" pitchFamily="18" charset="0"/>
              </a:rPr>
              <a:t> </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901148" y="1326083"/>
            <a:ext cx="8613913" cy="461665"/>
          </a:xfrm>
          <a:prstGeom prst="rect">
            <a:avLst/>
          </a:prstGeom>
          <a:noFill/>
        </p:spPr>
        <p:txBody>
          <a:bodyPr wrap="square">
            <a:spAutoFit/>
          </a:bodyPr>
          <a:lstStyle/>
          <a:p>
            <a:pPr fontAlgn="base"/>
            <a:r>
              <a:rPr 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 e.g.  binary search trees for 3, 7, 9, 12;</a:t>
            </a:r>
          </a:p>
        </p:txBody>
      </p:sp>
      <p:pic>
        <p:nvPicPr>
          <p:cNvPr id="1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2974" y="1941061"/>
            <a:ext cx="8048922" cy="4172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a:bodyPr>
          <a:lstStyle/>
          <a:p>
            <a:pPr marL="0" indent="0">
              <a:buNone/>
            </a:pPr>
            <a:endParaRPr lang="en-US" altLang="zh-CN" sz="2400" b="1" i="1" dirty="0">
              <a:latin typeface="Times New Roman" panose="02020603050405020304" pitchFamily="18" charset="0"/>
              <a:ea typeface="SimSun" panose="02010600030101010101" pitchFamily="2" charset="-122"/>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38</a:t>
            </a:fld>
            <a:endParaRPr lang="en-US"/>
          </a:p>
        </p:txBody>
      </p:sp>
      <p:sp>
        <p:nvSpPr>
          <p:cNvPr id="24" name="Rectangle 23"/>
          <p:cNvSpPr/>
          <p:nvPr/>
        </p:nvSpPr>
        <p:spPr>
          <a:xfrm>
            <a:off x="838200" y="1066800"/>
            <a:ext cx="10515600" cy="51104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p:cNvSpPr>
            <a:spLocks noGrp="1"/>
          </p:cNvSpPr>
          <p:nvPr>
            <p:ph type="title"/>
          </p:nvPr>
        </p:nvSpPr>
        <p:spPr>
          <a:xfrm>
            <a:off x="749935" y="164465"/>
            <a:ext cx="8969375" cy="732155"/>
          </a:xfrm>
          <a:ln>
            <a:solidFill>
              <a:schemeClr val="tx1"/>
            </a:solidFill>
          </a:ln>
        </p:spPr>
        <p:txBody>
          <a:bodyPr>
            <a:noAutofit/>
          </a:bodyPr>
          <a:lstStyle/>
          <a:p>
            <a:pPr algn="ctr"/>
            <a:br>
              <a:rPr lang="en-US" b="1" dirty="0">
                <a:latin typeface="Times New Roman" panose="02020603050405020304" pitchFamily="18" charset="0"/>
                <a:cs typeface="Times New Roman" panose="02020603050405020304" pitchFamily="18" charset="0"/>
              </a:rPr>
            </a:br>
            <a:r>
              <a:rPr lang="en-US" altLang="zh-TW" b="1" dirty="0">
                <a:latin typeface="Times New Roman" panose="02020603050405020304" pitchFamily="18" charset="0"/>
                <a:cs typeface="Times New Roman" panose="02020603050405020304" pitchFamily="18" charset="0"/>
              </a:rPr>
              <a:t>Optimal Binary Search Trees </a:t>
            </a:r>
            <a:r>
              <a:rPr lang="en-US" b="1" dirty="0">
                <a:latin typeface="Times New Roman" panose="02020603050405020304" pitchFamily="18" charset="0"/>
                <a:cs typeface="Times New Roman" panose="02020603050405020304" pitchFamily="18" charset="0"/>
              </a:rPr>
              <a:t> </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749935" y="1081405"/>
            <a:ext cx="10603865" cy="829945"/>
          </a:xfrm>
          <a:prstGeom prst="rect">
            <a:avLst/>
          </a:prstGeom>
          <a:noFill/>
        </p:spPr>
        <p:txBody>
          <a:bodyPr wrap="square">
            <a:spAutoFit/>
          </a:bodyPr>
          <a:lstStyle/>
          <a:p>
            <a:pPr algn="just" fontAlgn="base"/>
            <a:r>
              <a:rPr lang="en-US" sz="2400" b="0" i="0" dirty="0">
                <a:solidFill>
                  <a:srgbClr val="333333"/>
                </a:solidFill>
                <a:latin typeface="Times New Roman" panose="02020603050405020304" pitchFamily="18" charset="0"/>
                <a:cs typeface="Times New Roman" panose="02020603050405020304" pitchFamily="18" charset="0"/>
              </a:rPr>
              <a:t>For example: 10, 20, 30 are the keys, and the following are the binary search trees that can be made out from these keys.</a:t>
            </a:r>
            <a:endParaRPr lang="en-US" altLang="zh-TW" sz="2400" dirty="0">
              <a:latin typeface="Times New Roman" panose="02020603050405020304" pitchFamily="18" charset="0"/>
              <a:cs typeface="Times New Roman" panose="02020603050405020304" pitchFamily="18" charset="0"/>
            </a:endParaRPr>
          </a:p>
        </p:txBody>
      </p:sp>
      <p:pic>
        <p:nvPicPr>
          <p:cNvPr id="10242" name="Picture 2" descr="Optimal Binary Search T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305" y="1985962"/>
            <a:ext cx="2486411" cy="2354321"/>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Optimal Binary Search 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6940" y="1734819"/>
            <a:ext cx="2102536" cy="2502018"/>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Optimal Binary Search Tre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5221" y="1701825"/>
            <a:ext cx="3048000"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descr="Optimal Binary Search Tre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7875" y="3659759"/>
            <a:ext cx="2091854" cy="2484077"/>
          </a:xfrm>
          <a:prstGeom prst="rect">
            <a:avLst/>
          </a:prstGeom>
          <a:noFill/>
          <a:extLst>
            <a:ext uri="{909E8E84-426E-40DD-AFC4-6F175D3DCCD1}">
              <a14:hiddenFill xmlns:a14="http://schemas.microsoft.com/office/drawing/2010/main">
                <a:solidFill>
                  <a:srgbClr val="FFFFFF"/>
                </a:solidFill>
              </a14:hiddenFill>
            </a:ext>
          </a:extLst>
        </p:spPr>
      </p:pic>
      <p:pic>
        <p:nvPicPr>
          <p:cNvPr id="10250" name="Picture 10" descr="Optimal Binary Search Tre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65153" y="3760507"/>
            <a:ext cx="2517047" cy="23833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74B5C-5A02-2A6D-6F09-ABAC0F2ADDA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F90527-2212-1456-C04E-5A181C529557}"/>
              </a:ext>
            </a:extLst>
          </p:cNvPr>
          <p:cNvSpPr>
            <a:spLocks noGrp="1"/>
          </p:cNvSpPr>
          <p:nvPr>
            <p:ph sz="half" idx="1"/>
          </p:nvPr>
        </p:nvSpPr>
        <p:spPr/>
        <p:txBody>
          <a:bodyPr>
            <a:normAutofit/>
          </a:bodyPr>
          <a:lstStyle/>
          <a:p>
            <a:pPr marL="0" indent="0">
              <a:buNone/>
            </a:pPr>
            <a:endParaRPr lang="en-US" altLang="zh-CN" sz="2400" b="1" i="1" dirty="0">
              <a:latin typeface="Times New Roman" panose="02020603050405020304" pitchFamily="18" charset="0"/>
              <a:ea typeface="SimSun" panose="02010600030101010101" pitchFamily="2" charset="-122"/>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8DDDB75-9A7C-2FE5-5BA2-E0C6C84D0C8E}"/>
              </a:ext>
            </a:extLst>
          </p:cNvPr>
          <p:cNvSpPr>
            <a:spLocks noGrp="1"/>
          </p:cNvSpPr>
          <p:nvPr>
            <p:ph type="sldNum" sz="quarter" idx="12"/>
          </p:nvPr>
        </p:nvSpPr>
        <p:spPr/>
        <p:txBody>
          <a:bodyPr/>
          <a:lstStyle/>
          <a:p>
            <a:fld id="{BDCDBBEF-AA6C-4BA6-85B2-A17D7F280E38}" type="slidenum">
              <a:rPr lang="en-US" smtClean="0"/>
              <a:t>39</a:t>
            </a:fld>
            <a:endParaRPr lang="en-US"/>
          </a:p>
        </p:txBody>
      </p:sp>
      <p:sp>
        <p:nvSpPr>
          <p:cNvPr id="24" name="Rectangle 23">
            <a:extLst>
              <a:ext uri="{FF2B5EF4-FFF2-40B4-BE49-F238E27FC236}">
                <a16:creationId xmlns:a16="http://schemas.microsoft.com/office/drawing/2014/main" id="{E40CA132-8B32-573C-8761-20D61CE562AA}"/>
              </a:ext>
            </a:extLst>
          </p:cNvPr>
          <p:cNvSpPr/>
          <p:nvPr/>
        </p:nvSpPr>
        <p:spPr>
          <a:xfrm>
            <a:off x="838200" y="1066800"/>
            <a:ext cx="10515600" cy="570697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ED6D6ED5-954B-28FF-0EE5-BCD8E8396408}"/>
              </a:ext>
            </a:extLst>
          </p:cNvPr>
          <p:cNvSpPr>
            <a:spLocks noGrp="1"/>
          </p:cNvSpPr>
          <p:nvPr>
            <p:ph type="title"/>
          </p:nvPr>
        </p:nvSpPr>
        <p:spPr>
          <a:xfrm>
            <a:off x="749935" y="164465"/>
            <a:ext cx="8969375" cy="732155"/>
          </a:xfrm>
          <a:ln>
            <a:solidFill>
              <a:schemeClr val="tx1"/>
            </a:solidFill>
          </a:ln>
        </p:spPr>
        <p:txBody>
          <a:bodyPr>
            <a:noAutofit/>
          </a:bodyPr>
          <a:lstStyle/>
          <a:p>
            <a:pPr algn="ctr"/>
            <a:br>
              <a:rPr lang="en-US" b="1" dirty="0">
                <a:latin typeface="Times New Roman" panose="02020603050405020304" pitchFamily="18" charset="0"/>
                <a:cs typeface="Times New Roman" panose="02020603050405020304" pitchFamily="18" charset="0"/>
              </a:rPr>
            </a:br>
            <a:r>
              <a:rPr lang="en-US" altLang="zh-TW" b="1" dirty="0">
                <a:latin typeface="Times New Roman" panose="02020603050405020304" pitchFamily="18" charset="0"/>
                <a:cs typeface="Times New Roman" panose="02020603050405020304" pitchFamily="18" charset="0"/>
              </a:rPr>
              <a:t>Optimal Binary Search Trees </a:t>
            </a:r>
            <a:r>
              <a:rPr lang="en-US" b="1" dirty="0">
                <a:latin typeface="Times New Roman" panose="02020603050405020304" pitchFamily="18" charset="0"/>
                <a:cs typeface="Times New Roman" panose="02020603050405020304" pitchFamily="18" charset="0"/>
              </a:rPr>
              <a:t> </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5495F42-B504-F604-AF66-77478B90F22D}"/>
              </a:ext>
            </a:extLst>
          </p:cNvPr>
          <p:cNvSpPr txBox="1"/>
          <p:nvPr/>
        </p:nvSpPr>
        <p:spPr>
          <a:xfrm>
            <a:off x="749935" y="1081405"/>
            <a:ext cx="10603865" cy="830997"/>
          </a:xfrm>
          <a:prstGeom prst="rect">
            <a:avLst/>
          </a:prstGeom>
          <a:noFill/>
        </p:spPr>
        <p:txBody>
          <a:bodyPr wrap="square">
            <a:spAutoFit/>
          </a:bodyPr>
          <a:lstStyle/>
          <a:p>
            <a:pPr algn="just" fontAlgn="base"/>
            <a:r>
              <a:rPr lang="en-US" sz="2400" b="0" i="0" dirty="0">
                <a:solidFill>
                  <a:srgbClr val="333333"/>
                </a:solidFill>
                <a:latin typeface="Times New Roman" panose="02020603050405020304" pitchFamily="18" charset="0"/>
                <a:cs typeface="Times New Roman" panose="02020603050405020304" pitchFamily="18" charset="0"/>
              </a:rPr>
              <a:t>	Key    10, 20, 30 </a:t>
            </a:r>
            <a:endParaRPr lang="en-US" sz="2400" dirty="0">
              <a:solidFill>
                <a:srgbClr val="333333"/>
              </a:solidFill>
              <a:latin typeface="Times New Roman" panose="02020603050405020304" pitchFamily="18" charset="0"/>
              <a:cs typeface="Times New Roman" panose="02020603050405020304" pitchFamily="18" charset="0"/>
            </a:endParaRPr>
          </a:p>
          <a:p>
            <a:pPr algn="just" fontAlgn="base"/>
            <a:r>
              <a:rPr lang="en-US" altLang="zh-TW" sz="2400" dirty="0">
                <a:solidFill>
                  <a:srgbClr val="333333"/>
                </a:solidFill>
                <a:latin typeface="Times New Roman" panose="02020603050405020304" pitchFamily="18" charset="0"/>
                <a:cs typeface="Times New Roman" panose="02020603050405020304" pitchFamily="18" charset="0"/>
              </a:rPr>
              <a:t>     Frequency	3,  2,   5</a:t>
            </a:r>
            <a:endParaRPr lang="en-US" altLang="zh-TW" sz="2400" dirty="0">
              <a:latin typeface="Times New Roman" panose="02020603050405020304" pitchFamily="18" charset="0"/>
              <a:cs typeface="Times New Roman" panose="02020603050405020304" pitchFamily="18" charset="0"/>
            </a:endParaRPr>
          </a:p>
        </p:txBody>
      </p:sp>
      <p:pic>
        <p:nvPicPr>
          <p:cNvPr id="10242" name="Picture 2" descr="Optimal Binary Search Tree">
            <a:extLst>
              <a:ext uri="{FF2B5EF4-FFF2-40B4-BE49-F238E27FC236}">
                <a16:creationId xmlns:a16="http://schemas.microsoft.com/office/drawing/2014/main" id="{A28681A2-991A-F526-80F6-969E9DB6E4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305" y="1985962"/>
            <a:ext cx="2486411" cy="2354321"/>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Optimal Binary Search Tree">
            <a:extLst>
              <a:ext uri="{FF2B5EF4-FFF2-40B4-BE49-F238E27FC236}">
                <a16:creationId xmlns:a16="http://schemas.microsoft.com/office/drawing/2014/main" id="{4AD9065C-4E53-D5B0-2FD8-10E01DE539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6940" y="1734819"/>
            <a:ext cx="2102536" cy="2502018"/>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Optimal Binary Search Tree">
            <a:extLst>
              <a:ext uri="{FF2B5EF4-FFF2-40B4-BE49-F238E27FC236}">
                <a16:creationId xmlns:a16="http://schemas.microsoft.com/office/drawing/2014/main" id="{67356BFE-B526-F12E-B09B-EEEC9A3388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5221" y="1701825"/>
            <a:ext cx="3048000"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descr="Optimal Binary Search Tree">
            <a:extLst>
              <a:ext uri="{FF2B5EF4-FFF2-40B4-BE49-F238E27FC236}">
                <a16:creationId xmlns:a16="http://schemas.microsoft.com/office/drawing/2014/main" id="{632BE14B-3A76-6D5B-4C55-B9D1BC5D1D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5360" y="4205455"/>
            <a:ext cx="2091854" cy="2484077"/>
          </a:xfrm>
          <a:prstGeom prst="rect">
            <a:avLst/>
          </a:prstGeom>
          <a:noFill/>
          <a:extLst>
            <a:ext uri="{909E8E84-426E-40DD-AFC4-6F175D3DCCD1}">
              <a14:hiddenFill xmlns:a14="http://schemas.microsoft.com/office/drawing/2010/main">
                <a:solidFill>
                  <a:srgbClr val="FFFFFF"/>
                </a:solidFill>
              </a14:hiddenFill>
            </a:ext>
          </a:extLst>
        </p:spPr>
      </p:pic>
      <p:pic>
        <p:nvPicPr>
          <p:cNvPr id="10250" name="Picture 10" descr="Optimal Binary Search Tree">
            <a:extLst>
              <a:ext uri="{FF2B5EF4-FFF2-40B4-BE49-F238E27FC236}">
                <a16:creationId xmlns:a16="http://schemas.microsoft.com/office/drawing/2014/main" id="{6AF58830-BED2-8981-91D2-B426EEF63B4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02971" y="4289434"/>
            <a:ext cx="2517047" cy="2383329"/>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0148EF27-F001-D659-0EA8-3ABC05B90C60}"/>
              </a:ext>
            </a:extLst>
          </p:cNvPr>
          <p:cNvSpPr txBox="1"/>
          <p:nvPr/>
        </p:nvSpPr>
        <p:spPr>
          <a:xfrm>
            <a:off x="1578077" y="2168013"/>
            <a:ext cx="575188" cy="369332"/>
          </a:xfrm>
          <a:prstGeom prst="rect">
            <a:avLst/>
          </a:prstGeom>
          <a:noFill/>
        </p:spPr>
        <p:txBody>
          <a:bodyPr wrap="square" rtlCol="0">
            <a:spAutoFit/>
          </a:bodyPr>
          <a:lstStyle/>
          <a:p>
            <a:r>
              <a:rPr lang="en-IN" dirty="0"/>
              <a:t>1*3</a:t>
            </a:r>
          </a:p>
        </p:txBody>
      </p:sp>
      <p:sp>
        <p:nvSpPr>
          <p:cNvPr id="26" name="TextBox 25">
            <a:extLst>
              <a:ext uri="{FF2B5EF4-FFF2-40B4-BE49-F238E27FC236}">
                <a16:creationId xmlns:a16="http://schemas.microsoft.com/office/drawing/2014/main" id="{F508A664-0663-FF90-44FD-6C26BC2F0106}"/>
              </a:ext>
            </a:extLst>
          </p:cNvPr>
          <p:cNvSpPr txBox="1"/>
          <p:nvPr/>
        </p:nvSpPr>
        <p:spPr>
          <a:xfrm>
            <a:off x="2219034" y="2859925"/>
            <a:ext cx="575188" cy="369332"/>
          </a:xfrm>
          <a:prstGeom prst="rect">
            <a:avLst/>
          </a:prstGeom>
          <a:noFill/>
        </p:spPr>
        <p:txBody>
          <a:bodyPr wrap="square" rtlCol="0">
            <a:spAutoFit/>
          </a:bodyPr>
          <a:lstStyle/>
          <a:p>
            <a:r>
              <a:rPr lang="en-IN" dirty="0"/>
              <a:t>2*2</a:t>
            </a:r>
          </a:p>
        </p:txBody>
      </p:sp>
      <p:sp>
        <p:nvSpPr>
          <p:cNvPr id="27" name="TextBox 26">
            <a:extLst>
              <a:ext uri="{FF2B5EF4-FFF2-40B4-BE49-F238E27FC236}">
                <a16:creationId xmlns:a16="http://schemas.microsoft.com/office/drawing/2014/main" id="{81CF8162-C154-E5FF-F538-5F9AD167E3B5}"/>
              </a:ext>
            </a:extLst>
          </p:cNvPr>
          <p:cNvSpPr txBox="1"/>
          <p:nvPr/>
        </p:nvSpPr>
        <p:spPr>
          <a:xfrm>
            <a:off x="2925401" y="3614977"/>
            <a:ext cx="575188" cy="369332"/>
          </a:xfrm>
          <a:prstGeom prst="rect">
            <a:avLst/>
          </a:prstGeom>
          <a:noFill/>
        </p:spPr>
        <p:txBody>
          <a:bodyPr wrap="square" rtlCol="0">
            <a:spAutoFit/>
          </a:bodyPr>
          <a:lstStyle/>
          <a:p>
            <a:r>
              <a:rPr lang="en-IN" dirty="0"/>
              <a:t>3*5</a:t>
            </a:r>
          </a:p>
        </p:txBody>
      </p:sp>
      <p:sp>
        <p:nvSpPr>
          <p:cNvPr id="28" name="TextBox 27">
            <a:extLst>
              <a:ext uri="{FF2B5EF4-FFF2-40B4-BE49-F238E27FC236}">
                <a16:creationId xmlns:a16="http://schemas.microsoft.com/office/drawing/2014/main" id="{D82221F3-A03F-CCC5-E955-0078D941500B}"/>
              </a:ext>
            </a:extLst>
          </p:cNvPr>
          <p:cNvSpPr txBox="1"/>
          <p:nvPr/>
        </p:nvSpPr>
        <p:spPr>
          <a:xfrm>
            <a:off x="1336275" y="3867505"/>
            <a:ext cx="575188" cy="369332"/>
          </a:xfrm>
          <a:prstGeom prst="rect">
            <a:avLst/>
          </a:prstGeom>
          <a:noFill/>
          <a:ln>
            <a:solidFill>
              <a:schemeClr val="tx1"/>
            </a:solidFill>
          </a:ln>
        </p:spPr>
        <p:txBody>
          <a:bodyPr wrap="square" rtlCol="0">
            <a:spAutoFit/>
          </a:bodyPr>
          <a:lstStyle/>
          <a:p>
            <a:pPr algn="ctr"/>
            <a:r>
              <a:rPr lang="en-IN" dirty="0"/>
              <a:t>18</a:t>
            </a:r>
          </a:p>
        </p:txBody>
      </p:sp>
      <p:sp>
        <p:nvSpPr>
          <p:cNvPr id="29" name="TextBox 28">
            <a:extLst>
              <a:ext uri="{FF2B5EF4-FFF2-40B4-BE49-F238E27FC236}">
                <a16:creationId xmlns:a16="http://schemas.microsoft.com/office/drawing/2014/main" id="{132FB845-5FDE-1879-A092-418FA05CDD1A}"/>
              </a:ext>
            </a:extLst>
          </p:cNvPr>
          <p:cNvSpPr txBox="1"/>
          <p:nvPr/>
        </p:nvSpPr>
        <p:spPr>
          <a:xfrm>
            <a:off x="4989067" y="1948389"/>
            <a:ext cx="575188" cy="369332"/>
          </a:xfrm>
          <a:prstGeom prst="rect">
            <a:avLst/>
          </a:prstGeom>
          <a:noFill/>
        </p:spPr>
        <p:txBody>
          <a:bodyPr wrap="square" rtlCol="0">
            <a:spAutoFit/>
          </a:bodyPr>
          <a:lstStyle/>
          <a:p>
            <a:r>
              <a:rPr lang="en-IN" dirty="0"/>
              <a:t>1*3</a:t>
            </a:r>
          </a:p>
        </p:txBody>
      </p:sp>
      <p:sp>
        <p:nvSpPr>
          <p:cNvPr id="30" name="TextBox 29">
            <a:extLst>
              <a:ext uri="{FF2B5EF4-FFF2-40B4-BE49-F238E27FC236}">
                <a16:creationId xmlns:a16="http://schemas.microsoft.com/office/drawing/2014/main" id="{37030F3D-F2FA-2364-5AE7-B570BAB9E8EF}"/>
              </a:ext>
            </a:extLst>
          </p:cNvPr>
          <p:cNvSpPr txBox="1"/>
          <p:nvPr/>
        </p:nvSpPr>
        <p:spPr>
          <a:xfrm>
            <a:off x="6051867" y="2995136"/>
            <a:ext cx="575188" cy="369332"/>
          </a:xfrm>
          <a:prstGeom prst="rect">
            <a:avLst/>
          </a:prstGeom>
          <a:noFill/>
        </p:spPr>
        <p:txBody>
          <a:bodyPr wrap="square" rtlCol="0">
            <a:spAutoFit/>
          </a:bodyPr>
          <a:lstStyle/>
          <a:p>
            <a:r>
              <a:rPr lang="en-IN" dirty="0"/>
              <a:t>2*5</a:t>
            </a:r>
          </a:p>
        </p:txBody>
      </p:sp>
      <p:sp>
        <p:nvSpPr>
          <p:cNvPr id="31" name="TextBox 30">
            <a:extLst>
              <a:ext uri="{FF2B5EF4-FFF2-40B4-BE49-F238E27FC236}">
                <a16:creationId xmlns:a16="http://schemas.microsoft.com/office/drawing/2014/main" id="{C78388CE-0228-C620-6978-2F78B2777E16}"/>
              </a:ext>
            </a:extLst>
          </p:cNvPr>
          <p:cNvSpPr txBox="1"/>
          <p:nvPr/>
        </p:nvSpPr>
        <p:spPr>
          <a:xfrm>
            <a:off x="5056934" y="3712004"/>
            <a:ext cx="575188" cy="369332"/>
          </a:xfrm>
          <a:prstGeom prst="rect">
            <a:avLst/>
          </a:prstGeom>
          <a:noFill/>
        </p:spPr>
        <p:txBody>
          <a:bodyPr wrap="square" rtlCol="0">
            <a:spAutoFit/>
          </a:bodyPr>
          <a:lstStyle/>
          <a:p>
            <a:r>
              <a:rPr lang="en-IN" dirty="0"/>
              <a:t>3*2</a:t>
            </a:r>
          </a:p>
        </p:txBody>
      </p:sp>
      <p:sp>
        <p:nvSpPr>
          <p:cNvPr id="32" name="TextBox 31">
            <a:extLst>
              <a:ext uri="{FF2B5EF4-FFF2-40B4-BE49-F238E27FC236}">
                <a16:creationId xmlns:a16="http://schemas.microsoft.com/office/drawing/2014/main" id="{F78E8DD0-9DEE-514C-594D-3957CA1F58D4}"/>
              </a:ext>
            </a:extLst>
          </p:cNvPr>
          <p:cNvSpPr txBox="1"/>
          <p:nvPr/>
        </p:nvSpPr>
        <p:spPr>
          <a:xfrm>
            <a:off x="6289079" y="3997659"/>
            <a:ext cx="575188" cy="369332"/>
          </a:xfrm>
          <a:prstGeom prst="rect">
            <a:avLst/>
          </a:prstGeom>
          <a:noFill/>
          <a:ln>
            <a:solidFill>
              <a:schemeClr val="tx1"/>
            </a:solidFill>
          </a:ln>
        </p:spPr>
        <p:txBody>
          <a:bodyPr wrap="square" rtlCol="0">
            <a:spAutoFit/>
          </a:bodyPr>
          <a:lstStyle/>
          <a:p>
            <a:pPr algn="ctr"/>
            <a:r>
              <a:rPr lang="en-IN" dirty="0"/>
              <a:t>19</a:t>
            </a:r>
          </a:p>
        </p:txBody>
      </p:sp>
      <p:sp>
        <p:nvSpPr>
          <p:cNvPr id="33" name="TextBox 32">
            <a:extLst>
              <a:ext uri="{FF2B5EF4-FFF2-40B4-BE49-F238E27FC236}">
                <a16:creationId xmlns:a16="http://schemas.microsoft.com/office/drawing/2014/main" id="{00778532-0E1C-933E-CD74-DFDA77520836}"/>
              </a:ext>
            </a:extLst>
          </p:cNvPr>
          <p:cNvSpPr txBox="1"/>
          <p:nvPr/>
        </p:nvSpPr>
        <p:spPr>
          <a:xfrm>
            <a:off x="8436082" y="3163122"/>
            <a:ext cx="575188" cy="369332"/>
          </a:xfrm>
          <a:prstGeom prst="rect">
            <a:avLst/>
          </a:prstGeom>
          <a:noFill/>
        </p:spPr>
        <p:txBody>
          <a:bodyPr wrap="square" rtlCol="0">
            <a:spAutoFit/>
          </a:bodyPr>
          <a:lstStyle/>
          <a:p>
            <a:r>
              <a:rPr lang="en-IN" dirty="0"/>
              <a:t>2*3</a:t>
            </a:r>
          </a:p>
        </p:txBody>
      </p:sp>
      <p:sp>
        <p:nvSpPr>
          <p:cNvPr id="34" name="TextBox 33">
            <a:extLst>
              <a:ext uri="{FF2B5EF4-FFF2-40B4-BE49-F238E27FC236}">
                <a16:creationId xmlns:a16="http://schemas.microsoft.com/office/drawing/2014/main" id="{29ED0CF8-B160-390A-77E8-9DC9CC921535}"/>
              </a:ext>
            </a:extLst>
          </p:cNvPr>
          <p:cNvSpPr txBox="1"/>
          <p:nvPr/>
        </p:nvSpPr>
        <p:spPr>
          <a:xfrm>
            <a:off x="10595627" y="3163122"/>
            <a:ext cx="575188" cy="369332"/>
          </a:xfrm>
          <a:prstGeom prst="rect">
            <a:avLst/>
          </a:prstGeom>
          <a:noFill/>
        </p:spPr>
        <p:txBody>
          <a:bodyPr wrap="square" rtlCol="0">
            <a:spAutoFit/>
          </a:bodyPr>
          <a:lstStyle/>
          <a:p>
            <a:r>
              <a:rPr lang="en-IN" dirty="0"/>
              <a:t>2*5</a:t>
            </a:r>
          </a:p>
        </p:txBody>
      </p:sp>
      <p:sp>
        <p:nvSpPr>
          <p:cNvPr id="35" name="TextBox 34">
            <a:extLst>
              <a:ext uri="{FF2B5EF4-FFF2-40B4-BE49-F238E27FC236}">
                <a16:creationId xmlns:a16="http://schemas.microsoft.com/office/drawing/2014/main" id="{60070E65-404B-90CB-2F15-B6B0C4A9170C}"/>
              </a:ext>
            </a:extLst>
          </p:cNvPr>
          <p:cNvSpPr txBox="1"/>
          <p:nvPr/>
        </p:nvSpPr>
        <p:spPr>
          <a:xfrm>
            <a:off x="9565983" y="1825625"/>
            <a:ext cx="575188" cy="369332"/>
          </a:xfrm>
          <a:prstGeom prst="rect">
            <a:avLst/>
          </a:prstGeom>
          <a:noFill/>
        </p:spPr>
        <p:txBody>
          <a:bodyPr wrap="square" rtlCol="0">
            <a:spAutoFit/>
          </a:bodyPr>
          <a:lstStyle/>
          <a:p>
            <a:r>
              <a:rPr lang="en-IN" dirty="0"/>
              <a:t>1*3</a:t>
            </a:r>
          </a:p>
        </p:txBody>
      </p:sp>
      <p:sp>
        <p:nvSpPr>
          <p:cNvPr id="36" name="TextBox 35">
            <a:extLst>
              <a:ext uri="{FF2B5EF4-FFF2-40B4-BE49-F238E27FC236}">
                <a16:creationId xmlns:a16="http://schemas.microsoft.com/office/drawing/2014/main" id="{206D30C9-9BA6-7171-D1CF-2B39003FF18F}"/>
              </a:ext>
            </a:extLst>
          </p:cNvPr>
          <p:cNvSpPr txBox="1"/>
          <p:nvPr/>
        </p:nvSpPr>
        <p:spPr>
          <a:xfrm>
            <a:off x="9196531" y="3525247"/>
            <a:ext cx="575188" cy="369332"/>
          </a:xfrm>
          <a:prstGeom prst="rect">
            <a:avLst/>
          </a:prstGeom>
          <a:noFill/>
          <a:ln>
            <a:solidFill>
              <a:schemeClr val="tx1"/>
            </a:solidFill>
          </a:ln>
        </p:spPr>
        <p:txBody>
          <a:bodyPr wrap="square" rtlCol="0">
            <a:spAutoFit/>
          </a:bodyPr>
          <a:lstStyle/>
          <a:p>
            <a:pPr algn="ctr"/>
            <a:r>
              <a:rPr lang="en-IN" dirty="0"/>
              <a:t>18</a:t>
            </a:r>
          </a:p>
        </p:txBody>
      </p:sp>
      <p:sp>
        <p:nvSpPr>
          <p:cNvPr id="2" name="TextBox 1">
            <a:extLst>
              <a:ext uri="{FF2B5EF4-FFF2-40B4-BE49-F238E27FC236}">
                <a16:creationId xmlns:a16="http://schemas.microsoft.com/office/drawing/2014/main" id="{AA8A1030-5B8A-F7B8-4924-DC5C21C53C15}"/>
              </a:ext>
            </a:extLst>
          </p:cNvPr>
          <p:cNvSpPr txBox="1"/>
          <p:nvPr/>
        </p:nvSpPr>
        <p:spPr>
          <a:xfrm>
            <a:off x="4609631" y="4389584"/>
            <a:ext cx="575188" cy="369332"/>
          </a:xfrm>
          <a:prstGeom prst="rect">
            <a:avLst/>
          </a:prstGeom>
          <a:noFill/>
        </p:spPr>
        <p:txBody>
          <a:bodyPr wrap="square" rtlCol="0">
            <a:spAutoFit/>
          </a:bodyPr>
          <a:lstStyle/>
          <a:p>
            <a:r>
              <a:rPr lang="en-IN" dirty="0"/>
              <a:t>1*5</a:t>
            </a:r>
          </a:p>
        </p:txBody>
      </p:sp>
      <p:sp>
        <p:nvSpPr>
          <p:cNvPr id="5" name="TextBox 4">
            <a:extLst>
              <a:ext uri="{FF2B5EF4-FFF2-40B4-BE49-F238E27FC236}">
                <a16:creationId xmlns:a16="http://schemas.microsoft.com/office/drawing/2014/main" id="{50D785A6-F7C0-C66A-9840-02F88A922C6C}"/>
              </a:ext>
            </a:extLst>
          </p:cNvPr>
          <p:cNvSpPr txBox="1"/>
          <p:nvPr/>
        </p:nvSpPr>
        <p:spPr>
          <a:xfrm>
            <a:off x="3576485" y="5240436"/>
            <a:ext cx="575188" cy="369332"/>
          </a:xfrm>
          <a:prstGeom prst="rect">
            <a:avLst/>
          </a:prstGeom>
          <a:noFill/>
        </p:spPr>
        <p:txBody>
          <a:bodyPr wrap="square" rtlCol="0">
            <a:spAutoFit/>
          </a:bodyPr>
          <a:lstStyle/>
          <a:p>
            <a:r>
              <a:rPr lang="en-IN" dirty="0"/>
              <a:t>2*3</a:t>
            </a:r>
          </a:p>
        </p:txBody>
      </p:sp>
      <p:sp>
        <p:nvSpPr>
          <p:cNvPr id="6" name="TextBox 5">
            <a:extLst>
              <a:ext uri="{FF2B5EF4-FFF2-40B4-BE49-F238E27FC236}">
                <a16:creationId xmlns:a16="http://schemas.microsoft.com/office/drawing/2014/main" id="{B3F809A0-F1E4-62CB-B129-47A773DD1F6A}"/>
              </a:ext>
            </a:extLst>
          </p:cNvPr>
          <p:cNvSpPr txBox="1"/>
          <p:nvPr/>
        </p:nvSpPr>
        <p:spPr>
          <a:xfrm>
            <a:off x="4500629" y="6152230"/>
            <a:ext cx="575188" cy="369332"/>
          </a:xfrm>
          <a:prstGeom prst="rect">
            <a:avLst/>
          </a:prstGeom>
          <a:noFill/>
        </p:spPr>
        <p:txBody>
          <a:bodyPr wrap="square" rtlCol="0">
            <a:spAutoFit/>
          </a:bodyPr>
          <a:lstStyle/>
          <a:p>
            <a:r>
              <a:rPr lang="en-IN" dirty="0"/>
              <a:t>3*2</a:t>
            </a:r>
          </a:p>
        </p:txBody>
      </p:sp>
      <p:sp>
        <p:nvSpPr>
          <p:cNvPr id="7" name="TextBox 6">
            <a:extLst>
              <a:ext uri="{FF2B5EF4-FFF2-40B4-BE49-F238E27FC236}">
                <a16:creationId xmlns:a16="http://schemas.microsoft.com/office/drawing/2014/main" id="{2EB9A1A6-4C70-6FAC-9B8E-4204D76A1854}"/>
              </a:ext>
            </a:extLst>
          </p:cNvPr>
          <p:cNvSpPr txBox="1"/>
          <p:nvPr/>
        </p:nvSpPr>
        <p:spPr>
          <a:xfrm>
            <a:off x="3168749" y="6364982"/>
            <a:ext cx="575188" cy="369332"/>
          </a:xfrm>
          <a:prstGeom prst="rect">
            <a:avLst/>
          </a:prstGeom>
          <a:noFill/>
          <a:ln>
            <a:solidFill>
              <a:schemeClr val="tx1"/>
            </a:solidFill>
          </a:ln>
        </p:spPr>
        <p:txBody>
          <a:bodyPr wrap="square" rtlCol="0">
            <a:spAutoFit/>
          </a:bodyPr>
          <a:lstStyle/>
          <a:p>
            <a:pPr algn="ctr"/>
            <a:r>
              <a:rPr lang="en-IN" dirty="0"/>
              <a:t>17</a:t>
            </a:r>
          </a:p>
        </p:txBody>
      </p:sp>
      <p:sp>
        <p:nvSpPr>
          <p:cNvPr id="8" name="TextBox 7">
            <a:extLst>
              <a:ext uri="{FF2B5EF4-FFF2-40B4-BE49-F238E27FC236}">
                <a16:creationId xmlns:a16="http://schemas.microsoft.com/office/drawing/2014/main" id="{53EC5CB8-B814-CE21-1093-6F257545A879}"/>
              </a:ext>
            </a:extLst>
          </p:cNvPr>
          <p:cNvSpPr txBox="1"/>
          <p:nvPr/>
        </p:nvSpPr>
        <p:spPr>
          <a:xfrm>
            <a:off x="9668480" y="4484656"/>
            <a:ext cx="575188" cy="369332"/>
          </a:xfrm>
          <a:prstGeom prst="rect">
            <a:avLst/>
          </a:prstGeom>
          <a:noFill/>
        </p:spPr>
        <p:txBody>
          <a:bodyPr wrap="square" rtlCol="0">
            <a:spAutoFit/>
          </a:bodyPr>
          <a:lstStyle/>
          <a:p>
            <a:r>
              <a:rPr lang="en-IN" dirty="0"/>
              <a:t>1*5</a:t>
            </a:r>
          </a:p>
        </p:txBody>
      </p:sp>
      <p:sp>
        <p:nvSpPr>
          <p:cNvPr id="9" name="TextBox 8">
            <a:extLst>
              <a:ext uri="{FF2B5EF4-FFF2-40B4-BE49-F238E27FC236}">
                <a16:creationId xmlns:a16="http://schemas.microsoft.com/office/drawing/2014/main" id="{7A9C003E-5257-EE74-3612-9AF4DEC515AE}"/>
              </a:ext>
            </a:extLst>
          </p:cNvPr>
          <p:cNvSpPr txBox="1"/>
          <p:nvPr/>
        </p:nvSpPr>
        <p:spPr>
          <a:xfrm>
            <a:off x="8968388" y="5248114"/>
            <a:ext cx="575188" cy="369332"/>
          </a:xfrm>
          <a:prstGeom prst="rect">
            <a:avLst/>
          </a:prstGeom>
          <a:noFill/>
        </p:spPr>
        <p:txBody>
          <a:bodyPr wrap="square" rtlCol="0">
            <a:spAutoFit/>
          </a:bodyPr>
          <a:lstStyle/>
          <a:p>
            <a:r>
              <a:rPr lang="en-IN" dirty="0"/>
              <a:t>2*2</a:t>
            </a:r>
          </a:p>
        </p:txBody>
      </p:sp>
      <p:sp>
        <p:nvSpPr>
          <p:cNvPr id="11" name="TextBox 10">
            <a:extLst>
              <a:ext uri="{FF2B5EF4-FFF2-40B4-BE49-F238E27FC236}">
                <a16:creationId xmlns:a16="http://schemas.microsoft.com/office/drawing/2014/main" id="{879F451A-E891-3BB8-ED6A-47CB1AE2BC72}"/>
              </a:ext>
            </a:extLst>
          </p:cNvPr>
          <p:cNvSpPr txBox="1"/>
          <p:nvPr/>
        </p:nvSpPr>
        <p:spPr>
          <a:xfrm>
            <a:off x="8255945" y="6009984"/>
            <a:ext cx="575188" cy="369332"/>
          </a:xfrm>
          <a:prstGeom prst="rect">
            <a:avLst/>
          </a:prstGeom>
          <a:noFill/>
        </p:spPr>
        <p:txBody>
          <a:bodyPr wrap="square" rtlCol="0">
            <a:spAutoFit/>
          </a:bodyPr>
          <a:lstStyle/>
          <a:p>
            <a:r>
              <a:rPr lang="en-IN" dirty="0"/>
              <a:t>3*3</a:t>
            </a:r>
          </a:p>
        </p:txBody>
      </p:sp>
      <p:sp>
        <p:nvSpPr>
          <p:cNvPr id="12" name="TextBox 11">
            <a:extLst>
              <a:ext uri="{FF2B5EF4-FFF2-40B4-BE49-F238E27FC236}">
                <a16:creationId xmlns:a16="http://schemas.microsoft.com/office/drawing/2014/main" id="{73255BC5-A472-5627-1AE5-E7532CE3DCD6}"/>
              </a:ext>
            </a:extLst>
          </p:cNvPr>
          <p:cNvSpPr txBox="1"/>
          <p:nvPr/>
        </p:nvSpPr>
        <p:spPr>
          <a:xfrm>
            <a:off x="8903028" y="6161266"/>
            <a:ext cx="575188" cy="369332"/>
          </a:xfrm>
          <a:prstGeom prst="rect">
            <a:avLst/>
          </a:prstGeom>
          <a:noFill/>
          <a:ln>
            <a:solidFill>
              <a:schemeClr val="tx1"/>
            </a:solidFill>
          </a:ln>
        </p:spPr>
        <p:txBody>
          <a:bodyPr wrap="square" rtlCol="0">
            <a:spAutoFit/>
          </a:bodyPr>
          <a:lstStyle/>
          <a:p>
            <a:pPr algn="ctr"/>
            <a:r>
              <a:rPr lang="en-IN" dirty="0"/>
              <a:t>18</a:t>
            </a:r>
          </a:p>
        </p:txBody>
      </p:sp>
    </p:spTree>
    <p:extLst>
      <p:ext uri="{BB962C8B-B14F-4D97-AF65-F5344CB8AC3E}">
        <p14:creationId xmlns:p14="http://schemas.microsoft.com/office/powerpoint/2010/main" val="33557928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86764"/>
            <a:ext cx="10515600" cy="4890199"/>
          </a:xfrm>
        </p:spPr>
        <p:txBody>
          <a:bodyPr>
            <a:normAutofit/>
          </a:bodyPr>
          <a:lstStyle/>
          <a:p>
            <a:pPr marL="0" indent="0">
              <a:buNone/>
            </a:pPr>
            <a:endParaRPr lang="en-US" altLang="zh-CN" sz="2400" b="1" i="1" dirty="0">
              <a:latin typeface="Times New Roman" panose="02020603050405020304" pitchFamily="18" charset="0"/>
              <a:ea typeface="SimSun" panose="02010600030101010101" pitchFamily="2" charset="-122"/>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40</a:t>
            </a:fld>
            <a:endParaRPr lang="en-US"/>
          </a:p>
        </p:txBody>
      </p:sp>
      <p:sp>
        <p:nvSpPr>
          <p:cNvPr id="24" name="Rectangle 23"/>
          <p:cNvSpPr/>
          <p:nvPr/>
        </p:nvSpPr>
        <p:spPr>
          <a:xfrm>
            <a:off x="838200" y="1282001"/>
            <a:ext cx="10515600" cy="489019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p:cNvSpPr>
            <a:spLocks noGrp="1"/>
          </p:cNvSpPr>
          <p:nvPr>
            <p:ph type="title"/>
          </p:nvPr>
        </p:nvSpPr>
        <p:spPr>
          <a:xfrm>
            <a:off x="838200" y="136526"/>
            <a:ext cx="8769626" cy="966088"/>
          </a:xfrm>
          <a:ln>
            <a:solidFill>
              <a:schemeClr val="tx1"/>
            </a:solidFill>
          </a:ln>
        </p:spPr>
        <p:txBody>
          <a:bodyPr>
            <a:noAutofit/>
          </a:bodyPr>
          <a:lstStyle/>
          <a:p>
            <a:pPr algn="ctr"/>
            <a:br>
              <a:rPr lang="en-US" b="1" dirty="0">
                <a:latin typeface="Times New Roman" panose="02020603050405020304" pitchFamily="18" charset="0"/>
                <a:cs typeface="Times New Roman" panose="02020603050405020304" pitchFamily="18" charset="0"/>
              </a:rPr>
            </a:br>
            <a:r>
              <a:rPr lang="en-US" altLang="zh-TW" b="1" dirty="0">
                <a:latin typeface="Times New Roman" panose="02020603050405020304" pitchFamily="18" charset="0"/>
                <a:cs typeface="Times New Roman" panose="02020603050405020304" pitchFamily="18" charset="0"/>
              </a:rPr>
              <a:t>Optimal Binary Search Trees </a:t>
            </a:r>
            <a:r>
              <a:rPr lang="en-US" b="1" dirty="0">
                <a:latin typeface="Times New Roman" panose="02020603050405020304" pitchFamily="18" charset="0"/>
                <a:cs typeface="Times New Roman" panose="02020603050405020304" pitchFamily="18" charset="0"/>
              </a:rPr>
              <a:t> </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861391" y="1286327"/>
            <a:ext cx="10508973" cy="830997"/>
          </a:xfrm>
          <a:prstGeom prst="rect">
            <a:avLst/>
          </a:prstGeom>
          <a:noFill/>
        </p:spPr>
        <p:txBody>
          <a:bodyPr wrap="square">
            <a:spAutoFit/>
          </a:bodyPr>
          <a:lstStyle/>
          <a:p>
            <a:pPr algn="just"/>
            <a:r>
              <a:rPr lang="en-US" sz="2400" b="0" i="0" dirty="0">
                <a:solidFill>
                  <a:srgbClr val="610B4B"/>
                </a:solidFill>
                <a:effectLst/>
                <a:latin typeface="Times New Roman" panose="02020603050405020304" pitchFamily="18" charset="0"/>
                <a:cs typeface="Times New Roman" panose="02020603050405020304" pitchFamily="18" charset="0"/>
              </a:rPr>
              <a:t>Dynamic Approach</a:t>
            </a:r>
          </a:p>
          <a:p>
            <a:pPr algn="just"/>
            <a:r>
              <a:rPr lang="en-US" sz="2400" b="0" i="0" dirty="0">
                <a:solidFill>
                  <a:srgbClr val="333333"/>
                </a:solidFill>
                <a:effectLst/>
                <a:latin typeface="Times New Roman" panose="02020603050405020304" pitchFamily="18" charset="0"/>
                <a:cs typeface="Times New Roman" panose="02020603050405020304" pitchFamily="18" charset="0"/>
              </a:rPr>
              <a:t>Consider the below table, which contains the keys and frequencies.</a:t>
            </a:r>
          </a:p>
        </p:txBody>
      </p:sp>
      <p:pic>
        <p:nvPicPr>
          <p:cNvPr id="11266" name="Picture 2" descr="Optimal Binary Search T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552" y="2476499"/>
            <a:ext cx="5094398" cy="2264177"/>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Optimal Binary Search 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296711"/>
            <a:ext cx="4704522" cy="34900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86764"/>
            <a:ext cx="10515600" cy="4890199"/>
          </a:xfrm>
        </p:spPr>
        <p:txBody>
          <a:bodyPr>
            <a:normAutofit/>
          </a:bodyPr>
          <a:lstStyle/>
          <a:p>
            <a:pPr marL="0" indent="0">
              <a:buNone/>
            </a:pPr>
            <a:endParaRPr lang="en-US" altLang="zh-CN" sz="2400" b="1" i="1" dirty="0">
              <a:latin typeface="Times New Roman" panose="02020603050405020304" pitchFamily="18" charset="0"/>
              <a:ea typeface="SimSun" panose="02010600030101010101" pitchFamily="2" charset="-122"/>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41</a:t>
            </a:fld>
            <a:endParaRPr lang="en-US"/>
          </a:p>
        </p:txBody>
      </p:sp>
      <p:sp>
        <p:nvSpPr>
          <p:cNvPr id="24" name="Rectangle 23"/>
          <p:cNvSpPr/>
          <p:nvPr/>
        </p:nvSpPr>
        <p:spPr>
          <a:xfrm>
            <a:off x="838200" y="1202490"/>
            <a:ext cx="10515600" cy="533083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p:cNvSpPr>
            <a:spLocks noGrp="1"/>
          </p:cNvSpPr>
          <p:nvPr>
            <p:ph type="title"/>
          </p:nvPr>
        </p:nvSpPr>
        <p:spPr>
          <a:xfrm>
            <a:off x="838200" y="136526"/>
            <a:ext cx="8769626" cy="886576"/>
          </a:xfrm>
          <a:ln>
            <a:solidFill>
              <a:schemeClr val="tx1"/>
            </a:solidFill>
          </a:ln>
        </p:spPr>
        <p:txBody>
          <a:bodyPr>
            <a:noAutofit/>
          </a:bodyPr>
          <a:lstStyle/>
          <a:p>
            <a:pPr algn="ctr"/>
            <a:br>
              <a:rPr lang="en-US" b="1" dirty="0">
                <a:latin typeface="Times New Roman" panose="02020603050405020304" pitchFamily="18" charset="0"/>
                <a:cs typeface="Times New Roman" panose="02020603050405020304" pitchFamily="18" charset="0"/>
              </a:rPr>
            </a:br>
            <a:r>
              <a:rPr lang="en-US" altLang="zh-TW" b="1" dirty="0">
                <a:latin typeface="Times New Roman" panose="02020603050405020304" pitchFamily="18" charset="0"/>
                <a:cs typeface="Times New Roman" panose="02020603050405020304" pitchFamily="18" charset="0"/>
              </a:rPr>
              <a:t>Optimal Binary Search Trees </a:t>
            </a:r>
            <a:r>
              <a:rPr lang="en-US" b="1" dirty="0">
                <a:latin typeface="Times New Roman" panose="02020603050405020304" pitchFamily="18" charset="0"/>
                <a:cs typeface="Times New Roman" panose="02020603050405020304" pitchFamily="18" charset="0"/>
              </a:rPr>
              <a:t> </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838200" y="1215741"/>
            <a:ext cx="9843052" cy="5324535"/>
          </a:xfrm>
          <a:prstGeom prst="rect">
            <a:avLst/>
          </a:prstGeom>
          <a:noFill/>
        </p:spPr>
        <p:txBody>
          <a:bodyPr wrap="square">
            <a:spAutoFit/>
          </a:bodyPr>
          <a:lstStyle/>
          <a:p>
            <a:pPr algn="just"/>
            <a:r>
              <a:rPr lang="en-US" sz="2000" b="1" i="0" dirty="0">
                <a:solidFill>
                  <a:srgbClr val="333333"/>
                </a:solidFill>
                <a:effectLst/>
                <a:latin typeface="Times New Roman" panose="02020603050405020304" pitchFamily="18" charset="0"/>
                <a:cs typeface="Times New Roman" panose="02020603050405020304" pitchFamily="18" charset="0"/>
              </a:rPr>
              <a:t>First, we will calculate the values where j-</a:t>
            </a:r>
            <a:r>
              <a:rPr lang="en-US" sz="2000" b="1" i="0" dirty="0" err="1">
                <a:solidFill>
                  <a:srgbClr val="333333"/>
                </a:solidFill>
                <a:effectLst/>
                <a:latin typeface="Times New Roman" panose="02020603050405020304" pitchFamily="18" charset="0"/>
                <a:cs typeface="Times New Roman" panose="02020603050405020304" pitchFamily="18" charset="0"/>
              </a:rPr>
              <a:t>i</a:t>
            </a:r>
            <a:r>
              <a:rPr lang="en-US" sz="2000" b="1" i="0" dirty="0">
                <a:solidFill>
                  <a:srgbClr val="333333"/>
                </a:solidFill>
                <a:effectLst/>
                <a:latin typeface="Times New Roman" panose="02020603050405020304" pitchFamily="18" charset="0"/>
                <a:cs typeface="Times New Roman" panose="02020603050405020304" pitchFamily="18" charset="0"/>
              </a:rPr>
              <a:t> is equal to zero.</a:t>
            </a:r>
            <a:endParaRPr lang="en-US" sz="2000" b="0" i="0" dirty="0">
              <a:solidFill>
                <a:srgbClr val="333333"/>
              </a:solidFill>
              <a:effectLst/>
              <a:latin typeface="Times New Roman" panose="02020603050405020304" pitchFamily="18" charset="0"/>
              <a:cs typeface="Times New Roman" panose="02020603050405020304" pitchFamily="18" charset="0"/>
            </a:endParaRPr>
          </a:p>
          <a:p>
            <a:pPr algn="just"/>
            <a:r>
              <a:rPr lang="en-US" sz="2000" b="0" i="0" dirty="0">
                <a:solidFill>
                  <a:srgbClr val="333333"/>
                </a:solidFill>
                <a:effectLst/>
                <a:latin typeface="Times New Roman" panose="02020603050405020304" pitchFamily="18" charset="0"/>
                <a:cs typeface="Times New Roman" panose="02020603050405020304" pitchFamily="18" charset="0"/>
              </a:rPr>
              <a:t>When </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=0, j=0, then j-</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 = 0</a:t>
            </a:r>
          </a:p>
          <a:p>
            <a:pPr algn="just"/>
            <a:r>
              <a:rPr lang="en-US" sz="2000" b="0" i="0" dirty="0">
                <a:solidFill>
                  <a:srgbClr val="333333"/>
                </a:solidFill>
                <a:effectLst/>
                <a:latin typeface="Times New Roman" panose="02020603050405020304" pitchFamily="18" charset="0"/>
                <a:cs typeface="Times New Roman" panose="02020603050405020304" pitchFamily="18" charset="0"/>
              </a:rPr>
              <a:t>When </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 = 1, j=1, then j-</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 = 0</a:t>
            </a:r>
          </a:p>
          <a:p>
            <a:pPr algn="just"/>
            <a:r>
              <a:rPr lang="en-US" sz="2000" b="0" i="0" dirty="0">
                <a:solidFill>
                  <a:srgbClr val="333333"/>
                </a:solidFill>
                <a:effectLst/>
                <a:latin typeface="Times New Roman" panose="02020603050405020304" pitchFamily="18" charset="0"/>
                <a:cs typeface="Times New Roman" panose="02020603050405020304" pitchFamily="18" charset="0"/>
              </a:rPr>
              <a:t>When </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 = 2, j=2, then j-</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 = 0</a:t>
            </a:r>
          </a:p>
          <a:p>
            <a:pPr algn="just"/>
            <a:r>
              <a:rPr lang="en-US" sz="2000" b="0" i="0" dirty="0">
                <a:solidFill>
                  <a:srgbClr val="333333"/>
                </a:solidFill>
                <a:effectLst/>
                <a:latin typeface="Times New Roman" panose="02020603050405020304" pitchFamily="18" charset="0"/>
                <a:cs typeface="Times New Roman" panose="02020603050405020304" pitchFamily="18" charset="0"/>
              </a:rPr>
              <a:t>When </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 = 3, j=3, then j-</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 = 0</a:t>
            </a:r>
          </a:p>
          <a:p>
            <a:pPr algn="just"/>
            <a:r>
              <a:rPr lang="en-US" sz="2000" b="0" i="0" dirty="0">
                <a:solidFill>
                  <a:srgbClr val="333333"/>
                </a:solidFill>
                <a:effectLst/>
                <a:latin typeface="Times New Roman" panose="02020603050405020304" pitchFamily="18" charset="0"/>
                <a:cs typeface="Times New Roman" panose="02020603050405020304" pitchFamily="18" charset="0"/>
              </a:rPr>
              <a:t>When </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 = 4, j=4, then j-</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 = 0</a:t>
            </a:r>
          </a:p>
          <a:p>
            <a:pPr algn="just"/>
            <a:r>
              <a:rPr lang="en-US" sz="2000" b="0" i="0" dirty="0">
                <a:solidFill>
                  <a:srgbClr val="333333"/>
                </a:solidFill>
                <a:effectLst/>
                <a:latin typeface="Times New Roman" panose="02020603050405020304" pitchFamily="18" charset="0"/>
                <a:cs typeface="Times New Roman" panose="02020603050405020304" pitchFamily="18" charset="0"/>
              </a:rPr>
              <a:t>Therefore, c[0, 0] = 0, c[1 , 1] = 0, c[2,2] = 0, c[3,3] = 0, c[4,4] = 0</a:t>
            </a:r>
          </a:p>
          <a:p>
            <a:pPr algn="just"/>
            <a:r>
              <a:rPr lang="en-US" sz="2000" b="1" i="0" dirty="0">
                <a:solidFill>
                  <a:srgbClr val="333333"/>
                </a:solidFill>
                <a:effectLst/>
                <a:latin typeface="Times New Roman" panose="02020603050405020304" pitchFamily="18" charset="0"/>
                <a:cs typeface="Times New Roman" panose="02020603050405020304" pitchFamily="18" charset="0"/>
              </a:rPr>
              <a:t>Now we will calculate the values where j-</a:t>
            </a:r>
            <a:r>
              <a:rPr lang="en-US" sz="2000" b="1" i="0" dirty="0" err="1">
                <a:solidFill>
                  <a:srgbClr val="333333"/>
                </a:solidFill>
                <a:effectLst/>
                <a:latin typeface="Times New Roman" panose="02020603050405020304" pitchFamily="18" charset="0"/>
                <a:cs typeface="Times New Roman" panose="02020603050405020304" pitchFamily="18" charset="0"/>
              </a:rPr>
              <a:t>i</a:t>
            </a:r>
            <a:r>
              <a:rPr lang="en-US" sz="2000" b="1" i="0" dirty="0">
                <a:solidFill>
                  <a:srgbClr val="333333"/>
                </a:solidFill>
                <a:effectLst/>
                <a:latin typeface="Times New Roman" panose="02020603050405020304" pitchFamily="18" charset="0"/>
                <a:cs typeface="Times New Roman" panose="02020603050405020304" pitchFamily="18" charset="0"/>
              </a:rPr>
              <a:t> equal to 1.</a:t>
            </a:r>
            <a:endParaRPr lang="en-US" sz="2000" b="0" i="0" dirty="0">
              <a:solidFill>
                <a:srgbClr val="333333"/>
              </a:solidFill>
              <a:effectLst/>
              <a:latin typeface="Times New Roman" panose="02020603050405020304" pitchFamily="18" charset="0"/>
              <a:cs typeface="Times New Roman" panose="02020603050405020304" pitchFamily="18" charset="0"/>
            </a:endParaRPr>
          </a:p>
          <a:p>
            <a:pPr algn="just"/>
            <a:r>
              <a:rPr lang="en-US" sz="2000" b="0" i="0" dirty="0">
                <a:solidFill>
                  <a:srgbClr val="333333"/>
                </a:solidFill>
                <a:effectLst/>
                <a:latin typeface="Times New Roman" panose="02020603050405020304" pitchFamily="18" charset="0"/>
                <a:cs typeface="Times New Roman" panose="02020603050405020304" pitchFamily="18" charset="0"/>
              </a:rPr>
              <a:t>When j=1, </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=0 then j-</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 = 1</a:t>
            </a:r>
          </a:p>
          <a:p>
            <a:pPr algn="just"/>
            <a:r>
              <a:rPr lang="en-US" sz="2000" b="0" i="0" dirty="0">
                <a:solidFill>
                  <a:srgbClr val="333333"/>
                </a:solidFill>
                <a:effectLst/>
                <a:latin typeface="Times New Roman" panose="02020603050405020304" pitchFamily="18" charset="0"/>
                <a:cs typeface="Times New Roman" panose="02020603050405020304" pitchFamily="18" charset="0"/>
              </a:rPr>
              <a:t>When j=2, </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=1 then j-</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 = 1</a:t>
            </a:r>
          </a:p>
          <a:p>
            <a:pPr algn="just"/>
            <a:r>
              <a:rPr lang="en-US" sz="2000" b="0" i="0" dirty="0">
                <a:solidFill>
                  <a:srgbClr val="333333"/>
                </a:solidFill>
                <a:effectLst/>
                <a:latin typeface="Times New Roman" panose="02020603050405020304" pitchFamily="18" charset="0"/>
                <a:cs typeface="Times New Roman" panose="02020603050405020304" pitchFamily="18" charset="0"/>
              </a:rPr>
              <a:t>When j=3, </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=2 then j-</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 = 1</a:t>
            </a:r>
          </a:p>
          <a:p>
            <a:pPr algn="just"/>
            <a:r>
              <a:rPr lang="en-US" sz="2000" b="0" i="0" dirty="0">
                <a:solidFill>
                  <a:srgbClr val="333333"/>
                </a:solidFill>
                <a:effectLst/>
                <a:latin typeface="Times New Roman" panose="02020603050405020304" pitchFamily="18" charset="0"/>
                <a:cs typeface="Times New Roman" panose="02020603050405020304" pitchFamily="18" charset="0"/>
              </a:rPr>
              <a:t>When j=4, </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=3 then j-</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 = 1</a:t>
            </a:r>
          </a:p>
          <a:p>
            <a:pPr algn="just"/>
            <a:r>
              <a:rPr lang="en-US" sz="2000" b="0" i="0" dirty="0">
                <a:solidFill>
                  <a:srgbClr val="333333"/>
                </a:solidFill>
                <a:effectLst/>
                <a:latin typeface="Times New Roman" panose="02020603050405020304" pitchFamily="18" charset="0"/>
                <a:cs typeface="Times New Roman" panose="02020603050405020304" pitchFamily="18" charset="0"/>
              </a:rPr>
              <a:t>Now to calculate the cost, we will consider only the </a:t>
            </a:r>
            <a:r>
              <a:rPr lang="en-US" sz="2000" b="0" i="0" dirty="0" err="1">
                <a:solidFill>
                  <a:srgbClr val="333333"/>
                </a:solidFill>
                <a:effectLst/>
                <a:latin typeface="Times New Roman" panose="02020603050405020304" pitchFamily="18" charset="0"/>
                <a:cs typeface="Times New Roman" panose="02020603050405020304" pitchFamily="18" charset="0"/>
              </a:rPr>
              <a:t>jth</a:t>
            </a:r>
            <a:r>
              <a:rPr lang="en-US" sz="2000" b="0" i="0" dirty="0">
                <a:solidFill>
                  <a:srgbClr val="333333"/>
                </a:solidFill>
                <a:effectLst/>
                <a:latin typeface="Times New Roman" panose="02020603050405020304" pitchFamily="18" charset="0"/>
                <a:cs typeface="Times New Roman" panose="02020603050405020304" pitchFamily="18" charset="0"/>
              </a:rPr>
              <a:t> value.</a:t>
            </a:r>
          </a:p>
          <a:p>
            <a:pPr algn="just"/>
            <a:r>
              <a:rPr lang="en-US" sz="2000" b="0" i="0" dirty="0">
                <a:solidFill>
                  <a:srgbClr val="333333"/>
                </a:solidFill>
                <a:effectLst/>
                <a:latin typeface="Times New Roman" panose="02020603050405020304" pitchFamily="18" charset="0"/>
                <a:cs typeface="Times New Roman" panose="02020603050405020304" pitchFamily="18" charset="0"/>
              </a:rPr>
              <a:t>The cost of c[0,1] is 4 (The key is 10, and the cost corresponding to key 10 is 4).</a:t>
            </a:r>
          </a:p>
          <a:p>
            <a:pPr algn="just"/>
            <a:r>
              <a:rPr lang="en-US" sz="2000" b="0" i="0" dirty="0">
                <a:solidFill>
                  <a:srgbClr val="333333"/>
                </a:solidFill>
                <a:effectLst/>
                <a:latin typeface="Times New Roman" panose="02020603050405020304" pitchFamily="18" charset="0"/>
                <a:cs typeface="Times New Roman" panose="02020603050405020304" pitchFamily="18" charset="0"/>
              </a:rPr>
              <a:t>The cost of c[1,2] is 2 (The key is 20, and the cost corresponding to key 20 is 2).</a:t>
            </a:r>
          </a:p>
          <a:p>
            <a:pPr algn="just"/>
            <a:r>
              <a:rPr lang="en-US" sz="2000" b="0" i="0" dirty="0">
                <a:solidFill>
                  <a:srgbClr val="333333"/>
                </a:solidFill>
                <a:effectLst/>
                <a:latin typeface="Times New Roman" panose="02020603050405020304" pitchFamily="18" charset="0"/>
                <a:cs typeface="Times New Roman" panose="02020603050405020304" pitchFamily="18" charset="0"/>
              </a:rPr>
              <a:t>The cost of c[2,3] is 6 (The key is 30, and the cost corresponding to key 30 is 6)</a:t>
            </a:r>
          </a:p>
          <a:p>
            <a:pPr algn="just"/>
            <a:r>
              <a:rPr lang="en-US" sz="2000" b="0" i="0" dirty="0">
                <a:solidFill>
                  <a:srgbClr val="333333"/>
                </a:solidFill>
                <a:effectLst/>
                <a:latin typeface="Times New Roman" panose="02020603050405020304" pitchFamily="18" charset="0"/>
                <a:cs typeface="Times New Roman" panose="02020603050405020304" pitchFamily="18" charset="0"/>
              </a:rPr>
              <a:t>The cost of c[3,4] is 3 (The key is 40, and the cost corresponding to key 40 is 3)</a:t>
            </a:r>
          </a:p>
        </p:txBody>
      </p:sp>
      <p:pic>
        <p:nvPicPr>
          <p:cNvPr id="12290" name="Picture 2" descr="Optimal Binary Search T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5261" y="1404144"/>
            <a:ext cx="4123728" cy="326062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86764"/>
            <a:ext cx="10515600" cy="5069585"/>
          </a:xfrm>
        </p:spPr>
        <p:txBody>
          <a:bodyPr>
            <a:normAutofit/>
          </a:bodyPr>
          <a:lstStyle/>
          <a:p>
            <a:pPr marL="0" indent="0">
              <a:buNone/>
            </a:pPr>
            <a:endParaRPr lang="en-US" altLang="zh-CN" sz="2400" b="1" i="1" dirty="0">
              <a:latin typeface="Times New Roman" panose="02020603050405020304" pitchFamily="18" charset="0"/>
              <a:ea typeface="SimSun" panose="02010600030101010101" pitchFamily="2" charset="-122"/>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42</a:t>
            </a:fld>
            <a:endParaRPr lang="en-US" dirty="0"/>
          </a:p>
        </p:txBody>
      </p:sp>
      <p:sp>
        <p:nvSpPr>
          <p:cNvPr id="24" name="Rectangle 23"/>
          <p:cNvSpPr/>
          <p:nvPr/>
        </p:nvSpPr>
        <p:spPr>
          <a:xfrm>
            <a:off x="583095" y="1282001"/>
            <a:ext cx="10959547" cy="543947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p:cNvSpPr>
            <a:spLocks noGrp="1"/>
          </p:cNvSpPr>
          <p:nvPr>
            <p:ph type="title"/>
          </p:nvPr>
        </p:nvSpPr>
        <p:spPr>
          <a:xfrm>
            <a:off x="838200" y="136526"/>
            <a:ext cx="8769626" cy="966088"/>
          </a:xfrm>
          <a:ln>
            <a:solidFill>
              <a:schemeClr val="tx1"/>
            </a:solidFill>
          </a:ln>
        </p:spPr>
        <p:txBody>
          <a:bodyPr>
            <a:noAutofit/>
          </a:bodyPr>
          <a:lstStyle/>
          <a:p>
            <a:pPr algn="ctr"/>
            <a:br>
              <a:rPr lang="en-US" b="1" dirty="0">
                <a:latin typeface="Times New Roman" panose="02020603050405020304" pitchFamily="18" charset="0"/>
                <a:cs typeface="Times New Roman" panose="02020603050405020304" pitchFamily="18" charset="0"/>
              </a:rPr>
            </a:br>
            <a:r>
              <a:rPr lang="en-US" altLang="zh-TW" b="1" dirty="0">
                <a:latin typeface="Times New Roman" panose="02020603050405020304" pitchFamily="18" charset="0"/>
                <a:cs typeface="Times New Roman" panose="02020603050405020304" pitchFamily="18" charset="0"/>
              </a:rPr>
              <a:t>Optimal Binary Search Trees </a:t>
            </a:r>
            <a:r>
              <a:rPr lang="en-US" b="1" dirty="0">
                <a:latin typeface="Times New Roman" panose="02020603050405020304" pitchFamily="18" charset="0"/>
                <a:cs typeface="Times New Roman" panose="02020603050405020304" pitchFamily="18" charset="0"/>
              </a:rPr>
              <a:t> </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649358" y="1282000"/>
            <a:ext cx="7284959" cy="5493812"/>
          </a:xfrm>
          <a:prstGeom prst="rect">
            <a:avLst/>
          </a:prstGeom>
          <a:noFill/>
        </p:spPr>
        <p:txBody>
          <a:bodyPr wrap="square">
            <a:spAutoFit/>
          </a:bodyPr>
          <a:lstStyle/>
          <a:p>
            <a:pPr algn="just"/>
            <a:r>
              <a:rPr lang="en-US" sz="2000" b="1" i="0" dirty="0">
                <a:solidFill>
                  <a:srgbClr val="333333"/>
                </a:solidFill>
                <a:effectLst/>
                <a:latin typeface="Times New Roman" panose="02020603050405020304" pitchFamily="18" charset="0"/>
                <a:cs typeface="Times New Roman" panose="02020603050405020304" pitchFamily="18" charset="0"/>
              </a:rPr>
              <a:t>Now we will calculate the values where j-</a:t>
            </a:r>
            <a:r>
              <a:rPr lang="en-US" sz="2000" b="1" i="0" dirty="0" err="1">
                <a:solidFill>
                  <a:srgbClr val="333333"/>
                </a:solidFill>
                <a:effectLst/>
                <a:latin typeface="Times New Roman" panose="02020603050405020304" pitchFamily="18" charset="0"/>
                <a:cs typeface="Times New Roman" panose="02020603050405020304" pitchFamily="18" charset="0"/>
              </a:rPr>
              <a:t>i</a:t>
            </a:r>
            <a:r>
              <a:rPr lang="en-US" sz="2000" b="1" i="0" dirty="0">
                <a:solidFill>
                  <a:srgbClr val="333333"/>
                </a:solidFill>
                <a:effectLst/>
                <a:latin typeface="Times New Roman" panose="02020603050405020304" pitchFamily="18" charset="0"/>
                <a:cs typeface="Times New Roman" panose="02020603050405020304" pitchFamily="18" charset="0"/>
              </a:rPr>
              <a:t> = 2</a:t>
            </a:r>
            <a:endParaRPr lang="en-US" sz="2000" b="0" i="0" dirty="0">
              <a:solidFill>
                <a:srgbClr val="333333"/>
              </a:solidFill>
              <a:effectLst/>
              <a:latin typeface="Times New Roman" panose="02020603050405020304" pitchFamily="18" charset="0"/>
              <a:cs typeface="Times New Roman" panose="02020603050405020304" pitchFamily="18" charset="0"/>
            </a:endParaRPr>
          </a:p>
          <a:p>
            <a:pPr algn="just"/>
            <a:r>
              <a:rPr lang="en-US" sz="2000" b="0" i="0" dirty="0">
                <a:solidFill>
                  <a:srgbClr val="333333"/>
                </a:solidFill>
                <a:effectLst/>
                <a:latin typeface="Times New Roman" panose="02020603050405020304" pitchFamily="18" charset="0"/>
                <a:cs typeface="Times New Roman" panose="02020603050405020304" pitchFamily="18" charset="0"/>
              </a:rPr>
              <a:t>When j=2, </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=0 then j-</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 = 2</a:t>
            </a:r>
          </a:p>
          <a:p>
            <a:pPr algn="just"/>
            <a:r>
              <a:rPr lang="en-US" sz="2000" b="0" i="0" dirty="0">
                <a:solidFill>
                  <a:srgbClr val="333333"/>
                </a:solidFill>
                <a:effectLst/>
                <a:latin typeface="Times New Roman" panose="02020603050405020304" pitchFamily="18" charset="0"/>
                <a:cs typeface="Times New Roman" panose="02020603050405020304" pitchFamily="18" charset="0"/>
              </a:rPr>
              <a:t>When j=3, </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=1 then j-</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 = 2</a:t>
            </a:r>
          </a:p>
          <a:p>
            <a:pPr algn="just"/>
            <a:r>
              <a:rPr lang="en-US" sz="2000" b="0" i="0" dirty="0">
                <a:solidFill>
                  <a:srgbClr val="333333"/>
                </a:solidFill>
                <a:effectLst/>
                <a:latin typeface="Times New Roman" panose="02020603050405020304" pitchFamily="18" charset="0"/>
                <a:cs typeface="Times New Roman" panose="02020603050405020304" pitchFamily="18" charset="0"/>
              </a:rPr>
              <a:t>When j=4, </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=2 then j-</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 = 2</a:t>
            </a:r>
            <a:endParaRPr lang="en-US" sz="1900" dirty="0">
              <a:solidFill>
                <a:srgbClr val="333333"/>
              </a:solidFill>
              <a:latin typeface="Times New Roman" panose="02020603050405020304" pitchFamily="18" charset="0"/>
              <a:cs typeface="Times New Roman" panose="02020603050405020304" pitchFamily="18" charset="0"/>
            </a:endParaRPr>
          </a:p>
          <a:p>
            <a:pPr algn="just"/>
            <a:r>
              <a:rPr lang="en-US" sz="2000" b="0" i="0" dirty="0">
                <a:solidFill>
                  <a:srgbClr val="333333"/>
                </a:solidFill>
                <a:effectLst/>
                <a:latin typeface="Times New Roman" panose="02020603050405020304" pitchFamily="18" charset="0"/>
                <a:cs typeface="Times New Roman" panose="02020603050405020304" pitchFamily="18" charset="0"/>
              </a:rPr>
              <a:t>In this case, we will consider two keys.</a:t>
            </a:r>
          </a:p>
          <a:p>
            <a:pPr algn="just">
              <a:buFont typeface="Arial" panose="020B0604020202020204" pitchFamily="34" charset="0"/>
              <a:buChar char="•"/>
            </a:pPr>
            <a:r>
              <a:rPr lang="en-US" sz="2000" b="0" i="0" dirty="0">
                <a:solidFill>
                  <a:srgbClr val="000000"/>
                </a:solidFill>
                <a:effectLst/>
                <a:latin typeface="Times New Roman" panose="02020603050405020304" pitchFamily="18" charset="0"/>
                <a:cs typeface="Times New Roman" panose="02020603050405020304" pitchFamily="18" charset="0"/>
              </a:rPr>
              <a:t>When </a:t>
            </a:r>
            <a:r>
              <a:rPr lang="en-US" sz="2000" b="0" i="0" dirty="0" err="1">
                <a:solidFill>
                  <a:srgbClr val="000000"/>
                </a:solidFill>
                <a:effectLst/>
                <a:latin typeface="Times New Roman" panose="02020603050405020304" pitchFamily="18" charset="0"/>
                <a:cs typeface="Times New Roman" panose="02020603050405020304" pitchFamily="18" charset="0"/>
              </a:rPr>
              <a:t>i</a:t>
            </a:r>
            <a:r>
              <a:rPr lang="en-US" sz="2000" b="0" i="0" dirty="0">
                <a:solidFill>
                  <a:srgbClr val="000000"/>
                </a:solidFill>
                <a:effectLst/>
                <a:latin typeface="Times New Roman" panose="02020603050405020304" pitchFamily="18" charset="0"/>
                <a:cs typeface="Times New Roman" panose="02020603050405020304" pitchFamily="18" charset="0"/>
              </a:rPr>
              <a:t>=0 and j=2, then keys 10 and 20. There are two possible trees that can be made out from these two keys shown below:</a:t>
            </a:r>
          </a:p>
          <a:p>
            <a:pPr algn="just"/>
            <a:endParaRPr lang="en-US" sz="1900" b="0" i="0" dirty="0">
              <a:solidFill>
                <a:srgbClr val="333333"/>
              </a:solidFill>
              <a:effectLst/>
              <a:latin typeface="Times New Roman" panose="02020603050405020304" pitchFamily="18" charset="0"/>
              <a:cs typeface="Times New Roman" panose="02020603050405020304" pitchFamily="18" charset="0"/>
            </a:endParaRPr>
          </a:p>
          <a:p>
            <a:pPr algn="just"/>
            <a:endParaRPr lang="en-US" sz="2000" b="0" i="0" dirty="0">
              <a:solidFill>
                <a:srgbClr val="333333"/>
              </a:solidFill>
              <a:effectLst/>
              <a:latin typeface="Times New Roman" panose="02020603050405020304" pitchFamily="18" charset="0"/>
              <a:cs typeface="Times New Roman" panose="02020603050405020304" pitchFamily="18" charset="0"/>
            </a:endParaRPr>
          </a:p>
          <a:p>
            <a:pPr algn="just"/>
            <a:endParaRPr lang="en-US" sz="2000" dirty="0">
              <a:solidFill>
                <a:srgbClr val="333333"/>
              </a:solidFill>
              <a:latin typeface="Times New Roman" panose="02020603050405020304" pitchFamily="18" charset="0"/>
              <a:cs typeface="Times New Roman" panose="02020603050405020304" pitchFamily="18" charset="0"/>
            </a:endParaRPr>
          </a:p>
          <a:p>
            <a:pPr algn="just"/>
            <a:endParaRPr lang="en-US" sz="2000" b="0" i="0" dirty="0">
              <a:solidFill>
                <a:srgbClr val="333333"/>
              </a:solidFill>
              <a:effectLst/>
              <a:latin typeface="Times New Roman" panose="02020603050405020304" pitchFamily="18" charset="0"/>
              <a:cs typeface="Times New Roman" panose="02020603050405020304" pitchFamily="18" charset="0"/>
            </a:endParaRPr>
          </a:p>
          <a:p>
            <a:pPr algn="just"/>
            <a:r>
              <a:rPr lang="en-US" sz="2000" b="0" i="0" dirty="0">
                <a:solidFill>
                  <a:srgbClr val="333333"/>
                </a:solidFill>
                <a:effectLst/>
                <a:latin typeface="Times New Roman" panose="02020603050405020304" pitchFamily="18" charset="0"/>
                <a:cs typeface="Times New Roman" panose="02020603050405020304" pitchFamily="18" charset="0"/>
              </a:rPr>
              <a:t>In the first binary tree, cost would be: 4*1 + 2*2 = 8</a:t>
            </a:r>
          </a:p>
          <a:p>
            <a:pPr algn="just"/>
            <a:r>
              <a:rPr lang="en-US" sz="2000" b="0" i="0" dirty="0">
                <a:solidFill>
                  <a:srgbClr val="333333"/>
                </a:solidFill>
                <a:effectLst/>
                <a:latin typeface="Times New Roman" panose="02020603050405020304" pitchFamily="18" charset="0"/>
                <a:cs typeface="Times New Roman" panose="02020603050405020304" pitchFamily="18" charset="0"/>
              </a:rPr>
              <a:t>In the second binary tree, cost would be: 4*2 + 2*1 = 10</a:t>
            </a:r>
          </a:p>
          <a:p>
            <a:pPr algn="just"/>
            <a:r>
              <a:rPr lang="en-US" sz="2000" b="0" i="0" dirty="0">
                <a:solidFill>
                  <a:srgbClr val="333333"/>
                </a:solidFill>
                <a:effectLst/>
                <a:latin typeface="Times New Roman" panose="02020603050405020304" pitchFamily="18" charset="0"/>
                <a:cs typeface="Times New Roman" panose="02020603050405020304" pitchFamily="18" charset="0"/>
              </a:rPr>
              <a:t>The minimum cost is 8; therefore, c[0,2] = 8</a:t>
            </a:r>
          </a:p>
          <a:p>
            <a:pPr algn="just"/>
            <a:r>
              <a:rPr lang="en-US" sz="2400" b="1" dirty="0">
                <a:solidFill>
                  <a:srgbClr val="333333"/>
                </a:solidFill>
                <a:latin typeface="Times New Roman" panose="02020603050405020304" pitchFamily="18" charset="0"/>
                <a:cs typeface="Times New Roman" panose="02020603050405020304" pitchFamily="18" charset="0"/>
              </a:rPr>
              <a:t>C[0,2]=min{c(0,0)+c(1,2) , c(0,1)+c(2,2)}+w(0,2)</a:t>
            </a:r>
          </a:p>
          <a:p>
            <a:pPr algn="just"/>
            <a:r>
              <a:rPr lang="en-US" sz="2400" b="1" i="0" dirty="0">
                <a:solidFill>
                  <a:srgbClr val="333333"/>
                </a:solidFill>
                <a:effectLst/>
                <a:latin typeface="Times New Roman" panose="02020603050405020304" pitchFamily="18" charset="0"/>
                <a:cs typeface="Times New Roman" panose="02020603050405020304" pitchFamily="18" charset="0"/>
              </a:rPr>
              <a:t>=min{0+2 , 4+0}+6</a:t>
            </a:r>
          </a:p>
          <a:p>
            <a:pPr algn="just"/>
            <a:r>
              <a:rPr lang="en-US" sz="2400" b="1" dirty="0">
                <a:solidFill>
                  <a:srgbClr val="333333"/>
                </a:solidFill>
                <a:latin typeface="Times New Roman" panose="02020603050405020304" pitchFamily="18" charset="0"/>
                <a:cs typeface="Times New Roman" panose="02020603050405020304" pitchFamily="18" charset="0"/>
              </a:rPr>
              <a:t>=2+6=8</a:t>
            </a:r>
            <a:endParaRPr lang="en-US" sz="2400" b="1" i="0" dirty="0">
              <a:solidFill>
                <a:srgbClr val="333333"/>
              </a:solidFill>
              <a:effectLst/>
              <a:latin typeface="Times New Roman" panose="02020603050405020304" pitchFamily="18" charset="0"/>
              <a:cs typeface="Times New Roman" panose="02020603050405020304" pitchFamily="18" charset="0"/>
            </a:endParaRPr>
          </a:p>
        </p:txBody>
      </p:sp>
      <p:pic>
        <p:nvPicPr>
          <p:cNvPr id="13314" name="Picture 2" descr="Optimal Binary Search T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8747" y="3439977"/>
            <a:ext cx="1568196" cy="1135374"/>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Optimal Binary Search Tree"/>
          <p:cNvPicPr>
            <a:picLocks noChangeAspect="1" noChangeArrowheads="1"/>
          </p:cNvPicPr>
          <p:nvPr/>
        </p:nvPicPr>
        <p:blipFill rotWithShape="1">
          <a:blip r:embed="rId3">
            <a:extLst>
              <a:ext uri="{28A0092B-C50C-407E-A947-70E740481C1C}">
                <a14:useLocalDpi xmlns:a14="http://schemas.microsoft.com/office/drawing/2010/main" val="0"/>
              </a:ext>
            </a:extLst>
          </a:blip>
          <a:srcRect l="5349" t="6165" r="5349" b="2708"/>
          <a:stretch>
            <a:fillRect/>
          </a:stretch>
        </p:blipFill>
        <p:spPr bwMode="auto">
          <a:xfrm>
            <a:off x="7934317" y="1995489"/>
            <a:ext cx="3657600" cy="296848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iagram&#10;&#10;Description automatically generate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58843" y="3415748"/>
            <a:ext cx="1328340" cy="1140416"/>
          </a:xfrm>
          <a:prstGeom prst="rect">
            <a:avLst/>
          </a:prstGeom>
        </p:spPr>
      </p:pic>
      <p:sp>
        <p:nvSpPr>
          <p:cNvPr id="9" name="TextBox 8"/>
          <p:cNvSpPr txBox="1"/>
          <p:nvPr/>
        </p:nvSpPr>
        <p:spPr>
          <a:xfrm>
            <a:off x="9326218" y="4950113"/>
            <a:ext cx="114299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C[0,2]=8</a:t>
            </a:r>
            <a:endParaRPr lang="en-IN" b="1" dirty="0">
              <a:latin typeface="Times New Roman" panose="02020603050405020304" pitchFamily="18" charset="0"/>
              <a:cs typeface="Times New Roman" panose="02020603050405020304" pitchFamily="18" charset="0"/>
            </a:endParaRPr>
          </a:p>
        </p:txBody>
      </p:sp>
      <p:sp>
        <p:nvSpPr>
          <p:cNvPr id="17" name="TextBox 16"/>
          <p:cNvSpPr txBox="1"/>
          <p:nvPr/>
        </p:nvSpPr>
        <p:spPr>
          <a:xfrm>
            <a:off x="6926938" y="6150187"/>
            <a:ext cx="365759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w[0,2]=w(1)+w(2)=4+2=6</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86764"/>
            <a:ext cx="10515600" cy="5069585"/>
          </a:xfrm>
        </p:spPr>
        <p:txBody>
          <a:bodyPr>
            <a:normAutofit/>
          </a:bodyPr>
          <a:lstStyle/>
          <a:p>
            <a:pPr marL="0" indent="0">
              <a:buNone/>
            </a:pPr>
            <a:endParaRPr lang="en-US" altLang="zh-CN" sz="2400" b="1" i="1" dirty="0">
              <a:latin typeface="Times New Roman" panose="02020603050405020304" pitchFamily="18" charset="0"/>
              <a:ea typeface="SimSun" panose="02010600030101010101" pitchFamily="2" charset="-122"/>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43</a:t>
            </a:fld>
            <a:endParaRPr lang="en-US" dirty="0"/>
          </a:p>
        </p:txBody>
      </p:sp>
      <p:sp>
        <p:nvSpPr>
          <p:cNvPr id="24" name="Rectangle 23"/>
          <p:cNvSpPr/>
          <p:nvPr/>
        </p:nvSpPr>
        <p:spPr>
          <a:xfrm>
            <a:off x="838200" y="1282001"/>
            <a:ext cx="10515600" cy="543947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p:cNvSpPr>
            <a:spLocks noGrp="1"/>
          </p:cNvSpPr>
          <p:nvPr>
            <p:ph type="title"/>
          </p:nvPr>
        </p:nvSpPr>
        <p:spPr>
          <a:xfrm>
            <a:off x="838200" y="136526"/>
            <a:ext cx="8769626" cy="966088"/>
          </a:xfrm>
          <a:ln>
            <a:solidFill>
              <a:schemeClr val="tx1"/>
            </a:solidFill>
          </a:ln>
        </p:spPr>
        <p:txBody>
          <a:bodyPr>
            <a:noAutofit/>
          </a:bodyPr>
          <a:lstStyle/>
          <a:p>
            <a:pPr algn="ctr"/>
            <a:br>
              <a:rPr lang="en-US" b="1" dirty="0">
                <a:latin typeface="Times New Roman" panose="02020603050405020304" pitchFamily="18" charset="0"/>
                <a:cs typeface="Times New Roman" panose="02020603050405020304" pitchFamily="18" charset="0"/>
              </a:rPr>
            </a:br>
            <a:r>
              <a:rPr lang="en-US" altLang="zh-TW" b="1" dirty="0">
                <a:latin typeface="Times New Roman" panose="02020603050405020304" pitchFamily="18" charset="0"/>
                <a:cs typeface="Times New Roman" panose="02020603050405020304" pitchFamily="18" charset="0"/>
              </a:rPr>
              <a:t>Optimal Binary Search Trees </a:t>
            </a:r>
            <a:r>
              <a:rPr lang="en-US" b="1" dirty="0">
                <a:latin typeface="Times New Roman" panose="02020603050405020304" pitchFamily="18" charset="0"/>
                <a:cs typeface="Times New Roman" panose="02020603050405020304" pitchFamily="18" charset="0"/>
              </a:rPr>
              <a:t> </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865423" y="1282001"/>
            <a:ext cx="6490719" cy="5693866"/>
          </a:xfrm>
          <a:prstGeom prst="rect">
            <a:avLst/>
          </a:prstGeom>
          <a:noFill/>
        </p:spPr>
        <p:txBody>
          <a:bodyPr wrap="square">
            <a:spAutoFit/>
          </a:bodyPr>
          <a:lstStyle/>
          <a:p>
            <a:pPr algn="just">
              <a:buFont typeface="Arial" panose="020B0604020202020204" pitchFamily="34" charset="0"/>
              <a:buChar char="•"/>
            </a:pPr>
            <a:r>
              <a:rPr lang="en-US" sz="2200" b="0" i="0" dirty="0">
                <a:solidFill>
                  <a:srgbClr val="000000"/>
                </a:solidFill>
                <a:effectLst/>
                <a:latin typeface="Times New Roman" panose="02020603050405020304" pitchFamily="18" charset="0"/>
                <a:cs typeface="Times New Roman" panose="02020603050405020304" pitchFamily="18" charset="0"/>
              </a:rPr>
              <a:t>When </a:t>
            </a:r>
            <a:r>
              <a:rPr lang="en-US" sz="2200" b="0" i="0" dirty="0" err="1">
                <a:solidFill>
                  <a:srgbClr val="000000"/>
                </a:solidFill>
                <a:effectLst/>
                <a:latin typeface="Times New Roman" panose="02020603050405020304" pitchFamily="18" charset="0"/>
                <a:cs typeface="Times New Roman" panose="02020603050405020304" pitchFamily="18" charset="0"/>
              </a:rPr>
              <a:t>i</a:t>
            </a:r>
            <a:r>
              <a:rPr lang="en-US" sz="2200" b="0" i="0" dirty="0">
                <a:solidFill>
                  <a:srgbClr val="000000"/>
                </a:solidFill>
                <a:effectLst/>
                <a:latin typeface="Times New Roman" panose="02020603050405020304" pitchFamily="18" charset="0"/>
                <a:cs typeface="Times New Roman" panose="02020603050405020304" pitchFamily="18" charset="0"/>
              </a:rPr>
              <a:t>=1 and j=3, then keys 20 and 30. There are two possible trees that can be made out from these two keys shown below:</a:t>
            </a:r>
          </a:p>
          <a:p>
            <a:pPr algn="just">
              <a:buFont typeface="Arial" panose="020B0604020202020204" pitchFamily="34" charset="0"/>
              <a:buChar char="•"/>
            </a:pPr>
            <a:endParaRPr lang="en-US" sz="2200" b="0" i="0" dirty="0">
              <a:solidFill>
                <a:srgbClr val="000000"/>
              </a:solidFill>
              <a:effectLst/>
              <a:latin typeface="Times New Roman" panose="02020603050405020304" pitchFamily="18" charset="0"/>
              <a:cs typeface="Times New Roman" panose="02020603050405020304" pitchFamily="18" charset="0"/>
            </a:endParaRPr>
          </a:p>
          <a:p>
            <a:pPr algn="just"/>
            <a:r>
              <a:rPr lang="en-US" sz="2400" b="1" dirty="0">
                <a:solidFill>
                  <a:srgbClr val="333333"/>
                </a:solidFill>
                <a:latin typeface="Times New Roman" panose="02020603050405020304" pitchFamily="18" charset="0"/>
                <a:cs typeface="Times New Roman" panose="02020603050405020304" pitchFamily="18" charset="0"/>
              </a:rPr>
              <a:t>C[1,3]=min{c(1,1)+c(2,3) , c(1,2)+c(3,3)}+w(1,3)</a:t>
            </a:r>
          </a:p>
          <a:p>
            <a:pPr algn="just"/>
            <a:r>
              <a:rPr lang="en-US" sz="2400" b="1" i="0" dirty="0">
                <a:solidFill>
                  <a:srgbClr val="333333"/>
                </a:solidFill>
                <a:effectLst/>
                <a:latin typeface="Times New Roman" panose="02020603050405020304" pitchFamily="18" charset="0"/>
                <a:cs typeface="Times New Roman" panose="02020603050405020304" pitchFamily="18" charset="0"/>
              </a:rPr>
              <a:t>=min{0+6 , 2+0}+8</a:t>
            </a:r>
          </a:p>
          <a:p>
            <a:pPr algn="just"/>
            <a:r>
              <a:rPr lang="en-US" sz="2400" b="1" dirty="0">
                <a:solidFill>
                  <a:srgbClr val="333333"/>
                </a:solidFill>
                <a:latin typeface="Times New Roman" panose="02020603050405020304" pitchFamily="18" charset="0"/>
                <a:cs typeface="Times New Roman" panose="02020603050405020304" pitchFamily="18" charset="0"/>
              </a:rPr>
              <a:t>=2+8=10</a:t>
            </a:r>
            <a:endParaRPr lang="en-US" sz="2400" b="1" i="0" dirty="0">
              <a:solidFill>
                <a:srgbClr val="333333"/>
              </a:solidFill>
              <a:effectLst/>
              <a:latin typeface="Times New Roman" panose="02020603050405020304" pitchFamily="18" charset="0"/>
              <a:cs typeface="Times New Roman" panose="02020603050405020304" pitchFamily="18" charset="0"/>
            </a:endParaRPr>
          </a:p>
          <a:p>
            <a:pPr algn="just"/>
            <a:endParaRPr lang="en-US" sz="2200" b="0" i="0" dirty="0">
              <a:solidFill>
                <a:srgbClr val="333333"/>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200" b="0" i="0" dirty="0">
                <a:solidFill>
                  <a:srgbClr val="000000"/>
                </a:solidFill>
                <a:effectLst/>
                <a:latin typeface="Times New Roman" panose="02020603050405020304" pitchFamily="18" charset="0"/>
                <a:cs typeface="Times New Roman" panose="02020603050405020304" pitchFamily="18" charset="0"/>
              </a:rPr>
              <a:t>When </a:t>
            </a:r>
            <a:r>
              <a:rPr lang="en-US" sz="2200" b="0" i="0" dirty="0" err="1">
                <a:solidFill>
                  <a:srgbClr val="000000"/>
                </a:solidFill>
                <a:effectLst/>
                <a:latin typeface="Times New Roman" panose="02020603050405020304" pitchFamily="18" charset="0"/>
                <a:cs typeface="Times New Roman" panose="02020603050405020304" pitchFamily="18" charset="0"/>
              </a:rPr>
              <a:t>i</a:t>
            </a:r>
            <a:r>
              <a:rPr lang="en-US" sz="2200" b="0" i="0" dirty="0">
                <a:solidFill>
                  <a:srgbClr val="000000"/>
                </a:solidFill>
                <a:effectLst/>
                <a:latin typeface="Times New Roman" panose="02020603050405020304" pitchFamily="18" charset="0"/>
                <a:cs typeface="Times New Roman" panose="02020603050405020304" pitchFamily="18" charset="0"/>
              </a:rPr>
              <a:t>=2 and j=4, we will consider the keys at 3 and 4, i.e., 30 and 40. There are two possible trees that can be made out from these two keys shown as below:</a:t>
            </a:r>
          </a:p>
          <a:p>
            <a:pPr algn="just">
              <a:buFont typeface="Arial" panose="020B0604020202020204" pitchFamily="34" charset="0"/>
              <a:buChar char="•"/>
            </a:pPr>
            <a:endParaRPr lang="en-US" sz="2200" b="0" i="0" dirty="0">
              <a:solidFill>
                <a:srgbClr val="000000"/>
              </a:solidFill>
              <a:effectLst/>
              <a:latin typeface="Times New Roman" panose="02020603050405020304" pitchFamily="18" charset="0"/>
              <a:cs typeface="Times New Roman" panose="02020603050405020304" pitchFamily="18" charset="0"/>
            </a:endParaRPr>
          </a:p>
          <a:p>
            <a:pPr algn="just"/>
            <a:r>
              <a:rPr lang="en-US" sz="2400" b="1" dirty="0">
                <a:solidFill>
                  <a:srgbClr val="333333"/>
                </a:solidFill>
                <a:latin typeface="Times New Roman" panose="02020603050405020304" pitchFamily="18" charset="0"/>
                <a:cs typeface="Times New Roman" panose="02020603050405020304" pitchFamily="18" charset="0"/>
              </a:rPr>
              <a:t>C[2,4]=min{c(2,2)+c(3,4) , c(2,3)+c(4,4)}+w(2,4)</a:t>
            </a:r>
          </a:p>
          <a:p>
            <a:pPr algn="just"/>
            <a:r>
              <a:rPr lang="en-US" sz="2400" b="1" i="0" dirty="0">
                <a:solidFill>
                  <a:srgbClr val="333333"/>
                </a:solidFill>
                <a:effectLst/>
                <a:latin typeface="Times New Roman" panose="02020603050405020304" pitchFamily="18" charset="0"/>
                <a:cs typeface="Times New Roman" panose="02020603050405020304" pitchFamily="18" charset="0"/>
              </a:rPr>
              <a:t>=min{0+3,6+0}+9</a:t>
            </a:r>
          </a:p>
          <a:p>
            <a:pPr algn="just"/>
            <a:r>
              <a:rPr lang="en-US" sz="2400" b="1" dirty="0">
                <a:solidFill>
                  <a:srgbClr val="333333"/>
                </a:solidFill>
                <a:latin typeface="Times New Roman" panose="02020603050405020304" pitchFamily="18" charset="0"/>
                <a:cs typeface="Times New Roman" panose="02020603050405020304" pitchFamily="18" charset="0"/>
              </a:rPr>
              <a:t>=3+9=12</a:t>
            </a:r>
            <a:endParaRPr lang="en-US" sz="2400" b="1" i="0" dirty="0">
              <a:solidFill>
                <a:srgbClr val="333333"/>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200" b="0" i="0" dirty="0">
              <a:solidFill>
                <a:srgbClr val="000000"/>
              </a:solidFill>
              <a:effectLst/>
              <a:latin typeface="Times New Roman" panose="02020603050405020304" pitchFamily="18" charset="0"/>
              <a:cs typeface="Times New Roman" panose="02020603050405020304" pitchFamily="18" charset="0"/>
            </a:endParaRPr>
          </a:p>
        </p:txBody>
      </p:sp>
      <p:pic>
        <p:nvPicPr>
          <p:cNvPr id="14338" name="Picture 2" descr="Optimal Binary Search Tree"/>
          <p:cNvPicPr>
            <a:picLocks noChangeAspect="1" noChangeArrowheads="1"/>
          </p:cNvPicPr>
          <p:nvPr/>
        </p:nvPicPr>
        <p:blipFill rotWithShape="1">
          <a:blip r:embed="rId2">
            <a:extLst>
              <a:ext uri="{28A0092B-C50C-407E-A947-70E740481C1C}">
                <a14:useLocalDpi xmlns:a14="http://schemas.microsoft.com/office/drawing/2010/main" val="0"/>
              </a:ext>
            </a:extLst>
          </a:blip>
          <a:srcRect l="3127" t="589" r="5239" b="6699"/>
          <a:stretch>
            <a:fillRect/>
          </a:stretch>
        </p:blipFill>
        <p:spPr bwMode="auto">
          <a:xfrm>
            <a:off x="7321812" y="2367424"/>
            <a:ext cx="4004765" cy="320381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4462034" y="3059668"/>
            <a:ext cx="365759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w[1,3]=w(2)+w(3)=2+6=8</a:t>
            </a:r>
            <a:endParaRPr lang="en-IN"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4538234" y="5929548"/>
            <a:ext cx="365759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w[2,4]=w(3)+w(4)=6+3=9</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86764"/>
            <a:ext cx="10515600" cy="5069585"/>
          </a:xfrm>
        </p:spPr>
        <p:txBody>
          <a:bodyPr>
            <a:normAutofit/>
          </a:bodyPr>
          <a:lstStyle/>
          <a:p>
            <a:pPr marL="0" indent="0">
              <a:buNone/>
            </a:pPr>
            <a:endParaRPr lang="en-US" altLang="zh-CN" sz="2400" b="1" i="1" dirty="0">
              <a:latin typeface="Times New Roman" panose="02020603050405020304" pitchFamily="18" charset="0"/>
              <a:ea typeface="SimSun" panose="02010600030101010101" pitchFamily="2" charset="-122"/>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44</a:t>
            </a:fld>
            <a:endParaRPr lang="en-US" dirty="0"/>
          </a:p>
        </p:txBody>
      </p:sp>
      <p:sp>
        <p:nvSpPr>
          <p:cNvPr id="24" name="Rectangle 23"/>
          <p:cNvSpPr/>
          <p:nvPr/>
        </p:nvSpPr>
        <p:spPr>
          <a:xfrm>
            <a:off x="838200" y="1282001"/>
            <a:ext cx="10515600" cy="543947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p:cNvSpPr>
            <a:spLocks noGrp="1"/>
          </p:cNvSpPr>
          <p:nvPr>
            <p:ph type="title"/>
          </p:nvPr>
        </p:nvSpPr>
        <p:spPr>
          <a:xfrm>
            <a:off x="838200" y="136526"/>
            <a:ext cx="8769626" cy="966088"/>
          </a:xfrm>
          <a:ln>
            <a:solidFill>
              <a:schemeClr val="tx1"/>
            </a:solidFill>
          </a:ln>
        </p:spPr>
        <p:txBody>
          <a:bodyPr>
            <a:noAutofit/>
          </a:bodyPr>
          <a:lstStyle/>
          <a:p>
            <a:pPr algn="ctr"/>
            <a:br>
              <a:rPr lang="en-US" b="1" dirty="0">
                <a:latin typeface="Times New Roman" panose="02020603050405020304" pitchFamily="18" charset="0"/>
                <a:cs typeface="Times New Roman" panose="02020603050405020304" pitchFamily="18" charset="0"/>
              </a:rPr>
            </a:br>
            <a:r>
              <a:rPr lang="en-US" altLang="zh-TW" b="1" dirty="0">
                <a:latin typeface="Times New Roman" panose="02020603050405020304" pitchFamily="18" charset="0"/>
                <a:cs typeface="Times New Roman" panose="02020603050405020304" pitchFamily="18" charset="0"/>
              </a:rPr>
              <a:t>Optimal Binary Search Trees </a:t>
            </a:r>
            <a:r>
              <a:rPr lang="en-US" b="1" dirty="0">
                <a:latin typeface="Times New Roman" panose="02020603050405020304" pitchFamily="18" charset="0"/>
                <a:cs typeface="Times New Roman" panose="02020603050405020304" pitchFamily="18" charset="0"/>
              </a:rPr>
              <a:t> </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865423" y="1282001"/>
            <a:ext cx="6986497" cy="5323205"/>
          </a:xfrm>
          <a:prstGeom prst="rect">
            <a:avLst/>
          </a:prstGeom>
          <a:noFill/>
        </p:spPr>
        <p:txBody>
          <a:bodyPr wrap="square">
            <a:spAutoFit/>
          </a:bodyPr>
          <a:lstStyle/>
          <a:p>
            <a:pPr algn="just"/>
            <a:r>
              <a:rPr lang="en-US" sz="2000" b="0" i="0" dirty="0">
                <a:solidFill>
                  <a:srgbClr val="333333"/>
                </a:solidFill>
                <a:effectLst/>
                <a:latin typeface="Times New Roman" panose="02020603050405020304" pitchFamily="18" charset="0"/>
                <a:cs typeface="Times New Roman" panose="02020603050405020304" pitchFamily="18" charset="0"/>
              </a:rPr>
              <a:t>Now we will calculate the values when j-</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 = 3</a:t>
            </a:r>
          </a:p>
          <a:p>
            <a:pPr algn="just"/>
            <a:endParaRPr lang="en-US" sz="2000" b="0" i="0" dirty="0">
              <a:solidFill>
                <a:srgbClr val="333333"/>
              </a:solidFill>
              <a:effectLst/>
              <a:latin typeface="Times New Roman" panose="02020603050405020304" pitchFamily="18" charset="0"/>
              <a:cs typeface="Times New Roman" panose="02020603050405020304" pitchFamily="18" charset="0"/>
            </a:endParaRPr>
          </a:p>
          <a:p>
            <a:pPr algn="just"/>
            <a:r>
              <a:rPr lang="en-US" sz="2000" b="0" i="0" dirty="0">
                <a:solidFill>
                  <a:srgbClr val="333333"/>
                </a:solidFill>
                <a:effectLst/>
                <a:latin typeface="Times New Roman" panose="02020603050405020304" pitchFamily="18" charset="0"/>
                <a:cs typeface="Times New Roman" panose="02020603050405020304" pitchFamily="18" charset="0"/>
              </a:rPr>
              <a:t>When j=3, </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=0 then j-</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 = 3</a:t>
            </a:r>
          </a:p>
          <a:p>
            <a:pPr algn="just"/>
            <a:r>
              <a:rPr lang="en-US" sz="2000" b="0" i="0" dirty="0">
                <a:solidFill>
                  <a:srgbClr val="333333"/>
                </a:solidFill>
                <a:effectLst/>
                <a:latin typeface="Times New Roman" panose="02020603050405020304" pitchFamily="18" charset="0"/>
                <a:cs typeface="Times New Roman" panose="02020603050405020304" pitchFamily="18" charset="0"/>
              </a:rPr>
              <a:t>When j=4, </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=1 then j-</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 = 3</a:t>
            </a:r>
          </a:p>
          <a:p>
            <a:pPr algn="just"/>
            <a:endParaRPr lang="en-US" sz="2000" b="0" i="0" dirty="0">
              <a:solidFill>
                <a:srgbClr val="333333"/>
              </a:solidFill>
              <a:effectLst/>
              <a:latin typeface="Times New Roman" panose="02020603050405020304" pitchFamily="18" charset="0"/>
              <a:cs typeface="Times New Roman" panose="02020603050405020304" pitchFamily="18" charset="0"/>
            </a:endParaRPr>
          </a:p>
          <a:p>
            <a:pPr algn="just"/>
            <a:r>
              <a:rPr lang="en-US" sz="2000" b="0" i="0" dirty="0">
                <a:solidFill>
                  <a:srgbClr val="000000"/>
                </a:solidFill>
                <a:effectLst/>
                <a:latin typeface="Times New Roman" panose="02020603050405020304" pitchFamily="18" charset="0"/>
                <a:cs typeface="Times New Roman" panose="02020603050405020304" pitchFamily="18" charset="0"/>
              </a:rPr>
              <a:t>When </a:t>
            </a:r>
            <a:r>
              <a:rPr lang="en-US" sz="2000" b="0" i="0" dirty="0" err="1">
                <a:solidFill>
                  <a:srgbClr val="000000"/>
                </a:solidFill>
                <a:effectLst/>
                <a:latin typeface="Times New Roman" panose="02020603050405020304" pitchFamily="18" charset="0"/>
                <a:cs typeface="Times New Roman" panose="02020603050405020304" pitchFamily="18" charset="0"/>
              </a:rPr>
              <a:t>i</a:t>
            </a:r>
            <a:r>
              <a:rPr lang="en-US" sz="2000" b="0" i="0" dirty="0">
                <a:solidFill>
                  <a:srgbClr val="000000"/>
                </a:solidFill>
                <a:effectLst/>
                <a:latin typeface="Times New Roman" panose="02020603050405020304" pitchFamily="18" charset="0"/>
                <a:cs typeface="Times New Roman" panose="02020603050405020304" pitchFamily="18" charset="0"/>
              </a:rPr>
              <a:t>=0, j=3 then we will consider three keys, i.e.,10, 20 and 30.</a:t>
            </a:r>
          </a:p>
          <a:p>
            <a:r>
              <a:rPr lang="en-US" sz="2000" b="1" dirty="0">
                <a:solidFill>
                  <a:srgbClr val="333333"/>
                </a:solidFill>
                <a:latin typeface="Times New Roman" panose="02020603050405020304" pitchFamily="18" charset="0"/>
                <a:cs typeface="Times New Roman" panose="02020603050405020304" pitchFamily="18" charset="0"/>
              </a:rPr>
              <a:t>C[0,3]=min{c(0,0)+c(1,3),c(0,1)+c(2,3), c(0,2)+c(3,3)}+w(0,3)</a:t>
            </a:r>
          </a:p>
          <a:p>
            <a:pPr algn="just"/>
            <a:r>
              <a:rPr lang="en-US" sz="2000" b="1" i="0" dirty="0">
                <a:solidFill>
                  <a:srgbClr val="333333"/>
                </a:solidFill>
                <a:effectLst/>
                <a:latin typeface="Times New Roman" panose="02020603050405020304" pitchFamily="18" charset="0"/>
                <a:cs typeface="Times New Roman" panose="02020603050405020304" pitchFamily="18" charset="0"/>
              </a:rPr>
              <a:t>=min{0+10 , 4+6, 8+0}+12</a:t>
            </a:r>
          </a:p>
          <a:p>
            <a:pPr algn="just"/>
            <a:r>
              <a:rPr lang="en-US" sz="2000" b="1" dirty="0">
                <a:solidFill>
                  <a:srgbClr val="333333"/>
                </a:solidFill>
                <a:latin typeface="Times New Roman" panose="02020603050405020304" pitchFamily="18" charset="0"/>
                <a:cs typeface="Times New Roman" panose="02020603050405020304" pitchFamily="18" charset="0"/>
              </a:rPr>
              <a:t>=8+12=20</a:t>
            </a:r>
            <a:endParaRPr lang="en-US" sz="2000" b="1" i="0" dirty="0">
              <a:solidFill>
                <a:srgbClr val="333333"/>
              </a:solidFill>
              <a:effectLst/>
              <a:latin typeface="Times New Roman" panose="02020603050405020304" pitchFamily="18" charset="0"/>
              <a:cs typeface="Times New Roman" panose="02020603050405020304" pitchFamily="18" charset="0"/>
            </a:endParaRPr>
          </a:p>
          <a:p>
            <a:pPr algn="just"/>
            <a:endParaRPr lang="en-US" sz="2000" b="0" i="0" dirty="0">
              <a:solidFill>
                <a:srgbClr val="333333"/>
              </a:solidFill>
              <a:effectLst/>
              <a:latin typeface="Times New Roman" panose="02020603050405020304" pitchFamily="18" charset="0"/>
              <a:cs typeface="Times New Roman" panose="02020603050405020304" pitchFamily="18" charset="0"/>
            </a:endParaRPr>
          </a:p>
          <a:p>
            <a:pPr algn="just"/>
            <a:r>
              <a:rPr lang="en-US" sz="2000" b="0" i="0" dirty="0">
                <a:solidFill>
                  <a:srgbClr val="000000"/>
                </a:solidFill>
                <a:effectLst/>
                <a:latin typeface="Times New Roman" panose="02020603050405020304" pitchFamily="18" charset="0"/>
                <a:cs typeface="Times New Roman" panose="02020603050405020304" pitchFamily="18" charset="0"/>
              </a:rPr>
              <a:t>When i=1 and j=4 then we will consider the keys 20, 30, 40</a:t>
            </a:r>
          </a:p>
          <a:p>
            <a:pPr algn="just"/>
            <a:endParaRPr lang="en-US" sz="2000" b="0" i="0" dirty="0">
              <a:solidFill>
                <a:srgbClr val="333333"/>
              </a:solidFill>
              <a:effectLst/>
              <a:latin typeface="inter-regular"/>
            </a:endParaRPr>
          </a:p>
          <a:p>
            <a:pPr algn="just"/>
            <a:r>
              <a:rPr lang="en-US" sz="2000" b="1" dirty="0">
                <a:solidFill>
                  <a:srgbClr val="333333"/>
                </a:solidFill>
                <a:latin typeface="Times New Roman" panose="02020603050405020304" pitchFamily="18" charset="0"/>
                <a:cs typeface="Times New Roman" panose="02020603050405020304" pitchFamily="18" charset="0"/>
              </a:rPr>
              <a:t>c[1,4] = min{ c(1,1)+c(2,4), c(1,2)+c(3,4), c(1,3)+c(4,4)}+11</a:t>
            </a:r>
          </a:p>
          <a:p>
            <a:pPr algn="just"/>
            <a:r>
              <a:rPr lang="en-US" sz="2000" b="1" dirty="0">
                <a:solidFill>
                  <a:srgbClr val="333333"/>
                </a:solidFill>
                <a:latin typeface="Times New Roman" panose="02020603050405020304" pitchFamily="18" charset="0"/>
                <a:cs typeface="Times New Roman" panose="02020603050405020304" pitchFamily="18" charset="0"/>
              </a:rPr>
              <a:t>= min{0+12, 2+3, 10+0}+ 11</a:t>
            </a:r>
          </a:p>
          <a:p>
            <a:pPr algn="just"/>
            <a:r>
              <a:rPr lang="en-US" sz="2000" b="1" dirty="0">
                <a:solidFill>
                  <a:srgbClr val="333333"/>
                </a:solidFill>
                <a:latin typeface="Times New Roman" panose="02020603050405020304" pitchFamily="18" charset="0"/>
                <a:cs typeface="Times New Roman" panose="02020603050405020304" pitchFamily="18" charset="0"/>
              </a:rPr>
              <a:t>= min{12, 5, 10} + 11</a:t>
            </a:r>
          </a:p>
          <a:p>
            <a:pPr algn="just"/>
            <a:r>
              <a:rPr lang="en-US" sz="2000" b="1" dirty="0">
                <a:solidFill>
                  <a:srgbClr val="333333"/>
                </a:solidFill>
                <a:latin typeface="Times New Roman" panose="02020603050405020304" pitchFamily="18" charset="0"/>
                <a:cs typeface="Times New Roman" panose="02020603050405020304" pitchFamily="18" charset="0"/>
              </a:rPr>
              <a:t>=5+11=16</a:t>
            </a:r>
          </a:p>
          <a:p>
            <a:pPr algn="just"/>
            <a:endParaRPr lang="en-US" sz="2000" b="0" i="0" dirty="0">
              <a:solidFill>
                <a:srgbClr val="000000"/>
              </a:solidFill>
              <a:effectLst/>
              <a:latin typeface="Times New Roman" panose="02020603050405020304" pitchFamily="18" charset="0"/>
              <a:cs typeface="Times New Roman" panose="02020603050405020304" pitchFamily="18" charset="0"/>
            </a:endParaRPr>
          </a:p>
        </p:txBody>
      </p:sp>
      <p:sp>
        <p:nvSpPr>
          <p:cNvPr id="13" name="TextBox 12"/>
          <p:cNvSpPr txBox="1"/>
          <p:nvPr/>
        </p:nvSpPr>
        <p:spPr>
          <a:xfrm>
            <a:off x="4267200" y="5546352"/>
            <a:ext cx="365759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w[1,4]=w(2)+w(3)+w(4)=2+6+3=11</a:t>
            </a:r>
            <a:endParaRPr lang="en-IN" b="1"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4194321" y="3632405"/>
            <a:ext cx="365759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w[0,3]=w(1)+w(2)+w(3)=4+2+6=12</a:t>
            </a:r>
            <a:endParaRPr lang="en-IN" b="1" dirty="0">
              <a:latin typeface="Times New Roman" panose="02020603050405020304" pitchFamily="18" charset="0"/>
              <a:cs typeface="Times New Roman" panose="02020603050405020304" pitchFamily="18" charset="0"/>
            </a:endParaRPr>
          </a:p>
        </p:txBody>
      </p:sp>
      <p:pic>
        <p:nvPicPr>
          <p:cNvPr id="15362" name="Picture 2" descr="Optimal Binary Search Tree"/>
          <p:cNvPicPr>
            <a:picLocks noChangeAspect="1" noChangeArrowheads="1"/>
          </p:cNvPicPr>
          <p:nvPr/>
        </p:nvPicPr>
        <p:blipFill rotWithShape="1">
          <a:blip r:embed="rId2">
            <a:extLst>
              <a:ext uri="{28A0092B-C50C-407E-A947-70E740481C1C}">
                <a14:useLocalDpi xmlns:a14="http://schemas.microsoft.com/office/drawing/2010/main" val="0"/>
              </a:ext>
            </a:extLst>
          </a:blip>
          <a:srcRect l="4972" b="2040"/>
          <a:stretch>
            <a:fillRect/>
          </a:stretch>
        </p:blipFill>
        <p:spPr bwMode="auto">
          <a:xfrm>
            <a:off x="7659753" y="2123702"/>
            <a:ext cx="3892107" cy="31724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86764"/>
            <a:ext cx="10515600" cy="5069585"/>
          </a:xfrm>
        </p:spPr>
        <p:txBody>
          <a:bodyPr>
            <a:normAutofit/>
          </a:bodyPr>
          <a:lstStyle/>
          <a:p>
            <a:pPr marL="0" indent="0">
              <a:buNone/>
            </a:pPr>
            <a:endParaRPr lang="en-US" altLang="zh-CN" sz="2400" b="1" i="1" dirty="0">
              <a:latin typeface="Times New Roman" panose="02020603050405020304" pitchFamily="18" charset="0"/>
              <a:ea typeface="SimSun" panose="02010600030101010101" pitchFamily="2" charset="-122"/>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45</a:t>
            </a:fld>
            <a:endParaRPr lang="en-US" dirty="0"/>
          </a:p>
        </p:txBody>
      </p:sp>
      <p:sp>
        <p:nvSpPr>
          <p:cNvPr id="24" name="Rectangle 23"/>
          <p:cNvSpPr/>
          <p:nvPr/>
        </p:nvSpPr>
        <p:spPr>
          <a:xfrm>
            <a:off x="838200" y="1282001"/>
            <a:ext cx="10515600" cy="543947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p:cNvSpPr>
            <a:spLocks noGrp="1"/>
          </p:cNvSpPr>
          <p:nvPr>
            <p:ph type="title"/>
          </p:nvPr>
        </p:nvSpPr>
        <p:spPr>
          <a:xfrm>
            <a:off x="838200" y="136526"/>
            <a:ext cx="8769626" cy="966088"/>
          </a:xfrm>
          <a:ln>
            <a:solidFill>
              <a:schemeClr val="tx1"/>
            </a:solidFill>
          </a:ln>
        </p:spPr>
        <p:txBody>
          <a:bodyPr>
            <a:noAutofit/>
          </a:bodyPr>
          <a:lstStyle/>
          <a:p>
            <a:pPr algn="ctr"/>
            <a:br>
              <a:rPr lang="en-US" b="1" dirty="0">
                <a:latin typeface="Times New Roman" panose="02020603050405020304" pitchFamily="18" charset="0"/>
                <a:cs typeface="Times New Roman" panose="02020603050405020304" pitchFamily="18" charset="0"/>
              </a:rPr>
            </a:br>
            <a:r>
              <a:rPr lang="en-US" altLang="zh-TW" b="1" dirty="0">
                <a:latin typeface="Times New Roman" panose="02020603050405020304" pitchFamily="18" charset="0"/>
                <a:cs typeface="Times New Roman" panose="02020603050405020304" pitchFamily="18" charset="0"/>
              </a:rPr>
              <a:t>Optimal Binary Search Trees </a:t>
            </a:r>
            <a:r>
              <a:rPr lang="en-US" b="1" dirty="0">
                <a:latin typeface="Times New Roman" panose="02020603050405020304" pitchFamily="18" charset="0"/>
                <a:cs typeface="Times New Roman" panose="02020603050405020304" pitchFamily="18" charset="0"/>
              </a:rPr>
              <a:t> </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865423" y="1282001"/>
            <a:ext cx="6986497" cy="5016758"/>
          </a:xfrm>
          <a:prstGeom prst="rect">
            <a:avLst/>
          </a:prstGeom>
          <a:noFill/>
        </p:spPr>
        <p:txBody>
          <a:bodyPr wrap="square">
            <a:spAutoFit/>
          </a:bodyPr>
          <a:lstStyle/>
          <a:p>
            <a:pPr algn="just">
              <a:buFont typeface="Arial" panose="020B0604020202020204" pitchFamily="34" charset="0"/>
              <a:buChar char="•"/>
            </a:pPr>
            <a:r>
              <a:rPr lang="en-US" sz="2000" b="1" i="0" dirty="0">
                <a:solidFill>
                  <a:srgbClr val="000000"/>
                </a:solidFill>
                <a:effectLst/>
                <a:latin typeface="Times New Roman" panose="02020603050405020304" pitchFamily="18" charset="0"/>
                <a:cs typeface="Times New Roman" panose="02020603050405020304" pitchFamily="18" charset="0"/>
              </a:rPr>
              <a:t>Now we will calculate the values when j-</a:t>
            </a:r>
            <a:r>
              <a:rPr lang="en-US" sz="2000" b="1" i="0" dirty="0" err="1">
                <a:solidFill>
                  <a:srgbClr val="000000"/>
                </a:solidFill>
                <a:effectLst/>
                <a:latin typeface="Times New Roman" panose="02020603050405020304" pitchFamily="18" charset="0"/>
                <a:cs typeface="Times New Roman" panose="02020603050405020304" pitchFamily="18" charset="0"/>
              </a:rPr>
              <a:t>i</a:t>
            </a:r>
            <a:r>
              <a:rPr lang="en-US" sz="2000" b="1" i="0" dirty="0">
                <a:solidFill>
                  <a:srgbClr val="000000"/>
                </a:solidFill>
                <a:effectLst/>
                <a:latin typeface="Times New Roman" panose="02020603050405020304" pitchFamily="18" charset="0"/>
                <a:cs typeface="Times New Roman" panose="02020603050405020304" pitchFamily="18" charset="0"/>
              </a:rPr>
              <a:t> = 4</a:t>
            </a:r>
            <a:endParaRPr lang="en-US" sz="2000" b="0" i="0" dirty="0">
              <a:solidFill>
                <a:srgbClr val="000000"/>
              </a:solidFill>
              <a:effectLst/>
              <a:latin typeface="Times New Roman" panose="02020603050405020304" pitchFamily="18" charset="0"/>
              <a:cs typeface="Times New Roman" panose="02020603050405020304" pitchFamily="18" charset="0"/>
            </a:endParaRPr>
          </a:p>
          <a:p>
            <a:pPr algn="just"/>
            <a:r>
              <a:rPr lang="en-US" sz="2000" b="0" i="0" dirty="0">
                <a:solidFill>
                  <a:srgbClr val="333333"/>
                </a:solidFill>
                <a:effectLst/>
                <a:latin typeface="Times New Roman" panose="02020603050405020304" pitchFamily="18" charset="0"/>
                <a:cs typeface="Times New Roman" panose="02020603050405020304" pitchFamily="18" charset="0"/>
              </a:rPr>
              <a:t>When j=4 and </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=0 then j-</a:t>
            </a:r>
            <a:r>
              <a:rPr lang="en-US" sz="2000" b="0" i="0" dirty="0" err="1">
                <a:solidFill>
                  <a:srgbClr val="333333"/>
                </a:solidFill>
                <a:effectLst/>
                <a:latin typeface="Times New Roman" panose="02020603050405020304" pitchFamily="18" charset="0"/>
                <a:cs typeface="Times New Roman" panose="02020603050405020304" pitchFamily="18" charset="0"/>
              </a:rPr>
              <a:t>i</a:t>
            </a:r>
            <a:r>
              <a:rPr lang="en-US" sz="2000" b="0" i="0" dirty="0">
                <a:solidFill>
                  <a:srgbClr val="333333"/>
                </a:solidFill>
                <a:effectLst/>
                <a:latin typeface="Times New Roman" panose="02020603050405020304" pitchFamily="18" charset="0"/>
                <a:cs typeface="Times New Roman" panose="02020603050405020304" pitchFamily="18" charset="0"/>
              </a:rPr>
              <a:t> = 4</a:t>
            </a:r>
          </a:p>
          <a:p>
            <a:pPr algn="just"/>
            <a:endParaRPr lang="en-US" sz="2000" b="0" i="0" dirty="0">
              <a:solidFill>
                <a:srgbClr val="333333"/>
              </a:solidFill>
              <a:effectLst/>
              <a:latin typeface="Times New Roman" panose="02020603050405020304" pitchFamily="18" charset="0"/>
              <a:cs typeface="Times New Roman" panose="02020603050405020304" pitchFamily="18" charset="0"/>
            </a:endParaRPr>
          </a:p>
          <a:p>
            <a:pPr algn="just"/>
            <a:r>
              <a:rPr lang="en-US" sz="2000" b="0" i="0" dirty="0">
                <a:solidFill>
                  <a:srgbClr val="333333"/>
                </a:solidFill>
                <a:effectLst/>
                <a:latin typeface="Times New Roman" panose="02020603050405020304" pitchFamily="18" charset="0"/>
                <a:cs typeface="Times New Roman" panose="02020603050405020304" pitchFamily="18" charset="0"/>
              </a:rPr>
              <a:t>In this case, we will consider four keys, i.e., 10, 20, 30 and 40. The frequencies of 10, 20, 30 and 40 are 4, 2, 6 and 3 respectively.</a:t>
            </a:r>
          </a:p>
          <a:p>
            <a:pPr algn="just"/>
            <a:r>
              <a:rPr lang="en-US" sz="2000" b="0" i="0" dirty="0">
                <a:solidFill>
                  <a:srgbClr val="333333"/>
                </a:solidFill>
                <a:effectLst/>
                <a:latin typeface="Times New Roman" panose="02020603050405020304" pitchFamily="18" charset="0"/>
                <a:cs typeface="Times New Roman" panose="02020603050405020304" pitchFamily="18" charset="0"/>
              </a:rPr>
              <a:t>w[0, 4] = 4 + 2 + 6 + 3 = 15</a:t>
            </a:r>
          </a:p>
          <a:p>
            <a:endParaRPr lang="en-US" sz="2000" b="1" dirty="0">
              <a:solidFill>
                <a:srgbClr val="333333"/>
              </a:solidFill>
              <a:latin typeface="Times New Roman" panose="02020603050405020304" pitchFamily="18" charset="0"/>
              <a:cs typeface="Times New Roman" panose="02020603050405020304" pitchFamily="18" charset="0"/>
            </a:endParaRPr>
          </a:p>
          <a:p>
            <a:r>
              <a:rPr lang="en-US" sz="2400" b="1" dirty="0">
                <a:solidFill>
                  <a:srgbClr val="333333"/>
                </a:solidFill>
                <a:latin typeface="Times New Roman" panose="02020603050405020304" pitchFamily="18" charset="0"/>
                <a:cs typeface="Times New Roman" panose="02020603050405020304" pitchFamily="18" charset="0"/>
              </a:rPr>
              <a:t>C[0,4]=min{c(0,0)+c(1,4) , c(0,1)+c(2,4), c(0,2)+c(3,4), c(0,3)+c(4,4)} + w(0,4)</a:t>
            </a:r>
          </a:p>
          <a:p>
            <a:endParaRPr lang="en-US" sz="2400" b="1" dirty="0">
              <a:solidFill>
                <a:srgbClr val="333333"/>
              </a:solidFill>
              <a:latin typeface="Times New Roman" panose="02020603050405020304" pitchFamily="18" charset="0"/>
              <a:cs typeface="Times New Roman" panose="02020603050405020304" pitchFamily="18" charset="0"/>
            </a:endParaRPr>
          </a:p>
          <a:p>
            <a:pPr algn="just"/>
            <a:r>
              <a:rPr lang="en-US" sz="2400" b="1" i="0" dirty="0">
                <a:solidFill>
                  <a:srgbClr val="333333"/>
                </a:solidFill>
                <a:effectLst/>
                <a:latin typeface="Times New Roman" panose="02020603050405020304" pitchFamily="18" charset="0"/>
                <a:cs typeface="Times New Roman" panose="02020603050405020304" pitchFamily="18" charset="0"/>
              </a:rPr>
              <a:t>=min{0+16 , 4+12 , 8+3 , 20+0}+15</a:t>
            </a:r>
          </a:p>
          <a:p>
            <a:pPr algn="just"/>
            <a:r>
              <a:rPr lang="en-US" sz="2400" b="1" dirty="0">
                <a:solidFill>
                  <a:srgbClr val="333333"/>
                </a:solidFill>
                <a:latin typeface="Times New Roman" panose="02020603050405020304" pitchFamily="18" charset="0"/>
                <a:cs typeface="Times New Roman" panose="02020603050405020304" pitchFamily="18" charset="0"/>
              </a:rPr>
              <a:t>=11+15=26</a:t>
            </a:r>
          </a:p>
          <a:p>
            <a:pPr algn="just"/>
            <a:endParaRPr lang="en-US" sz="2000" b="1" i="0" dirty="0">
              <a:solidFill>
                <a:srgbClr val="333333"/>
              </a:solidFill>
              <a:effectLst/>
              <a:latin typeface="Times New Roman" panose="02020603050405020304" pitchFamily="18" charset="0"/>
              <a:cs typeface="Times New Roman" panose="02020603050405020304" pitchFamily="18" charset="0"/>
            </a:endParaRPr>
          </a:p>
          <a:p>
            <a:pPr algn="just"/>
            <a:endParaRPr lang="en-US" sz="2000" b="0" i="0" dirty="0">
              <a:solidFill>
                <a:srgbClr val="333333"/>
              </a:solidFill>
              <a:effectLst/>
              <a:latin typeface="Times New Roman" panose="02020603050405020304" pitchFamily="18" charset="0"/>
              <a:cs typeface="Times New Roman" panose="02020603050405020304" pitchFamily="18" charset="0"/>
            </a:endParaRPr>
          </a:p>
          <a:p>
            <a:pPr algn="just"/>
            <a:endParaRPr lang="en-US" sz="2000" b="0" i="0" dirty="0">
              <a:solidFill>
                <a:srgbClr val="000000"/>
              </a:solidFill>
              <a:effectLst/>
              <a:latin typeface="Times New Roman" panose="02020603050405020304" pitchFamily="18" charset="0"/>
              <a:cs typeface="Times New Roman" panose="02020603050405020304" pitchFamily="18" charset="0"/>
            </a:endParaRPr>
          </a:p>
        </p:txBody>
      </p:sp>
      <p:pic>
        <p:nvPicPr>
          <p:cNvPr id="16386" name="Picture 2" descr="Optimal Binary Search Tree"/>
          <p:cNvPicPr>
            <a:picLocks noChangeAspect="1" noChangeArrowheads="1"/>
          </p:cNvPicPr>
          <p:nvPr/>
        </p:nvPicPr>
        <p:blipFill rotWithShape="1">
          <a:blip r:embed="rId2">
            <a:extLst>
              <a:ext uri="{28A0092B-C50C-407E-A947-70E740481C1C}">
                <a14:useLocalDpi xmlns:a14="http://schemas.microsoft.com/office/drawing/2010/main" val="0"/>
              </a:ext>
            </a:extLst>
          </a:blip>
          <a:srcRect l="5673" r="3407" b="4885"/>
          <a:stretch>
            <a:fillRect/>
          </a:stretch>
        </p:blipFill>
        <p:spPr bwMode="auto">
          <a:xfrm>
            <a:off x="6983895" y="2954760"/>
            <a:ext cx="4231305" cy="35000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86764"/>
            <a:ext cx="10515600" cy="5069585"/>
          </a:xfrm>
        </p:spPr>
        <p:txBody>
          <a:bodyPr>
            <a:normAutofit/>
          </a:bodyPr>
          <a:lstStyle/>
          <a:p>
            <a:pPr marL="0" indent="0">
              <a:buNone/>
            </a:pPr>
            <a:endParaRPr lang="en-US" altLang="zh-CN" sz="2400" b="1" i="1" dirty="0">
              <a:latin typeface="Times New Roman" panose="02020603050405020304" pitchFamily="18" charset="0"/>
              <a:ea typeface="SimSun" panose="02010600030101010101" pitchFamily="2" charset="-122"/>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46</a:t>
            </a:fld>
            <a:endParaRPr lang="en-US" dirty="0"/>
          </a:p>
        </p:txBody>
      </p:sp>
      <p:sp>
        <p:nvSpPr>
          <p:cNvPr id="24" name="Rectangle 23"/>
          <p:cNvSpPr/>
          <p:nvPr/>
        </p:nvSpPr>
        <p:spPr>
          <a:xfrm>
            <a:off x="838200" y="1282001"/>
            <a:ext cx="10515600" cy="543947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p:cNvSpPr>
            <a:spLocks noGrp="1"/>
          </p:cNvSpPr>
          <p:nvPr>
            <p:ph type="title"/>
          </p:nvPr>
        </p:nvSpPr>
        <p:spPr>
          <a:xfrm>
            <a:off x="838200" y="136526"/>
            <a:ext cx="8769626" cy="966088"/>
          </a:xfrm>
          <a:ln>
            <a:solidFill>
              <a:schemeClr val="tx1"/>
            </a:solidFill>
          </a:ln>
        </p:spPr>
        <p:txBody>
          <a:bodyPr>
            <a:noAutofit/>
          </a:bodyPr>
          <a:lstStyle/>
          <a:p>
            <a:pPr algn="ctr"/>
            <a:br>
              <a:rPr lang="en-US" b="1" dirty="0">
                <a:latin typeface="Times New Roman" panose="02020603050405020304" pitchFamily="18" charset="0"/>
                <a:cs typeface="Times New Roman" panose="02020603050405020304" pitchFamily="18" charset="0"/>
              </a:rPr>
            </a:br>
            <a:r>
              <a:rPr lang="en-US" altLang="zh-TW" b="1" dirty="0">
                <a:latin typeface="Times New Roman" panose="02020603050405020304" pitchFamily="18" charset="0"/>
                <a:cs typeface="Times New Roman" panose="02020603050405020304" pitchFamily="18" charset="0"/>
              </a:rPr>
              <a:t>Optimal Binary Search Trees </a:t>
            </a:r>
            <a:r>
              <a:rPr lang="en-US" b="1" dirty="0">
                <a:latin typeface="Times New Roman" panose="02020603050405020304" pitchFamily="18" charset="0"/>
                <a:cs typeface="Times New Roman" panose="02020603050405020304" pitchFamily="18" charset="0"/>
              </a:rPr>
              <a:t> </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865423" y="1282001"/>
            <a:ext cx="6986497" cy="1015663"/>
          </a:xfrm>
          <a:prstGeom prst="rect">
            <a:avLst/>
          </a:prstGeom>
          <a:noFill/>
        </p:spPr>
        <p:txBody>
          <a:bodyPr wrap="square">
            <a:spAutoFit/>
          </a:bodyPr>
          <a:lstStyle/>
          <a:p>
            <a:pPr algn="just"/>
            <a:endParaRPr lang="en-US" sz="2000" b="1" i="0" dirty="0">
              <a:solidFill>
                <a:srgbClr val="333333"/>
              </a:solidFill>
              <a:effectLst/>
              <a:latin typeface="Times New Roman" panose="02020603050405020304" pitchFamily="18" charset="0"/>
              <a:cs typeface="Times New Roman" panose="02020603050405020304" pitchFamily="18" charset="0"/>
            </a:endParaRPr>
          </a:p>
          <a:p>
            <a:pPr algn="just"/>
            <a:endParaRPr lang="en-US" sz="2000" b="0" i="0" dirty="0">
              <a:solidFill>
                <a:srgbClr val="333333"/>
              </a:solidFill>
              <a:effectLst/>
              <a:latin typeface="Times New Roman" panose="02020603050405020304" pitchFamily="18" charset="0"/>
              <a:cs typeface="Times New Roman" panose="02020603050405020304" pitchFamily="18" charset="0"/>
            </a:endParaRPr>
          </a:p>
          <a:p>
            <a:pPr algn="just"/>
            <a:endParaRPr lang="en-US" sz="2000" b="0" i="0" dirty="0">
              <a:solidFill>
                <a:srgbClr val="000000"/>
              </a:solidFill>
              <a:effectLst/>
              <a:latin typeface="Times New Roman" panose="02020603050405020304" pitchFamily="18" charset="0"/>
              <a:cs typeface="Times New Roman" panose="02020603050405020304" pitchFamily="18" charset="0"/>
            </a:endParaRPr>
          </a:p>
        </p:txBody>
      </p:sp>
      <p:sp>
        <p:nvSpPr>
          <p:cNvPr id="9" name="TextBox 8"/>
          <p:cNvSpPr txBox="1"/>
          <p:nvPr/>
        </p:nvSpPr>
        <p:spPr>
          <a:xfrm>
            <a:off x="865423" y="1282000"/>
            <a:ext cx="8278577" cy="461665"/>
          </a:xfrm>
          <a:prstGeom prst="rect">
            <a:avLst/>
          </a:prstGeom>
          <a:noFill/>
        </p:spPr>
        <p:txBody>
          <a:bodyPr wrap="square">
            <a:spAutoFit/>
          </a:bodyPr>
          <a:lstStyle/>
          <a:p>
            <a:r>
              <a:rPr lang="en-US" sz="2400" b="0" i="0" dirty="0">
                <a:solidFill>
                  <a:srgbClr val="333333"/>
                </a:solidFill>
                <a:effectLst/>
                <a:latin typeface="Times New Roman" panose="02020603050405020304" pitchFamily="18" charset="0"/>
                <a:cs typeface="Times New Roman" panose="02020603050405020304" pitchFamily="18" charset="0"/>
              </a:rPr>
              <a:t>The optimal binary tree can be created as:</a:t>
            </a:r>
            <a:endParaRPr lang="en-IN" sz="2400" dirty="0">
              <a:latin typeface="Times New Roman" panose="02020603050405020304" pitchFamily="18" charset="0"/>
              <a:cs typeface="Times New Roman" panose="02020603050405020304" pitchFamily="18" charset="0"/>
            </a:endParaRPr>
          </a:p>
        </p:txBody>
      </p:sp>
      <p:pic>
        <p:nvPicPr>
          <p:cNvPr id="17410" name="Picture 2" descr="Optimal Binary Search T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8393" y="1789832"/>
            <a:ext cx="4698325" cy="437883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Optimal Binary Search Tree"/>
          <p:cNvPicPr>
            <a:picLocks noChangeAspect="1" noChangeArrowheads="1"/>
          </p:cNvPicPr>
          <p:nvPr/>
        </p:nvPicPr>
        <p:blipFill rotWithShape="1">
          <a:blip r:embed="rId3">
            <a:extLst>
              <a:ext uri="{28A0092B-C50C-407E-A947-70E740481C1C}">
                <a14:useLocalDpi xmlns:a14="http://schemas.microsoft.com/office/drawing/2010/main" val="0"/>
              </a:ext>
            </a:extLst>
          </a:blip>
          <a:srcRect l="5673" r="3407" b="4885"/>
          <a:stretch>
            <a:fillRect/>
          </a:stretch>
        </p:blipFill>
        <p:spPr bwMode="auto">
          <a:xfrm>
            <a:off x="1132393" y="3546127"/>
            <a:ext cx="3226278" cy="2668711"/>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Optimal Binary Search Tre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9282" y="1923052"/>
            <a:ext cx="3034518" cy="294348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Optimal Binary Search Tre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4752" y="2084785"/>
            <a:ext cx="3907735" cy="17367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7680" y="44450"/>
            <a:ext cx="10515600" cy="1325563"/>
          </a:xfrm>
        </p:spPr>
        <p:txBody>
          <a:bodyPr/>
          <a:lstStyle/>
          <a:p>
            <a:pPr algn="ctr"/>
            <a:r>
              <a:rPr lang="en-US" b="1" dirty="0">
                <a:latin typeface="Times New Roman" panose="02020603050405020304" pitchFamily="18" charset="0"/>
                <a:cs typeface="Times New Roman" panose="02020603050405020304" pitchFamily="18" charset="0"/>
              </a:rPr>
              <a:t>0-1 Knapsack Problem</a:t>
            </a:r>
            <a:endParaRPr lang="en-US" dirty="0"/>
          </a:p>
        </p:txBody>
      </p:sp>
      <p:sp>
        <p:nvSpPr>
          <p:cNvPr id="3" name="Content Placeholder 2"/>
          <p:cNvSpPr>
            <a:spLocks noGrp="1"/>
          </p:cNvSpPr>
          <p:nvPr>
            <p:ph idx="1"/>
          </p:nvPr>
        </p:nvSpPr>
        <p:spPr>
          <a:xfrm>
            <a:off x="838200" y="1522095"/>
            <a:ext cx="6378575" cy="4655185"/>
          </a:xfrm>
        </p:spPr>
        <p:txBody>
          <a:bodyPr>
            <a:noAutofit/>
          </a:bodyPr>
          <a:lstStyle/>
          <a:p>
            <a:pPr>
              <a:buNone/>
              <a:defRPr/>
            </a:pPr>
            <a:r>
              <a:rPr lang="en-US" sz="2400">
                <a:latin typeface="Times New Roman" panose="02020603050405020304" pitchFamily="18" charset="0"/>
                <a:cs typeface="Times New Roman" panose="02020603050405020304" pitchFamily="18" charset="0"/>
              </a:rPr>
              <a:t>You are given the following-</a:t>
            </a:r>
          </a:p>
          <a:p>
            <a:pPr>
              <a:buNone/>
              <a:defRPr/>
            </a:pPr>
            <a:r>
              <a:rPr lang="en-US" sz="2400">
                <a:latin typeface="Times New Roman" panose="02020603050405020304" pitchFamily="18" charset="0"/>
                <a:cs typeface="Times New Roman" panose="02020603050405020304" pitchFamily="18" charset="0"/>
              </a:rPr>
              <a:t>A knapsack (kind of shoulder bag) with limited weight capacity.</a:t>
            </a:r>
          </a:p>
          <a:p>
            <a:pPr>
              <a:buNone/>
              <a:defRPr/>
            </a:pPr>
            <a:r>
              <a:rPr lang="en-US" sz="2400">
                <a:latin typeface="Times New Roman" panose="02020603050405020304" pitchFamily="18" charset="0"/>
                <a:cs typeface="Times New Roman" panose="02020603050405020304" pitchFamily="18" charset="0"/>
              </a:rPr>
              <a:t>Few items each having some weight and value.</a:t>
            </a:r>
          </a:p>
          <a:p>
            <a:pPr>
              <a:buNone/>
              <a:defRPr/>
            </a:pPr>
            <a:r>
              <a:rPr lang="en-US" sz="2400">
                <a:latin typeface="Times New Roman" panose="02020603050405020304" pitchFamily="18" charset="0"/>
                <a:cs typeface="Times New Roman" panose="02020603050405020304" pitchFamily="18" charset="0"/>
              </a:rPr>
              <a:t> </a:t>
            </a:r>
          </a:p>
          <a:p>
            <a:pPr>
              <a:buNone/>
              <a:defRPr/>
            </a:pPr>
            <a:r>
              <a:rPr lang="en-US" sz="2400" b="1">
                <a:latin typeface="Times New Roman" panose="02020603050405020304" pitchFamily="18" charset="0"/>
                <a:cs typeface="Times New Roman" panose="02020603050405020304" pitchFamily="18" charset="0"/>
              </a:rPr>
              <a:t>The problem states-</a:t>
            </a:r>
          </a:p>
          <a:p>
            <a:pPr>
              <a:buNone/>
              <a:defRPr/>
            </a:pPr>
            <a:r>
              <a:rPr lang="en-US" sz="2400">
                <a:latin typeface="Times New Roman" panose="02020603050405020304" pitchFamily="18" charset="0"/>
                <a:cs typeface="Times New Roman" panose="02020603050405020304" pitchFamily="18" charset="0"/>
              </a:rPr>
              <a:t>Which items should be placed into the knapsack such that-</a:t>
            </a:r>
          </a:p>
          <a:p>
            <a:pPr>
              <a:defRPr/>
            </a:pPr>
            <a:r>
              <a:rPr lang="en-US" sz="2400">
                <a:latin typeface="Times New Roman" panose="02020603050405020304" pitchFamily="18" charset="0"/>
                <a:cs typeface="Times New Roman" panose="02020603050405020304" pitchFamily="18" charset="0"/>
              </a:rPr>
              <a:t>The value or profit obtained by putting the items into the knapsack is maximum.</a:t>
            </a:r>
          </a:p>
          <a:p>
            <a:pPr>
              <a:defRPr/>
            </a:pPr>
            <a:r>
              <a:rPr lang="en-US" sz="2400">
                <a:latin typeface="Times New Roman" panose="02020603050405020304" pitchFamily="18" charset="0"/>
                <a:cs typeface="Times New Roman" panose="02020603050405020304" pitchFamily="18" charset="0"/>
              </a:rPr>
              <a:t>And the weight limit of the knapsack does not exceed.</a:t>
            </a:r>
          </a:p>
        </p:txBody>
      </p:sp>
      <p:sp>
        <p:nvSpPr>
          <p:cNvPr id="4" name="Slide Number Placeholder 3"/>
          <p:cNvSpPr>
            <a:spLocks noGrp="1"/>
          </p:cNvSpPr>
          <p:nvPr>
            <p:ph type="sldNum" sz="quarter" idx="12"/>
          </p:nvPr>
        </p:nvSpPr>
        <p:spPr/>
        <p:txBody>
          <a:bodyPr/>
          <a:lstStyle/>
          <a:p>
            <a:fld id="{BDCDBBEF-AA6C-4BA6-85B2-A17D7F280E38}" type="slidenum">
              <a:rPr lang="en-US" smtClean="0"/>
              <a:t>47</a:t>
            </a:fld>
            <a:endParaRPr lang="en-US"/>
          </a:p>
        </p:txBody>
      </p:sp>
      <p:pic>
        <p:nvPicPr>
          <p:cNvPr id="5" name="Content Placeholder 5" descr="knapsack_problem.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28931" y="2475473"/>
            <a:ext cx="4224469" cy="3024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838200" y="198120"/>
            <a:ext cx="8354060" cy="106362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38200" y="1522095"/>
            <a:ext cx="10515600" cy="503555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0-1 Knapsack Problem </a:t>
            </a:r>
            <a:r>
              <a:rPr lang="en-US" altLang="zh-TW" b="1" dirty="0" err="1">
                <a:latin typeface="Times New Roman" panose="02020603050405020304" pitchFamily="18" charset="0"/>
                <a:cs typeface="Times New Roman" panose="02020603050405020304" pitchFamily="18" charset="0"/>
              </a:rPr>
              <a:t>Contd</a:t>
            </a:r>
            <a:r>
              <a:rPr lang="en-US" altLang="zh-TW" b="1" dirty="0">
                <a:latin typeface="Times New Roman" panose="02020603050405020304" pitchFamily="18" charset="0"/>
                <a:cs typeface="Times New Roman" panose="02020603050405020304" pitchFamily="18" charset="0"/>
              </a:rPr>
              <a:t>…</a:t>
            </a:r>
            <a:endParaRPr lang="en-US" dirty="0"/>
          </a:p>
        </p:txBody>
      </p:sp>
      <p:sp>
        <p:nvSpPr>
          <p:cNvPr id="3" name="Content Placeholder 2"/>
          <p:cNvSpPr>
            <a:spLocks noGrp="1"/>
          </p:cNvSpPr>
          <p:nvPr>
            <p:ph idx="1"/>
          </p:nvPr>
        </p:nvSpPr>
        <p:spPr/>
        <p:txBody>
          <a:bodyPr/>
          <a:lstStyle/>
          <a:p>
            <a:pPr marL="128270" indent="0" algn="just">
              <a:buNone/>
              <a:defRPr/>
            </a:pPr>
            <a:r>
              <a:rPr lang="en-US" sz="2400" dirty="0">
                <a:latin typeface="Times New Roman" panose="02020603050405020304" pitchFamily="18" charset="0"/>
                <a:cs typeface="Times New Roman" panose="02020603050405020304" pitchFamily="18" charset="0"/>
              </a:rPr>
              <a:t>Knapsack problem has the following two variants-</a:t>
            </a:r>
          </a:p>
          <a:p>
            <a:pPr marL="642620" indent="-514350" algn="just">
              <a:defRPr/>
            </a:pPr>
            <a:endParaRPr lang="en-US" sz="2400" dirty="0">
              <a:latin typeface="Times New Roman" panose="02020603050405020304" pitchFamily="18" charset="0"/>
              <a:cs typeface="Times New Roman" panose="02020603050405020304" pitchFamily="18" charset="0"/>
            </a:endParaRPr>
          </a:p>
          <a:p>
            <a:pPr marL="642620" indent="-514350" algn="just">
              <a:defRPr/>
            </a:pPr>
            <a:r>
              <a:rPr lang="en-US" sz="2400" dirty="0">
                <a:latin typeface="Times New Roman" panose="02020603050405020304" pitchFamily="18" charset="0"/>
                <a:cs typeface="Times New Roman" panose="02020603050405020304" pitchFamily="18" charset="0"/>
              </a:rPr>
              <a:t>Fractional Knapsack Problem</a:t>
            </a:r>
          </a:p>
          <a:p>
            <a:pPr marL="642620" indent="-514350" algn="just">
              <a:defRPr/>
            </a:pPr>
            <a:r>
              <a:rPr lang="en-US" sz="2400" dirty="0">
                <a:latin typeface="Times New Roman" panose="02020603050405020304" pitchFamily="18" charset="0"/>
                <a:cs typeface="Times New Roman" panose="02020603050405020304" pitchFamily="18" charset="0"/>
              </a:rPr>
              <a:t>0/1 Knapsack Problem</a:t>
            </a:r>
          </a:p>
          <a:p>
            <a:pPr algn="just"/>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48</a:t>
            </a:fld>
            <a:endParaRPr lang="en-US"/>
          </a:p>
        </p:txBody>
      </p:sp>
      <p:sp>
        <p:nvSpPr>
          <p:cNvPr id="5" name="Rectangle 4"/>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F72E7-E8C2-B517-0B27-FAC37B4AB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DB0B92-D34A-C835-D610-74BA0568A264}"/>
              </a:ext>
            </a:extLst>
          </p:cNvPr>
          <p:cNvSpPr>
            <a:spLocks noGrp="1"/>
          </p:cNvSpPr>
          <p:nvPr>
            <p:ph type="title"/>
          </p:nvPr>
        </p:nvSpPr>
        <p:spPr>
          <a:xfrm>
            <a:off x="838200" y="275352"/>
            <a:ext cx="8763000" cy="1325563"/>
          </a:xfrm>
        </p:spPr>
        <p:txBody>
          <a:bodyPr/>
          <a:lstStyle/>
          <a:p>
            <a:pPr algn="ctr"/>
            <a:r>
              <a:rPr lang="en-US" altLang="zh-TW" b="1" dirty="0">
                <a:latin typeface="Times New Roman" panose="02020603050405020304" pitchFamily="18" charset="0"/>
                <a:cs typeface="Times New Roman" panose="02020603050405020304" pitchFamily="18" charset="0"/>
              </a:rPr>
              <a:t>Recurrence relation for the 0/1 Knapsack Problem</a:t>
            </a:r>
            <a:endParaRPr lang="en-US" dirty="0"/>
          </a:p>
        </p:txBody>
      </p:sp>
      <p:sp>
        <p:nvSpPr>
          <p:cNvPr id="3" name="Content Placeholder 2">
            <a:extLst>
              <a:ext uri="{FF2B5EF4-FFF2-40B4-BE49-F238E27FC236}">
                <a16:creationId xmlns:a16="http://schemas.microsoft.com/office/drawing/2014/main" id="{BA304F8E-22B8-FB83-1328-A07E9A66941D}"/>
              </a:ext>
            </a:extLst>
          </p:cNvPr>
          <p:cNvSpPr>
            <a:spLocks noGrp="1"/>
          </p:cNvSpPr>
          <p:nvPr>
            <p:ph idx="1"/>
          </p:nvPr>
        </p:nvSpPr>
        <p:spPr/>
        <p:txBody>
          <a:bodyPr>
            <a:normAutofit/>
          </a:bodyPr>
          <a:lstStyle/>
          <a:p>
            <a:pPr algn="just">
              <a:lnSpc>
                <a:spcPct val="150000"/>
              </a:lnSpc>
              <a:defRPr/>
            </a:pPr>
            <a:r>
              <a:rPr lang="en-US" sz="2400" dirty="0">
                <a:latin typeface="Times New Roman" panose="02020603050405020304" pitchFamily="18" charset="0"/>
                <a:cs typeface="Times New Roman" panose="02020603050405020304" pitchFamily="18" charset="0"/>
              </a:rPr>
              <a:t>Using dynamic programming, we use recurrence relation and memorization concept to solve 0/1 knapsack problem.</a:t>
            </a:r>
          </a:p>
        </p:txBody>
      </p:sp>
      <p:sp>
        <p:nvSpPr>
          <p:cNvPr id="4" name="Slide Number Placeholder 3">
            <a:extLst>
              <a:ext uri="{FF2B5EF4-FFF2-40B4-BE49-F238E27FC236}">
                <a16:creationId xmlns:a16="http://schemas.microsoft.com/office/drawing/2014/main" id="{7C65BA9F-C57C-F431-138C-D6D8B0860A96}"/>
              </a:ext>
            </a:extLst>
          </p:cNvPr>
          <p:cNvSpPr>
            <a:spLocks noGrp="1"/>
          </p:cNvSpPr>
          <p:nvPr>
            <p:ph type="sldNum" sz="quarter" idx="12"/>
          </p:nvPr>
        </p:nvSpPr>
        <p:spPr/>
        <p:txBody>
          <a:bodyPr/>
          <a:lstStyle/>
          <a:p>
            <a:fld id="{BDCDBBEF-AA6C-4BA6-85B2-A17D7F280E38}" type="slidenum">
              <a:rPr lang="en-US" smtClean="0"/>
              <a:t>49</a:t>
            </a:fld>
            <a:endParaRPr lang="en-US"/>
          </a:p>
        </p:txBody>
      </p:sp>
      <p:sp>
        <p:nvSpPr>
          <p:cNvPr id="5" name="Rectangle 4">
            <a:extLst>
              <a:ext uri="{FF2B5EF4-FFF2-40B4-BE49-F238E27FC236}">
                <a16:creationId xmlns:a16="http://schemas.microsoft.com/office/drawing/2014/main" id="{0E82E217-F2BF-4276-ECA6-43A1107E7050}"/>
              </a:ext>
            </a:extLst>
          </p:cNvPr>
          <p:cNvSpPr/>
          <p:nvPr/>
        </p:nvSpPr>
        <p:spPr>
          <a:xfrm>
            <a:off x="838200" y="360361"/>
            <a:ext cx="87630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9F6B850-252E-A52C-8D59-3A569939E996}"/>
              </a:ext>
            </a:extLst>
          </p:cNvPr>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97701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0-1 Knapsack Problem </a:t>
            </a:r>
            <a:r>
              <a:rPr lang="en-US" altLang="zh-TW" b="1" dirty="0" err="1">
                <a:latin typeface="Times New Roman" panose="02020603050405020304" pitchFamily="18" charset="0"/>
                <a:cs typeface="Times New Roman" panose="02020603050405020304" pitchFamily="18" charset="0"/>
              </a:rPr>
              <a:t>Contd</a:t>
            </a:r>
            <a:r>
              <a:rPr lang="en-US" altLang="zh-TW" b="1" dirty="0">
                <a:latin typeface="Times New Roman" panose="02020603050405020304" pitchFamily="18" charset="0"/>
                <a:cs typeface="Times New Roman" panose="02020603050405020304" pitchFamily="18" charset="0"/>
              </a:rPr>
              <a:t>…</a:t>
            </a:r>
            <a:endParaRPr lang="en-US" dirty="0"/>
          </a:p>
        </p:txBody>
      </p:sp>
      <p:sp>
        <p:nvSpPr>
          <p:cNvPr id="3" name="Content Placeholder 2"/>
          <p:cNvSpPr>
            <a:spLocks noGrp="1"/>
          </p:cNvSpPr>
          <p:nvPr>
            <p:ph idx="1"/>
          </p:nvPr>
        </p:nvSpPr>
        <p:spPr/>
        <p:txBody>
          <a:bodyPr>
            <a:normAutofit/>
          </a:bodyPr>
          <a:lstStyle/>
          <a:p>
            <a:pPr algn="just">
              <a:defRPr/>
            </a:pPr>
            <a:r>
              <a:rPr lang="en-US" sz="2400" dirty="0">
                <a:latin typeface="Times New Roman" panose="02020603050405020304" pitchFamily="18" charset="0"/>
                <a:cs typeface="Times New Roman" panose="02020603050405020304" pitchFamily="18" charset="0"/>
              </a:rPr>
              <a:t>In 0/1 Knapsack Problem,</a:t>
            </a:r>
          </a:p>
          <a:p>
            <a:pPr algn="just">
              <a:defRPr/>
            </a:pPr>
            <a:r>
              <a:rPr lang="en-US" sz="2400" dirty="0">
                <a:latin typeface="Times New Roman" panose="02020603050405020304" pitchFamily="18" charset="0"/>
                <a:cs typeface="Times New Roman" panose="02020603050405020304" pitchFamily="18" charset="0"/>
              </a:rPr>
              <a:t>As the name suggests, items are indivisible here.</a:t>
            </a:r>
          </a:p>
          <a:p>
            <a:pPr algn="just">
              <a:defRPr/>
            </a:pPr>
            <a:r>
              <a:rPr lang="en-US" sz="2400" dirty="0">
                <a:latin typeface="Times New Roman" panose="02020603050405020304" pitchFamily="18" charset="0"/>
                <a:cs typeface="Times New Roman" panose="02020603050405020304" pitchFamily="18" charset="0"/>
              </a:rPr>
              <a:t>We can not take the fraction of any item.</a:t>
            </a:r>
          </a:p>
          <a:p>
            <a:pPr algn="just">
              <a:defRPr/>
            </a:pPr>
            <a:r>
              <a:rPr lang="en-US" sz="2400" dirty="0">
                <a:latin typeface="Times New Roman" panose="02020603050405020304" pitchFamily="18" charset="0"/>
                <a:cs typeface="Times New Roman" panose="02020603050405020304" pitchFamily="18" charset="0"/>
              </a:rPr>
              <a:t>We have to either take an item completely or leave it completely.</a:t>
            </a:r>
          </a:p>
          <a:p>
            <a:pPr algn="just">
              <a:defRPr/>
            </a:pPr>
            <a:r>
              <a:rPr lang="en-US" sz="2400" dirty="0">
                <a:latin typeface="Times New Roman" panose="02020603050405020304" pitchFamily="18" charset="0"/>
                <a:cs typeface="Times New Roman" panose="02020603050405020304" pitchFamily="18" charset="0"/>
              </a:rPr>
              <a:t>It is solved using dynamic programming approach.</a:t>
            </a:r>
          </a:p>
        </p:txBody>
      </p:sp>
      <p:sp>
        <p:nvSpPr>
          <p:cNvPr id="4" name="Slide Number Placeholder 3"/>
          <p:cNvSpPr>
            <a:spLocks noGrp="1"/>
          </p:cNvSpPr>
          <p:nvPr>
            <p:ph type="sldNum" sz="quarter" idx="12"/>
          </p:nvPr>
        </p:nvSpPr>
        <p:spPr/>
        <p:txBody>
          <a:bodyPr/>
          <a:lstStyle/>
          <a:p>
            <a:fld id="{BDCDBBEF-AA6C-4BA6-85B2-A17D7F280E38}" type="slidenum">
              <a:rPr lang="en-US" smtClean="0"/>
              <a:t>50</a:t>
            </a:fld>
            <a:endParaRPr lang="en-US"/>
          </a:p>
        </p:txBody>
      </p:sp>
      <p:sp>
        <p:nvSpPr>
          <p:cNvPr id="5" name="Rectangle 4"/>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2235"/>
            <a:ext cx="8468360" cy="1007745"/>
          </a:xfrm>
        </p:spPr>
        <p:txBody>
          <a:bodyPr/>
          <a:lstStyle/>
          <a:p>
            <a:pPr algn="ctr"/>
            <a:r>
              <a:rPr lang="en-US" altLang="zh-TW" b="1" dirty="0">
                <a:latin typeface="Times New Roman" panose="02020603050405020304" pitchFamily="18" charset="0"/>
                <a:cs typeface="Times New Roman" panose="02020603050405020304" pitchFamily="18" charset="0"/>
              </a:rPr>
              <a:t>0-1 Knapsack Problem </a:t>
            </a:r>
            <a:r>
              <a:rPr lang="en-US" altLang="zh-TW" b="1" dirty="0" err="1">
                <a:latin typeface="Times New Roman" panose="02020603050405020304" pitchFamily="18" charset="0"/>
                <a:cs typeface="Times New Roman" panose="02020603050405020304" pitchFamily="18" charset="0"/>
              </a:rPr>
              <a:t>Contd</a:t>
            </a:r>
            <a:r>
              <a:rPr lang="en-US" altLang="zh-TW" b="1" dirty="0">
                <a:latin typeface="Times New Roman" panose="02020603050405020304" pitchFamily="18" charset="0"/>
                <a:cs typeface="Times New Roman" panose="02020603050405020304" pitchFamily="18" charset="0"/>
              </a:rPr>
              <a:t>…</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t>51</a:t>
            </a:fld>
            <a:endParaRPr lang="en-US"/>
          </a:p>
        </p:txBody>
      </p:sp>
      <p:sp>
        <p:nvSpPr>
          <p:cNvPr id="5" name="Rectangle 4"/>
          <p:cNvSpPr/>
          <p:nvPr/>
        </p:nvSpPr>
        <p:spPr>
          <a:xfrm>
            <a:off x="952500" y="102235"/>
            <a:ext cx="8354060" cy="10071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313180"/>
            <a:ext cx="10515600" cy="540766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Box 7"/>
          <p:cNvSpPr txBox="1"/>
          <p:nvPr/>
        </p:nvSpPr>
        <p:spPr>
          <a:xfrm>
            <a:off x="837565" y="1327785"/>
            <a:ext cx="10516235" cy="5262245"/>
          </a:xfrm>
          <a:prstGeom prst="rect">
            <a:avLst/>
          </a:prstGeom>
          <a:noFill/>
        </p:spPr>
        <p:txBody>
          <a:bodyPr wrap="square" rtlCol="0" anchor="t">
            <a:spAutoFit/>
          </a:bodyPr>
          <a:lstStyle/>
          <a:p>
            <a:r>
              <a:rPr lang="en-US" sz="2400" b="1">
                <a:latin typeface="Times New Roman" panose="02020603050405020304" pitchFamily="18" charset="0"/>
                <a:cs typeface="Times New Roman" panose="02020603050405020304" pitchFamily="18" charset="0"/>
              </a:rPr>
              <a:t>Problem-</a:t>
            </a:r>
          </a:p>
          <a:p>
            <a:r>
              <a:rPr lang="en-US" sz="2400">
                <a:latin typeface="Times New Roman" panose="02020603050405020304" pitchFamily="18" charset="0"/>
                <a:cs typeface="Times New Roman" panose="02020603050405020304" pitchFamily="18" charset="0"/>
              </a:rPr>
              <a:t> For the given set of items and knapsack capacity = 5 kg, find the optimal solution for the 0/1 knapsack problem making use of dynamic programming approach.</a:t>
            </a:r>
          </a:p>
          <a:p>
            <a:endParaRPr lang="en-US" sz="2400">
              <a:latin typeface="Times New Roman" panose="02020603050405020304" pitchFamily="18" charset="0"/>
              <a:cs typeface="Times New Roman" panose="02020603050405020304" pitchFamily="18" charset="0"/>
            </a:endParaRPr>
          </a:p>
          <a:p>
            <a:endParaRPr lang="en-US" sz="2400">
              <a:latin typeface="Times New Roman" panose="02020603050405020304" pitchFamily="18" charset="0"/>
              <a:cs typeface="Times New Roman" panose="02020603050405020304" pitchFamily="18" charset="0"/>
            </a:endParaRPr>
          </a:p>
          <a:p>
            <a:endParaRPr lang="en-US" sz="2400">
              <a:latin typeface="Times New Roman" panose="02020603050405020304" pitchFamily="18" charset="0"/>
              <a:cs typeface="Times New Roman" panose="02020603050405020304" pitchFamily="18" charset="0"/>
            </a:endParaRPr>
          </a:p>
          <a:p>
            <a:endParaRPr lang="en-US" sz="2400">
              <a:latin typeface="Times New Roman" panose="02020603050405020304" pitchFamily="18" charset="0"/>
              <a:cs typeface="Times New Roman" panose="02020603050405020304" pitchFamily="18" charset="0"/>
            </a:endParaRPr>
          </a:p>
          <a:p>
            <a:r>
              <a:rPr lang="en-US" sz="2400" b="1">
                <a:latin typeface="Times New Roman" panose="02020603050405020304" pitchFamily="18" charset="0"/>
                <a:cs typeface="Times New Roman" panose="02020603050405020304" pitchFamily="18" charset="0"/>
              </a:rPr>
              <a:t>OR</a:t>
            </a:r>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Find the optimal solution for the 0/1 knapsack problem making use of dynamic programming approach. Consider-</a:t>
            </a:r>
          </a:p>
          <a:p>
            <a:r>
              <a:rPr lang="en-US" sz="2400">
                <a:latin typeface="Times New Roman" panose="02020603050405020304" pitchFamily="18" charset="0"/>
                <a:cs typeface="Times New Roman" panose="02020603050405020304" pitchFamily="18" charset="0"/>
              </a:rPr>
              <a:t>n = 4</a:t>
            </a:r>
          </a:p>
          <a:p>
            <a:r>
              <a:rPr lang="en-US" sz="2400">
                <a:latin typeface="Times New Roman" panose="02020603050405020304" pitchFamily="18" charset="0"/>
                <a:cs typeface="Times New Roman" panose="02020603050405020304" pitchFamily="18" charset="0"/>
              </a:rPr>
              <a:t>w = 5 kg</a:t>
            </a:r>
          </a:p>
          <a:p>
            <a:r>
              <a:rPr lang="en-US" sz="2400">
                <a:latin typeface="Times New Roman" panose="02020603050405020304" pitchFamily="18" charset="0"/>
                <a:cs typeface="Times New Roman" panose="02020603050405020304" pitchFamily="18" charset="0"/>
              </a:rPr>
              <a:t>(w1, w2, w3, w4) = (2, 3, 4, 5)</a:t>
            </a:r>
          </a:p>
          <a:p>
            <a:r>
              <a:rPr lang="en-US" sz="2400">
                <a:latin typeface="Times New Roman" panose="02020603050405020304" pitchFamily="18" charset="0"/>
                <a:cs typeface="Times New Roman" panose="02020603050405020304" pitchFamily="18" charset="0"/>
              </a:rPr>
              <a:t>(b1, b2, b3, b4) = (3, 4, 5, 6)</a:t>
            </a:r>
          </a:p>
        </p:txBody>
      </p:sp>
      <p:pic>
        <p:nvPicPr>
          <p:cNvPr id="9" name="Content Placeholder 8"/>
          <p:cNvPicPr>
            <a:picLocks noGrp="1" noChangeAspect="1"/>
          </p:cNvPicPr>
          <p:nvPr>
            <p:ph idx="1"/>
          </p:nvPr>
        </p:nvPicPr>
        <p:blipFill>
          <a:blip r:embed="rId2"/>
          <a:stretch>
            <a:fillRect/>
          </a:stretch>
        </p:blipFill>
        <p:spPr>
          <a:xfrm>
            <a:off x="4064635" y="2475230"/>
            <a:ext cx="2628265" cy="179641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08585"/>
            <a:ext cx="10859135" cy="6750050"/>
          </a:xfrm>
        </p:spPr>
        <p:txBody>
          <a:bodyPr>
            <a:noAutofit/>
          </a:bodyPr>
          <a:lstStyle/>
          <a:p>
            <a:pPr algn="just">
              <a:buFont typeface="Wingdings 2" panose="05020102010507070707" pitchFamily="18" charset="2"/>
              <a:buNone/>
            </a:pPr>
            <a:r>
              <a:rPr lang="en-US" sz="1800" dirty="0">
                <a:latin typeface="Times New Roman" panose="02020603050405020304" pitchFamily="18" charset="0"/>
                <a:cs typeface="Times New Roman" panose="02020603050405020304" pitchFamily="18" charset="0"/>
              </a:rPr>
              <a:t>Knapsack weight capacity = w</a:t>
            </a:r>
          </a:p>
          <a:p>
            <a:pPr algn="just">
              <a:buFont typeface="Wingdings 2" panose="05020102010507070707" pitchFamily="18" charset="2"/>
              <a:buNone/>
            </a:pPr>
            <a:r>
              <a:rPr lang="en-US" sz="1800" dirty="0">
                <a:latin typeface="Times New Roman" panose="02020603050405020304" pitchFamily="18" charset="0"/>
                <a:cs typeface="Times New Roman" panose="02020603050405020304" pitchFamily="18" charset="0"/>
              </a:rPr>
              <a:t>Number of items each having some weight and value = n</a:t>
            </a:r>
          </a:p>
          <a:p>
            <a:pPr algn="just">
              <a:buFont typeface="Wingdings 2" panose="05020102010507070707" pitchFamily="18" charset="2"/>
              <a:buNone/>
            </a:pPr>
            <a:r>
              <a:rPr lang="en-US" sz="1800" b="1" dirty="0">
                <a:latin typeface="Times New Roman" panose="02020603050405020304" pitchFamily="18" charset="0"/>
                <a:cs typeface="Times New Roman" panose="02020603050405020304" pitchFamily="18" charset="0"/>
              </a:rPr>
              <a:t> 0/1 knapsack problem is solved using dynamic programming in the following steps-</a:t>
            </a:r>
          </a:p>
          <a:p>
            <a:pPr algn="just">
              <a:buFont typeface="Wingdings 2" panose="05020102010507070707" pitchFamily="18" charset="2"/>
              <a:buNone/>
            </a:pPr>
            <a:r>
              <a:rPr lang="en-US" sz="1800" b="1" dirty="0">
                <a:latin typeface="Times New Roman" panose="02020603050405020304" pitchFamily="18" charset="0"/>
                <a:cs typeface="Times New Roman" panose="02020603050405020304" pitchFamily="18" charset="0"/>
              </a:rPr>
              <a:t>Step-01:</a:t>
            </a:r>
          </a:p>
          <a:p>
            <a:pPr algn="just">
              <a:buFont typeface="Wingdings 2" panose="05020102010507070707" pitchFamily="18" charset="2"/>
              <a:buNone/>
            </a:pPr>
            <a:r>
              <a:rPr lang="en-US" sz="1800" dirty="0">
                <a:latin typeface="Times New Roman" panose="02020603050405020304" pitchFamily="18" charset="0"/>
                <a:cs typeface="Times New Roman" panose="02020603050405020304" pitchFamily="18" charset="0"/>
              </a:rPr>
              <a:t> Draw a table say ‘T’ with (n+1) number of rows and (w+1) number of columns.</a:t>
            </a:r>
          </a:p>
          <a:p>
            <a:pPr algn="just">
              <a:buFont typeface="Wingdings 2" panose="05020102010507070707" pitchFamily="18" charset="2"/>
              <a:buNone/>
            </a:pPr>
            <a:r>
              <a:rPr lang="en-US" sz="1800" dirty="0">
                <a:latin typeface="Times New Roman" panose="02020603050405020304" pitchFamily="18" charset="0"/>
                <a:cs typeface="Times New Roman" panose="02020603050405020304" pitchFamily="18" charset="0"/>
              </a:rPr>
              <a:t>Fill all the boxes of 0th row and 0th column with zeroes as shown-</a:t>
            </a:r>
          </a:p>
          <a:p>
            <a:pPr algn="just">
              <a:buFont typeface="Wingdings 2" panose="05020102010507070707" pitchFamily="18" charset="2"/>
              <a:buNone/>
            </a:pPr>
            <a:r>
              <a:rPr lang="en-US" sz="1800" b="1" dirty="0">
                <a:latin typeface="Times New Roman" panose="02020603050405020304" pitchFamily="18" charset="0"/>
                <a:cs typeface="Times New Roman" panose="02020603050405020304" pitchFamily="18" charset="0"/>
              </a:rPr>
              <a:t>Step-02:</a:t>
            </a:r>
          </a:p>
          <a:p>
            <a:pPr algn="just">
              <a:buFont typeface="Wingdings 2" panose="05020102010507070707" pitchFamily="18" charset="2"/>
              <a:buNone/>
            </a:pPr>
            <a:r>
              <a:rPr lang="en-US" sz="1800" dirty="0">
                <a:latin typeface="Times New Roman" panose="02020603050405020304" pitchFamily="18" charset="0"/>
                <a:cs typeface="Times New Roman" panose="02020603050405020304" pitchFamily="18" charset="0"/>
              </a:rPr>
              <a:t> Start filling the table row wise top to bottom from left to right.</a:t>
            </a:r>
          </a:p>
          <a:p>
            <a:pPr algn="just">
              <a:buFont typeface="Wingdings 2" panose="05020102010507070707" pitchFamily="18" charset="2"/>
              <a:buNone/>
            </a:pPr>
            <a:r>
              <a:rPr lang="en-US" sz="1800" dirty="0">
                <a:latin typeface="Times New Roman" panose="02020603050405020304" pitchFamily="18" charset="0"/>
                <a:cs typeface="Times New Roman" panose="02020603050405020304" pitchFamily="18" charset="0"/>
              </a:rPr>
              <a:t>Use the following formula- </a:t>
            </a:r>
            <a:r>
              <a:rPr lang="en-US" sz="2000" b="1" dirty="0">
                <a:latin typeface="Times New Roman" panose="02020603050405020304" pitchFamily="18" charset="0"/>
                <a:cs typeface="Times New Roman" panose="02020603050405020304" pitchFamily="18" charset="0"/>
                <a:sym typeface="+mn-ea"/>
              </a:rPr>
              <a:t>T (i , j) = max { T ( i-1 , j ) , T( i-1 , j – weight[</a:t>
            </a:r>
            <a:r>
              <a:rPr lang="en-US" sz="2000" b="1" dirty="0" err="1">
                <a:latin typeface="Times New Roman" panose="02020603050405020304" pitchFamily="18" charset="0"/>
                <a:cs typeface="Times New Roman" panose="02020603050405020304" pitchFamily="18" charset="0"/>
                <a:sym typeface="+mn-ea"/>
              </a:rPr>
              <a:t>i</a:t>
            </a:r>
            <a:r>
              <a:rPr lang="en-US" sz="2000" b="1" dirty="0">
                <a:latin typeface="Times New Roman" panose="02020603050405020304" pitchFamily="18" charset="0"/>
                <a:cs typeface="Times New Roman" panose="02020603050405020304" pitchFamily="18" charset="0"/>
                <a:sym typeface="+mn-ea"/>
              </a:rPr>
              <a:t>]+P[i] }</a:t>
            </a:r>
            <a:endParaRPr lang="en-US" sz="1800" dirty="0">
              <a:latin typeface="Times New Roman" panose="02020603050405020304" pitchFamily="18" charset="0"/>
              <a:cs typeface="Times New Roman" panose="02020603050405020304" pitchFamily="18" charset="0"/>
            </a:endParaRPr>
          </a:p>
          <a:p>
            <a:pPr algn="just">
              <a:buFont typeface="Wingdings 2" panose="05020102010507070707" pitchFamily="18" charset="2"/>
              <a:buNone/>
            </a:pPr>
            <a:r>
              <a:rPr lang="en-US" sz="1800" dirty="0">
                <a:latin typeface="Times New Roman" panose="02020603050405020304" pitchFamily="18" charset="0"/>
                <a:cs typeface="Times New Roman" panose="02020603050405020304" pitchFamily="18" charset="0"/>
              </a:rPr>
              <a:t>Here, T(i , j) = maximum value of the selected items if we can take items 1 to i and have weight restrictions of j.</a:t>
            </a:r>
          </a:p>
          <a:p>
            <a:pPr algn="just">
              <a:buFont typeface="Wingdings 2" panose="05020102010507070707" pitchFamily="18" charset="2"/>
              <a:buNone/>
            </a:pPr>
            <a:r>
              <a:rPr lang="en-US" sz="1800" dirty="0">
                <a:latin typeface="Times New Roman" panose="02020603050405020304" pitchFamily="18" charset="0"/>
                <a:cs typeface="Times New Roman" panose="02020603050405020304" pitchFamily="18" charset="0"/>
              </a:rPr>
              <a:t>This step leads to completely filling the table.</a:t>
            </a:r>
          </a:p>
          <a:p>
            <a:pPr algn="just">
              <a:buFont typeface="Wingdings 2" panose="05020102010507070707" pitchFamily="18" charset="2"/>
              <a:buNone/>
            </a:pPr>
            <a:r>
              <a:rPr lang="en-US" sz="1800" dirty="0">
                <a:latin typeface="Times New Roman" panose="02020603050405020304" pitchFamily="18" charset="0"/>
                <a:cs typeface="Times New Roman" panose="02020603050405020304" pitchFamily="18" charset="0"/>
              </a:rPr>
              <a:t>Then, value of the last box represents the maximum possible value that can be put into the knapsack.</a:t>
            </a:r>
          </a:p>
          <a:p>
            <a:pPr algn="just">
              <a:buFont typeface="Wingdings 2" panose="05020102010507070707" pitchFamily="18" charset="2"/>
              <a:buNone/>
            </a:pPr>
            <a:r>
              <a:rPr lang="en-US" sz="1800" b="1" dirty="0">
                <a:latin typeface="Times New Roman" panose="02020603050405020304" pitchFamily="18" charset="0"/>
                <a:cs typeface="Times New Roman" panose="02020603050405020304" pitchFamily="18" charset="0"/>
              </a:rPr>
              <a:t> Step-03:</a:t>
            </a:r>
          </a:p>
          <a:p>
            <a:pPr algn="just">
              <a:buFont typeface="Wingdings 2" panose="05020102010507070707" pitchFamily="18" charset="2"/>
              <a:buNone/>
            </a:pP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To identify the items that must be put into the knapsack to obtain that maximum profit,</a:t>
            </a:r>
          </a:p>
          <a:p>
            <a:pPr algn="just">
              <a:buFont typeface="Wingdings 2" panose="05020102010507070707" pitchFamily="18" charset="2"/>
              <a:buNone/>
            </a:pPr>
            <a:r>
              <a:rPr lang="en-US" sz="1800" dirty="0">
                <a:latin typeface="Times New Roman" panose="02020603050405020304" pitchFamily="18" charset="0"/>
                <a:cs typeface="Times New Roman" panose="02020603050405020304" pitchFamily="18" charset="0"/>
              </a:rPr>
              <a:t>Consider the last column of the table.</a:t>
            </a:r>
          </a:p>
          <a:p>
            <a:pPr algn="just">
              <a:buFont typeface="Wingdings 2" panose="05020102010507070707" pitchFamily="18" charset="2"/>
              <a:buNone/>
            </a:pPr>
            <a:r>
              <a:rPr lang="en-US" sz="1800" dirty="0">
                <a:latin typeface="Times New Roman" panose="02020603050405020304" pitchFamily="18" charset="0"/>
                <a:cs typeface="Times New Roman" panose="02020603050405020304" pitchFamily="18" charset="0"/>
              </a:rPr>
              <a:t>Start scanning the entries from bottom to top. On encountering an entry whose value is not same as the value stored in the entry immediately above it, mark the row label of that entry. After all the entries are scanned, the marked labels represent the items that must be put into the knapsack.</a:t>
            </a:r>
          </a:p>
        </p:txBody>
      </p:sp>
      <p:sp>
        <p:nvSpPr>
          <p:cNvPr id="4" name="Slide Number Placeholder 3"/>
          <p:cNvSpPr>
            <a:spLocks noGrp="1"/>
          </p:cNvSpPr>
          <p:nvPr>
            <p:ph type="sldNum" sz="quarter" idx="12"/>
          </p:nvPr>
        </p:nvSpPr>
        <p:spPr/>
        <p:txBody>
          <a:bodyPr/>
          <a:lstStyle/>
          <a:p>
            <a:fld id="{BDCDBBEF-AA6C-4BA6-85B2-A17D7F280E38}" type="slidenum">
              <a:rPr lang="en-US" smtClean="0"/>
              <a:t>52</a:t>
            </a:fld>
            <a:endParaRPr lang="en-US"/>
          </a:p>
        </p:txBody>
      </p:sp>
      <p:sp>
        <p:nvSpPr>
          <p:cNvPr id="6" name="Rectangle 5"/>
          <p:cNvSpPr/>
          <p:nvPr/>
        </p:nvSpPr>
        <p:spPr>
          <a:xfrm>
            <a:off x="838200" y="109220"/>
            <a:ext cx="10772140" cy="67487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1" name="Content Placeholder 100"/>
          <p:cNvPicPr>
            <a:picLocks noGrp="1"/>
          </p:cNvPicPr>
          <p:nvPr>
            <p:ph sz="half" idx="2"/>
          </p:nvPr>
        </p:nvPicPr>
        <p:blipFill>
          <a:blip r:embed="rId2"/>
          <a:stretch>
            <a:fillRect/>
          </a:stretch>
        </p:blipFill>
        <p:spPr>
          <a:xfrm>
            <a:off x="8610600" y="1056640"/>
            <a:ext cx="2848610" cy="2118360"/>
          </a:xfrm>
          <a:prstGeom prst="rect">
            <a:avLst/>
          </a:prstGeom>
          <a:noFill/>
          <a:ln w="9525">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2235"/>
            <a:ext cx="8468360" cy="1007110"/>
          </a:xfrm>
        </p:spPr>
        <p:txBody>
          <a:bodyPr/>
          <a:lstStyle/>
          <a:p>
            <a:pPr algn="ctr"/>
            <a:r>
              <a:rPr lang="en-US" altLang="zh-TW" b="1" dirty="0">
                <a:latin typeface="Times New Roman" panose="02020603050405020304" pitchFamily="18" charset="0"/>
                <a:cs typeface="Times New Roman" panose="02020603050405020304" pitchFamily="18" charset="0"/>
              </a:rPr>
              <a:t>0-1 Knapsack Problem </a:t>
            </a:r>
            <a:r>
              <a:rPr lang="en-US" altLang="zh-TW" b="1" dirty="0" err="1">
                <a:latin typeface="Times New Roman" panose="02020603050405020304" pitchFamily="18" charset="0"/>
                <a:cs typeface="Times New Roman" panose="02020603050405020304" pitchFamily="18" charset="0"/>
              </a:rPr>
              <a:t>Contd</a:t>
            </a:r>
            <a:r>
              <a:rPr lang="en-US" altLang="zh-TW" b="1" dirty="0">
                <a:latin typeface="Times New Roman" panose="02020603050405020304" pitchFamily="18" charset="0"/>
                <a:cs typeface="Times New Roman" panose="02020603050405020304" pitchFamily="18" charset="0"/>
              </a:rPr>
              <a:t>…</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t>53</a:t>
            </a:fld>
            <a:endParaRPr lang="en-US"/>
          </a:p>
        </p:txBody>
      </p:sp>
      <p:sp>
        <p:nvSpPr>
          <p:cNvPr id="5" name="Rectangle 4"/>
          <p:cNvSpPr/>
          <p:nvPr/>
        </p:nvSpPr>
        <p:spPr>
          <a:xfrm>
            <a:off x="952500" y="102235"/>
            <a:ext cx="8354060" cy="10071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313180"/>
            <a:ext cx="10515600" cy="540766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Box 7"/>
          <p:cNvSpPr txBox="1"/>
          <p:nvPr/>
        </p:nvSpPr>
        <p:spPr>
          <a:xfrm>
            <a:off x="837565" y="1327785"/>
            <a:ext cx="6357620" cy="4523105"/>
          </a:xfrm>
          <a:prstGeom prst="rect">
            <a:avLst/>
          </a:prstGeom>
          <a:noFill/>
        </p:spPr>
        <p:txBody>
          <a:bodyPr wrap="square" rtlCol="0" anchor="t">
            <a:spAutoFit/>
          </a:bodyPr>
          <a:lstStyle/>
          <a:p>
            <a:r>
              <a:rPr lang="en-US" sz="2400">
                <a:latin typeface="Times New Roman" panose="02020603050405020304" pitchFamily="18" charset="0"/>
                <a:cs typeface="Times New Roman" panose="02020603050405020304" pitchFamily="18" charset="0"/>
              </a:rPr>
              <a:t>Knapsack capacity (w) = 5 kg</a:t>
            </a:r>
          </a:p>
          <a:p>
            <a:r>
              <a:rPr lang="en-US" sz="2400">
                <a:latin typeface="Times New Roman" panose="02020603050405020304" pitchFamily="18" charset="0"/>
                <a:cs typeface="Times New Roman" panose="02020603050405020304" pitchFamily="18" charset="0"/>
              </a:rPr>
              <a:t>Number of items (n) = 4</a:t>
            </a:r>
          </a:p>
          <a:p>
            <a:endParaRPr lang="en-US" sz="2400">
              <a:latin typeface="Times New Roman" panose="02020603050405020304" pitchFamily="18" charset="0"/>
              <a:cs typeface="Times New Roman" panose="02020603050405020304" pitchFamily="18" charset="0"/>
            </a:endParaRPr>
          </a:p>
          <a:p>
            <a:r>
              <a:rPr lang="en-US" sz="2400" b="1">
                <a:latin typeface="Times New Roman" panose="02020603050405020304" pitchFamily="18" charset="0"/>
                <a:cs typeface="Times New Roman" panose="02020603050405020304" pitchFamily="18" charset="0"/>
              </a:rPr>
              <a:t>Step-01:</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Draw a table say ‘T’ with (n+1) = 4 + 1 = 5 number of rows and (w+1) = 5 + 1 = 6 number of columns.</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Fill all the boxes of 0th row and 0th column with 0.</a:t>
            </a:r>
          </a:p>
          <a:p>
            <a:endParaRPr lang="en-US" sz="2400">
              <a:latin typeface="Times New Roman" panose="02020603050405020304" pitchFamily="18" charset="0"/>
              <a:cs typeface="Times New Roman" panose="02020603050405020304" pitchFamily="18" charset="0"/>
            </a:endParaRPr>
          </a:p>
        </p:txBody>
      </p:sp>
      <p:pic>
        <p:nvPicPr>
          <p:cNvPr id="100" name="Content Placeholder 99"/>
          <p:cNvPicPr>
            <a:picLocks noGrp="1"/>
          </p:cNvPicPr>
          <p:nvPr>
            <p:ph idx="1"/>
          </p:nvPr>
        </p:nvPicPr>
        <p:blipFill>
          <a:blip r:embed="rId2"/>
          <a:stretch>
            <a:fillRect/>
          </a:stretch>
        </p:blipFill>
        <p:spPr>
          <a:xfrm>
            <a:off x="7195185" y="2239010"/>
            <a:ext cx="4115435" cy="3134995"/>
          </a:xfrm>
          <a:prstGeom prst="rect">
            <a:avLst/>
          </a:prstGeom>
          <a:noFill/>
          <a:ln w="9525">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468360" cy="739140"/>
          </a:xfrm>
        </p:spPr>
        <p:txBody>
          <a:bodyPr/>
          <a:lstStyle/>
          <a:p>
            <a:pPr algn="ctr"/>
            <a:r>
              <a:rPr lang="en-US" altLang="zh-TW" b="1" dirty="0">
                <a:latin typeface="Times New Roman" panose="02020603050405020304" pitchFamily="18" charset="0"/>
                <a:cs typeface="Times New Roman" panose="02020603050405020304" pitchFamily="18" charset="0"/>
              </a:rPr>
              <a:t>0-1 Knapsack Problem </a:t>
            </a:r>
            <a:r>
              <a:rPr lang="en-US" altLang="zh-TW" b="1" dirty="0" err="1">
                <a:latin typeface="Times New Roman" panose="02020603050405020304" pitchFamily="18" charset="0"/>
                <a:cs typeface="Times New Roman" panose="02020603050405020304" pitchFamily="18" charset="0"/>
              </a:rPr>
              <a:t>Contd</a:t>
            </a:r>
            <a:r>
              <a:rPr lang="en-US" altLang="zh-TW" b="1" dirty="0">
                <a:latin typeface="Times New Roman" panose="02020603050405020304" pitchFamily="18" charset="0"/>
                <a:cs typeface="Times New Roman" panose="02020603050405020304" pitchFamily="18" charset="0"/>
              </a:rPr>
              <a:t>…</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t>54</a:t>
            </a:fld>
            <a:endParaRPr lang="en-US"/>
          </a:p>
        </p:txBody>
      </p:sp>
      <p:sp>
        <p:nvSpPr>
          <p:cNvPr id="5" name="Rectangle 4"/>
          <p:cNvSpPr/>
          <p:nvPr/>
        </p:nvSpPr>
        <p:spPr>
          <a:xfrm>
            <a:off x="952500" y="102235"/>
            <a:ext cx="8354060" cy="10071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313180"/>
            <a:ext cx="10515600" cy="540766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Box 7"/>
          <p:cNvSpPr txBox="1"/>
          <p:nvPr/>
        </p:nvSpPr>
        <p:spPr>
          <a:xfrm>
            <a:off x="837565" y="1327785"/>
            <a:ext cx="10516235" cy="5323205"/>
          </a:xfrm>
          <a:prstGeom prst="rect">
            <a:avLst/>
          </a:prstGeom>
          <a:noFill/>
        </p:spPr>
        <p:txBody>
          <a:bodyPr wrap="square" rtlCol="0" anchor="t">
            <a:spAutoFit/>
          </a:bodyPr>
          <a:lstStyle/>
          <a:p>
            <a:r>
              <a:rPr lang="en-US" sz="2400" b="1" dirty="0">
                <a:latin typeface="Times New Roman" panose="02020603050405020304" pitchFamily="18" charset="0"/>
                <a:cs typeface="Times New Roman" panose="02020603050405020304" pitchFamily="18" charset="0"/>
              </a:rPr>
              <a:t>Step-02:</a:t>
            </a:r>
          </a:p>
          <a:p>
            <a:r>
              <a:rPr lang="en-US" sz="2400" dirty="0">
                <a:latin typeface="Times New Roman" panose="02020603050405020304" pitchFamily="18" charset="0"/>
                <a:cs typeface="Times New Roman" panose="02020603050405020304" pitchFamily="18" charset="0"/>
              </a:rPr>
              <a:t>Start filling the table row wise top to bottom from left to right using the formula-</a:t>
            </a:r>
          </a:p>
          <a:p>
            <a:r>
              <a:rPr lang="en-US" sz="2400" b="1" dirty="0">
                <a:latin typeface="Times New Roman" panose="02020603050405020304" pitchFamily="18" charset="0"/>
                <a:cs typeface="Times New Roman" panose="02020603050405020304" pitchFamily="18" charset="0"/>
              </a:rPr>
              <a:t>T (</a:t>
            </a:r>
            <a:r>
              <a:rPr lang="en-US" sz="2400" b="1" dirty="0" err="1">
                <a:latin typeface="Times New Roman" panose="02020603050405020304" pitchFamily="18" charset="0"/>
                <a:cs typeface="Times New Roman" panose="02020603050405020304" pitchFamily="18" charset="0"/>
              </a:rPr>
              <a:t>i</a:t>
            </a:r>
            <a:r>
              <a:rPr lang="en-US" sz="2400" b="1" dirty="0">
                <a:latin typeface="Times New Roman" panose="02020603050405020304" pitchFamily="18" charset="0"/>
                <a:cs typeface="Times New Roman" panose="02020603050405020304" pitchFamily="18" charset="0"/>
              </a:rPr>
              <a:t> , j) = max { T ( i-1 , j ) ,T( i-1 , j – weight[</a:t>
            </a:r>
            <a:r>
              <a:rPr lang="en-US" sz="2400" b="1" dirty="0" err="1">
                <a:latin typeface="Times New Roman" panose="02020603050405020304" pitchFamily="18" charset="0"/>
                <a:cs typeface="Times New Roman" panose="02020603050405020304" pitchFamily="18" charset="0"/>
              </a:rPr>
              <a:t>i</a:t>
            </a:r>
            <a:r>
              <a:rPr lang="en-US" sz="2400" b="1" dirty="0">
                <a:latin typeface="Times New Roman" panose="02020603050405020304" pitchFamily="18" charset="0"/>
                <a:cs typeface="Times New Roman" panose="02020603050405020304" pitchFamily="18" charset="0"/>
              </a:rPr>
              <a:t>])+P[</a:t>
            </a:r>
            <a:r>
              <a:rPr lang="en-US" sz="2400" b="1" dirty="0" err="1">
                <a:latin typeface="Times New Roman" panose="02020603050405020304" pitchFamily="18" charset="0"/>
                <a:cs typeface="Times New Roman" panose="02020603050405020304" pitchFamily="18" charset="0"/>
              </a:rPr>
              <a:t>i</a:t>
            </a:r>
            <a:r>
              <a:rPr lang="en-US" sz="2400" b="1" dirty="0">
                <a:latin typeface="Times New Roman" panose="02020603050405020304" pitchFamily="18" charset="0"/>
                <a:cs typeface="Times New Roman" panose="02020603050405020304" pitchFamily="18" charset="0"/>
              </a:rPr>
              <a:t>] }</a:t>
            </a: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Finding T(1,1)-</a:t>
            </a:r>
          </a:p>
          <a:p>
            <a:r>
              <a:rPr lang="en-US" sz="2200" dirty="0">
                <a:latin typeface="Times New Roman" panose="02020603050405020304" pitchFamily="18" charset="0"/>
                <a:cs typeface="Times New Roman" panose="02020603050405020304" pitchFamily="18" charset="0"/>
              </a:rPr>
              <a:t>We have,</a:t>
            </a:r>
          </a:p>
          <a:p>
            <a:r>
              <a:rPr lang="en-US" sz="2200" dirty="0" err="1">
                <a:latin typeface="Times New Roman" panose="02020603050405020304" pitchFamily="18" charset="0"/>
                <a:cs typeface="Times New Roman" panose="02020603050405020304" pitchFamily="18" charset="0"/>
              </a:rPr>
              <a:t>i</a:t>
            </a:r>
            <a:r>
              <a:rPr lang="en-US" sz="2200" dirty="0">
                <a:latin typeface="Times New Roman" panose="02020603050405020304" pitchFamily="18" charset="0"/>
                <a:cs typeface="Times New Roman" panose="02020603050405020304" pitchFamily="18" charset="0"/>
              </a:rPr>
              <a:t> = 1</a:t>
            </a:r>
          </a:p>
          <a:p>
            <a:r>
              <a:rPr lang="en-US" sz="2200" dirty="0">
                <a:latin typeface="Times New Roman" panose="02020603050405020304" pitchFamily="18" charset="0"/>
                <a:cs typeface="Times New Roman" panose="02020603050405020304" pitchFamily="18" charset="0"/>
              </a:rPr>
              <a:t>j = 1</a:t>
            </a:r>
          </a:p>
          <a:p>
            <a:r>
              <a:rPr lang="en-US" sz="2200" dirty="0">
                <a:latin typeface="Times New Roman" panose="02020603050405020304" pitchFamily="18" charset="0"/>
                <a:cs typeface="Times New Roman" panose="02020603050405020304" pitchFamily="18" charset="0"/>
              </a:rPr>
              <a:t>(value)</a:t>
            </a:r>
            <a:r>
              <a:rPr lang="en-US" sz="2200" dirty="0" err="1">
                <a:latin typeface="Times New Roman" panose="02020603050405020304" pitchFamily="18" charset="0"/>
                <a:cs typeface="Times New Roman" panose="02020603050405020304" pitchFamily="18" charset="0"/>
              </a:rPr>
              <a:t>i</a:t>
            </a:r>
            <a:r>
              <a:rPr lang="en-US" sz="2200" dirty="0">
                <a:latin typeface="Times New Roman" panose="02020603050405020304" pitchFamily="18" charset="0"/>
                <a:cs typeface="Times New Roman" panose="02020603050405020304" pitchFamily="18" charset="0"/>
              </a:rPr>
              <a:t> = (value)1 = 3</a:t>
            </a:r>
          </a:p>
          <a:p>
            <a:r>
              <a:rPr lang="en-US" sz="2200" dirty="0">
                <a:latin typeface="Times New Roman" panose="02020603050405020304" pitchFamily="18" charset="0"/>
                <a:cs typeface="Times New Roman" panose="02020603050405020304" pitchFamily="18" charset="0"/>
              </a:rPr>
              <a:t>(weight)</a:t>
            </a:r>
            <a:r>
              <a:rPr lang="en-US" sz="2200" dirty="0" err="1">
                <a:latin typeface="Times New Roman" panose="02020603050405020304" pitchFamily="18" charset="0"/>
                <a:cs typeface="Times New Roman" panose="02020603050405020304" pitchFamily="18" charset="0"/>
              </a:rPr>
              <a:t>i</a:t>
            </a:r>
            <a:r>
              <a:rPr lang="en-US" sz="2200" dirty="0">
                <a:latin typeface="Times New Roman" panose="02020603050405020304" pitchFamily="18" charset="0"/>
                <a:cs typeface="Times New Roman" panose="02020603050405020304" pitchFamily="18" charset="0"/>
              </a:rPr>
              <a:t> = (weight)1 = 2</a:t>
            </a:r>
          </a:p>
          <a:p>
            <a:r>
              <a:rPr lang="en-US" sz="2200" dirty="0">
                <a:latin typeface="Times New Roman" panose="02020603050405020304" pitchFamily="18" charset="0"/>
                <a:cs typeface="Times New Roman" panose="02020603050405020304" pitchFamily="18" charset="0"/>
              </a:rPr>
              <a:t> Substituting the values, we get-</a:t>
            </a:r>
          </a:p>
          <a:p>
            <a:r>
              <a:rPr lang="en-US" sz="2200" dirty="0">
                <a:latin typeface="Times New Roman" panose="02020603050405020304" pitchFamily="18" charset="0"/>
                <a:cs typeface="Times New Roman" panose="02020603050405020304" pitchFamily="18" charset="0"/>
              </a:rPr>
              <a:t>T(1,1) = max { T(1-1 , 1) , T(1-1 , 1-2) + 3}</a:t>
            </a:r>
          </a:p>
          <a:p>
            <a:r>
              <a:rPr lang="en-US" sz="2200" dirty="0">
                <a:latin typeface="Times New Roman" panose="02020603050405020304" pitchFamily="18" charset="0"/>
                <a:cs typeface="Times New Roman" panose="02020603050405020304" pitchFamily="18" charset="0"/>
              </a:rPr>
              <a:t>T(1,1) = max { T(0,1) , T(0,-1) + 3 }</a:t>
            </a:r>
          </a:p>
          <a:p>
            <a:r>
              <a:rPr lang="en-US" sz="2200" dirty="0">
                <a:latin typeface="Times New Roman" panose="02020603050405020304" pitchFamily="18" charset="0"/>
                <a:cs typeface="Times New Roman" panose="02020603050405020304" pitchFamily="18" charset="0"/>
              </a:rPr>
              <a:t>T(1,1) = T(0,1)                                                         { Ignore T(0,-1) }</a:t>
            </a:r>
          </a:p>
          <a:p>
            <a:r>
              <a:rPr lang="en-US" sz="2200" dirty="0">
                <a:latin typeface="Times New Roman" panose="02020603050405020304" pitchFamily="18" charset="0"/>
                <a:cs typeface="Times New Roman" panose="02020603050405020304" pitchFamily="18" charset="0"/>
              </a:rPr>
              <a:t>T(1,1) = 0</a:t>
            </a:r>
          </a:p>
        </p:txBody>
      </p:sp>
      <p:pic>
        <p:nvPicPr>
          <p:cNvPr id="9" name="Content Placeholder 8"/>
          <p:cNvPicPr>
            <a:picLocks noGrp="1" noChangeAspect="1"/>
          </p:cNvPicPr>
          <p:nvPr>
            <p:ph sz="half" idx="1"/>
          </p:nvPr>
        </p:nvPicPr>
        <p:blipFill>
          <a:blip r:embed="rId2"/>
          <a:stretch>
            <a:fillRect/>
          </a:stretch>
        </p:blipFill>
        <p:spPr>
          <a:xfrm>
            <a:off x="8349615" y="2782570"/>
            <a:ext cx="2857500" cy="1952625"/>
          </a:xfrm>
          <a:prstGeom prst="rect">
            <a:avLst/>
          </a:prstGeom>
        </p:spPr>
      </p:pic>
      <p:pic>
        <p:nvPicPr>
          <p:cNvPr id="100" name="Content Placeholder 99"/>
          <p:cNvPicPr>
            <a:picLocks noGrp="1" noChangeAspect="1"/>
          </p:cNvPicPr>
          <p:nvPr>
            <p:ph sz="half" idx="2"/>
          </p:nvPr>
        </p:nvPicPr>
        <p:blipFill>
          <a:blip r:embed="rId3"/>
          <a:stretch>
            <a:fillRect/>
          </a:stretch>
        </p:blipFill>
        <p:spPr>
          <a:xfrm>
            <a:off x="4376420" y="2472055"/>
            <a:ext cx="3829050" cy="2628900"/>
          </a:xfrm>
          <a:prstGeom prst="rect">
            <a:avLst/>
          </a:prstGeom>
          <a:noFill/>
          <a:ln w="9525">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2235"/>
            <a:ext cx="8468360" cy="1007110"/>
          </a:xfrm>
        </p:spPr>
        <p:txBody>
          <a:bodyPr/>
          <a:lstStyle/>
          <a:p>
            <a:pPr algn="ctr"/>
            <a:r>
              <a:rPr lang="en-US" altLang="zh-TW" b="1" dirty="0">
                <a:latin typeface="Times New Roman" panose="02020603050405020304" pitchFamily="18" charset="0"/>
                <a:cs typeface="Times New Roman" panose="02020603050405020304" pitchFamily="18" charset="0"/>
              </a:rPr>
              <a:t>0-1 Knapsack Problem </a:t>
            </a:r>
            <a:r>
              <a:rPr lang="en-US" altLang="zh-TW" b="1" dirty="0" err="1">
                <a:latin typeface="Times New Roman" panose="02020603050405020304" pitchFamily="18" charset="0"/>
                <a:cs typeface="Times New Roman" panose="02020603050405020304" pitchFamily="18" charset="0"/>
              </a:rPr>
              <a:t>Contd</a:t>
            </a:r>
            <a:r>
              <a:rPr lang="en-US" altLang="zh-TW" b="1" dirty="0">
                <a:latin typeface="Times New Roman" panose="02020603050405020304" pitchFamily="18" charset="0"/>
                <a:cs typeface="Times New Roman" panose="02020603050405020304" pitchFamily="18" charset="0"/>
              </a:rPr>
              <a:t>…</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t>55</a:t>
            </a:fld>
            <a:endParaRPr lang="en-US"/>
          </a:p>
        </p:txBody>
      </p:sp>
      <p:sp>
        <p:nvSpPr>
          <p:cNvPr id="5" name="Rectangle 4"/>
          <p:cNvSpPr/>
          <p:nvPr/>
        </p:nvSpPr>
        <p:spPr>
          <a:xfrm>
            <a:off x="952500" y="102235"/>
            <a:ext cx="8354060" cy="10071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40995" y="1313180"/>
            <a:ext cx="11012805" cy="527748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Box 7"/>
          <p:cNvSpPr txBox="1"/>
          <p:nvPr/>
        </p:nvSpPr>
        <p:spPr>
          <a:xfrm>
            <a:off x="340995" y="1342390"/>
            <a:ext cx="6094095" cy="4154170"/>
          </a:xfrm>
          <a:prstGeom prst="rect">
            <a:avLst/>
          </a:prstGeom>
          <a:noFill/>
        </p:spPr>
        <p:txBody>
          <a:bodyPr wrap="square" rtlCol="0" anchor="t">
            <a:spAutoFit/>
          </a:bodyPr>
          <a:lstStyle/>
          <a:p>
            <a:r>
              <a:rPr lang="en-US" sz="2200" b="1">
                <a:latin typeface="Times New Roman" panose="02020603050405020304" pitchFamily="18" charset="0"/>
                <a:cs typeface="Times New Roman" panose="02020603050405020304" pitchFamily="18" charset="0"/>
              </a:rPr>
              <a:t>Step-02:</a:t>
            </a:r>
          </a:p>
          <a:p>
            <a:r>
              <a:rPr lang="en-US" sz="2200" b="1">
                <a:latin typeface="Times New Roman" panose="02020603050405020304" pitchFamily="18" charset="0"/>
                <a:cs typeface="Times New Roman" panose="02020603050405020304" pitchFamily="18" charset="0"/>
              </a:rPr>
              <a:t>Finding T(1,2)-</a:t>
            </a:r>
          </a:p>
          <a:p>
            <a:r>
              <a:rPr lang="en-US" sz="2200">
                <a:latin typeface="Times New Roman" panose="02020603050405020304" pitchFamily="18" charset="0"/>
                <a:cs typeface="Times New Roman" panose="02020603050405020304" pitchFamily="18" charset="0"/>
              </a:rPr>
              <a:t>We have,</a:t>
            </a:r>
          </a:p>
          <a:p>
            <a:r>
              <a:rPr lang="en-US" sz="2200">
                <a:latin typeface="Times New Roman" panose="02020603050405020304" pitchFamily="18" charset="0"/>
                <a:cs typeface="Times New Roman" panose="02020603050405020304" pitchFamily="18" charset="0"/>
              </a:rPr>
              <a:t>i = 1</a:t>
            </a:r>
          </a:p>
          <a:p>
            <a:r>
              <a:rPr lang="en-US" sz="2200">
                <a:latin typeface="Times New Roman" panose="02020603050405020304" pitchFamily="18" charset="0"/>
                <a:cs typeface="Times New Roman" panose="02020603050405020304" pitchFamily="18" charset="0"/>
              </a:rPr>
              <a:t>j = 2</a:t>
            </a:r>
          </a:p>
          <a:p>
            <a:r>
              <a:rPr lang="en-US" sz="2200">
                <a:latin typeface="Times New Roman" panose="02020603050405020304" pitchFamily="18" charset="0"/>
                <a:cs typeface="Times New Roman" panose="02020603050405020304" pitchFamily="18" charset="0"/>
              </a:rPr>
              <a:t>(value)i = (value)1 = 3</a:t>
            </a:r>
          </a:p>
          <a:p>
            <a:r>
              <a:rPr lang="en-US" sz="2200">
                <a:latin typeface="Times New Roman" panose="02020603050405020304" pitchFamily="18" charset="0"/>
                <a:cs typeface="Times New Roman" panose="02020603050405020304" pitchFamily="18" charset="0"/>
              </a:rPr>
              <a:t>(weight)i = (weight)1 = 2</a:t>
            </a:r>
          </a:p>
          <a:p>
            <a:r>
              <a:rPr lang="en-US" sz="2200">
                <a:latin typeface="Times New Roman" panose="02020603050405020304" pitchFamily="18" charset="0"/>
                <a:cs typeface="Times New Roman" panose="02020603050405020304" pitchFamily="18" charset="0"/>
              </a:rPr>
              <a:t>Substituting the values, we get-</a:t>
            </a:r>
          </a:p>
          <a:p>
            <a:r>
              <a:rPr lang="en-US" sz="2200">
                <a:latin typeface="Times New Roman" panose="02020603050405020304" pitchFamily="18" charset="0"/>
                <a:cs typeface="Times New Roman" panose="02020603050405020304" pitchFamily="18" charset="0"/>
              </a:rPr>
              <a:t>T(1,2) = max { T(1-1 , 2) , 3 + T(1-1 , 2-2) }</a:t>
            </a:r>
          </a:p>
          <a:p>
            <a:r>
              <a:rPr lang="en-US" sz="2200">
                <a:latin typeface="Times New Roman" panose="02020603050405020304" pitchFamily="18" charset="0"/>
                <a:cs typeface="Times New Roman" panose="02020603050405020304" pitchFamily="18" charset="0"/>
              </a:rPr>
              <a:t>T(1,2) = max { T(0,2) , 3 + T(0,0) }</a:t>
            </a:r>
          </a:p>
          <a:p>
            <a:r>
              <a:rPr lang="en-US" sz="2200">
                <a:latin typeface="Times New Roman" panose="02020603050405020304" pitchFamily="18" charset="0"/>
                <a:cs typeface="Times New Roman" panose="02020603050405020304" pitchFamily="18" charset="0"/>
              </a:rPr>
              <a:t>T(1,2) = max {0 , 3+0}</a:t>
            </a:r>
          </a:p>
          <a:p>
            <a:r>
              <a:rPr lang="en-US" sz="2200">
                <a:latin typeface="Times New Roman" panose="02020603050405020304" pitchFamily="18" charset="0"/>
                <a:cs typeface="Times New Roman" panose="02020603050405020304" pitchFamily="18" charset="0"/>
              </a:rPr>
              <a:t>T(1,2) = 3</a:t>
            </a:r>
          </a:p>
        </p:txBody>
      </p:sp>
      <p:sp>
        <p:nvSpPr>
          <p:cNvPr id="3" name="Text Box 2"/>
          <p:cNvSpPr txBox="1"/>
          <p:nvPr/>
        </p:nvSpPr>
        <p:spPr>
          <a:xfrm>
            <a:off x="5674360" y="1313180"/>
            <a:ext cx="5679440" cy="3784600"/>
          </a:xfrm>
          <a:prstGeom prst="rect">
            <a:avLst/>
          </a:prstGeom>
          <a:noFill/>
        </p:spPr>
        <p:txBody>
          <a:bodyPr wrap="square" rtlCol="0">
            <a:spAutoFit/>
          </a:bodyPr>
          <a:lstStyle/>
          <a:p>
            <a:r>
              <a:rPr lang="en-US" sz="2000" b="1">
                <a:latin typeface="Times New Roman" panose="02020603050405020304" pitchFamily="18" charset="0"/>
                <a:cs typeface="Times New Roman" panose="02020603050405020304" pitchFamily="18" charset="0"/>
                <a:sym typeface="+mn-ea"/>
              </a:rPr>
              <a:t>Finding T(1,3)-</a:t>
            </a:r>
            <a:endParaRPr lang="en-US" sz="2000" b="1">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sym typeface="+mn-ea"/>
              </a:rPr>
              <a:t>We have,</a:t>
            </a:r>
            <a:endParaRPr lang="en-US" sz="2000">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sym typeface="+mn-ea"/>
              </a:rPr>
              <a:t>i = 1</a:t>
            </a:r>
            <a:endParaRPr lang="en-US" sz="2000">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sym typeface="+mn-ea"/>
              </a:rPr>
              <a:t>j = 3</a:t>
            </a:r>
            <a:endParaRPr lang="en-US" sz="2000">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sym typeface="+mn-ea"/>
              </a:rPr>
              <a:t>(value)i = (value)1 = 3</a:t>
            </a:r>
            <a:endParaRPr lang="en-US" sz="2000">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sym typeface="+mn-ea"/>
              </a:rPr>
              <a:t>(weight)i = (weight)1 = 2</a:t>
            </a:r>
            <a:endParaRPr lang="en-US" sz="2000">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sym typeface="+mn-ea"/>
              </a:rPr>
              <a:t>Substituting the values, we get-</a:t>
            </a:r>
            <a:endParaRPr lang="en-US" sz="2000">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sym typeface="+mn-ea"/>
              </a:rPr>
              <a:t>T(1,3) = max { T(1-1 , 3) , 3 + T(1-1 , 3-2) }</a:t>
            </a:r>
            <a:endParaRPr lang="en-US" sz="2000">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sym typeface="+mn-ea"/>
              </a:rPr>
              <a:t>T(1,3) = max { T(0,3) , 3 + T(0,1) }</a:t>
            </a:r>
            <a:endParaRPr lang="en-US" sz="2000">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sym typeface="+mn-ea"/>
              </a:rPr>
              <a:t>T(1,3) = max {0 , 3+0}</a:t>
            </a:r>
            <a:endParaRPr lang="en-US" sz="2000">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sym typeface="+mn-ea"/>
              </a:rPr>
              <a:t>T(1,3) = 3</a:t>
            </a:r>
            <a:endParaRPr lang="en-US" sz="2000">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p:txBody>
      </p:sp>
      <p:pic>
        <p:nvPicPr>
          <p:cNvPr id="9" name="Content Placeholder 8"/>
          <p:cNvPicPr>
            <a:picLocks noGrp="1" noChangeAspect="1"/>
          </p:cNvPicPr>
          <p:nvPr>
            <p:ph sz="half" idx="1"/>
          </p:nvPr>
        </p:nvPicPr>
        <p:blipFill>
          <a:blip r:embed="rId2"/>
          <a:stretch>
            <a:fillRect/>
          </a:stretch>
        </p:blipFill>
        <p:spPr>
          <a:xfrm>
            <a:off x="9111615" y="4949825"/>
            <a:ext cx="2242185" cy="1532255"/>
          </a:xfrm>
          <a:prstGeom prst="rect">
            <a:avLst/>
          </a:prstGeom>
        </p:spPr>
      </p:pic>
      <p:pic>
        <p:nvPicPr>
          <p:cNvPr id="100" name="Content Placeholder 99"/>
          <p:cNvPicPr>
            <a:picLocks noGrp="1" noChangeAspect="1"/>
          </p:cNvPicPr>
          <p:nvPr>
            <p:ph sz="half" idx="2"/>
          </p:nvPr>
        </p:nvPicPr>
        <p:blipFill>
          <a:blip r:embed="rId3"/>
          <a:stretch>
            <a:fillRect/>
          </a:stretch>
        </p:blipFill>
        <p:spPr>
          <a:xfrm>
            <a:off x="5922645" y="4796155"/>
            <a:ext cx="2941955" cy="2019935"/>
          </a:xfrm>
          <a:prstGeom prst="rect">
            <a:avLst/>
          </a:prstGeom>
          <a:noFill/>
          <a:ln w="9525">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2235"/>
            <a:ext cx="8468360" cy="1007110"/>
          </a:xfrm>
        </p:spPr>
        <p:txBody>
          <a:bodyPr/>
          <a:lstStyle/>
          <a:p>
            <a:pPr algn="ctr"/>
            <a:r>
              <a:rPr lang="en-US" altLang="zh-TW" b="1" dirty="0">
                <a:latin typeface="Times New Roman" panose="02020603050405020304" pitchFamily="18" charset="0"/>
                <a:cs typeface="Times New Roman" panose="02020603050405020304" pitchFamily="18" charset="0"/>
              </a:rPr>
              <a:t>0-1 Knapsack Problem </a:t>
            </a:r>
            <a:r>
              <a:rPr lang="en-US" altLang="zh-TW" b="1" dirty="0" err="1">
                <a:latin typeface="Times New Roman" panose="02020603050405020304" pitchFamily="18" charset="0"/>
                <a:cs typeface="Times New Roman" panose="02020603050405020304" pitchFamily="18" charset="0"/>
              </a:rPr>
              <a:t>Contd</a:t>
            </a:r>
            <a:r>
              <a:rPr lang="en-US" altLang="zh-TW" b="1" dirty="0">
                <a:latin typeface="Times New Roman" panose="02020603050405020304" pitchFamily="18" charset="0"/>
                <a:cs typeface="Times New Roman" panose="02020603050405020304" pitchFamily="18" charset="0"/>
              </a:rPr>
              <a:t>…</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t>56</a:t>
            </a:fld>
            <a:endParaRPr lang="en-US"/>
          </a:p>
        </p:txBody>
      </p:sp>
      <p:sp>
        <p:nvSpPr>
          <p:cNvPr id="5" name="Rectangle 4"/>
          <p:cNvSpPr/>
          <p:nvPr/>
        </p:nvSpPr>
        <p:spPr>
          <a:xfrm>
            <a:off x="952500" y="102235"/>
            <a:ext cx="8354060" cy="10071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313180"/>
            <a:ext cx="10515600" cy="540766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Box 7"/>
          <p:cNvSpPr txBox="1"/>
          <p:nvPr/>
        </p:nvSpPr>
        <p:spPr>
          <a:xfrm>
            <a:off x="837565" y="1327785"/>
            <a:ext cx="4782820" cy="4554220"/>
          </a:xfrm>
          <a:prstGeom prst="rect">
            <a:avLst/>
          </a:prstGeom>
          <a:noFill/>
        </p:spPr>
        <p:txBody>
          <a:bodyPr wrap="square" rtlCol="0" anchor="t">
            <a:spAutoFit/>
          </a:bodyPr>
          <a:lstStyle/>
          <a:p>
            <a:pPr>
              <a:lnSpc>
                <a:spcPct val="100000"/>
              </a:lnSpc>
              <a:spcBef>
                <a:spcPts val="0"/>
              </a:spcBef>
              <a:spcAft>
                <a:spcPts val="0"/>
              </a:spcAft>
            </a:pPr>
            <a:r>
              <a:rPr lang="en-US" sz="2000" b="1">
                <a:latin typeface="Times New Roman" panose="02020603050405020304" pitchFamily="18" charset="0"/>
                <a:cs typeface="Times New Roman" panose="02020603050405020304" pitchFamily="18" charset="0"/>
              </a:rPr>
              <a:t>Step-02:</a:t>
            </a:r>
          </a:p>
          <a:p>
            <a:pPr>
              <a:lnSpc>
                <a:spcPct val="100000"/>
              </a:lnSpc>
              <a:spcBef>
                <a:spcPts val="0"/>
              </a:spcBef>
              <a:spcAft>
                <a:spcPts val="0"/>
              </a:spcAft>
            </a:pPr>
            <a:endParaRPr lang="en-US" sz="2000" b="1">
              <a:latin typeface="Times New Roman" panose="02020603050405020304" pitchFamily="18" charset="0"/>
              <a:cs typeface="Times New Roman" panose="02020603050405020304" pitchFamily="18" charset="0"/>
            </a:endParaRPr>
          </a:p>
          <a:p>
            <a:pPr>
              <a:lnSpc>
                <a:spcPct val="100000"/>
              </a:lnSpc>
              <a:spcBef>
                <a:spcPts val="0"/>
              </a:spcBef>
              <a:spcAft>
                <a:spcPts val="0"/>
              </a:spcAft>
            </a:pPr>
            <a:r>
              <a:rPr lang="en-US" sz="2000" b="1">
                <a:latin typeface="Times New Roman" panose="02020603050405020304" pitchFamily="18" charset="0"/>
                <a:cs typeface="Times New Roman" panose="02020603050405020304" pitchFamily="18" charset="0"/>
              </a:rPr>
              <a:t>Finding T(1,4)-</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We have,</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i = 1</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j = 4</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(value)i = (value)1 = 3</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(weight)i = (weight)1 = 2</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 Substituting the values, we get-</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T(1,4) = max { T(1-1 , 4) , 3 + T(1-1 , 4-2) }</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T(1,4) = max { T(0,4) , 3 + T(0,2) }</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T(1,4) = max {0 , 3+0}</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T(1,4) = 3</a:t>
            </a:r>
          </a:p>
          <a:p>
            <a:pPr>
              <a:lnSpc>
                <a:spcPct val="100000"/>
              </a:lnSpc>
              <a:spcBef>
                <a:spcPts val="0"/>
              </a:spcBef>
              <a:spcAft>
                <a:spcPts val="0"/>
              </a:spcAft>
            </a:pPr>
            <a:endParaRPr lang="en-US" sz="2000">
              <a:latin typeface="Times New Roman" panose="02020603050405020304" pitchFamily="18" charset="0"/>
              <a:cs typeface="Times New Roman" panose="02020603050405020304" pitchFamily="18" charset="0"/>
            </a:endParaRPr>
          </a:p>
          <a:p>
            <a:pPr>
              <a:lnSpc>
                <a:spcPct val="50000"/>
              </a:lnSpc>
              <a:spcBef>
                <a:spcPts val="0"/>
              </a:spcBef>
              <a:spcAft>
                <a:spcPts val="0"/>
              </a:spcAft>
            </a:pPr>
            <a:endParaRPr lang="en-US" sz="2000">
              <a:latin typeface="Times New Roman" panose="02020603050405020304" pitchFamily="18" charset="0"/>
              <a:cs typeface="Times New Roman" panose="02020603050405020304" pitchFamily="18" charset="0"/>
            </a:endParaRPr>
          </a:p>
        </p:txBody>
      </p:sp>
      <p:sp>
        <p:nvSpPr>
          <p:cNvPr id="7" name="Text Box 6"/>
          <p:cNvSpPr txBox="1"/>
          <p:nvPr/>
        </p:nvSpPr>
        <p:spPr>
          <a:xfrm>
            <a:off x="5811520" y="1313180"/>
            <a:ext cx="5398770" cy="3784600"/>
          </a:xfrm>
          <a:prstGeom prst="rect">
            <a:avLst/>
          </a:prstGeom>
          <a:noFill/>
        </p:spPr>
        <p:txBody>
          <a:bodyPr wrap="square" rtlCol="0">
            <a:spAutoFit/>
          </a:bodyPr>
          <a:lstStyle/>
          <a:p>
            <a:pPr algn="l">
              <a:lnSpc>
                <a:spcPct val="100000"/>
              </a:lnSpc>
              <a:spcBef>
                <a:spcPts val="0"/>
              </a:spcBef>
              <a:spcAft>
                <a:spcPts val="0"/>
              </a:spcAft>
            </a:pPr>
            <a:r>
              <a:rPr lang="en-US" sz="2000" b="1">
                <a:latin typeface="Times New Roman" panose="02020603050405020304" pitchFamily="18" charset="0"/>
                <a:cs typeface="Times New Roman" panose="02020603050405020304" pitchFamily="18" charset="0"/>
                <a:sym typeface="+mn-ea"/>
              </a:rPr>
              <a:t>Finding T(1,5)-</a:t>
            </a:r>
            <a:r>
              <a:rPr lang="en-US" sz="2000">
                <a:latin typeface="Times New Roman" panose="02020603050405020304" pitchFamily="18" charset="0"/>
                <a:cs typeface="Times New Roman" panose="02020603050405020304" pitchFamily="18" charset="0"/>
                <a:sym typeface="+mn-ea"/>
              </a:rPr>
              <a:t> </a:t>
            </a:r>
            <a:endParaRPr lang="en-US" sz="2000">
              <a:latin typeface="Times New Roman" panose="02020603050405020304" pitchFamily="18" charset="0"/>
              <a:cs typeface="Times New Roman" panose="02020603050405020304" pitchFamily="18" charset="0"/>
            </a:endParaRP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We have,</a:t>
            </a:r>
            <a:endParaRPr lang="en-US" sz="2000">
              <a:latin typeface="Times New Roman" panose="02020603050405020304" pitchFamily="18" charset="0"/>
              <a:cs typeface="Times New Roman" panose="02020603050405020304" pitchFamily="18" charset="0"/>
            </a:endParaRP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i = 1</a:t>
            </a:r>
            <a:endParaRPr lang="en-US" sz="2000">
              <a:latin typeface="Times New Roman" panose="02020603050405020304" pitchFamily="18" charset="0"/>
              <a:cs typeface="Times New Roman" panose="02020603050405020304" pitchFamily="18" charset="0"/>
            </a:endParaRP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j = 5</a:t>
            </a:r>
            <a:endParaRPr lang="en-US" sz="2000">
              <a:latin typeface="Times New Roman" panose="02020603050405020304" pitchFamily="18" charset="0"/>
              <a:cs typeface="Times New Roman" panose="02020603050405020304" pitchFamily="18" charset="0"/>
            </a:endParaRP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(value)i = (value)1 = 3</a:t>
            </a:r>
            <a:endParaRPr lang="en-US" sz="2000">
              <a:latin typeface="Times New Roman" panose="02020603050405020304" pitchFamily="18" charset="0"/>
              <a:cs typeface="Times New Roman" panose="02020603050405020304" pitchFamily="18" charset="0"/>
            </a:endParaRP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(weight)i = (weight)1 = 2</a:t>
            </a:r>
            <a:endParaRPr lang="en-US" sz="2000">
              <a:latin typeface="Times New Roman" panose="02020603050405020304" pitchFamily="18" charset="0"/>
              <a:cs typeface="Times New Roman" panose="02020603050405020304" pitchFamily="18" charset="0"/>
            </a:endParaRP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 Substituting the values, we get-</a:t>
            </a:r>
            <a:endParaRPr lang="en-US" sz="2000">
              <a:latin typeface="Times New Roman" panose="02020603050405020304" pitchFamily="18" charset="0"/>
              <a:cs typeface="Times New Roman" panose="02020603050405020304" pitchFamily="18" charset="0"/>
            </a:endParaRP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T(1,5) = max { T(1-1 , 5) , 3 + T(1-1 , 5-2) }</a:t>
            </a:r>
            <a:endParaRPr lang="en-US" sz="2000">
              <a:latin typeface="Times New Roman" panose="02020603050405020304" pitchFamily="18" charset="0"/>
              <a:cs typeface="Times New Roman" panose="02020603050405020304" pitchFamily="18" charset="0"/>
            </a:endParaRP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T(1,5) = max { T(0,5) , 3 + T(0,3) }</a:t>
            </a:r>
            <a:endParaRPr lang="en-US" sz="2000">
              <a:latin typeface="Times New Roman" panose="02020603050405020304" pitchFamily="18" charset="0"/>
              <a:cs typeface="Times New Roman" panose="02020603050405020304" pitchFamily="18" charset="0"/>
            </a:endParaRP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T(1,5) = max {0 , 3+0}</a:t>
            </a:r>
            <a:endParaRPr lang="en-US" sz="2000">
              <a:latin typeface="Times New Roman" panose="02020603050405020304" pitchFamily="18" charset="0"/>
              <a:cs typeface="Times New Roman" panose="02020603050405020304" pitchFamily="18" charset="0"/>
            </a:endParaRP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T(1,5) = 3</a:t>
            </a:r>
            <a:endParaRPr lang="en-US" sz="2000">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p:txBody>
      </p:sp>
      <p:pic>
        <p:nvPicPr>
          <p:cNvPr id="9" name="Content Placeholder 8"/>
          <p:cNvPicPr>
            <a:picLocks noGrp="1" noChangeAspect="1"/>
          </p:cNvPicPr>
          <p:nvPr>
            <p:ph sz="half" idx="1"/>
          </p:nvPr>
        </p:nvPicPr>
        <p:blipFill>
          <a:blip r:embed="rId2"/>
          <a:stretch>
            <a:fillRect/>
          </a:stretch>
        </p:blipFill>
        <p:spPr>
          <a:xfrm>
            <a:off x="9111615" y="4949825"/>
            <a:ext cx="2242185" cy="1532255"/>
          </a:xfrm>
          <a:prstGeom prst="rect">
            <a:avLst/>
          </a:prstGeom>
        </p:spPr>
      </p:pic>
      <p:pic>
        <p:nvPicPr>
          <p:cNvPr id="100" name="Content Placeholder 99"/>
          <p:cNvPicPr>
            <a:picLocks noGrp="1" noChangeAspect="1"/>
          </p:cNvPicPr>
          <p:nvPr>
            <p:ph sz="half" idx="2"/>
          </p:nvPr>
        </p:nvPicPr>
        <p:blipFill>
          <a:blip r:embed="rId3"/>
          <a:stretch>
            <a:fillRect/>
          </a:stretch>
        </p:blipFill>
        <p:spPr>
          <a:xfrm>
            <a:off x="5922645" y="4796155"/>
            <a:ext cx="2941955" cy="2019935"/>
          </a:xfrm>
          <a:prstGeom prst="rect">
            <a:avLst/>
          </a:prstGeom>
          <a:noFill/>
          <a:ln w="9525">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2235"/>
            <a:ext cx="8468360" cy="1007110"/>
          </a:xfrm>
        </p:spPr>
        <p:txBody>
          <a:bodyPr/>
          <a:lstStyle/>
          <a:p>
            <a:pPr algn="ctr"/>
            <a:r>
              <a:rPr lang="en-US" altLang="zh-TW" b="1" dirty="0">
                <a:latin typeface="Times New Roman" panose="02020603050405020304" pitchFamily="18" charset="0"/>
                <a:cs typeface="Times New Roman" panose="02020603050405020304" pitchFamily="18" charset="0"/>
              </a:rPr>
              <a:t>0-1 Knapsack Problem </a:t>
            </a:r>
            <a:r>
              <a:rPr lang="en-US" altLang="zh-TW" b="1" dirty="0" err="1">
                <a:latin typeface="Times New Roman" panose="02020603050405020304" pitchFamily="18" charset="0"/>
                <a:cs typeface="Times New Roman" panose="02020603050405020304" pitchFamily="18" charset="0"/>
              </a:rPr>
              <a:t>Contd</a:t>
            </a:r>
            <a:r>
              <a:rPr lang="en-US" altLang="zh-TW" b="1" dirty="0">
                <a:latin typeface="Times New Roman" panose="02020603050405020304" pitchFamily="18" charset="0"/>
                <a:cs typeface="Times New Roman" panose="02020603050405020304" pitchFamily="18" charset="0"/>
              </a:rPr>
              <a:t>…</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t>57</a:t>
            </a:fld>
            <a:endParaRPr lang="en-US"/>
          </a:p>
        </p:txBody>
      </p:sp>
      <p:sp>
        <p:nvSpPr>
          <p:cNvPr id="5" name="Rectangle 4"/>
          <p:cNvSpPr/>
          <p:nvPr/>
        </p:nvSpPr>
        <p:spPr>
          <a:xfrm>
            <a:off x="952500" y="102235"/>
            <a:ext cx="8354060" cy="10071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313180"/>
            <a:ext cx="10515600" cy="540766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Box 7"/>
          <p:cNvSpPr txBox="1"/>
          <p:nvPr/>
        </p:nvSpPr>
        <p:spPr>
          <a:xfrm>
            <a:off x="837565" y="1327785"/>
            <a:ext cx="4782820" cy="4246245"/>
          </a:xfrm>
          <a:prstGeom prst="rect">
            <a:avLst/>
          </a:prstGeom>
          <a:noFill/>
        </p:spPr>
        <p:txBody>
          <a:bodyPr wrap="square" rtlCol="0" anchor="t">
            <a:spAutoFit/>
          </a:bodyPr>
          <a:lstStyle/>
          <a:p>
            <a:pPr>
              <a:lnSpc>
                <a:spcPct val="100000"/>
              </a:lnSpc>
              <a:spcBef>
                <a:spcPts val="0"/>
              </a:spcBef>
              <a:spcAft>
                <a:spcPts val="0"/>
              </a:spcAft>
            </a:pPr>
            <a:r>
              <a:rPr lang="en-US" sz="2000" b="1">
                <a:latin typeface="Times New Roman" panose="02020603050405020304" pitchFamily="18" charset="0"/>
                <a:cs typeface="Times New Roman" panose="02020603050405020304" pitchFamily="18" charset="0"/>
              </a:rPr>
              <a:t>Step-02:</a:t>
            </a:r>
          </a:p>
          <a:p>
            <a:pPr>
              <a:lnSpc>
                <a:spcPct val="100000"/>
              </a:lnSpc>
              <a:spcBef>
                <a:spcPts val="0"/>
              </a:spcBef>
              <a:spcAft>
                <a:spcPts val="0"/>
              </a:spcAft>
            </a:pPr>
            <a:endParaRPr lang="en-US" sz="2000" b="1">
              <a:latin typeface="Times New Roman" panose="02020603050405020304" pitchFamily="18" charset="0"/>
              <a:cs typeface="Times New Roman" panose="02020603050405020304" pitchFamily="18" charset="0"/>
            </a:endParaRPr>
          </a:p>
          <a:p>
            <a:pPr>
              <a:lnSpc>
                <a:spcPct val="100000"/>
              </a:lnSpc>
              <a:spcBef>
                <a:spcPts val="0"/>
              </a:spcBef>
              <a:spcAft>
                <a:spcPts val="0"/>
              </a:spcAft>
            </a:pPr>
            <a:r>
              <a:rPr lang="en-US" sz="2000" b="1">
                <a:latin typeface="Times New Roman" panose="02020603050405020304" pitchFamily="18" charset="0"/>
                <a:cs typeface="Times New Roman" panose="02020603050405020304" pitchFamily="18" charset="0"/>
              </a:rPr>
              <a:t>Finding T(2,1)-</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We have,</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i = 2</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j = 1</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(value)i = (value)2 = 4</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(weight)i = (weight)2 = 3</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Substituting the values, we get-</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T(2,1) = max { T(2-1 , 1) , 4 + T(2-1 , 1-3) }</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T(2,1) = max { T(1,1) , 4 + T(1,-2) }</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T(2,1) = T(1,1)           { Ignore T(1,-2) }</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T(2,1) = 0</a:t>
            </a:r>
          </a:p>
          <a:p>
            <a:pPr>
              <a:lnSpc>
                <a:spcPct val="50000"/>
              </a:lnSpc>
              <a:spcBef>
                <a:spcPts val="0"/>
              </a:spcBef>
              <a:spcAft>
                <a:spcPts val="0"/>
              </a:spcAft>
            </a:pPr>
            <a:endParaRPr lang="en-US" sz="2000">
              <a:latin typeface="Times New Roman" panose="02020603050405020304" pitchFamily="18" charset="0"/>
              <a:cs typeface="Times New Roman" panose="02020603050405020304" pitchFamily="18" charset="0"/>
            </a:endParaRPr>
          </a:p>
        </p:txBody>
      </p:sp>
      <p:sp>
        <p:nvSpPr>
          <p:cNvPr id="7" name="Text Box 6"/>
          <p:cNvSpPr txBox="1"/>
          <p:nvPr/>
        </p:nvSpPr>
        <p:spPr>
          <a:xfrm>
            <a:off x="5812155" y="1291590"/>
            <a:ext cx="5398770" cy="3476625"/>
          </a:xfrm>
          <a:prstGeom prst="rect">
            <a:avLst/>
          </a:prstGeom>
          <a:noFill/>
        </p:spPr>
        <p:txBody>
          <a:bodyPr wrap="square" rtlCol="0">
            <a:spAutoFit/>
          </a:bodyPr>
          <a:lstStyle/>
          <a:p>
            <a:pPr algn="l">
              <a:lnSpc>
                <a:spcPct val="100000"/>
              </a:lnSpc>
              <a:spcBef>
                <a:spcPts val="0"/>
              </a:spcBef>
              <a:spcAft>
                <a:spcPts val="0"/>
              </a:spcAft>
            </a:pPr>
            <a:r>
              <a:rPr lang="en-US" sz="2000" b="1">
                <a:latin typeface="Times New Roman" panose="02020603050405020304" pitchFamily="18" charset="0"/>
                <a:cs typeface="Times New Roman" panose="02020603050405020304" pitchFamily="18" charset="0"/>
                <a:sym typeface="+mn-ea"/>
              </a:rPr>
              <a:t>Finding T(2,2)-</a:t>
            </a: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We have,</a:t>
            </a: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i = 2</a:t>
            </a: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j = 2</a:t>
            </a: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(value)i = (value)2 = 4</a:t>
            </a: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(weight)i = (weight)2 = 3</a:t>
            </a: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Substituting the values, we get-</a:t>
            </a: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T(2,2) = max { T(2-1 , 2) , 4 + T(2-1 , 2-3) }</a:t>
            </a: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T(2,2) = max { T(1,2) , 4 + T(1,-1) }</a:t>
            </a: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T(2,2) = T(1,2)           { Ignore T(1,-1) }</a:t>
            </a: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T(2,2) = 3</a:t>
            </a:r>
          </a:p>
        </p:txBody>
      </p:sp>
      <p:pic>
        <p:nvPicPr>
          <p:cNvPr id="9" name="Content Placeholder 8"/>
          <p:cNvPicPr>
            <a:picLocks noGrp="1" noChangeAspect="1"/>
          </p:cNvPicPr>
          <p:nvPr>
            <p:ph sz="half" idx="1"/>
          </p:nvPr>
        </p:nvPicPr>
        <p:blipFill>
          <a:blip r:embed="rId2"/>
          <a:stretch>
            <a:fillRect/>
          </a:stretch>
        </p:blipFill>
        <p:spPr>
          <a:xfrm>
            <a:off x="8353425" y="4950460"/>
            <a:ext cx="2484755" cy="169799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2235"/>
            <a:ext cx="8468360" cy="1007110"/>
          </a:xfrm>
        </p:spPr>
        <p:txBody>
          <a:bodyPr/>
          <a:lstStyle/>
          <a:p>
            <a:pPr algn="ctr"/>
            <a:r>
              <a:rPr lang="en-US" altLang="zh-TW" b="1" dirty="0">
                <a:latin typeface="Times New Roman" panose="02020603050405020304" pitchFamily="18" charset="0"/>
                <a:cs typeface="Times New Roman" panose="02020603050405020304" pitchFamily="18" charset="0"/>
              </a:rPr>
              <a:t>0-1 Knapsack Problem </a:t>
            </a:r>
            <a:r>
              <a:rPr lang="en-US" altLang="zh-TW" b="1" dirty="0" err="1">
                <a:latin typeface="Times New Roman" panose="02020603050405020304" pitchFamily="18" charset="0"/>
                <a:cs typeface="Times New Roman" panose="02020603050405020304" pitchFamily="18" charset="0"/>
              </a:rPr>
              <a:t>Contd</a:t>
            </a:r>
            <a:r>
              <a:rPr lang="en-US" altLang="zh-TW" b="1" dirty="0">
                <a:latin typeface="Times New Roman" panose="02020603050405020304" pitchFamily="18" charset="0"/>
                <a:cs typeface="Times New Roman" panose="02020603050405020304" pitchFamily="18" charset="0"/>
              </a:rPr>
              <a:t>…</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t>58</a:t>
            </a:fld>
            <a:endParaRPr lang="en-US"/>
          </a:p>
        </p:txBody>
      </p:sp>
      <p:sp>
        <p:nvSpPr>
          <p:cNvPr id="5" name="Rectangle 4"/>
          <p:cNvSpPr/>
          <p:nvPr/>
        </p:nvSpPr>
        <p:spPr>
          <a:xfrm>
            <a:off x="952500" y="102235"/>
            <a:ext cx="8354060" cy="10071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313180"/>
            <a:ext cx="10515600" cy="540766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Box 7"/>
          <p:cNvSpPr txBox="1"/>
          <p:nvPr/>
        </p:nvSpPr>
        <p:spPr>
          <a:xfrm>
            <a:off x="837565" y="1327785"/>
            <a:ext cx="4782820" cy="4246245"/>
          </a:xfrm>
          <a:prstGeom prst="rect">
            <a:avLst/>
          </a:prstGeom>
          <a:noFill/>
        </p:spPr>
        <p:txBody>
          <a:bodyPr wrap="square" rtlCol="0" anchor="t">
            <a:spAutoFit/>
          </a:bodyPr>
          <a:lstStyle/>
          <a:p>
            <a:pPr>
              <a:lnSpc>
                <a:spcPct val="100000"/>
              </a:lnSpc>
              <a:spcBef>
                <a:spcPts val="0"/>
              </a:spcBef>
              <a:spcAft>
                <a:spcPts val="0"/>
              </a:spcAft>
            </a:pPr>
            <a:r>
              <a:rPr lang="en-US" sz="2000" b="1">
                <a:latin typeface="Times New Roman" panose="02020603050405020304" pitchFamily="18" charset="0"/>
                <a:cs typeface="Times New Roman" panose="02020603050405020304" pitchFamily="18" charset="0"/>
              </a:rPr>
              <a:t>Step-02:</a:t>
            </a:r>
          </a:p>
          <a:p>
            <a:pPr>
              <a:lnSpc>
                <a:spcPct val="100000"/>
              </a:lnSpc>
              <a:spcBef>
                <a:spcPts val="0"/>
              </a:spcBef>
              <a:spcAft>
                <a:spcPts val="0"/>
              </a:spcAft>
            </a:pPr>
            <a:endParaRPr lang="en-US" sz="2000" b="1">
              <a:latin typeface="Times New Roman" panose="02020603050405020304" pitchFamily="18" charset="0"/>
              <a:cs typeface="Times New Roman" panose="02020603050405020304" pitchFamily="18" charset="0"/>
            </a:endParaRPr>
          </a:p>
          <a:p>
            <a:pPr>
              <a:lnSpc>
                <a:spcPct val="100000"/>
              </a:lnSpc>
              <a:spcBef>
                <a:spcPts val="0"/>
              </a:spcBef>
              <a:spcAft>
                <a:spcPts val="0"/>
              </a:spcAft>
            </a:pPr>
            <a:r>
              <a:rPr lang="en-US" sz="2000" b="1">
                <a:latin typeface="Times New Roman" panose="02020603050405020304" pitchFamily="18" charset="0"/>
                <a:cs typeface="Times New Roman" panose="02020603050405020304" pitchFamily="18" charset="0"/>
              </a:rPr>
              <a:t>Finding T(2,3)-</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We have,</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i = 2</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j = 3</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(value)i = (value)2 = 4</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(weight)i = (weight)2 = 3</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Substituting the values, we get-</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T(2,3) = max { T(2-1 , 3) , 4 + T(2-1 , 3-3) }</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T(2,3) = max { T(1,3) , 4 + T(1,0) }</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T(2,3) = max { 3 , 4+0 }</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T(2,3) = 4</a:t>
            </a:r>
          </a:p>
          <a:p>
            <a:pPr>
              <a:lnSpc>
                <a:spcPct val="50000"/>
              </a:lnSpc>
              <a:spcBef>
                <a:spcPts val="0"/>
              </a:spcBef>
              <a:spcAft>
                <a:spcPts val="0"/>
              </a:spcAft>
            </a:pPr>
            <a:endParaRPr lang="en-US" sz="2000">
              <a:latin typeface="Times New Roman" panose="02020603050405020304" pitchFamily="18" charset="0"/>
              <a:cs typeface="Times New Roman" panose="02020603050405020304" pitchFamily="18" charset="0"/>
            </a:endParaRPr>
          </a:p>
        </p:txBody>
      </p:sp>
      <p:sp>
        <p:nvSpPr>
          <p:cNvPr id="7" name="Text Box 6"/>
          <p:cNvSpPr txBox="1"/>
          <p:nvPr/>
        </p:nvSpPr>
        <p:spPr>
          <a:xfrm>
            <a:off x="5797550" y="1327785"/>
            <a:ext cx="5398770" cy="3476625"/>
          </a:xfrm>
          <a:prstGeom prst="rect">
            <a:avLst/>
          </a:prstGeom>
          <a:noFill/>
        </p:spPr>
        <p:txBody>
          <a:bodyPr wrap="square" rtlCol="0">
            <a:spAutoFit/>
          </a:bodyPr>
          <a:lstStyle/>
          <a:p>
            <a:pPr algn="l">
              <a:lnSpc>
                <a:spcPct val="100000"/>
              </a:lnSpc>
              <a:spcBef>
                <a:spcPts val="0"/>
              </a:spcBef>
              <a:spcAft>
                <a:spcPts val="0"/>
              </a:spcAft>
            </a:pPr>
            <a:r>
              <a:rPr lang="en-US" sz="2000" b="1">
                <a:latin typeface="Times New Roman" panose="02020603050405020304" pitchFamily="18" charset="0"/>
                <a:cs typeface="Times New Roman" panose="02020603050405020304" pitchFamily="18" charset="0"/>
                <a:sym typeface="+mn-ea"/>
              </a:rPr>
              <a:t>Finding T(2,4)-</a:t>
            </a: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We have,</a:t>
            </a: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i = 2</a:t>
            </a: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j = 4</a:t>
            </a: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(value)i = (value)2 = 4</a:t>
            </a: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(weight)i = (weight)2 = 3</a:t>
            </a: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Substituting the values, we get-</a:t>
            </a: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T(2,4) = max { T(2-1 , 4) , 4 + T(2-1 , 4-3) }</a:t>
            </a: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T(2,4) = max { T(1,4) , 4 + T(1,1) }</a:t>
            </a: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T(2,4) = max { 3 , 4+0 }</a:t>
            </a:r>
          </a:p>
          <a:p>
            <a:pPr algn="l">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T(2,4) = 4</a:t>
            </a:r>
          </a:p>
        </p:txBody>
      </p:sp>
      <p:pic>
        <p:nvPicPr>
          <p:cNvPr id="9" name="Content Placeholder 8"/>
          <p:cNvPicPr>
            <a:picLocks noGrp="1" noChangeAspect="1"/>
          </p:cNvPicPr>
          <p:nvPr>
            <p:ph sz="half" idx="1"/>
          </p:nvPr>
        </p:nvPicPr>
        <p:blipFill>
          <a:blip r:embed="rId2"/>
          <a:stretch>
            <a:fillRect/>
          </a:stretch>
        </p:blipFill>
        <p:spPr>
          <a:xfrm>
            <a:off x="8710930" y="5022850"/>
            <a:ext cx="2242185" cy="153225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2235"/>
            <a:ext cx="8468360" cy="1007110"/>
          </a:xfrm>
        </p:spPr>
        <p:txBody>
          <a:bodyPr/>
          <a:lstStyle/>
          <a:p>
            <a:pPr algn="ctr"/>
            <a:r>
              <a:rPr lang="en-US" altLang="zh-TW" b="1" dirty="0">
                <a:latin typeface="Times New Roman" panose="02020603050405020304" pitchFamily="18" charset="0"/>
                <a:cs typeface="Times New Roman" panose="02020603050405020304" pitchFamily="18" charset="0"/>
              </a:rPr>
              <a:t>0-1 Knapsack Problem </a:t>
            </a:r>
            <a:r>
              <a:rPr lang="en-US" altLang="zh-TW" b="1" dirty="0" err="1">
                <a:latin typeface="Times New Roman" panose="02020603050405020304" pitchFamily="18" charset="0"/>
                <a:cs typeface="Times New Roman" panose="02020603050405020304" pitchFamily="18" charset="0"/>
              </a:rPr>
              <a:t>Contd</a:t>
            </a:r>
            <a:r>
              <a:rPr lang="en-US" altLang="zh-TW" b="1" dirty="0">
                <a:latin typeface="Times New Roman" panose="02020603050405020304" pitchFamily="18" charset="0"/>
                <a:cs typeface="Times New Roman" panose="02020603050405020304" pitchFamily="18" charset="0"/>
              </a:rPr>
              <a:t>…</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t>59</a:t>
            </a:fld>
            <a:endParaRPr lang="en-US"/>
          </a:p>
        </p:txBody>
      </p:sp>
      <p:sp>
        <p:nvSpPr>
          <p:cNvPr id="5" name="Rectangle 4"/>
          <p:cNvSpPr/>
          <p:nvPr/>
        </p:nvSpPr>
        <p:spPr>
          <a:xfrm>
            <a:off x="952500" y="102235"/>
            <a:ext cx="8354060" cy="10071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297305"/>
            <a:ext cx="10515600" cy="540766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Box 7"/>
          <p:cNvSpPr txBox="1"/>
          <p:nvPr/>
        </p:nvSpPr>
        <p:spPr>
          <a:xfrm>
            <a:off x="837565" y="1327785"/>
            <a:ext cx="4782820" cy="4092575"/>
          </a:xfrm>
          <a:prstGeom prst="rect">
            <a:avLst/>
          </a:prstGeom>
          <a:noFill/>
        </p:spPr>
        <p:txBody>
          <a:bodyPr wrap="square" rtlCol="0" anchor="t">
            <a:spAutoFit/>
          </a:bodyPr>
          <a:lstStyle/>
          <a:p>
            <a:pPr>
              <a:lnSpc>
                <a:spcPct val="100000"/>
              </a:lnSpc>
              <a:spcBef>
                <a:spcPts val="0"/>
              </a:spcBef>
              <a:spcAft>
                <a:spcPts val="0"/>
              </a:spcAft>
            </a:pPr>
            <a:r>
              <a:rPr lang="en-US" sz="2000" b="1">
                <a:latin typeface="Times New Roman" panose="02020603050405020304" pitchFamily="18" charset="0"/>
                <a:cs typeface="Times New Roman" panose="02020603050405020304" pitchFamily="18" charset="0"/>
              </a:rPr>
              <a:t>Step-02:</a:t>
            </a:r>
          </a:p>
          <a:p>
            <a:pPr>
              <a:lnSpc>
                <a:spcPct val="100000"/>
              </a:lnSpc>
              <a:spcBef>
                <a:spcPts val="0"/>
              </a:spcBef>
              <a:spcAft>
                <a:spcPts val="0"/>
              </a:spcAft>
            </a:pPr>
            <a:endParaRPr lang="en-US" sz="2000" b="1">
              <a:latin typeface="Times New Roman" panose="02020603050405020304" pitchFamily="18" charset="0"/>
              <a:cs typeface="Times New Roman" panose="02020603050405020304" pitchFamily="18" charset="0"/>
            </a:endParaRPr>
          </a:p>
          <a:p>
            <a:pPr>
              <a:lnSpc>
                <a:spcPct val="100000"/>
              </a:lnSpc>
              <a:spcBef>
                <a:spcPts val="0"/>
              </a:spcBef>
              <a:spcAft>
                <a:spcPts val="0"/>
              </a:spcAft>
            </a:pPr>
            <a:r>
              <a:rPr lang="en-US" sz="2000" b="1">
                <a:latin typeface="Times New Roman" panose="02020603050405020304" pitchFamily="18" charset="0"/>
                <a:cs typeface="Times New Roman" panose="02020603050405020304" pitchFamily="18" charset="0"/>
              </a:rPr>
              <a:t>Finding T(2,5)-</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We have,</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i = 2</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j = 5</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(value)i = (value)2 = 4</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(weight)i = (weight)2 = 3</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Substituting the values, we get-</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T(2,5) = max { T(2-1 , 5) , 4 + T(2-1 , 5-3) }</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T(2,5) = max { T(1,5) , 4 + T(1,2) }</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T(2,5) = max { 3 , 4+3 }</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rPr>
              <a:t>T(2,5) = 7</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3135" y="102235"/>
            <a:ext cx="8353425" cy="1007110"/>
          </a:xfrm>
        </p:spPr>
        <p:txBody>
          <a:bodyPr/>
          <a:lstStyle/>
          <a:p>
            <a:pPr algn="ctr"/>
            <a:r>
              <a:rPr lang="en-US" altLang="zh-TW" b="1" dirty="0">
                <a:latin typeface="Times New Roman" panose="02020603050405020304" pitchFamily="18" charset="0"/>
                <a:cs typeface="Times New Roman" panose="02020603050405020304" pitchFamily="18" charset="0"/>
              </a:rPr>
              <a:t>0-1 Knapsack Problem </a:t>
            </a:r>
            <a:r>
              <a:rPr lang="en-US" altLang="zh-TW" b="1" dirty="0" err="1">
                <a:latin typeface="Times New Roman" panose="02020603050405020304" pitchFamily="18" charset="0"/>
                <a:cs typeface="Times New Roman" panose="02020603050405020304" pitchFamily="18" charset="0"/>
              </a:rPr>
              <a:t>Contd</a:t>
            </a:r>
            <a:r>
              <a:rPr lang="en-US" altLang="zh-TW" b="1" dirty="0">
                <a:latin typeface="Times New Roman" panose="02020603050405020304" pitchFamily="18" charset="0"/>
                <a:cs typeface="Times New Roman" panose="02020603050405020304" pitchFamily="18" charset="0"/>
              </a:rPr>
              <a:t>…</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t>60</a:t>
            </a:fld>
            <a:endParaRPr lang="en-US"/>
          </a:p>
        </p:txBody>
      </p:sp>
      <p:sp>
        <p:nvSpPr>
          <p:cNvPr id="5" name="Rectangle 4"/>
          <p:cNvSpPr/>
          <p:nvPr/>
        </p:nvSpPr>
        <p:spPr>
          <a:xfrm>
            <a:off x="952500" y="102235"/>
            <a:ext cx="8354060" cy="10071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297305"/>
            <a:ext cx="10515600" cy="540766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Box 6"/>
          <p:cNvSpPr txBox="1"/>
          <p:nvPr/>
        </p:nvSpPr>
        <p:spPr>
          <a:xfrm>
            <a:off x="838200" y="1360170"/>
            <a:ext cx="10515600" cy="5323205"/>
          </a:xfrm>
          <a:prstGeom prst="rect">
            <a:avLst/>
          </a:prstGeom>
          <a:noFill/>
        </p:spPr>
        <p:txBody>
          <a:bodyPr wrap="square" rtlCol="0">
            <a:spAutoFit/>
          </a:bodyPr>
          <a:lstStyle/>
          <a:p>
            <a:pPr>
              <a:lnSpc>
                <a:spcPct val="100000"/>
              </a:lnSpc>
              <a:spcBef>
                <a:spcPts val="0"/>
              </a:spcBef>
              <a:spcAft>
                <a:spcPts val="0"/>
              </a:spcAft>
            </a:pPr>
            <a:r>
              <a:rPr lang="en-US" sz="2000" b="1">
                <a:latin typeface="Times New Roman" panose="02020603050405020304" pitchFamily="18" charset="0"/>
                <a:cs typeface="Times New Roman" panose="02020603050405020304" pitchFamily="18" charset="0"/>
                <a:sym typeface="+mn-ea"/>
              </a:rPr>
              <a:t>Similarly, compute all the entries.</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After all the entries are computed and filled in the table, we get the following table</a:t>
            </a:r>
            <a:r>
              <a:rPr lang="en-US" sz="2000" b="1">
                <a:latin typeface="Times New Roman" panose="02020603050405020304" pitchFamily="18" charset="0"/>
                <a:cs typeface="Times New Roman" panose="02020603050405020304" pitchFamily="18" charset="0"/>
                <a:sym typeface="+mn-ea"/>
              </a:rPr>
              <a:t>-</a:t>
            </a:r>
          </a:p>
          <a:p>
            <a:pPr>
              <a:lnSpc>
                <a:spcPct val="100000"/>
              </a:lnSpc>
              <a:spcBef>
                <a:spcPts val="0"/>
              </a:spcBef>
              <a:spcAft>
                <a:spcPts val="0"/>
              </a:spcAft>
            </a:pPr>
            <a:endParaRPr lang="en-US" sz="2000" b="1">
              <a:latin typeface="Times New Roman" panose="02020603050405020304" pitchFamily="18" charset="0"/>
              <a:cs typeface="Times New Roman" panose="02020603050405020304" pitchFamily="18" charset="0"/>
              <a:sym typeface="+mn-ea"/>
            </a:endParaRPr>
          </a:p>
          <a:p>
            <a:pPr>
              <a:lnSpc>
                <a:spcPct val="100000"/>
              </a:lnSpc>
              <a:spcBef>
                <a:spcPts val="0"/>
              </a:spcBef>
              <a:spcAft>
                <a:spcPts val="0"/>
              </a:spcAft>
            </a:pPr>
            <a:endParaRPr lang="en-US" sz="2000" b="1">
              <a:latin typeface="Times New Roman" panose="02020603050405020304" pitchFamily="18" charset="0"/>
              <a:cs typeface="Times New Roman" panose="02020603050405020304" pitchFamily="18" charset="0"/>
              <a:sym typeface="+mn-ea"/>
            </a:endParaRPr>
          </a:p>
          <a:p>
            <a:pPr>
              <a:lnSpc>
                <a:spcPct val="100000"/>
              </a:lnSpc>
              <a:spcBef>
                <a:spcPts val="0"/>
              </a:spcBef>
              <a:spcAft>
                <a:spcPts val="0"/>
              </a:spcAft>
            </a:pPr>
            <a:endParaRPr lang="en-US" sz="2000" b="1">
              <a:latin typeface="Times New Roman" panose="02020603050405020304" pitchFamily="18" charset="0"/>
              <a:cs typeface="Times New Roman" panose="02020603050405020304" pitchFamily="18" charset="0"/>
              <a:sym typeface="+mn-ea"/>
            </a:endParaRPr>
          </a:p>
          <a:p>
            <a:pPr>
              <a:lnSpc>
                <a:spcPct val="100000"/>
              </a:lnSpc>
              <a:spcBef>
                <a:spcPts val="0"/>
              </a:spcBef>
              <a:spcAft>
                <a:spcPts val="0"/>
              </a:spcAft>
            </a:pPr>
            <a:endParaRPr lang="en-US" sz="2000" b="1">
              <a:latin typeface="Times New Roman" panose="02020603050405020304" pitchFamily="18" charset="0"/>
              <a:cs typeface="Times New Roman" panose="02020603050405020304" pitchFamily="18" charset="0"/>
              <a:sym typeface="+mn-ea"/>
            </a:endParaRPr>
          </a:p>
          <a:p>
            <a:pPr>
              <a:lnSpc>
                <a:spcPct val="100000"/>
              </a:lnSpc>
              <a:spcBef>
                <a:spcPts val="0"/>
              </a:spcBef>
              <a:spcAft>
                <a:spcPts val="0"/>
              </a:spcAft>
            </a:pPr>
            <a:endParaRPr lang="en-US" sz="2000" b="1">
              <a:latin typeface="Times New Roman" panose="02020603050405020304" pitchFamily="18" charset="0"/>
              <a:cs typeface="Times New Roman" panose="02020603050405020304" pitchFamily="18" charset="0"/>
              <a:sym typeface="+mn-ea"/>
            </a:endParaRPr>
          </a:p>
          <a:p>
            <a:pPr>
              <a:lnSpc>
                <a:spcPct val="100000"/>
              </a:lnSpc>
              <a:spcBef>
                <a:spcPts val="0"/>
              </a:spcBef>
              <a:spcAft>
                <a:spcPts val="0"/>
              </a:spcAft>
            </a:pPr>
            <a:endParaRPr lang="en-US" sz="2000" b="1">
              <a:latin typeface="Times New Roman" panose="02020603050405020304" pitchFamily="18" charset="0"/>
              <a:cs typeface="Times New Roman" panose="02020603050405020304" pitchFamily="18" charset="0"/>
              <a:sym typeface="+mn-ea"/>
            </a:endParaRPr>
          </a:p>
          <a:p>
            <a:pPr>
              <a:lnSpc>
                <a:spcPct val="100000"/>
              </a:lnSpc>
              <a:spcBef>
                <a:spcPts val="0"/>
              </a:spcBef>
              <a:spcAft>
                <a:spcPts val="0"/>
              </a:spcAft>
            </a:pPr>
            <a:endParaRPr lang="en-US" sz="2000" b="1">
              <a:latin typeface="Times New Roman" panose="02020603050405020304" pitchFamily="18" charset="0"/>
              <a:cs typeface="Times New Roman" panose="02020603050405020304" pitchFamily="18" charset="0"/>
              <a:sym typeface="+mn-ea"/>
            </a:endParaRPr>
          </a:p>
          <a:p>
            <a:pPr>
              <a:lnSpc>
                <a:spcPct val="100000"/>
              </a:lnSpc>
              <a:spcBef>
                <a:spcPts val="0"/>
              </a:spcBef>
              <a:spcAft>
                <a:spcPts val="0"/>
              </a:spcAft>
            </a:pPr>
            <a:endParaRPr lang="en-US" sz="2000">
              <a:latin typeface="Times New Roman" panose="02020603050405020304" pitchFamily="18" charset="0"/>
              <a:cs typeface="Times New Roman" panose="02020603050405020304" pitchFamily="18" charset="0"/>
              <a:sym typeface="+mn-ea"/>
            </a:endParaRP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The last entry represents the maximum possible value that can be put into the knapsack.</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So, maximum possible value that can be put into the knapsack = 7.</a:t>
            </a:r>
          </a:p>
          <a:p>
            <a:pPr>
              <a:lnSpc>
                <a:spcPct val="100000"/>
              </a:lnSpc>
              <a:spcBef>
                <a:spcPts val="0"/>
              </a:spcBef>
              <a:spcAft>
                <a:spcPts val="0"/>
              </a:spcAft>
            </a:pPr>
            <a:r>
              <a:rPr lang="en-US" sz="2000" b="1">
                <a:latin typeface="Times New Roman" panose="02020603050405020304" pitchFamily="18" charset="0"/>
                <a:cs typeface="Times New Roman" panose="02020603050405020304" pitchFamily="18" charset="0"/>
                <a:sym typeface="+mn-ea"/>
              </a:rPr>
              <a:t>Identifying Items To Be Put Into Knapsack-</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Following Step-04,</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We mark the rows labelled “1” and “2”.</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Thus, items that must be put into the knapsack to obtain the maximum value 7 are-</a:t>
            </a:r>
          </a:p>
          <a:p>
            <a:pPr>
              <a:lnSpc>
                <a:spcPct val="100000"/>
              </a:lnSpc>
              <a:spcBef>
                <a:spcPts val="0"/>
              </a:spcBef>
              <a:spcAft>
                <a:spcPts val="0"/>
              </a:spcAft>
            </a:pPr>
            <a:r>
              <a:rPr lang="en-US" sz="2000">
                <a:latin typeface="Times New Roman" panose="02020603050405020304" pitchFamily="18" charset="0"/>
                <a:cs typeface="Times New Roman" panose="02020603050405020304" pitchFamily="18" charset="0"/>
                <a:sym typeface="+mn-ea"/>
              </a:rPr>
              <a:t>Item-1 and Item-2</a:t>
            </a:r>
          </a:p>
        </p:txBody>
      </p:sp>
      <p:pic>
        <p:nvPicPr>
          <p:cNvPr id="102" name="Content Placeholder 101"/>
          <p:cNvPicPr>
            <a:picLocks noGrp="1" noChangeAspect="1"/>
          </p:cNvPicPr>
          <p:nvPr>
            <p:ph sz="half" idx="1"/>
          </p:nvPr>
        </p:nvPicPr>
        <p:blipFill>
          <a:blip r:embed="rId2"/>
          <a:srcRect r="-438" b="12174"/>
          <a:stretch>
            <a:fillRect/>
          </a:stretch>
        </p:blipFill>
        <p:spPr>
          <a:xfrm>
            <a:off x="1252220" y="2082165"/>
            <a:ext cx="5240020" cy="2308860"/>
          </a:xfrm>
          <a:prstGeom prst="rect">
            <a:avLst/>
          </a:prstGeom>
          <a:noFill/>
          <a:ln w="9525">
            <a:noFill/>
          </a:ln>
        </p:spPr>
      </p:pic>
      <p:pic>
        <p:nvPicPr>
          <p:cNvPr id="9" name="Content Placeholder 8"/>
          <p:cNvPicPr>
            <a:picLocks noGrp="1" noChangeAspect="1"/>
          </p:cNvPicPr>
          <p:nvPr>
            <p:ph sz="half" idx="2"/>
          </p:nvPr>
        </p:nvPicPr>
        <p:blipFill>
          <a:blip r:embed="rId3"/>
          <a:stretch>
            <a:fillRect/>
          </a:stretch>
        </p:blipFill>
        <p:spPr>
          <a:xfrm>
            <a:off x="7603490" y="2365375"/>
            <a:ext cx="2332990" cy="159448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8637104" cy="908810"/>
          </a:xfrm>
        </p:spPr>
        <p:txBody>
          <a:bodyPr/>
          <a:lstStyle/>
          <a:p>
            <a:pPr algn="ctr"/>
            <a:r>
              <a:rPr lang="en-US" b="1" dirty="0">
                <a:latin typeface="Times New Roman" panose="02020603050405020304" pitchFamily="18" charset="0"/>
                <a:cs typeface="Times New Roman" panose="02020603050405020304" pitchFamily="18" charset="0"/>
              </a:rPr>
              <a:t>Bellman Ford Algorithm</a:t>
            </a:r>
            <a:endParaRPr lang="en-US" dirty="0"/>
          </a:p>
        </p:txBody>
      </p:sp>
      <p:sp>
        <p:nvSpPr>
          <p:cNvPr id="3" name="Content Placeholder 2"/>
          <p:cNvSpPr>
            <a:spLocks noGrp="1"/>
          </p:cNvSpPr>
          <p:nvPr>
            <p:ph idx="1"/>
          </p:nvPr>
        </p:nvSpPr>
        <p:spPr>
          <a:xfrm>
            <a:off x="838200" y="1229485"/>
            <a:ext cx="10515600" cy="4947478"/>
          </a:xfrm>
        </p:spPr>
        <p:txBody>
          <a:bodyPr>
            <a:normAutofit/>
          </a:bodyPr>
          <a:lstStyle/>
          <a:p>
            <a:pPr marL="0" indent="0" algn="just">
              <a:buNone/>
            </a:pPr>
            <a:r>
              <a:rPr lang="en-US" sz="2400" b="0" i="0" dirty="0">
                <a:solidFill>
                  <a:srgbClr val="333333"/>
                </a:solidFill>
                <a:effectLst/>
                <a:latin typeface="Times New Roman" panose="02020603050405020304" pitchFamily="18" charset="0"/>
                <a:cs typeface="Times New Roman" panose="02020603050405020304" pitchFamily="18" charset="0"/>
              </a:rPr>
              <a:t>Bellman ford algorithm is a single-source shortest path algorithm. This algorithm is used to find the shortest distance from the single vertex to all the other vertices of a weighted graph. There are various other algorithms used to find the shortest path like Dijkstra algorithm, etc. If the weighted graph contains the negative weight values, then the Dijkstra algorithm does not confirm whether it produces the correct answer or not. In contrast to Dijkstra algorithm, bellman ford algorithm guarantees the correct answer even if the weighted graph contains the negative weight values.</a:t>
            </a:r>
          </a:p>
          <a:p>
            <a:pPr marL="0" indent="0" algn="just">
              <a:buNone/>
            </a:pPr>
            <a:endParaRPr lang="en-IN" sz="2400" b="1" i="0" dirty="0">
              <a:solidFill>
                <a:srgbClr val="333333"/>
              </a:solidFill>
              <a:effectLst/>
              <a:latin typeface="Times New Roman" panose="02020603050405020304" pitchFamily="18" charset="0"/>
              <a:cs typeface="Times New Roman" panose="02020603050405020304" pitchFamily="18" charset="0"/>
            </a:endParaRPr>
          </a:p>
          <a:p>
            <a:pPr marL="0" indent="0" algn="just">
              <a:buNone/>
            </a:pPr>
            <a:r>
              <a:rPr lang="en-IN" sz="2400" b="1" i="0" dirty="0">
                <a:solidFill>
                  <a:srgbClr val="333333"/>
                </a:solidFill>
                <a:effectLst/>
                <a:latin typeface="Times New Roman" panose="02020603050405020304" pitchFamily="18" charset="0"/>
                <a:cs typeface="Times New Roman" panose="02020603050405020304" pitchFamily="18" charset="0"/>
              </a:rPr>
              <a:t>Rule of this algorithm</a:t>
            </a:r>
            <a:endParaRPr lang="en-US" sz="2400" dirty="0">
              <a:solidFill>
                <a:srgbClr val="333333"/>
              </a:solidFill>
              <a:latin typeface="Times New Roman" panose="02020603050405020304" pitchFamily="18" charset="0"/>
              <a:cs typeface="Times New Roman" panose="02020603050405020304" pitchFamily="18" charset="0"/>
            </a:endParaRPr>
          </a:p>
          <a:p>
            <a:pPr algn="just">
              <a:buFont typeface="+mj-lt"/>
              <a:buAutoNum type="arabicPeriod"/>
            </a:pPr>
            <a:r>
              <a:rPr lang="en-US" sz="2400" b="0" i="0" dirty="0">
                <a:solidFill>
                  <a:srgbClr val="000000"/>
                </a:solidFill>
                <a:effectLst/>
                <a:latin typeface="Times New Roman" panose="02020603050405020304" pitchFamily="18" charset="0"/>
                <a:cs typeface="Times New Roman" panose="02020603050405020304" pitchFamily="18" charset="0"/>
              </a:rPr>
              <a:t> We will go on relaxing all the edges (n - 1) times where,  </a:t>
            </a:r>
          </a:p>
          <a:p>
            <a:pPr algn="just">
              <a:buFont typeface="+mj-lt"/>
              <a:buAutoNum type="arabicPeriod"/>
            </a:pPr>
            <a:r>
              <a:rPr lang="en-US" sz="2400" b="0" i="0" dirty="0">
                <a:effectLst/>
                <a:latin typeface="Times New Roman" panose="02020603050405020304" pitchFamily="18" charset="0"/>
                <a:cs typeface="Times New Roman" panose="02020603050405020304" pitchFamily="18" charset="0"/>
              </a:rPr>
              <a:t> n = number of vertices </a:t>
            </a:r>
          </a:p>
          <a:p>
            <a:pPr marL="0" indent="0" algn="just">
              <a:buNone/>
            </a:pPr>
            <a:endParaRPr lang="en-US" sz="3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61</a:t>
            </a:fld>
            <a:endParaRPr lang="en-US"/>
          </a:p>
        </p:txBody>
      </p:sp>
      <p:sp>
        <p:nvSpPr>
          <p:cNvPr id="5" name="Rectangle 4"/>
          <p:cNvSpPr/>
          <p:nvPr/>
        </p:nvSpPr>
        <p:spPr>
          <a:xfrm>
            <a:off x="838200" y="83377"/>
            <a:ext cx="8637104" cy="9088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224722"/>
            <a:ext cx="10515600" cy="494747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4489588" y="1174618"/>
            <a:ext cx="4813438" cy="2618299"/>
          </a:xfrm>
          <a:prstGeom prst="rect">
            <a:avLst/>
          </a:prstGeom>
        </p:spPr>
      </p:pic>
      <p:sp>
        <p:nvSpPr>
          <p:cNvPr id="2" name="Title 1"/>
          <p:cNvSpPr>
            <a:spLocks noGrp="1"/>
          </p:cNvSpPr>
          <p:nvPr>
            <p:ph type="title"/>
          </p:nvPr>
        </p:nvSpPr>
        <p:spPr>
          <a:xfrm>
            <a:off x="838200" y="136525"/>
            <a:ext cx="8637104" cy="908810"/>
          </a:xfrm>
        </p:spPr>
        <p:txBody>
          <a:bodyPr/>
          <a:lstStyle/>
          <a:p>
            <a:pPr algn="ctr"/>
            <a:r>
              <a:rPr lang="en-US" b="1" dirty="0">
                <a:latin typeface="Times New Roman" panose="02020603050405020304" pitchFamily="18" charset="0"/>
                <a:cs typeface="Times New Roman" panose="02020603050405020304" pitchFamily="18" charset="0"/>
              </a:rPr>
              <a:t>Bellman Ford Algorithm</a:t>
            </a:r>
            <a:endParaRPr lang="en-US" dirty="0"/>
          </a:p>
        </p:txBody>
      </p:sp>
      <p:sp>
        <p:nvSpPr>
          <p:cNvPr id="3" name="Content Placeholder 2"/>
          <p:cNvSpPr>
            <a:spLocks noGrp="1"/>
          </p:cNvSpPr>
          <p:nvPr>
            <p:ph idx="1"/>
          </p:nvPr>
        </p:nvSpPr>
        <p:spPr>
          <a:xfrm>
            <a:off x="838200" y="1229484"/>
            <a:ext cx="10515600" cy="5628516"/>
          </a:xfrm>
        </p:spPr>
        <p:txBody>
          <a:bodyPr>
            <a:normAutofit lnSpcReduction="10000"/>
          </a:bodyPr>
          <a:lstStyle/>
          <a:p>
            <a:pPr marL="0" indent="0" algn="just">
              <a:buNone/>
            </a:pPr>
            <a:r>
              <a:rPr lang="en-IN" sz="2400" b="1" i="0" dirty="0">
                <a:solidFill>
                  <a:srgbClr val="333333"/>
                </a:solidFill>
                <a:effectLst/>
                <a:latin typeface="Times New Roman" panose="02020603050405020304" pitchFamily="18" charset="0"/>
                <a:cs typeface="Times New Roman" panose="02020603050405020304" pitchFamily="18" charset="0"/>
              </a:rPr>
              <a:t>Consider the below graph:</a:t>
            </a:r>
          </a:p>
          <a:p>
            <a:pPr marL="0" indent="0" algn="just">
              <a:buNone/>
            </a:pPr>
            <a:endParaRPr lang="en-IN" sz="2400" b="1" dirty="0">
              <a:solidFill>
                <a:srgbClr val="333333"/>
              </a:solidFill>
              <a:latin typeface="Times New Roman" panose="02020603050405020304" pitchFamily="18" charset="0"/>
              <a:cs typeface="Times New Roman" panose="02020603050405020304" pitchFamily="18" charset="0"/>
            </a:endParaRPr>
          </a:p>
          <a:p>
            <a:pPr marL="0" indent="0" algn="just">
              <a:buNone/>
            </a:pPr>
            <a:endParaRPr lang="en-IN" sz="2400" b="1" i="0" dirty="0">
              <a:solidFill>
                <a:srgbClr val="333333"/>
              </a:solidFill>
              <a:effectLst/>
              <a:latin typeface="Times New Roman" panose="02020603050405020304" pitchFamily="18" charset="0"/>
              <a:cs typeface="Times New Roman" panose="02020603050405020304" pitchFamily="18" charset="0"/>
            </a:endParaRPr>
          </a:p>
          <a:p>
            <a:pPr marL="0" indent="0" algn="just">
              <a:buNone/>
            </a:pPr>
            <a:endParaRPr lang="en-IN" sz="2400" b="1" dirty="0">
              <a:solidFill>
                <a:srgbClr val="333333"/>
              </a:solidFill>
              <a:latin typeface="Times New Roman" panose="02020603050405020304" pitchFamily="18" charset="0"/>
              <a:cs typeface="Times New Roman" panose="02020603050405020304" pitchFamily="18" charset="0"/>
            </a:endParaRPr>
          </a:p>
          <a:p>
            <a:pPr marL="0" indent="0" algn="just">
              <a:buNone/>
            </a:pPr>
            <a:endParaRPr lang="en-IN" sz="2400" b="1" i="0" dirty="0">
              <a:solidFill>
                <a:srgbClr val="333333"/>
              </a:solidFill>
              <a:effectLst/>
              <a:latin typeface="Times New Roman" panose="02020603050405020304" pitchFamily="18" charset="0"/>
              <a:cs typeface="Times New Roman" panose="02020603050405020304" pitchFamily="18" charset="0"/>
            </a:endParaRPr>
          </a:p>
          <a:p>
            <a:pPr marL="0" indent="0" algn="just">
              <a:buNone/>
            </a:pPr>
            <a:endParaRPr lang="en-US" sz="2400" b="0" i="0" dirty="0">
              <a:solidFill>
                <a:srgbClr val="333333"/>
              </a:solidFill>
              <a:effectLst/>
              <a:latin typeface="Times New Roman" panose="02020603050405020304" pitchFamily="18" charset="0"/>
              <a:cs typeface="Times New Roman" panose="02020603050405020304" pitchFamily="18" charset="0"/>
            </a:endParaRPr>
          </a:p>
          <a:p>
            <a:pPr marL="0" indent="0" algn="just">
              <a:buNone/>
            </a:pPr>
            <a:r>
              <a:rPr lang="en-US" sz="2400" b="0" i="0" dirty="0">
                <a:solidFill>
                  <a:srgbClr val="333333"/>
                </a:solidFill>
                <a:effectLst/>
                <a:latin typeface="Times New Roman" panose="02020603050405020304" pitchFamily="18" charset="0"/>
                <a:cs typeface="Times New Roman" panose="02020603050405020304" pitchFamily="18" charset="0"/>
              </a:rPr>
              <a:t>As we can observe in the above graph that some of the weights are negative. The above graph contains 6 vertices so we will go on relaxing till the 5 vertices. Here, we will relax all the edges 5 times. The loop will iterate 5 times to get the correct answer. If the loop is iterated more than 5 times then also the answer will be the same, i.e., there would be no change in the distance between the vertices.</a:t>
            </a:r>
            <a:endParaRPr lang="en-IN" sz="2400" b="1" i="0" dirty="0">
              <a:solidFill>
                <a:srgbClr val="333333"/>
              </a:solidFill>
              <a:effectLst/>
              <a:latin typeface="Times New Roman" panose="02020603050405020304" pitchFamily="18" charset="0"/>
              <a:cs typeface="Times New Roman" panose="02020603050405020304" pitchFamily="18" charset="0"/>
            </a:endParaRPr>
          </a:p>
          <a:p>
            <a:pPr marL="0" indent="0" algn="just">
              <a:buNone/>
            </a:pPr>
            <a:r>
              <a:rPr lang="en-IN" sz="2400" b="1" dirty="0">
                <a:solidFill>
                  <a:srgbClr val="333333"/>
                </a:solidFill>
                <a:latin typeface="Times New Roman" panose="02020603050405020304" pitchFamily="18" charset="0"/>
                <a:cs typeface="Times New Roman" panose="02020603050405020304" pitchFamily="18" charset="0"/>
              </a:rPr>
              <a:t>Relaxing means:</a:t>
            </a:r>
          </a:p>
          <a:p>
            <a:pPr algn="just">
              <a:buFont typeface="+mj-lt"/>
              <a:buAutoNum type="arabicPeriod"/>
            </a:pPr>
            <a:r>
              <a:rPr lang="pl-PL" sz="2400" dirty="0">
                <a:solidFill>
                  <a:srgbClr val="333333"/>
                </a:solidFill>
                <a:latin typeface="Times New Roman" panose="02020603050405020304" pitchFamily="18" charset="0"/>
                <a:cs typeface="Times New Roman" panose="02020603050405020304" pitchFamily="18" charset="0"/>
              </a:rPr>
              <a:t>If (d(u) + c(u , v) &lt; d(v))  </a:t>
            </a:r>
          </a:p>
          <a:p>
            <a:pPr algn="just">
              <a:buFont typeface="+mj-lt"/>
              <a:buAutoNum type="arabicPeriod"/>
            </a:pPr>
            <a:r>
              <a:rPr lang="pl-PL" sz="2400" dirty="0">
                <a:solidFill>
                  <a:srgbClr val="333333"/>
                </a:solidFill>
                <a:latin typeface="Times New Roman" panose="02020603050405020304" pitchFamily="18" charset="0"/>
                <a:cs typeface="Times New Roman" panose="02020603050405020304" pitchFamily="18" charset="0"/>
              </a:rPr>
              <a:t> d(v) = d(u) + c(u , v)  </a:t>
            </a:r>
          </a:p>
        </p:txBody>
      </p:sp>
      <p:sp>
        <p:nvSpPr>
          <p:cNvPr id="4" name="Slide Number Placeholder 3"/>
          <p:cNvSpPr>
            <a:spLocks noGrp="1"/>
          </p:cNvSpPr>
          <p:nvPr>
            <p:ph type="sldNum" sz="quarter" idx="12"/>
          </p:nvPr>
        </p:nvSpPr>
        <p:spPr/>
        <p:txBody>
          <a:bodyPr/>
          <a:lstStyle/>
          <a:p>
            <a:fld id="{BDCDBBEF-AA6C-4BA6-85B2-A17D7F280E38}" type="slidenum">
              <a:rPr lang="en-US" smtClean="0"/>
              <a:t>62</a:t>
            </a:fld>
            <a:endParaRPr lang="en-US"/>
          </a:p>
        </p:txBody>
      </p:sp>
      <p:sp>
        <p:nvSpPr>
          <p:cNvPr id="5" name="Rectangle 4"/>
          <p:cNvSpPr/>
          <p:nvPr/>
        </p:nvSpPr>
        <p:spPr>
          <a:xfrm>
            <a:off x="838200" y="83377"/>
            <a:ext cx="8637104" cy="9088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224722"/>
            <a:ext cx="10515600" cy="5317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4489450" y="2026920"/>
            <a:ext cx="6391275" cy="3476625"/>
          </a:xfrm>
          <a:prstGeom prst="rect">
            <a:avLst/>
          </a:prstGeom>
        </p:spPr>
      </p:pic>
      <p:sp>
        <p:nvSpPr>
          <p:cNvPr id="2" name="Title 1"/>
          <p:cNvSpPr>
            <a:spLocks noGrp="1"/>
          </p:cNvSpPr>
          <p:nvPr>
            <p:ph type="title"/>
          </p:nvPr>
        </p:nvSpPr>
        <p:spPr>
          <a:xfrm>
            <a:off x="838200" y="136525"/>
            <a:ext cx="8637104" cy="908810"/>
          </a:xfrm>
        </p:spPr>
        <p:txBody>
          <a:bodyPr/>
          <a:lstStyle/>
          <a:p>
            <a:pPr algn="ctr"/>
            <a:r>
              <a:rPr lang="en-US" b="1" dirty="0">
                <a:latin typeface="Times New Roman" panose="02020603050405020304" pitchFamily="18" charset="0"/>
                <a:cs typeface="Times New Roman" panose="02020603050405020304" pitchFamily="18" charset="0"/>
              </a:rPr>
              <a:t>Bellman Ford Algorithm</a:t>
            </a:r>
            <a:endParaRPr lang="en-US" dirty="0"/>
          </a:p>
        </p:txBody>
      </p:sp>
      <p:sp>
        <p:nvSpPr>
          <p:cNvPr id="3" name="Content Placeholder 2"/>
          <p:cNvSpPr>
            <a:spLocks noGrp="1"/>
          </p:cNvSpPr>
          <p:nvPr>
            <p:ph idx="1"/>
          </p:nvPr>
        </p:nvSpPr>
        <p:spPr>
          <a:xfrm>
            <a:off x="838200" y="1229484"/>
            <a:ext cx="10515600" cy="5628516"/>
          </a:xfrm>
        </p:spPr>
        <p:txBody>
          <a:bodyPr>
            <a:normAutofit/>
          </a:bodyPr>
          <a:lstStyle/>
          <a:p>
            <a:pPr marL="0" indent="0" algn="just">
              <a:buNone/>
            </a:pPr>
            <a:r>
              <a:rPr lang="en-IN" sz="2400" b="1" i="0" dirty="0">
                <a:solidFill>
                  <a:srgbClr val="333333"/>
                </a:solidFill>
                <a:effectLst/>
                <a:latin typeface="Times New Roman" panose="02020603050405020304" pitchFamily="18" charset="0"/>
                <a:cs typeface="Times New Roman" panose="02020603050405020304" pitchFamily="18" charset="0"/>
              </a:rPr>
              <a:t>Consider the below graph:</a:t>
            </a:r>
          </a:p>
          <a:p>
            <a:pPr marL="0" indent="0" algn="just">
              <a:buNone/>
            </a:pPr>
            <a:endParaRPr lang="en-IN" sz="2400" b="1" dirty="0">
              <a:solidFill>
                <a:srgbClr val="333333"/>
              </a:solidFill>
              <a:latin typeface="Times New Roman" panose="02020603050405020304" pitchFamily="18" charset="0"/>
              <a:cs typeface="Times New Roman" panose="02020603050405020304" pitchFamily="18" charset="0"/>
            </a:endParaRPr>
          </a:p>
          <a:p>
            <a:pPr marL="0" indent="0" algn="just">
              <a:buNone/>
            </a:pPr>
            <a:endParaRPr lang="en-IN" sz="2400" b="1" i="0" dirty="0">
              <a:solidFill>
                <a:srgbClr val="333333"/>
              </a:solidFill>
              <a:effectLst/>
              <a:latin typeface="Times New Roman" panose="02020603050405020304" pitchFamily="18" charset="0"/>
              <a:cs typeface="Times New Roman" panose="02020603050405020304" pitchFamily="18" charset="0"/>
            </a:endParaRPr>
          </a:p>
          <a:p>
            <a:pPr marL="0" indent="0" algn="just">
              <a:buNone/>
            </a:pPr>
            <a:endParaRPr lang="en-IN" sz="2400" b="1" dirty="0">
              <a:solidFill>
                <a:srgbClr val="333333"/>
              </a:solidFill>
              <a:latin typeface="Times New Roman" panose="02020603050405020304" pitchFamily="18" charset="0"/>
              <a:cs typeface="Times New Roman" panose="02020603050405020304" pitchFamily="18" charset="0"/>
            </a:endParaRPr>
          </a:p>
          <a:p>
            <a:pPr marL="0" indent="0" algn="just">
              <a:buNone/>
            </a:pPr>
            <a:endParaRPr lang="en-IN" sz="2400" b="1" i="0" dirty="0">
              <a:solidFill>
                <a:srgbClr val="333333"/>
              </a:solidFill>
              <a:effectLst/>
              <a:latin typeface="Times New Roman" panose="02020603050405020304" pitchFamily="18" charset="0"/>
              <a:cs typeface="Times New Roman" panose="02020603050405020304" pitchFamily="18" charset="0"/>
            </a:endParaRPr>
          </a:p>
          <a:p>
            <a:pPr marL="0" indent="0" algn="just">
              <a:buNone/>
            </a:pPr>
            <a:endParaRPr lang="en-US" sz="2400" b="0" i="0" dirty="0">
              <a:solidFill>
                <a:srgbClr val="333333"/>
              </a:solidFill>
              <a:effectLst/>
              <a:latin typeface="Times New Roman" panose="02020603050405020304" pitchFamily="18" charset="0"/>
              <a:cs typeface="Times New Roman" panose="02020603050405020304" pitchFamily="18" charset="0"/>
            </a:endParaRPr>
          </a:p>
          <a:p>
            <a:pPr marL="0" indent="0" algn="just">
              <a:buNone/>
            </a:pPr>
            <a:r>
              <a:rPr lang="pl-PL" sz="2400" dirty="0">
                <a:solidFill>
                  <a:srgbClr val="333333"/>
                </a:solidFill>
                <a:latin typeface="Times New Roman" panose="02020603050405020304" pitchFamily="18" charset="0"/>
                <a:cs typeface="Times New Roman" panose="02020603050405020304" pitchFamily="18" charset="0"/>
              </a:rPr>
              <a:t>  </a:t>
            </a:r>
          </a:p>
        </p:txBody>
      </p:sp>
      <p:sp>
        <p:nvSpPr>
          <p:cNvPr id="4" name="Slide Number Placeholder 3"/>
          <p:cNvSpPr>
            <a:spLocks noGrp="1"/>
          </p:cNvSpPr>
          <p:nvPr>
            <p:ph type="sldNum" sz="quarter" idx="12"/>
          </p:nvPr>
        </p:nvSpPr>
        <p:spPr/>
        <p:txBody>
          <a:bodyPr/>
          <a:lstStyle/>
          <a:p>
            <a:fld id="{BDCDBBEF-AA6C-4BA6-85B2-A17D7F280E38}" type="slidenum">
              <a:rPr lang="en-US" smtClean="0"/>
              <a:t>63</a:t>
            </a:fld>
            <a:endParaRPr lang="en-US"/>
          </a:p>
        </p:txBody>
      </p:sp>
      <p:sp>
        <p:nvSpPr>
          <p:cNvPr id="5" name="Rectangle 4"/>
          <p:cNvSpPr/>
          <p:nvPr/>
        </p:nvSpPr>
        <p:spPr>
          <a:xfrm>
            <a:off x="838200" y="83377"/>
            <a:ext cx="8637104" cy="9088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224722"/>
            <a:ext cx="10515600" cy="5317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8637104" cy="908810"/>
          </a:xfrm>
        </p:spPr>
        <p:txBody>
          <a:bodyPr/>
          <a:lstStyle/>
          <a:p>
            <a:pPr algn="ctr"/>
            <a:r>
              <a:rPr lang="en-US" b="1" dirty="0">
                <a:latin typeface="Times New Roman" panose="02020603050405020304" pitchFamily="18" charset="0"/>
                <a:cs typeface="Times New Roman" panose="02020603050405020304" pitchFamily="18" charset="0"/>
              </a:rPr>
              <a:t>Bellman Ford Algorithm</a:t>
            </a:r>
            <a:endParaRPr lang="en-US" dirty="0"/>
          </a:p>
        </p:txBody>
      </p:sp>
      <p:sp>
        <p:nvSpPr>
          <p:cNvPr id="3" name="Content Placeholder 2"/>
          <p:cNvSpPr>
            <a:spLocks noGrp="1"/>
          </p:cNvSpPr>
          <p:nvPr>
            <p:ph idx="1"/>
          </p:nvPr>
        </p:nvSpPr>
        <p:spPr>
          <a:xfrm>
            <a:off x="838200" y="1229484"/>
            <a:ext cx="10515600" cy="5628516"/>
          </a:xfrm>
        </p:spPr>
        <p:txBody>
          <a:bodyPr>
            <a:normAutofit/>
          </a:bodyPr>
          <a:lstStyle/>
          <a:p>
            <a:pPr algn="just"/>
            <a:r>
              <a:rPr lang="en-US" sz="2000" b="0" i="0" dirty="0">
                <a:solidFill>
                  <a:srgbClr val="333333"/>
                </a:solidFill>
                <a:effectLst/>
                <a:latin typeface="Times New Roman" panose="02020603050405020304" pitchFamily="18" charset="0"/>
                <a:cs typeface="Times New Roman" panose="02020603050405020304" pitchFamily="18" charset="0"/>
              </a:rPr>
              <a:t>To find the shortest path of the above graph, the first step is note down all the edges which are given below:</a:t>
            </a:r>
          </a:p>
          <a:p>
            <a:pPr algn="just"/>
            <a:r>
              <a:rPr lang="en-US" sz="2000" b="0" i="0" dirty="0">
                <a:solidFill>
                  <a:srgbClr val="333333"/>
                </a:solidFill>
                <a:effectLst/>
                <a:latin typeface="Times New Roman" panose="02020603050405020304" pitchFamily="18" charset="0"/>
                <a:cs typeface="Times New Roman" panose="02020603050405020304" pitchFamily="18" charset="0"/>
              </a:rPr>
              <a:t>(A, B), (A, C), (A, D), (B, E), (C, E), (D, C), (D, F), (E, F), (C, B)</a:t>
            </a:r>
          </a:p>
          <a:p>
            <a:pPr algn="just"/>
            <a:r>
              <a:rPr lang="en-US" sz="2000" b="0" i="0" dirty="0">
                <a:solidFill>
                  <a:srgbClr val="333333"/>
                </a:solidFill>
                <a:effectLst/>
                <a:latin typeface="Times New Roman" panose="02020603050405020304" pitchFamily="18" charset="0"/>
                <a:cs typeface="Times New Roman" panose="02020603050405020304" pitchFamily="18" charset="0"/>
              </a:rPr>
              <a:t>Let's consider the source vertex as 'A'; therefore, the distance value at vertex A is 0 and the distance value at all the other vertices as infinity shown as below:</a:t>
            </a:r>
          </a:p>
        </p:txBody>
      </p:sp>
      <p:sp>
        <p:nvSpPr>
          <p:cNvPr id="4" name="Slide Number Placeholder 3"/>
          <p:cNvSpPr>
            <a:spLocks noGrp="1"/>
          </p:cNvSpPr>
          <p:nvPr>
            <p:ph type="sldNum" sz="quarter" idx="12"/>
          </p:nvPr>
        </p:nvSpPr>
        <p:spPr/>
        <p:txBody>
          <a:bodyPr/>
          <a:lstStyle/>
          <a:p>
            <a:fld id="{BDCDBBEF-AA6C-4BA6-85B2-A17D7F280E38}" type="slidenum">
              <a:rPr lang="en-US" smtClean="0"/>
              <a:t>64</a:t>
            </a:fld>
            <a:endParaRPr lang="en-US"/>
          </a:p>
        </p:txBody>
      </p:sp>
      <p:sp>
        <p:nvSpPr>
          <p:cNvPr id="5" name="Rectangle 4"/>
          <p:cNvSpPr/>
          <p:nvPr/>
        </p:nvSpPr>
        <p:spPr>
          <a:xfrm>
            <a:off x="838200" y="83377"/>
            <a:ext cx="8637104" cy="9088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224722"/>
            <a:ext cx="10515600" cy="5317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838200" y="6129824"/>
            <a:ext cx="9538252" cy="400110"/>
          </a:xfrm>
          <a:prstGeom prst="rect">
            <a:avLst/>
          </a:prstGeom>
          <a:noFill/>
        </p:spPr>
        <p:txBody>
          <a:bodyPr wrap="square">
            <a:spAutoFit/>
          </a:bodyPr>
          <a:lstStyle/>
          <a:p>
            <a:r>
              <a:rPr lang="en-US" sz="2000" b="0" i="0" dirty="0">
                <a:solidFill>
                  <a:srgbClr val="333333"/>
                </a:solidFill>
                <a:effectLst/>
                <a:latin typeface="Times New Roman" panose="02020603050405020304" pitchFamily="18" charset="0"/>
                <a:cs typeface="Times New Roman" panose="02020603050405020304" pitchFamily="18" charset="0"/>
              </a:rPr>
              <a:t>Since the graph has six vertices so it will have five iterations.</a:t>
            </a:r>
            <a:endParaRPr lang="en-IN" sz="2000" dirty="0">
              <a:latin typeface="Times New Roman" panose="02020603050405020304" pitchFamily="18" charset="0"/>
              <a:cs typeface="Times New Roman" panose="02020603050405020304" pitchFamily="18" charset="0"/>
            </a:endParaRPr>
          </a:p>
        </p:txBody>
      </p:sp>
      <p:pic>
        <p:nvPicPr>
          <p:cNvPr id="101" name="Content Placeholder 100"/>
          <p:cNvPicPr>
            <a:picLocks noGrp="1" noChangeAspect="1"/>
          </p:cNvPicPr>
          <p:nvPr>
            <p:ph sz="half" idx="2"/>
          </p:nvPr>
        </p:nvPicPr>
        <p:blipFill>
          <a:blip r:embed="rId2"/>
          <a:stretch>
            <a:fillRect/>
          </a:stretch>
        </p:blipFill>
        <p:spPr>
          <a:xfrm>
            <a:off x="3016250" y="3089910"/>
            <a:ext cx="5181600" cy="2849880"/>
          </a:xfrm>
          <a:prstGeom prst="rect">
            <a:avLst/>
          </a:prstGeom>
          <a:noFill/>
          <a:ln w="9525">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8637104" cy="908810"/>
          </a:xfrm>
        </p:spPr>
        <p:txBody>
          <a:bodyPr/>
          <a:lstStyle/>
          <a:p>
            <a:pPr algn="ctr"/>
            <a:r>
              <a:rPr lang="en-US" b="1" dirty="0">
                <a:latin typeface="Times New Roman" panose="02020603050405020304" pitchFamily="18" charset="0"/>
                <a:cs typeface="Times New Roman" panose="02020603050405020304" pitchFamily="18" charset="0"/>
              </a:rPr>
              <a:t>Bellman Ford Algorithm</a:t>
            </a:r>
            <a:endParaRPr lang="en-US" dirty="0"/>
          </a:p>
        </p:txBody>
      </p:sp>
      <p:sp>
        <p:nvSpPr>
          <p:cNvPr id="3" name="Content Placeholder 2"/>
          <p:cNvSpPr>
            <a:spLocks noGrp="1"/>
          </p:cNvSpPr>
          <p:nvPr>
            <p:ph idx="1"/>
          </p:nvPr>
        </p:nvSpPr>
        <p:spPr>
          <a:xfrm>
            <a:off x="838200" y="1229484"/>
            <a:ext cx="10515600" cy="5628516"/>
          </a:xfrm>
        </p:spPr>
        <p:txBody>
          <a:bodyPr>
            <a:normAutofit/>
          </a:bodyPr>
          <a:lstStyle/>
          <a:p>
            <a:pPr algn="just">
              <a:lnSpc>
                <a:spcPct val="50000"/>
              </a:lnSpc>
              <a:spcAft>
                <a:spcPts val="0"/>
              </a:spcAft>
            </a:pPr>
            <a:endParaRPr lang="en-US" sz="2000" b="1" i="0" dirty="0">
              <a:solidFill>
                <a:srgbClr val="333333"/>
              </a:solidFill>
              <a:effectLst/>
              <a:latin typeface="Times New Roman" panose="02020603050405020304" pitchFamily="18" charset="0"/>
              <a:cs typeface="Times New Roman" panose="02020603050405020304" pitchFamily="18" charset="0"/>
            </a:endParaRPr>
          </a:p>
          <a:p>
            <a:pPr algn="just">
              <a:lnSpc>
                <a:spcPct val="50000"/>
              </a:lnSpc>
              <a:spcAft>
                <a:spcPts val="0"/>
              </a:spcAft>
            </a:pPr>
            <a:r>
              <a:rPr lang="en-US" sz="2000" b="1" i="0" dirty="0">
                <a:solidFill>
                  <a:srgbClr val="333333"/>
                </a:solidFill>
                <a:effectLst/>
                <a:latin typeface="Times New Roman" panose="02020603050405020304" pitchFamily="18" charset="0"/>
                <a:cs typeface="Times New Roman" panose="02020603050405020304" pitchFamily="18" charset="0"/>
              </a:rPr>
              <a:t>First iteration</a:t>
            </a:r>
          </a:p>
          <a:p>
            <a:pPr algn="just">
              <a:lnSpc>
                <a:spcPct val="50000"/>
              </a:lnSpc>
              <a:spcAft>
                <a:spcPts val="0"/>
              </a:spcAft>
            </a:pPr>
            <a:endParaRPr lang="en-US" sz="2000" b="1" i="0" dirty="0">
              <a:solidFill>
                <a:srgbClr val="333333"/>
              </a:solidFill>
              <a:effectLst/>
              <a:latin typeface="Times New Roman" panose="02020603050405020304" pitchFamily="18" charset="0"/>
              <a:cs typeface="Times New Roman" panose="02020603050405020304" pitchFamily="18" charset="0"/>
            </a:endParaRP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Consider the edge (A, B). Denote vertex 'A' as 'u' and vertex 'B' as 'v'. Now use the relaxing formula:</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d(u) = 0</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d(v) = ∞</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c(u , v) = 6</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Since (0 + 6) is less than ∞, so update</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d(v) = 0 + 6 = 6</a:t>
            </a:r>
          </a:p>
          <a:p>
            <a:pPr marL="0" indent="0" algn="just">
              <a:lnSpc>
                <a:spcPct val="50000"/>
              </a:lnSpc>
              <a:spcAft>
                <a:spcPts val="0"/>
              </a:spcAft>
              <a:buNone/>
            </a:pPr>
            <a:r>
              <a:rPr lang="en-US" sz="2000" b="1" i="0" dirty="0">
                <a:solidFill>
                  <a:srgbClr val="333333"/>
                </a:solidFill>
                <a:effectLst/>
                <a:latin typeface="Times New Roman" panose="02020603050405020304" pitchFamily="18" charset="0"/>
                <a:cs typeface="Times New Roman" panose="02020603050405020304" pitchFamily="18" charset="0"/>
              </a:rPr>
              <a:t>Therefore, the distance of vertex B is 6</a:t>
            </a:r>
            <a:r>
              <a:rPr lang="en-US" sz="2000" b="0" i="0" dirty="0">
                <a:solidFill>
                  <a:srgbClr val="333333"/>
                </a:solidFill>
                <a:effectLst/>
                <a:latin typeface="Times New Roman" panose="02020603050405020304" pitchFamily="18" charset="0"/>
                <a:cs typeface="Times New Roman" panose="02020603050405020304" pitchFamily="18" charset="0"/>
              </a:rPr>
              <a:t>.</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Consider the edge (A, C). Denote vertex 'A' as 'u' and vertex 'C' as 'v'. Now use the relaxing formula:</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d(u) = 0</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d(v) = ∞</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c(u , v) = 4</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Since (0 + 4) is less than ∞, so update, d(v) = 0 + 4 = 4</a:t>
            </a:r>
          </a:p>
          <a:p>
            <a:pPr marL="0" indent="0" algn="just">
              <a:lnSpc>
                <a:spcPct val="50000"/>
              </a:lnSpc>
              <a:spcAft>
                <a:spcPts val="0"/>
              </a:spcAft>
              <a:buNone/>
            </a:pPr>
            <a:r>
              <a:rPr lang="en-US" sz="2000" b="1" i="0" dirty="0">
                <a:solidFill>
                  <a:srgbClr val="333333"/>
                </a:solidFill>
                <a:effectLst/>
                <a:latin typeface="Times New Roman" panose="02020603050405020304" pitchFamily="18" charset="0"/>
                <a:cs typeface="Times New Roman" panose="02020603050405020304" pitchFamily="18" charset="0"/>
              </a:rPr>
              <a:t>Therefore, the distance of vertex C is 4.</a:t>
            </a:r>
          </a:p>
        </p:txBody>
      </p:sp>
      <p:sp>
        <p:nvSpPr>
          <p:cNvPr id="4" name="Slide Number Placeholder 3"/>
          <p:cNvSpPr>
            <a:spLocks noGrp="1"/>
          </p:cNvSpPr>
          <p:nvPr>
            <p:ph type="sldNum" sz="quarter" idx="12"/>
          </p:nvPr>
        </p:nvSpPr>
        <p:spPr/>
        <p:txBody>
          <a:bodyPr/>
          <a:lstStyle/>
          <a:p>
            <a:fld id="{BDCDBBEF-AA6C-4BA6-85B2-A17D7F280E38}" type="slidenum">
              <a:rPr lang="en-US" smtClean="0"/>
              <a:t>65</a:t>
            </a:fld>
            <a:endParaRPr lang="en-US"/>
          </a:p>
        </p:txBody>
      </p:sp>
      <p:sp>
        <p:nvSpPr>
          <p:cNvPr id="5" name="Rectangle 4"/>
          <p:cNvSpPr/>
          <p:nvPr/>
        </p:nvSpPr>
        <p:spPr>
          <a:xfrm>
            <a:off x="838200" y="83377"/>
            <a:ext cx="8637104" cy="9088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224722"/>
            <a:ext cx="10515600" cy="5317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1" name="Content Placeholder 100"/>
          <p:cNvPicPr>
            <a:picLocks noGrp="1" noChangeAspect="1"/>
          </p:cNvPicPr>
          <p:nvPr>
            <p:ph sz="half" idx="2"/>
          </p:nvPr>
        </p:nvPicPr>
        <p:blipFill>
          <a:blip r:embed="rId2"/>
          <a:stretch>
            <a:fillRect/>
          </a:stretch>
        </p:blipFill>
        <p:spPr>
          <a:xfrm>
            <a:off x="6734930" y="4215130"/>
            <a:ext cx="4556760" cy="2506345"/>
          </a:xfrm>
          <a:prstGeom prst="rect">
            <a:avLst/>
          </a:prstGeom>
          <a:noFill/>
          <a:ln w="9525">
            <a:noFill/>
          </a:ln>
        </p:spPr>
      </p:pic>
      <p:sp>
        <p:nvSpPr>
          <p:cNvPr id="7" name="Text Box 6"/>
          <p:cNvSpPr txBox="1"/>
          <p:nvPr/>
        </p:nvSpPr>
        <p:spPr>
          <a:xfrm>
            <a:off x="8610600" y="2368364"/>
            <a:ext cx="2907890" cy="707886"/>
          </a:xfrm>
          <a:prstGeom prst="rect">
            <a:avLst/>
          </a:prstGeom>
          <a:noFill/>
        </p:spPr>
        <p:txBody>
          <a:bodyPr wrap="square" rtlCol="0">
            <a:spAutoFit/>
          </a:bodyPr>
          <a:lstStyle/>
          <a:p>
            <a:pPr indent="0" algn="just">
              <a:buFont typeface="+mj-lt"/>
              <a:buNone/>
            </a:pPr>
            <a:r>
              <a:rPr lang="pl-PL" sz="2000" b="1" dirty="0">
                <a:solidFill>
                  <a:srgbClr val="333333"/>
                </a:solidFill>
                <a:latin typeface="Times New Roman" panose="02020603050405020304" pitchFamily="18" charset="0"/>
                <a:cs typeface="Times New Roman" panose="02020603050405020304" pitchFamily="18" charset="0"/>
                <a:sym typeface="+mn-ea"/>
              </a:rPr>
              <a:t>If (d(u) + c(u , v) &lt; d(v))  </a:t>
            </a:r>
            <a:endParaRPr lang="pl-PL" sz="2000" b="1" dirty="0">
              <a:solidFill>
                <a:srgbClr val="333333"/>
              </a:solidFill>
              <a:latin typeface="Times New Roman" panose="02020603050405020304" pitchFamily="18" charset="0"/>
              <a:cs typeface="Times New Roman" panose="02020603050405020304" pitchFamily="18" charset="0"/>
            </a:endParaRPr>
          </a:p>
          <a:p>
            <a:pPr indent="0" algn="just">
              <a:buFont typeface="+mj-lt"/>
              <a:buNone/>
            </a:pPr>
            <a:r>
              <a:rPr lang="pl-PL" sz="2000" b="1" dirty="0">
                <a:solidFill>
                  <a:srgbClr val="333333"/>
                </a:solidFill>
                <a:latin typeface="Times New Roman" panose="02020603050405020304" pitchFamily="18" charset="0"/>
                <a:cs typeface="Times New Roman" panose="02020603050405020304" pitchFamily="18" charset="0"/>
                <a:sym typeface="+mn-ea"/>
              </a:rPr>
              <a:t>d(v) = d(u) + c(u , v)</a:t>
            </a:r>
            <a:r>
              <a:rPr lang="pl-PL" sz="2000" dirty="0">
                <a:solidFill>
                  <a:srgbClr val="333333"/>
                </a:solidFill>
                <a:latin typeface="Times New Roman" panose="02020603050405020304" pitchFamily="18" charset="0"/>
                <a:cs typeface="Times New Roman" panose="02020603050405020304" pitchFamily="18" charset="0"/>
                <a:sym typeface="+mn-ea"/>
              </a:rPr>
              <a:t>  </a:t>
            </a:r>
            <a:r>
              <a:rPr lang="en-US" sz="2000" dirty="0"/>
              <a:t>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8637104" cy="908810"/>
          </a:xfrm>
        </p:spPr>
        <p:txBody>
          <a:bodyPr/>
          <a:lstStyle/>
          <a:p>
            <a:pPr algn="ctr"/>
            <a:r>
              <a:rPr lang="en-US" b="1" dirty="0">
                <a:latin typeface="Times New Roman" panose="02020603050405020304" pitchFamily="18" charset="0"/>
                <a:cs typeface="Times New Roman" panose="02020603050405020304" pitchFamily="18" charset="0"/>
              </a:rPr>
              <a:t>Bellman Ford Algorithm</a:t>
            </a:r>
            <a:endParaRPr lang="en-US" dirty="0"/>
          </a:p>
        </p:txBody>
      </p:sp>
      <p:sp>
        <p:nvSpPr>
          <p:cNvPr id="3" name="Content Placeholder 2"/>
          <p:cNvSpPr>
            <a:spLocks noGrp="1"/>
          </p:cNvSpPr>
          <p:nvPr>
            <p:ph idx="1"/>
          </p:nvPr>
        </p:nvSpPr>
        <p:spPr>
          <a:xfrm>
            <a:off x="838200" y="1229484"/>
            <a:ext cx="10515600" cy="5628516"/>
          </a:xfrm>
        </p:spPr>
        <p:txBody>
          <a:bodyPr>
            <a:normAutofit/>
          </a:bodyPr>
          <a:lstStyle/>
          <a:p>
            <a:pPr algn="just">
              <a:lnSpc>
                <a:spcPct val="50000"/>
              </a:lnSpc>
              <a:spcAft>
                <a:spcPts val="0"/>
              </a:spcAft>
            </a:pPr>
            <a:endParaRPr lang="en-US" sz="2000" b="1" i="0" dirty="0">
              <a:solidFill>
                <a:srgbClr val="333333"/>
              </a:solidFill>
              <a:effectLst/>
              <a:latin typeface="Times New Roman" panose="02020603050405020304" pitchFamily="18" charset="0"/>
              <a:cs typeface="Times New Roman" panose="02020603050405020304" pitchFamily="18" charset="0"/>
            </a:endParaRPr>
          </a:p>
          <a:p>
            <a:pPr algn="just">
              <a:lnSpc>
                <a:spcPct val="50000"/>
              </a:lnSpc>
              <a:spcAft>
                <a:spcPts val="0"/>
              </a:spcAft>
            </a:pPr>
            <a:r>
              <a:rPr lang="en-US" sz="2000" b="1" i="0" dirty="0">
                <a:solidFill>
                  <a:srgbClr val="333333"/>
                </a:solidFill>
                <a:effectLst/>
                <a:latin typeface="Times New Roman" panose="02020603050405020304" pitchFamily="18" charset="0"/>
                <a:cs typeface="Times New Roman" panose="02020603050405020304" pitchFamily="18" charset="0"/>
              </a:rPr>
              <a:t>First iteration</a:t>
            </a:r>
          </a:p>
          <a:p>
            <a:pPr algn="just">
              <a:lnSpc>
                <a:spcPct val="50000"/>
              </a:lnSpc>
              <a:spcAft>
                <a:spcPts val="0"/>
              </a:spcAft>
            </a:pPr>
            <a:endParaRPr lang="en-US" sz="2000" b="1" i="0" dirty="0">
              <a:solidFill>
                <a:srgbClr val="333333"/>
              </a:solidFill>
              <a:effectLst/>
              <a:latin typeface="Times New Roman" panose="02020603050405020304" pitchFamily="18" charset="0"/>
              <a:cs typeface="Times New Roman" panose="02020603050405020304" pitchFamily="18" charset="0"/>
            </a:endParaRP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Consider the edge (A, D). Denote vertex 'A' as 'u' and vertex 'D' as 'v'. Now use the relaxing formula:</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d(u) = 0</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d(v) = ∞</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c(u , v) = 5</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Since (0 + 5) is less than ∞, so update</a:t>
            </a:r>
          </a:p>
          <a:p>
            <a:pPr marL="0" indent="0" algn="just">
              <a:lnSpc>
                <a:spcPct val="50000"/>
              </a:lnSpc>
              <a:spcAft>
                <a:spcPts val="0"/>
              </a:spcAft>
              <a:buNone/>
            </a:pPr>
            <a:r>
              <a:rPr lang="en-US" sz="2000" i="0" dirty="0">
                <a:solidFill>
                  <a:srgbClr val="333333"/>
                </a:solidFill>
                <a:effectLst/>
                <a:latin typeface="Times New Roman" panose="02020603050405020304" pitchFamily="18" charset="0"/>
                <a:cs typeface="Times New Roman" panose="02020603050405020304" pitchFamily="18" charset="0"/>
              </a:rPr>
              <a:t>d(v) = 0 + 5 = 5</a:t>
            </a:r>
          </a:p>
          <a:p>
            <a:pPr marL="0" indent="0" algn="just">
              <a:lnSpc>
                <a:spcPct val="50000"/>
              </a:lnSpc>
              <a:spcAft>
                <a:spcPts val="0"/>
              </a:spcAft>
              <a:buNone/>
            </a:pPr>
            <a:r>
              <a:rPr lang="en-US" sz="2000" b="1" i="0" dirty="0">
                <a:solidFill>
                  <a:srgbClr val="333333"/>
                </a:solidFill>
                <a:effectLst/>
                <a:latin typeface="Times New Roman" panose="02020603050405020304" pitchFamily="18" charset="0"/>
                <a:cs typeface="Times New Roman" panose="02020603050405020304" pitchFamily="18" charset="0"/>
              </a:rPr>
              <a:t>Therefore, the distance of vertex D is 5.</a:t>
            </a:r>
          </a:p>
          <a:p>
            <a:pPr marL="0" indent="0" algn="just">
              <a:lnSpc>
                <a:spcPct val="50000"/>
              </a:lnSpc>
              <a:spcAft>
                <a:spcPts val="0"/>
              </a:spcAft>
              <a:buNone/>
            </a:pPr>
            <a:endParaRPr lang="en-US" sz="2000" b="1" i="0" dirty="0">
              <a:solidFill>
                <a:srgbClr val="333333"/>
              </a:solidFill>
              <a:effectLst/>
              <a:latin typeface="Times New Roman" panose="02020603050405020304" pitchFamily="18" charset="0"/>
              <a:cs typeface="Times New Roman" panose="02020603050405020304" pitchFamily="18" charset="0"/>
            </a:endParaRP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Consider the edge (B, E). Denote vertex 'B' as 'u' and vertex 'E' as 'v'. Now use the relaxing formula:</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d(u) = 6</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d(v) = ∞c(u , v) = 4</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c(u , v) = -1</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Since (6 - 1) is less than ∞, so update</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d(v) = 6 - 1= 5</a:t>
            </a:r>
          </a:p>
          <a:p>
            <a:pPr marL="0" indent="0" algn="just">
              <a:lnSpc>
                <a:spcPct val="50000"/>
              </a:lnSpc>
              <a:spcAft>
                <a:spcPts val="0"/>
              </a:spcAft>
              <a:buNone/>
            </a:pPr>
            <a:r>
              <a:rPr lang="en-US" sz="2000" b="1" i="0" dirty="0">
                <a:solidFill>
                  <a:srgbClr val="333333"/>
                </a:solidFill>
                <a:effectLst/>
                <a:latin typeface="Times New Roman" panose="02020603050405020304" pitchFamily="18" charset="0"/>
                <a:cs typeface="Times New Roman" panose="02020603050405020304" pitchFamily="18" charset="0"/>
              </a:rPr>
              <a:t>Therefore, the distance of vertex E is 5</a:t>
            </a:r>
          </a:p>
        </p:txBody>
      </p:sp>
      <p:sp>
        <p:nvSpPr>
          <p:cNvPr id="4" name="Slide Number Placeholder 3"/>
          <p:cNvSpPr>
            <a:spLocks noGrp="1"/>
          </p:cNvSpPr>
          <p:nvPr>
            <p:ph type="sldNum" sz="quarter" idx="12"/>
          </p:nvPr>
        </p:nvSpPr>
        <p:spPr/>
        <p:txBody>
          <a:bodyPr/>
          <a:lstStyle/>
          <a:p>
            <a:fld id="{BDCDBBEF-AA6C-4BA6-85B2-A17D7F280E38}" type="slidenum">
              <a:rPr lang="en-US" smtClean="0"/>
              <a:t>66</a:t>
            </a:fld>
            <a:endParaRPr lang="en-US"/>
          </a:p>
        </p:txBody>
      </p:sp>
      <p:sp>
        <p:nvSpPr>
          <p:cNvPr id="5" name="Rectangle 4"/>
          <p:cNvSpPr/>
          <p:nvPr/>
        </p:nvSpPr>
        <p:spPr>
          <a:xfrm>
            <a:off x="838200" y="83377"/>
            <a:ext cx="8637104" cy="9088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224722"/>
            <a:ext cx="10515600" cy="5317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Box 6"/>
          <p:cNvSpPr txBox="1"/>
          <p:nvPr/>
        </p:nvSpPr>
        <p:spPr>
          <a:xfrm>
            <a:off x="8923655" y="2203450"/>
            <a:ext cx="3436620" cy="645160"/>
          </a:xfrm>
          <a:prstGeom prst="rect">
            <a:avLst/>
          </a:prstGeom>
          <a:noFill/>
        </p:spPr>
        <p:txBody>
          <a:bodyPr wrap="square" rtlCol="0">
            <a:spAutoFit/>
          </a:bodyPr>
          <a:lstStyle/>
          <a:p>
            <a:pPr indent="0" algn="just">
              <a:buFont typeface="+mj-lt"/>
              <a:buNone/>
            </a:pPr>
            <a:r>
              <a:rPr lang="pl-PL" b="1" dirty="0">
                <a:solidFill>
                  <a:srgbClr val="333333"/>
                </a:solidFill>
                <a:latin typeface="Times New Roman" panose="02020603050405020304" pitchFamily="18" charset="0"/>
                <a:cs typeface="Times New Roman" panose="02020603050405020304" pitchFamily="18" charset="0"/>
                <a:sym typeface="+mn-ea"/>
              </a:rPr>
              <a:t>If (d(u) + c(u , v) &lt; d(v))  </a:t>
            </a:r>
            <a:endParaRPr lang="pl-PL" b="1" dirty="0">
              <a:solidFill>
                <a:srgbClr val="333333"/>
              </a:solidFill>
              <a:latin typeface="Times New Roman" panose="02020603050405020304" pitchFamily="18" charset="0"/>
              <a:cs typeface="Times New Roman" panose="02020603050405020304" pitchFamily="18" charset="0"/>
            </a:endParaRPr>
          </a:p>
          <a:p>
            <a:pPr indent="0" algn="just">
              <a:buFont typeface="+mj-lt"/>
              <a:buNone/>
            </a:pPr>
            <a:r>
              <a:rPr lang="pl-PL" b="1" dirty="0">
                <a:solidFill>
                  <a:srgbClr val="333333"/>
                </a:solidFill>
                <a:latin typeface="Times New Roman" panose="02020603050405020304" pitchFamily="18" charset="0"/>
                <a:cs typeface="Times New Roman" panose="02020603050405020304" pitchFamily="18" charset="0"/>
                <a:sym typeface="+mn-ea"/>
              </a:rPr>
              <a:t>d(v) = d(u) + c(u , v)</a:t>
            </a:r>
            <a:r>
              <a:rPr lang="pl-PL" dirty="0">
                <a:solidFill>
                  <a:srgbClr val="333333"/>
                </a:solidFill>
                <a:latin typeface="Times New Roman" panose="02020603050405020304" pitchFamily="18" charset="0"/>
                <a:cs typeface="Times New Roman" panose="02020603050405020304" pitchFamily="18" charset="0"/>
                <a:sym typeface="+mn-ea"/>
              </a:rPr>
              <a:t>  </a:t>
            </a:r>
            <a:r>
              <a:rPr lang="en-US"/>
              <a:t> </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8637104" cy="908810"/>
          </a:xfrm>
        </p:spPr>
        <p:txBody>
          <a:bodyPr/>
          <a:lstStyle/>
          <a:p>
            <a:pPr algn="ctr"/>
            <a:r>
              <a:rPr lang="en-US" b="1" dirty="0">
                <a:latin typeface="Times New Roman" panose="02020603050405020304" pitchFamily="18" charset="0"/>
                <a:cs typeface="Times New Roman" panose="02020603050405020304" pitchFamily="18" charset="0"/>
              </a:rPr>
              <a:t>Bellman Ford Algorithm</a:t>
            </a:r>
            <a:endParaRPr lang="en-US" dirty="0"/>
          </a:p>
        </p:txBody>
      </p:sp>
      <p:sp>
        <p:nvSpPr>
          <p:cNvPr id="3" name="Content Placeholder 2"/>
          <p:cNvSpPr>
            <a:spLocks noGrp="1"/>
          </p:cNvSpPr>
          <p:nvPr>
            <p:ph idx="1"/>
          </p:nvPr>
        </p:nvSpPr>
        <p:spPr>
          <a:xfrm>
            <a:off x="838200" y="1229360"/>
            <a:ext cx="10515600" cy="5728970"/>
          </a:xfrm>
        </p:spPr>
        <p:txBody>
          <a:bodyPr>
            <a:normAutofit lnSpcReduction="10000"/>
          </a:bodyPr>
          <a:lstStyle/>
          <a:p>
            <a:pPr algn="just">
              <a:lnSpc>
                <a:spcPct val="50000"/>
              </a:lnSpc>
              <a:spcAft>
                <a:spcPts val="0"/>
              </a:spcAft>
            </a:pPr>
            <a:endParaRPr lang="en-US" sz="2000" b="1" i="0" dirty="0">
              <a:solidFill>
                <a:srgbClr val="333333"/>
              </a:solidFill>
              <a:effectLst/>
              <a:latin typeface="Times New Roman" panose="02020603050405020304" pitchFamily="18" charset="0"/>
              <a:cs typeface="Times New Roman" panose="02020603050405020304" pitchFamily="18" charset="0"/>
            </a:endParaRP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Consider the edge (C, E). Denote vertex 'C' as 'u' and vertex 'E' as 'v'. Now use the relaxing formula:</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d(u) = 4</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d(v) = 5</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c(u , v) = 3</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Since (4 + 3) is greater than 5, so there will be no updation. The value at vertex E is 5.</a:t>
            </a:r>
          </a:p>
          <a:p>
            <a:pPr marL="0" indent="0" algn="just">
              <a:lnSpc>
                <a:spcPct val="50000"/>
              </a:lnSpc>
              <a:spcAft>
                <a:spcPts val="0"/>
              </a:spcAft>
              <a:buNone/>
            </a:pPr>
            <a:endParaRPr lang="en-US" sz="2000" b="0" i="0" dirty="0">
              <a:solidFill>
                <a:srgbClr val="333333"/>
              </a:solidFill>
              <a:effectLst/>
              <a:latin typeface="Times New Roman" panose="02020603050405020304" pitchFamily="18" charset="0"/>
              <a:cs typeface="Times New Roman" panose="02020603050405020304" pitchFamily="18" charset="0"/>
            </a:endParaRP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Consider the edge (D, C). Denote vertex 'D' as 'u' and vertex 'C' as 'v'. Now use the relaxing formula:</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d(u) = 5</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d(v) = 4</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c(u , v) = -2</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Since (5 -2) is less than 4, so update, d(v) = 5 - 2 = 3</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Therefore, the distance of vertex C is 3.</a:t>
            </a:r>
          </a:p>
          <a:p>
            <a:pPr marL="0" indent="0" algn="just">
              <a:lnSpc>
                <a:spcPct val="50000"/>
              </a:lnSpc>
              <a:spcAft>
                <a:spcPts val="0"/>
              </a:spcAft>
              <a:buNone/>
            </a:pPr>
            <a:endParaRPr lang="en-US" sz="2000" b="0" i="0" dirty="0">
              <a:solidFill>
                <a:srgbClr val="333333"/>
              </a:solidFill>
              <a:effectLst/>
              <a:latin typeface="Times New Roman" panose="02020603050405020304" pitchFamily="18" charset="0"/>
              <a:cs typeface="Times New Roman" panose="02020603050405020304" pitchFamily="18" charset="0"/>
            </a:endParaRPr>
          </a:p>
          <a:p>
            <a:pPr marL="0" indent="0" algn="just">
              <a:lnSpc>
                <a:spcPct val="50000"/>
              </a:lnSpc>
              <a:spcAft>
                <a:spcPts val="0"/>
              </a:spcAft>
              <a:buNone/>
            </a:pPr>
            <a:endParaRPr lang="en-US" sz="2000" b="0" i="0" dirty="0">
              <a:solidFill>
                <a:srgbClr val="333333"/>
              </a:solidFill>
              <a:effectLst/>
              <a:latin typeface="Times New Roman" panose="02020603050405020304" pitchFamily="18" charset="0"/>
              <a:cs typeface="Times New Roman" panose="02020603050405020304" pitchFamily="18" charset="0"/>
            </a:endParaRP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Consider the edge (D, F). Denote vertex 'D' as 'u' and vertex 'F' as 'v'. Now use the relaxing formula:</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d(u) = 5</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d(v) = ∞</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c(u , v) = -1</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Since (5 -1) is less than ∞, so update, </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d(v) = 5 - 1 = 4</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Therefore, the distance of vertex F is 4.</a:t>
            </a:r>
          </a:p>
        </p:txBody>
      </p:sp>
      <p:sp>
        <p:nvSpPr>
          <p:cNvPr id="4" name="Slide Number Placeholder 3"/>
          <p:cNvSpPr>
            <a:spLocks noGrp="1"/>
          </p:cNvSpPr>
          <p:nvPr>
            <p:ph type="sldNum" sz="quarter" idx="12"/>
          </p:nvPr>
        </p:nvSpPr>
        <p:spPr/>
        <p:txBody>
          <a:bodyPr/>
          <a:lstStyle/>
          <a:p>
            <a:fld id="{BDCDBBEF-AA6C-4BA6-85B2-A17D7F280E38}" type="slidenum">
              <a:rPr lang="en-US" smtClean="0"/>
              <a:t>67</a:t>
            </a:fld>
            <a:endParaRPr lang="en-US"/>
          </a:p>
        </p:txBody>
      </p:sp>
      <p:sp>
        <p:nvSpPr>
          <p:cNvPr id="5" name="Rectangle 4"/>
          <p:cNvSpPr/>
          <p:nvPr/>
        </p:nvSpPr>
        <p:spPr>
          <a:xfrm>
            <a:off x="838200" y="83377"/>
            <a:ext cx="8637104" cy="9088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045210"/>
            <a:ext cx="10515600" cy="56769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8637104" cy="908810"/>
          </a:xfrm>
        </p:spPr>
        <p:txBody>
          <a:bodyPr/>
          <a:lstStyle/>
          <a:p>
            <a:pPr algn="ctr"/>
            <a:r>
              <a:rPr lang="en-US" b="1" dirty="0">
                <a:latin typeface="Times New Roman" panose="02020603050405020304" pitchFamily="18" charset="0"/>
                <a:cs typeface="Times New Roman" panose="02020603050405020304" pitchFamily="18" charset="0"/>
              </a:rPr>
              <a:t>Bellman Ford Algorithm</a:t>
            </a:r>
            <a:endParaRPr lang="en-US" dirty="0"/>
          </a:p>
        </p:txBody>
      </p:sp>
      <p:sp>
        <p:nvSpPr>
          <p:cNvPr id="3" name="Content Placeholder 2"/>
          <p:cNvSpPr>
            <a:spLocks noGrp="1"/>
          </p:cNvSpPr>
          <p:nvPr>
            <p:ph idx="1"/>
          </p:nvPr>
        </p:nvSpPr>
        <p:spPr>
          <a:xfrm>
            <a:off x="838200" y="1229360"/>
            <a:ext cx="10515600" cy="5728970"/>
          </a:xfrm>
        </p:spPr>
        <p:txBody>
          <a:bodyPr>
            <a:normAutofit/>
          </a:bodyPr>
          <a:lstStyle/>
          <a:p>
            <a:pPr algn="just">
              <a:lnSpc>
                <a:spcPct val="50000"/>
              </a:lnSpc>
              <a:spcAft>
                <a:spcPts val="0"/>
              </a:spcAft>
            </a:pPr>
            <a:endParaRPr lang="en-US" sz="2000" b="1" i="0" dirty="0">
              <a:solidFill>
                <a:srgbClr val="333333"/>
              </a:solidFill>
              <a:effectLst/>
              <a:latin typeface="Times New Roman" panose="02020603050405020304" pitchFamily="18" charset="0"/>
              <a:cs typeface="Times New Roman" panose="02020603050405020304" pitchFamily="18" charset="0"/>
            </a:endParaRP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Consider the edge (E, F). Denote vertex 'E' as 'u' and vertex 'F' as 'v'. Now use the relaxing formula:</a:t>
            </a:r>
          </a:p>
          <a:p>
            <a:pPr marL="0" indent="0" algn="just">
              <a:lnSpc>
                <a:spcPct val="50000"/>
              </a:lnSpc>
              <a:spcAft>
                <a:spcPts val="0"/>
              </a:spcAft>
              <a:buNone/>
            </a:pPr>
            <a:endParaRPr lang="en-US" sz="2000" b="0" i="0" dirty="0">
              <a:solidFill>
                <a:srgbClr val="333333"/>
              </a:solidFill>
              <a:effectLst/>
              <a:latin typeface="Times New Roman" panose="02020603050405020304" pitchFamily="18" charset="0"/>
              <a:cs typeface="Times New Roman" panose="02020603050405020304" pitchFamily="18" charset="0"/>
            </a:endParaRP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d(u) = 5</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d(v) = ∞</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c(u , v) = 3</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Since (5 + 3) is greater than 4, so there would be no updation on the distance value of vertex F.</a:t>
            </a:r>
          </a:p>
          <a:p>
            <a:pPr marL="0" indent="0" algn="just">
              <a:lnSpc>
                <a:spcPct val="50000"/>
              </a:lnSpc>
              <a:spcAft>
                <a:spcPts val="0"/>
              </a:spcAft>
              <a:buNone/>
            </a:pPr>
            <a:endParaRPr lang="en-US" sz="2000" b="0" i="0" dirty="0">
              <a:solidFill>
                <a:srgbClr val="333333"/>
              </a:solidFill>
              <a:effectLst/>
              <a:latin typeface="Times New Roman" panose="02020603050405020304" pitchFamily="18" charset="0"/>
              <a:cs typeface="Times New Roman" panose="02020603050405020304" pitchFamily="18" charset="0"/>
            </a:endParaRP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Consider the edge (C, B). Denote vertex 'C' as 'u' and vertex 'B' as 'v'. Now use the relaxing formula:</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d(u) = 3</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d(v) = 6</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c(u , v) = -2</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Since (3 - 2) is less than 6, so update</a:t>
            </a: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d(v) = 3 - 2 = 1</a:t>
            </a:r>
          </a:p>
          <a:p>
            <a:pPr marL="0" indent="0" algn="just">
              <a:lnSpc>
                <a:spcPct val="50000"/>
              </a:lnSpc>
              <a:spcAft>
                <a:spcPts val="0"/>
              </a:spcAft>
              <a:buNone/>
            </a:pPr>
            <a:endParaRPr lang="en-US" sz="2000" b="0" i="0" dirty="0">
              <a:solidFill>
                <a:srgbClr val="333333"/>
              </a:solidFill>
              <a:effectLst/>
              <a:latin typeface="Times New Roman" panose="02020603050405020304" pitchFamily="18" charset="0"/>
              <a:cs typeface="Times New Roman" panose="02020603050405020304" pitchFamily="18" charset="0"/>
            </a:endParaRP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Therefore, the distance of vertex B is 1.</a:t>
            </a:r>
          </a:p>
          <a:p>
            <a:pPr marL="0" indent="0" algn="just">
              <a:lnSpc>
                <a:spcPct val="50000"/>
              </a:lnSpc>
              <a:spcAft>
                <a:spcPts val="0"/>
              </a:spcAft>
              <a:buNone/>
            </a:pPr>
            <a:endParaRPr lang="en-US" sz="2000" b="0" i="0" dirty="0">
              <a:solidFill>
                <a:srgbClr val="333333"/>
              </a:solidFill>
              <a:effectLst/>
              <a:latin typeface="Times New Roman" panose="02020603050405020304" pitchFamily="18" charset="0"/>
              <a:cs typeface="Times New Roman" panose="02020603050405020304" pitchFamily="18" charset="0"/>
            </a:endParaRPr>
          </a:p>
          <a:p>
            <a:pPr marL="0" indent="0" algn="just">
              <a:lnSpc>
                <a:spcPct val="50000"/>
              </a:lnSpc>
              <a:spcAft>
                <a:spcPts val="0"/>
              </a:spcAft>
              <a:buNone/>
            </a:pPr>
            <a:r>
              <a:rPr lang="en-US" sz="2000" b="0" i="0" dirty="0">
                <a:solidFill>
                  <a:srgbClr val="333333"/>
                </a:solidFill>
                <a:effectLst/>
                <a:latin typeface="Times New Roman" panose="02020603050405020304" pitchFamily="18" charset="0"/>
                <a:cs typeface="Times New Roman" panose="02020603050405020304" pitchFamily="18" charset="0"/>
              </a:rPr>
              <a:t>Now the first iteration is completed.</a:t>
            </a:r>
          </a:p>
        </p:txBody>
      </p:sp>
      <p:sp>
        <p:nvSpPr>
          <p:cNvPr id="4" name="Slide Number Placeholder 3"/>
          <p:cNvSpPr>
            <a:spLocks noGrp="1"/>
          </p:cNvSpPr>
          <p:nvPr>
            <p:ph type="sldNum" sz="quarter" idx="12"/>
          </p:nvPr>
        </p:nvSpPr>
        <p:spPr/>
        <p:txBody>
          <a:bodyPr/>
          <a:lstStyle/>
          <a:p>
            <a:fld id="{BDCDBBEF-AA6C-4BA6-85B2-A17D7F280E38}" type="slidenum">
              <a:rPr lang="en-US" smtClean="0"/>
              <a:t>68</a:t>
            </a:fld>
            <a:endParaRPr lang="en-US"/>
          </a:p>
        </p:txBody>
      </p:sp>
      <p:sp>
        <p:nvSpPr>
          <p:cNvPr id="5" name="Rectangle 4"/>
          <p:cNvSpPr/>
          <p:nvPr/>
        </p:nvSpPr>
        <p:spPr>
          <a:xfrm>
            <a:off x="838200" y="83377"/>
            <a:ext cx="8637104" cy="9088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045210"/>
            <a:ext cx="10515600" cy="56769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2"/>
          <a:stretch>
            <a:fillRect/>
          </a:stretch>
        </p:blipFill>
        <p:spPr>
          <a:xfrm>
            <a:off x="6408420" y="3319145"/>
            <a:ext cx="4787265" cy="3264535"/>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 name="Content Placeholder 101"/>
          <p:cNvPicPr>
            <a:picLocks noGrp="1"/>
          </p:cNvPicPr>
          <p:nvPr>
            <p:ph sz="half" idx="2"/>
          </p:nvPr>
        </p:nvPicPr>
        <p:blipFill>
          <a:blip r:embed="rId2"/>
          <a:stretch>
            <a:fillRect/>
          </a:stretch>
        </p:blipFill>
        <p:spPr>
          <a:xfrm>
            <a:off x="7990840" y="1825625"/>
            <a:ext cx="3362960" cy="3421380"/>
          </a:xfrm>
          <a:prstGeom prst="rect">
            <a:avLst/>
          </a:prstGeom>
          <a:noFill/>
          <a:ln w="9525">
            <a:noFill/>
          </a:ln>
        </p:spPr>
      </p:pic>
      <p:sp>
        <p:nvSpPr>
          <p:cNvPr id="2" name="Title 1"/>
          <p:cNvSpPr>
            <a:spLocks noGrp="1"/>
          </p:cNvSpPr>
          <p:nvPr>
            <p:ph type="title"/>
          </p:nvPr>
        </p:nvSpPr>
        <p:spPr>
          <a:xfrm>
            <a:off x="193675" y="-125730"/>
            <a:ext cx="10515600" cy="1325563"/>
          </a:xfrm>
        </p:spPr>
        <p:txBody>
          <a:bodyPr/>
          <a:lstStyle/>
          <a:p>
            <a:pPr algn="ctr"/>
            <a:r>
              <a:rPr lang="en-US" b="1" dirty="0">
                <a:latin typeface="Times New Roman" panose="02020603050405020304" pitchFamily="18" charset="0"/>
                <a:cs typeface="Times New Roman" panose="02020603050405020304" pitchFamily="18" charset="0"/>
              </a:rPr>
              <a:t>Bellman Ford Algorithm</a:t>
            </a:r>
            <a:endParaRPr lang="en-US" dirty="0"/>
          </a:p>
        </p:txBody>
      </p:sp>
      <p:sp>
        <p:nvSpPr>
          <p:cNvPr id="3" name="Content Placeholder 2"/>
          <p:cNvSpPr>
            <a:spLocks noGrp="1"/>
          </p:cNvSpPr>
          <p:nvPr>
            <p:ph sz="half" idx="1"/>
          </p:nvPr>
        </p:nvSpPr>
        <p:spPr>
          <a:xfrm>
            <a:off x="309880" y="1199515"/>
            <a:ext cx="8401050" cy="4977765"/>
          </a:xfrm>
        </p:spPr>
        <p:txBody>
          <a:bodyPr>
            <a:noAutofit/>
          </a:bodyPr>
          <a:lstStyle/>
          <a:p>
            <a:pPr algn="just">
              <a:lnSpc>
                <a:spcPct val="100000"/>
              </a:lnSpc>
              <a:spcAft>
                <a:spcPts val="0"/>
              </a:spcAft>
            </a:pPr>
            <a:r>
              <a:rPr lang="en-US" sz="1600" b="1" i="0" dirty="0">
                <a:solidFill>
                  <a:srgbClr val="333333"/>
                </a:solidFill>
                <a:effectLst/>
                <a:latin typeface="Times New Roman" panose="02020603050405020304" pitchFamily="18" charset="0"/>
                <a:cs typeface="Times New Roman" panose="02020603050405020304" pitchFamily="18" charset="0"/>
              </a:rPr>
              <a:t>Second iteration:</a:t>
            </a:r>
          </a:p>
          <a:p>
            <a:pPr marL="0" indent="0" algn="just">
              <a:lnSpc>
                <a:spcPct val="100000"/>
              </a:lnSpc>
              <a:spcAft>
                <a:spcPts val="0"/>
              </a:spcAft>
              <a:buNone/>
            </a:pPr>
            <a:r>
              <a:rPr lang="en-US" sz="1600" b="0" i="0" dirty="0">
                <a:solidFill>
                  <a:srgbClr val="333333"/>
                </a:solidFill>
                <a:effectLst/>
                <a:latin typeface="Times New Roman" panose="02020603050405020304" pitchFamily="18" charset="0"/>
                <a:cs typeface="Times New Roman" panose="02020603050405020304" pitchFamily="18" charset="0"/>
              </a:rPr>
              <a:t>In the second iteration, we again check all the edges. The first edge is (A, B). Since (0 + 6) is greater than 1 so there would be no updation in the vertex B.</a:t>
            </a:r>
          </a:p>
          <a:p>
            <a:pPr marL="0" indent="0" algn="just">
              <a:lnSpc>
                <a:spcPct val="100000"/>
              </a:lnSpc>
              <a:spcAft>
                <a:spcPts val="0"/>
              </a:spcAft>
              <a:buNone/>
            </a:pPr>
            <a:r>
              <a:rPr lang="en-US" sz="1600" b="0" i="0" dirty="0">
                <a:solidFill>
                  <a:srgbClr val="333333"/>
                </a:solidFill>
                <a:effectLst/>
                <a:latin typeface="Times New Roman" panose="02020603050405020304" pitchFamily="18" charset="0"/>
                <a:cs typeface="Times New Roman" panose="02020603050405020304" pitchFamily="18" charset="0"/>
              </a:rPr>
              <a:t>The next edge is (A, C). Since (0 + 4) is greater than 3 so there would be no updation in the vertex C.</a:t>
            </a:r>
          </a:p>
          <a:p>
            <a:pPr marL="0" indent="0" algn="just">
              <a:lnSpc>
                <a:spcPct val="100000"/>
              </a:lnSpc>
              <a:spcAft>
                <a:spcPts val="0"/>
              </a:spcAft>
              <a:buNone/>
            </a:pPr>
            <a:r>
              <a:rPr lang="en-US" sz="1600" b="0" i="0" dirty="0">
                <a:solidFill>
                  <a:srgbClr val="333333"/>
                </a:solidFill>
                <a:effectLst/>
                <a:latin typeface="Times New Roman" panose="02020603050405020304" pitchFamily="18" charset="0"/>
                <a:cs typeface="Times New Roman" panose="02020603050405020304" pitchFamily="18" charset="0"/>
              </a:rPr>
              <a:t>The next edge is (A, D). Since (0 + 5) equals to 5 so there would be no updation in the vertex D.</a:t>
            </a:r>
          </a:p>
          <a:p>
            <a:pPr marL="0" indent="0" algn="just">
              <a:lnSpc>
                <a:spcPct val="100000"/>
              </a:lnSpc>
              <a:spcAft>
                <a:spcPts val="0"/>
              </a:spcAft>
              <a:buNone/>
            </a:pPr>
            <a:r>
              <a:rPr lang="en-US" sz="1600" b="0" i="0" dirty="0">
                <a:solidFill>
                  <a:srgbClr val="333333"/>
                </a:solidFill>
                <a:effectLst/>
                <a:latin typeface="Times New Roman" panose="02020603050405020304" pitchFamily="18" charset="0"/>
                <a:cs typeface="Times New Roman" panose="02020603050405020304" pitchFamily="18" charset="0"/>
              </a:rPr>
              <a:t>The next edge is (B, E). Since (1 - 1) equals to 0 which is less than 5 so update:</a:t>
            </a:r>
          </a:p>
          <a:p>
            <a:pPr marL="0" indent="0" algn="just">
              <a:lnSpc>
                <a:spcPct val="100000"/>
              </a:lnSpc>
              <a:spcAft>
                <a:spcPts val="0"/>
              </a:spcAft>
              <a:buNone/>
            </a:pPr>
            <a:r>
              <a:rPr lang="en-US" sz="1600" b="0" i="0" dirty="0">
                <a:solidFill>
                  <a:srgbClr val="333333"/>
                </a:solidFill>
                <a:effectLst/>
                <a:latin typeface="Times New Roman" panose="02020603050405020304" pitchFamily="18" charset="0"/>
                <a:cs typeface="Times New Roman" panose="02020603050405020304" pitchFamily="18" charset="0"/>
              </a:rPr>
              <a:t>d(v) = d(u) + c(u, v)</a:t>
            </a:r>
          </a:p>
          <a:p>
            <a:pPr marL="0" indent="0" algn="just">
              <a:lnSpc>
                <a:spcPct val="100000"/>
              </a:lnSpc>
              <a:spcAft>
                <a:spcPts val="0"/>
              </a:spcAft>
              <a:buNone/>
            </a:pPr>
            <a:r>
              <a:rPr lang="en-US" sz="1600" b="0" i="0" dirty="0">
                <a:solidFill>
                  <a:srgbClr val="333333"/>
                </a:solidFill>
                <a:effectLst/>
                <a:latin typeface="Times New Roman" panose="02020603050405020304" pitchFamily="18" charset="0"/>
                <a:cs typeface="Times New Roman" panose="02020603050405020304" pitchFamily="18" charset="0"/>
              </a:rPr>
              <a:t>d(E) = d(B) +c(B , E) = 1 - 1 = 0</a:t>
            </a:r>
          </a:p>
          <a:p>
            <a:pPr marL="0" indent="0" algn="just">
              <a:lnSpc>
                <a:spcPct val="100000"/>
              </a:lnSpc>
              <a:spcAft>
                <a:spcPts val="0"/>
              </a:spcAft>
              <a:buNone/>
            </a:pPr>
            <a:r>
              <a:rPr lang="en-US" sz="1600" b="0" i="0" dirty="0">
                <a:solidFill>
                  <a:srgbClr val="333333"/>
                </a:solidFill>
                <a:effectLst/>
                <a:latin typeface="Times New Roman" panose="02020603050405020304" pitchFamily="18" charset="0"/>
                <a:cs typeface="Times New Roman" panose="02020603050405020304" pitchFamily="18" charset="0"/>
              </a:rPr>
              <a:t>The next edge is (C, E). Since (3 + 3) equals to 6 which is greater than 0 so there would be no updation in the vertex E.</a:t>
            </a:r>
          </a:p>
          <a:p>
            <a:pPr marL="0" indent="0" algn="just">
              <a:lnSpc>
                <a:spcPct val="100000"/>
              </a:lnSpc>
              <a:spcAft>
                <a:spcPts val="0"/>
              </a:spcAft>
              <a:buNone/>
            </a:pPr>
            <a:r>
              <a:rPr lang="en-US" sz="1600" b="0" i="0" dirty="0">
                <a:solidFill>
                  <a:srgbClr val="333333"/>
                </a:solidFill>
                <a:effectLst/>
                <a:latin typeface="Times New Roman" panose="02020603050405020304" pitchFamily="18" charset="0"/>
                <a:cs typeface="Times New Roman" panose="02020603050405020304" pitchFamily="18" charset="0"/>
              </a:rPr>
              <a:t>The next edge is (D, C). Since (5 - 2) equals to 3 so there would be no updation in the vertex C.</a:t>
            </a:r>
          </a:p>
          <a:p>
            <a:pPr marL="0" indent="0" algn="just">
              <a:lnSpc>
                <a:spcPct val="100000"/>
              </a:lnSpc>
              <a:spcAft>
                <a:spcPts val="0"/>
              </a:spcAft>
              <a:buNone/>
            </a:pPr>
            <a:r>
              <a:rPr lang="en-US" sz="1600" b="0" i="0" dirty="0">
                <a:solidFill>
                  <a:srgbClr val="333333"/>
                </a:solidFill>
                <a:effectLst/>
                <a:latin typeface="Times New Roman" panose="02020603050405020304" pitchFamily="18" charset="0"/>
                <a:cs typeface="Times New Roman" panose="02020603050405020304" pitchFamily="18" charset="0"/>
              </a:rPr>
              <a:t>The next edge is (D, F). Since (5 - 1) equals to 4 so there would be no updation in the vertex F.</a:t>
            </a:r>
          </a:p>
          <a:p>
            <a:pPr marL="0" indent="0" algn="just">
              <a:lnSpc>
                <a:spcPct val="100000"/>
              </a:lnSpc>
              <a:spcAft>
                <a:spcPts val="0"/>
              </a:spcAft>
              <a:buNone/>
            </a:pPr>
            <a:r>
              <a:rPr lang="en-US" sz="1600" b="0" i="0" dirty="0">
                <a:solidFill>
                  <a:srgbClr val="333333"/>
                </a:solidFill>
                <a:effectLst/>
                <a:latin typeface="Times New Roman" panose="02020603050405020304" pitchFamily="18" charset="0"/>
                <a:cs typeface="Times New Roman" panose="02020603050405020304" pitchFamily="18" charset="0"/>
              </a:rPr>
              <a:t>The next edge is (E, F). Since (5 + 3) equals to 8 which is greater than 4 so there would be no updation in the vertex F.</a:t>
            </a:r>
          </a:p>
          <a:p>
            <a:pPr marL="0" indent="0" algn="just">
              <a:lnSpc>
                <a:spcPct val="100000"/>
              </a:lnSpc>
              <a:spcAft>
                <a:spcPts val="0"/>
              </a:spcAft>
              <a:buNone/>
            </a:pPr>
            <a:r>
              <a:rPr lang="en-US" sz="1600" b="0" i="0" dirty="0">
                <a:solidFill>
                  <a:srgbClr val="333333"/>
                </a:solidFill>
                <a:effectLst/>
                <a:latin typeface="Times New Roman" panose="02020603050405020304" pitchFamily="18" charset="0"/>
                <a:cs typeface="Times New Roman" panose="02020603050405020304" pitchFamily="18" charset="0"/>
              </a:rPr>
              <a:t>The next edge is (C, B). Since (3 - 2) equals to 1` so there would be no updation in the vertex B.</a:t>
            </a:r>
          </a:p>
        </p:txBody>
      </p:sp>
      <p:sp>
        <p:nvSpPr>
          <p:cNvPr id="4" name="Slide Number Placeholder 3"/>
          <p:cNvSpPr>
            <a:spLocks noGrp="1"/>
          </p:cNvSpPr>
          <p:nvPr>
            <p:ph type="sldNum" sz="quarter" idx="12"/>
          </p:nvPr>
        </p:nvSpPr>
        <p:spPr/>
        <p:txBody>
          <a:bodyPr/>
          <a:lstStyle/>
          <a:p>
            <a:fld id="{BDCDBBEF-AA6C-4BA6-85B2-A17D7F280E38}" type="slidenum">
              <a:rPr lang="en-US" smtClean="0"/>
              <a:t>69</a:t>
            </a:fld>
            <a:endParaRPr lang="en-US"/>
          </a:p>
        </p:txBody>
      </p:sp>
      <p:sp>
        <p:nvSpPr>
          <p:cNvPr id="5" name="Rectangle 4"/>
          <p:cNvSpPr/>
          <p:nvPr/>
        </p:nvSpPr>
        <p:spPr>
          <a:xfrm>
            <a:off x="838200" y="83377"/>
            <a:ext cx="8637104" cy="9088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09245" y="1045210"/>
            <a:ext cx="11044555" cy="56769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 name="Content Placeholder 101"/>
          <p:cNvPicPr>
            <a:picLocks noGrp="1"/>
          </p:cNvPicPr>
          <p:nvPr>
            <p:ph sz="half" idx="2"/>
          </p:nvPr>
        </p:nvPicPr>
        <p:blipFill>
          <a:blip r:embed="rId2"/>
          <a:stretch>
            <a:fillRect/>
          </a:stretch>
        </p:blipFill>
        <p:spPr>
          <a:xfrm>
            <a:off x="6945630" y="1825625"/>
            <a:ext cx="4408170" cy="3564255"/>
          </a:xfrm>
          <a:prstGeom prst="rect">
            <a:avLst/>
          </a:prstGeom>
          <a:noFill/>
          <a:ln w="9525">
            <a:noFill/>
          </a:ln>
        </p:spPr>
      </p:pic>
      <p:sp>
        <p:nvSpPr>
          <p:cNvPr id="2" name="Title 1"/>
          <p:cNvSpPr>
            <a:spLocks noGrp="1"/>
          </p:cNvSpPr>
          <p:nvPr>
            <p:ph type="title"/>
          </p:nvPr>
        </p:nvSpPr>
        <p:spPr>
          <a:xfrm>
            <a:off x="193675" y="-125730"/>
            <a:ext cx="10515600" cy="1325563"/>
          </a:xfrm>
        </p:spPr>
        <p:txBody>
          <a:bodyPr/>
          <a:lstStyle/>
          <a:p>
            <a:pPr algn="ctr"/>
            <a:r>
              <a:rPr lang="en-US" b="1" dirty="0">
                <a:latin typeface="Times New Roman" panose="02020603050405020304" pitchFamily="18" charset="0"/>
                <a:cs typeface="Times New Roman" panose="02020603050405020304" pitchFamily="18" charset="0"/>
              </a:rPr>
              <a:t>Bellman Ford Algorithm</a:t>
            </a:r>
            <a:endParaRPr lang="en-US" dirty="0"/>
          </a:p>
        </p:txBody>
      </p:sp>
      <p:sp>
        <p:nvSpPr>
          <p:cNvPr id="3" name="Content Placeholder 2"/>
          <p:cNvSpPr>
            <a:spLocks noGrp="1"/>
          </p:cNvSpPr>
          <p:nvPr>
            <p:ph sz="half" idx="1"/>
          </p:nvPr>
        </p:nvSpPr>
        <p:spPr>
          <a:xfrm>
            <a:off x="309880" y="1199515"/>
            <a:ext cx="8028305" cy="5521960"/>
          </a:xfrm>
        </p:spPr>
        <p:txBody>
          <a:bodyPr>
            <a:noAutofit/>
          </a:bodyPr>
          <a:lstStyle/>
          <a:p>
            <a:pPr algn="just">
              <a:lnSpc>
                <a:spcPct val="100000"/>
              </a:lnSpc>
              <a:spcAft>
                <a:spcPts val="0"/>
              </a:spcAft>
            </a:pPr>
            <a:r>
              <a:rPr lang="en-US" sz="2000" b="1" i="0" dirty="0">
                <a:solidFill>
                  <a:srgbClr val="333333"/>
                </a:solidFill>
                <a:effectLst/>
                <a:latin typeface="Times New Roman" panose="02020603050405020304" pitchFamily="18" charset="0"/>
                <a:cs typeface="Times New Roman" panose="02020603050405020304" pitchFamily="18" charset="0"/>
              </a:rPr>
              <a:t>Third iteration</a:t>
            </a:r>
          </a:p>
          <a:p>
            <a:pPr marL="0" indent="0" algn="just">
              <a:lnSpc>
                <a:spcPct val="100000"/>
              </a:lnSpc>
              <a:spcAft>
                <a:spcPts val="0"/>
              </a:spcAft>
              <a:buNone/>
            </a:pPr>
            <a:r>
              <a:rPr lang="en-US" sz="2000" i="0" dirty="0">
                <a:solidFill>
                  <a:srgbClr val="333333"/>
                </a:solidFill>
                <a:effectLst/>
                <a:latin typeface="Times New Roman" panose="02020603050405020304" pitchFamily="18" charset="0"/>
                <a:cs typeface="Times New Roman" panose="02020603050405020304" pitchFamily="18" charset="0"/>
              </a:rPr>
              <a:t>We will perform the same steps as we did in the previous iterations. We will observe that there will be no updation in the distance of vertices.</a:t>
            </a:r>
          </a:p>
          <a:p>
            <a:pPr marL="0" indent="0" algn="just">
              <a:lnSpc>
                <a:spcPct val="100000"/>
              </a:lnSpc>
              <a:spcAft>
                <a:spcPts val="0"/>
              </a:spcAft>
              <a:buNone/>
            </a:pPr>
            <a:r>
              <a:rPr lang="en-US" sz="2000" i="0" dirty="0">
                <a:solidFill>
                  <a:srgbClr val="333333"/>
                </a:solidFill>
                <a:effectLst/>
                <a:latin typeface="Times New Roman" panose="02020603050405020304" pitchFamily="18" charset="0"/>
                <a:cs typeface="Times New Roman" panose="02020603050405020304" pitchFamily="18" charset="0"/>
              </a:rPr>
              <a:t>The following are the distances of vertices: </a:t>
            </a:r>
            <a:r>
              <a:rPr lang="en-US" sz="2000" b="1" i="0" dirty="0">
                <a:solidFill>
                  <a:srgbClr val="333333"/>
                </a:solidFill>
                <a:effectLst/>
                <a:latin typeface="Times New Roman" panose="02020603050405020304" pitchFamily="18" charset="0"/>
                <a:cs typeface="Times New Roman" panose="02020603050405020304" pitchFamily="18" charset="0"/>
              </a:rPr>
              <a:t> </a:t>
            </a:r>
          </a:p>
          <a:p>
            <a:pPr algn="just">
              <a:lnSpc>
                <a:spcPct val="100000"/>
              </a:lnSpc>
              <a:spcAft>
                <a:spcPts val="0"/>
              </a:spcAft>
            </a:pPr>
            <a:r>
              <a:rPr lang="en-US" sz="2000" b="1" i="0" dirty="0">
                <a:solidFill>
                  <a:srgbClr val="333333"/>
                </a:solidFill>
                <a:effectLst/>
                <a:latin typeface="Times New Roman" panose="02020603050405020304" pitchFamily="18" charset="0"/>
                <a:cs typeface="Times New Roman" panose="02020603050405020304" pitchFamily="18" charset="0"/>
              </a:rPr>
              <a:t>A: 0  </a:t>
            </a:r>
          </a:p>
          <a:p>
            <a:pPr algn="just">
              <a:lnSpc>
                <a:spcPct val="100000"/>
              </a:lnSpc>
              <a:spcAft>
                <a:spcPts val="0"/>
              </a:spcAft>
            </a:pPr>
            <a:r>
              <a:rPr lang="en-US" sz="2000" b="1" i="0" dirty="0">
                <a:solidFill>
                  <a:srgbClr val="333333"/>
                </a:solidFill>
                <a:effectLst/>
                <a:latin typeface="Times New Roman" panose="02020603050405020304" pitchFamily="18" charset="0"/>
                <a:cs typeface="Times New Roman" panose="02020603050405020304" pitchFamily="18" charset="0"/>
              </a:rPr>
              <a:t>B: 1  </a:t>
            </a:r>
          </a:p>
          <a:p>
            <a:pPr algn="just">
              <a:lnSpc>
                <a:spcPct val="100000"/>
              </a:lnSpc>
              <a:spcAft>
                <a:spcPts val="0"/>
              </a:spcAft>
            </a:pPr>
            <a:r>
              <a:rPr lang="en-US" sz="2000" b="1" i="0" dirty="0">
                <a:solidFill>
                  <a:srgbClr val="333333"/>
                </a:solidFill>
                <a:effectLst/>
                <a:latin typeface="Times New Roman" panose="02020603050405020304" pitchFamily="18" charset="0"/>
                <a:cs typeface="Times New Roman" panose="02020603050405020304" pitchFamily="18" charset="0"/>
              </a:rPr>
              <a:t>C: 3  </a:t>
            </a:r>
          </a:p>
          <a:p>
            <a:pPr algn="just">
              <a:lnSpc>
                <a:spcPct val="100000"/>
              </a:lnSpc>
              <a:spcAft>
                <a:spcPts val="0"/>
              </a:spcAft>
            </a:pPr>
            <a:r>
              <a:rPr lang="en-US" sz="2000" b="1" i="0" dirty="0">
                <a:solidFill>
                  <a:srgbClr val="333333"/>
                </a:solidFill>
                <a:effectLst/>
                <a:latin typeface="Times New Roman" panose="02020603050405020304" pitchFamily="18" charset="0"/>
                <a:cs typeface="Times New Roman" panose="02020603050405020304" pitchFamily="18" charset="0"/>
              </a:rPr>
              <a:t>D: 5  </a:t>
            </a:r>
          </a:p>
          <a:p>
            <a:pPr algn="just">
              <a:lnSpc>
                <a:spcPct val="100000"/>
              </a:lnSpc>
              <a:spcAft>
                <a:spcPts val="0"/>
              </a:spcAft>
            </a:pPr>
            <a:r>
              <a:rPr lang="en-US" sz="2000" b="1" i="0" dirty="0">
                <a:solidFill>
                  <a:srgbClr val="333333"/>
                </a:solidFill>
                <a:effectLst/>
                <a:latin typeface="Times New Roman" panose="02020603050405020304" pitchFamily="18" charset="0"/>
                <a:cs typeface="Times New Roman" panose="02020603050405020304" pitchFamily="18" charset="0"/>
              </a:rPr>
              <a:t>E: 0  </a:t>
            </a:r>
          </a:p>
          <a:p>
            <a:pPr algn="just">
              <a:lnSpc>
                <a:spcPct val="100000"/>
              </a:lnSpc>
              <a:spcAft>
                <a:spcPts val="0"/>
              </a:spcAft>
            </a:pPr>
            <a:r>
              <a:rPr lang="en-US" sz="2000" b="1" i="0" dirty="0">
                <a:solidFill>
                  <a:srgbClr val="333333"/>
                </a:solidFill>
                <a:effectLst/>
                <a:latin typeface="Times New Roman" panose="02020603050405020304" pitchFamily="18" charset="0"/>
                <a:cs typeface="Times New Roman" panose="02020603050405020304" pitchFamily="18" charset="0"/>
              </a:rPr>
              <a:t>F: 3  </a:t>
            </a:r>
          </a:p>
          <a:p>
            <a:pPr algn="just">
              <a:lnSpc>
                <a:spcPct val="100000"/>
              </a:lnSpc>
              <a:spcAft>
                <a:spcPts val="0"/>
              </a:spcAft>
            </a:pPr>
            <a:endParaRPr lang="en-US" sz="2000" b="1" i="0" dirty="0">
              <a:solidFill>
                <a:srgbClr val="333333"/>
              </a:solidFill>
              <a:effectLst/>
              <a:latin typeface="Times New Roman" panose="02020603050405020304" pitchFamily="18" charset="0"/>
              <a:cs typeface="Times New Roman" panose="02020603050405020304" pitchFamily="18" charset="0"/>
            </a:endParaRPr>
          </a:p>
          <a:p>
            <a:pPr algn="just">
              <a:lnSpc>
                <a:spcPct val="100000"/>
              </a:lnSpc>
              <a:spcAft>
                <a:spcPts val="0"/>
              </a:spcAft>
            </a:pPr>
            <a:r>
              <a:rPr lang="en-US" sz="2000" b="1" i="0" dirty="0">
                <a:solidFill>
                  <a:srgbClr val="333333"/>
                </a:solidFill>
                <a:effectLst/>
                <a:latin typeface="Times New Roman" panose="02020603050405020304" pitchFamily="18" charset="0"/>
                <a:cs typeface="Times New Roman" panose="02020603050405020304" pitchFamily="18" charset="0"/>
              </a:rPr>
              <a:t>Time Complexity</a:t>
            </a:r>
          </a:p>
          <a:p>
            <a:pPr marL="0" indent="0" algn="just">
              <a:lnSpc>
                <a:spcPct val="100000"/>
              </a:lnSpc>
              <a:spcAft>
                <a:spcPts val="0"/>
              </a:spcAft>
              <a:buNone/>
            </a:pPr>
            <a:r>
              <a:rPr lang="en-US" sz="2000" b="1" i="0" dirty="0">
                <a:solidFill>
                  <a:srgbClr val="333333"/>
                </a:solidFill>
                <a:effectLst/>
                <a:latin typeface="Times New Roman" panose="02020603050405020304" pitchFamily="18" charset="0"/>
                <a:cs typeface="Times New Roman" panose="02020603050405020304" pitchFamily="18" charset="0"/>
              </a:rPr>
              <a:t>The time complexity of Bellman ford algorithm would be O(E|V| - 1)</a:t>
            </a:r>
          </a:p>
        </p:txBody>
      </p:sp>
      <p:sp>
        <p:nvSpPr>
          <p:cNvPr id="4" name="Slide Number Placeholder 3"/>
          <p:cNvSpPr>
            <a:spLocks noGrp="1"/>
          </p:cNvSpPr>
          <p:nvPr>
            <p:ph type="sldNum" sz="quarter" idx="12"/>
          </p:nvPr>
        </p:nvSpPr>
        <p:spPr/>
        <p:txBody>
          <a:bodyPr/>
          <a:lstStyle/>
          <a:p>
            <a:fld id="{BDCDBBEF-AA6C-4BA6-85B2-A17D7F280E38}" type="slidenum">
              <a:rPr lang="en-US" smtClean="0"/>
              <a:t>70</a:t>
            </a:fld>
            <a:endParaRPr lang="en-US"/>
          </a:p>
        </p:txBody>
      </p:sp>
      <p:sp>
        <p:nvSpPr>
          <p:cNvPr id="5" name="Rectangle 4"/>
          <p:cNvSpPr/>
          <p:nvPr/>
        </p:nvSpPr>
        <p:spPr>
          <a:xfrm>
            <a:off x="838200" y="83377"/>
            <a:ext cx="8637104" cy="9088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09245" y="1045210"/>
            <a:ext cx="11044555" cy="56769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pPr algn="ctr"/>
            <a:r>
              <a:rPr lang="en-US" b="1" dirty="0">
                <a:latin typeface="Times New Roman" panose="02020603050405020304" pitchFamily="18" charset="0"/>
                <a:cs typeface="Times New Roman" panose="02020603050405020304" pitchFamily="18" charset="0"/>
              </a:rPr>
              <a:t>Bellman Ford Algorithm</a:t>
            </a:r>
            <a:endParaRPr lang="en-US" dirty="0"/>
          </a:p>
        </p:txBody>
      </p:sp>
      <p:sp>
        <p:nvSpPr>
          <p:cNvPr id="3" name="Content Placeholder 2"/>
          <p:cNvSpPr>
            <a:spLocks noGrp="1"/>
          </p:cNvSpPr>
          <p:nvPr>
            <p:ph sz="half" idx="1"/>
          </p:nvPr>
        </p:nvSpPr>
        <p:spPr>
          <a:xfrm>
            <a:off x="423545" y="1167130"/>
            <a:ext cx="8187055" cy="5690870"/>
          </a:xfrm>
        </p:spPr>
        <p:txBody>
          <a:bodyPr>
            <a:noAutofit/>
          </a:bodyPr>
          <a:lstStyle/>
          <a:p>
            <a:pPr algn="just">
              <a:lnSpc>
                <a:spcPct val="70000"/>
              </a:lnSpc>
              <a:spcAft>
                <a:spcPts val="0"/>
              </a:spcAft>
            </a:pPr>
            <a:r>
              <a:rPr lang="en-US" sz="2000" b="1" i="0" dirty="0">
                <a:solidFill>
                  <a:srgbClr val="333333"/>
                </a:solidFill>
                <a:effectLst/>
                <a:latin typeface="Times New Roman" panose="02020603050405020304" pitchFamily="18" charset="0"/>
                <a:cs typeface="Times New Roman" panose="02020603050405020304" pitchFamily="18" charset="0"/>
              </a:rPr>
              <a:t>Drawbacks of Bellman ford algorithm</a:t>
            </a:r>
          </a:p>
          <a:p>
            <a:pPr marL="0" indent="0" algn="just">
              <a:lnSpc>
                <a:spcPct val="70000"/>
              </a:lnSpc>
              <a:spcAft>
                <a:spcPts val="0"/>
              </a:spcAft>
              <a:buNone/>
            </a:pPr>
            <a:r>
              <a:rPr lang="en-US" sz="2000" i="0" dirty="0">
                <a:solidFill>
                  <a:srgbClr val="333333"/>
                </a:solidFill>
                <a:effectLst/>
                <a:latin typeface="Times New Roman" panose="02020603050405020304" pitchFamily="18" charset="0"/>
                <a:cs typeface="Times New Roman" panose="02020603050405020304" pitchFamily="18" charset="0"/>
              </a:rPr>
              <a:t>The bellman ford algorithm does not produce a correct answer if the sum of the edges of a cycle is negative. Consider the below graph.</a:t>
            </a:r>
          </a:p>
          <a:p>
            <a:pPr marL="0" indent="0" algn="just">
              <a:lnSpc>
                <a:spcPct val="70000"/>
              </a:lnSpc>
              <a:spcAft>
                <a:spcPts val="0"/>
              </a:spcAft>
              <a:buNone/>
            </a:pPr>
            <a:r>
              <a:rPr lang="en-US" sz="2000" i="0" dirty="0">
                <a:solidFill>
                  <a:srgbClr val="333333"/>
                </a:solidFill>
                <a:effectLst/>
                <a:latin typeface="Times New Roman" panose="02020603050405020304" pitchFamily="18" charset="0"/>
                <a:cs typeface="Times New Roman" panose="02020603050405020304" pitchFamily="18" charset="0"/>
              </a:rPr>
              <a:t>After 3 iteration: The graph should give optimal solution</a:t>
            </a:r>
          </a:p>
          <a:p>
            <a:pPr marL="0" indent="0" algn="just">
              <a:lnSpc>
                <a:spcPct val="70000"/>
              </a:lnSpc>
              <a:spcAft>
                <a:spcPts val="0"/>
              </a:spcAft>
              <a:buNone/>
            </a:pPr>
            <a:r>
              <a:rPr lang="en-US" sz="2000" b="1" i="0" dirty="0">
                <a:solidFill>
                  <a:srgbClr val="333333"/>
                </a:solidFill>
                <a:effectLst/>
                <a:latin typeface="Times New Roman" panose="02020603050405020304" pitchFamily="18" charset="0"/>
                <a:cs typeface="Times New Roman" panose="02020603050405020304" pitchFamily="18" charset="0"/>
              </a:rPr>
              <a:t>4th iteration</a:t>
            </a:r>
          </a:p>
          <a:p>
            <a:pPr marL="0" indent="0" algn="just">
              <a:lnSpc>
                <a:spcPct val="70000"/>
              </a:lnSpc>
              <a:spcAft>
                <a:spcPts val="0"/>
              </a:spcAft>
              <a:buNone/>
            </a:pPr>
            <a:r>
              <a:rPr lang="en-US" sz="2000" i="0" dirty="0">
                <a:solidFill>
                  <a:srgbClr val="333333"/>
                </a:solidFill>
                <a:effectLst/>
                <a:latin typeface="Times New Roman" panose="02020603050405020304" pitchFamily="18" charset="0"/>
                <a:cs typeface="Times New Roman" panose="02020603050405020304" pitchFamily="18" charset="0"/>
              </a:rPr>
              <a:t>The first edge is (1, 3). Since (0 +5) equals to 5 which is greater than -6 so there would be no change in the vertex 3.</a:t>
            </a:r>
          </a:p>
          <a:p>
            <a:pPr marL="0" indent="0" algn="just">
              <a:lnSpc>
                <a:spcPct val="70000"/>
              </a:lnSpc>
              <a:spcAft>
                <a:spcPts val="0"/>
              </a:spcAft>
              <a:buNone/>
            </a:pPr>
            <a:r>
              <a:rPr lang="en-US" sz="2000" i="0" dirty="0">
                <a:solidFill>
                  <a:srgbClr val="333333"/>
                </a:solidFill>
                <a:effectLst/>
                <a:latin typeface="Times New Roman" panose="02020603050405020304" pitchFamily="18" charset="0"/>
                <a:cs typeface="Times New Roman" panose="02020603050405020304" pitchFamily="18" charset="0"/>
              </a:rPr>
              <a:t>The next edge is (1, 2). Since (0 + 4) is greater than 2 so there would be no updation.</a:t>
            </a:r>
          </a:p>
          <a:p>
            <a:pPr marL="0" indent="0" algn="just">
              <a:lnSpc>
                <a:spcPct val="70000"/>
              </a:lnSpc>
              <a:spcAft>
                <a:spcPts val="0"/>
              </a:spcAft>
              <a:buNone/>
            </a:pPr>
            <a:r>
              <a:rPr lang="en-US" sz="2000" i="0" dirty="0">
                <a:solidFill>
                  <a:srgbClr val="333333"/>
                </a:solidFill>
                <a:effectLst/>
                <a:latin typeface="Times New Roman" panose="02020603050405020304" pitchFamily="18" charset="0"/>
                <a:cs typeface="Times New Roman" panose="02020603050405020304" pitchFamily="18" charset="0"/>
              </a:rPr>
              <a:t>The next edge is (3, 2). Since (-6 + 7) equals to 1 which is less than 2 so update:</a:t>
            </a:r>
          </a:p>
          <a:p>
            <a:pPr marL="0" indent="0" algn="just">
              <a:lnSpc>
                <a:spcPct val="70000"/>
              </a:lnSpc>
              <a:spcAft>
                <a:spcPts val="0"/>
              </a:spcAft>
              <a:buNone/>
            </a:pPr>
            <a:r>
              <a:rPr lang="en-US" sz="2000" i="0" dirty="0">
                <a:solidFill>
                  <a:srgbClr val="333333"/>
                </a:solidFill>
                <a:effectLst/>
                <a:latin typeface="Times New Roman" panose="02020603050405020304" pitchFamily="18" charset="0"/>
                <a:cs typeface="Times New Roman" panose="02020603050405020304" pitchFamily="18" charset="0"/>
              </a:rPr>
              <a:t>d(v) = d(u) + c(u, v)</a:t>
            </a:r>
          </a:p>
          <a:p>
            <a:pPr marL="0" indent="0" algn="just">
              <a:lnSpc>
                <a:spcPct val="70000"/>
              </a:lnSpc>
              <a:spcAft>
                <a:spcPts val="0"/>
              </a:spcAft>
              <a:buNone/>
            </a:pPr>
            <a:r>
              <a:rPr lang="en-US" sz="2000" i="0" dirty="0">
                <a:solidFill>
                  <a:srgbClr val="333333"/>
                </a:solidFill>
                <a:effectLst/>
                <a:latin typeface="Times New Roman" panose="02020603050405020304" pitchFamily="18" charset="0"/>
                <a:cs typeface="Times New Roman" panose="02020603050405020304" pitchFamily="18" charset="0"/>
              </a:rPr>
              <a:t>d(2) = d(3) +c(3, 2)</a:t>
            </a:r>
          </a:p>
          <a:p>
            <a:pPr marL="0" indent="0" algn="just">
              <a:lnSpc>
                <a:spcPct val="70000"/>
              </a:lnSpc>
              <a:spcAft>
                <a:spcPts val="0"/>
              </a:spcAft>
              <a:buNone/>
            </a:pPr>
            <a:r>
              <a:rPr lang="en-US" sz="2000" i="0" dirty="0">
                <a:solidFill>
                  <a:srgbClr val="333333"/>
                </a:solidFill>
                <a:effectLst/>
                <a:latin typeface="Times New Roman" panose="02020603050405020304" pitchFamily="18" charset="0"/>
                <a:cs typeface="Times New Roman" panose="02020603050405020304" pitchFamily="18" charset="0"/>
              </a:rPr>
              <a:t>= -6 + 7 = 1</a:t>
            </a:r>
          </a:p>
          <a:p>
            <a:pPr marL="0" indent="0" algn="just">
              <a:lnSpc>
                <a:spcPct val="70000"/>
              </a:lnSpc>
              <a:spcAft>
                <a:spcPts val="0"/>
              </a:spcAft>
              <a:buNone/>
            </a:pPr>
            <a:r>
              <a:rPr lang="en-US" sz="2000" i="0" dirty="0">
                <a:solidFill>
                  <a:srgbClr val="333333"/>
                </a:solidFill>
                <a:effectLst/>
                <a:latin typeface="Times New Roman" panose="02020603050405020304" pitchFamily="18" charset="0"/>
                <a:cs typeface="Times New Roman" panose="02020603050405020304" pitchFamily="18" charset="0"/>
              </a:rPr>
              <a:t>In this case, the value of the vertex is updated. So, we conclude that the bellman ford algorithm does not work when the graph contains the negative weight cycle.</a:t>
            </a:r>
          </a:p>
          <a:p>
            <a:pPr marL="0" indent="0" algn="just">
              <a:lnSpc>
                <a:spcPct val="70000"/>
              </a:lnSpc>
              <a:spcAft>
                <a:spcPts val="0"/>
              </a:spcAft>
              <a:buNone/>
            </a:pPr>
            <a:r>
              <a:rPr lang="en-US" sz="2000" i="0" dirty="0">
                <a:solidFill>
                  <a:srgbClr val="333333"/>
                </a:solidFill>
                <a:effectLst/>
                <a:latin typeface="Times New Roman" panose="02020603050405020304" pitchFamily="18" charset="0"/>
                <a:cs typeface="Times New Roman" panose="02020603050405020304" pitchFamily="18" charset="0"/>
              </a:rPr>
              <a:t>Therefore, the value at vertex 2 is 1.</a:t>
            </a:r>
          </a:p>
        </p:txBody>
      </p:sp>
      <p:sp>
        <p:nvSpPr>
          <p:cNvPr id="4" name="Slide Number Placeholder 3"/>
          <p:cNvSpPr>
            <a:spLocks noGrp="1"/>
          </p:cNvSpPr>
          <p:nvPr>
            <p:ph type="sldNum" sz="quarter" idx="12"/>
          </p:nvPr>
        </p:nvSpPr>
        <p:spPr/>
        <p:txBody>
          <a:bodyPr/>
          <a:lstStyle/>
          <a:p>
            <a:fld id="{BDCDBBEF-AA6C-4BA6-85B2-A17D7F280E38}" type="slidenum">
              <a:rPr lang="en-US" smtClean="0"/>
              <a:t>71</a:t>
            </a:fld>
            <a:endParaRPr lang="en-US"/>
          </a:p>
        </p:txBody>
      </p:sp>
      <p:sp>
        <p:nvSpPr>
          <p:cNvPr id="5" name="Rectangle 4"/>
          <p:cNvSpPr/>
          <p:nvPr/>
        </p:nvSpPr>
        <p:spPr>
          <a:xfrm>
            <a:off x="838200" y="83377"/>
            <a:ext cx="8637104" cy="9088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09245" y="1045210"/>
            <a:ext cx="11044555" cy="56769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 name="Content Placeholder 102"/>
          <p:cNvPicPr>
            <a:picLocks noGrp="1"/>
          </p:cNvPicPr>
          <p:nvPr>
            <p:ph sz="half" idx="2"/>
          </p:nvPr>
        </p:nvPicPr>
        <p:blipFill>
          <a:blip r:embed="rId3"/>
          <a:stretch>
            <a:fillRect/>
          </a:stretch>
        </p:blipFill>
        <p:spPr>
          <a:xfrm>
            <a:off x="8606155" y="1045210"/>
            <a:ext cx="2677795" cy="2185670"/>
          </a:xfrm>
          <a:prstGeom prst="rect">
            <a:avLst/>
          </a:prstGeom>
          <a:noFill/>
          <a:ln w="9525">
            <a:noFill/>
          </a:ln>
        </p:spPr>
      </p:pic>
      <p:pic>
        <p:nvPicPr>
          <p:cNvPr id="104" name="Picture 103"/>
          <p:cNvPicPr/>
          <p:nvPr/>
        </p:nvPicPr>
        <p:blipFill>
          <a:blip r:embed="rId4"/>
          <a:stretch>
            <a:fillRect/>
          </a:stretch>
        </p:blipFill>
        <p:spPr>
          <a:xfrm>
            <a:off x="8449945" y="2988310"/>
            <a:ext cx="2847340" cy="2270760"/>
          </a:xfrm>
          <a:prstGeom prst="rect">
            <a:avLst/>
          </a:prstGeom>
          <a:noFill/>
          <a:ln w="9525">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8637104" cy="908810"/>
          </a:xfrm>
        </p:spPr>
        <p:txBody>
          <a:bodyPr/>
          <a:lstStyle/>
          <a:p>
            <a:pPr algn="ctr"/>
            <a:r>
              <a:rPr lang="en-US" b="1" dirty="0">
                <a:latin typeface="Times New Roman" panose="02020603050405020304" pitchFamily="18" charset="0"/>
                <a:cs typeface="Times New Roman" panose="02020603050405020304" pitchFamily="18" charset="0"/>
              </a:rPr>
              <a:t>Bellman Ford Algorithm</a:t>
            </a:r>
            <a:endParaRPr lang="en-US" dirty="0"/>
          </a:p>
        </p:txBody>
      </p:sp>
      <p:sp>
        <p:nvSpPr>
          <p:cNvPr id="3" name="Content Placeholder 2"/>
          <p:cNvSpPr>
            <a:spLocks noGrp="1"/>
          </p:cNvSpPr>
          <p:nvPr>
            <p:ph idx="1"/>
          </p:nvPr>
        </p:nvSpPr>
        <p:spPr>
          <a:xfrm>
            <a:off x="838200" y="1229484"/>
            <a:ext cx="10515600" cy="5628516"/>
          </a:xfrm>
        </p:spPr>
        <p:txBody>
          <a:bodyPr>
            <a:normAutofit/>
          </a:bodyPr>
          <a:lstStyle/>
          <a:p>
            <a:pPr algn="just"/>
            <a:r>
              <a:rPr lang="en-US" sz="2000" b="0" i="0" dirty="0">
                <a:solidFill>
                  <a:srgbClr val="333333"/>
                </a:solidFill>
                <a:effectLst/>
                <a:latin typeface="Times New Roman" panose="02020603050405020304" pitchFamily="18" charset="0"/>
                <a:cs typeface="Times New Roman" panose="02020603050405020304" pitchFamily="18" charset="0"/>
              </a:rPr>
              <a:t>Here we have 7 vertices. Relax for n-1 times. i.e-7-1=6 times</a:t>
            </a:r>
          </a:p>
          <a:p>
            <a:pPr algn="just"/>
            <a:r>
              <a:rPr lang="en-US" sz="2000" b="0" i="0" dirty="0">
                <a:solidFill>
                  <a:srgbClr val="333333"/>
                </a:solidFill>
                <a:effectLst/>
                <a:latin typeface="Times New Roman" panose="02020603050405020304" pitchFamily="18" charset="0"/>
                <a:cs typeface="Times New Roman" panose="02020603050405020304" pitchFamily="18" charset="0"/>
              </a:rPr>
              <a:t>To find the shortest path of the above graph, the first step is note down all the edges which are given below:</a:t>
            </a:r>
          </a:p>
          <a:p>
            <a:pPr algn="just"/>
            <a:r>
              <a:rPr lang="en-US" sz="2000" b="0" i="0" dirty="0">
                <a:solidFill>
                  <a:srgbClr val="333333"/>
                </a:solidFill>
                <a:effectLst/>
                <a:latin typeface="Times New Roman" panose="02020603050405020304" pitchFamily="18" charset="0"/>
                <a:cs typeface="Times New Roman" panose="02020603050405020304" pitchFamily="18" charset="0"/>
              </a:rPr>
              <a:t>(1,2), (1,3), (1,4), (2,5), (3,2), (3,5), (4,3), (4,6), (5,7), (6,7)</a:t>
            </a:r>
          </a:p>
          <a:p>
            <a:pPr algn="just"/>
            <a:r>
              <a:rPr lang="en-US" sz="2000" dirty="0">
                <a:solidFill>
                  <a:srgbClr val="333333"/>
                </a:solidFill>
                <a:latin typeface="Times New Roman" panose="02020603050405020304" pitchFamily="18" charset="0"/>
                <a:cs typeface="Times New Roman" panose="02020603050405020304" pitchFamily="18" charset="0"/>
              </a:rPr>
              <a:t>Now relax all these edges 6 times i.e., n-1 times.</a:t>
            </a:r>
            <a:endParaRPr lang="en-US" sz="2000" b="0" i="0" dirty="0">
              <a:solidFill>
                <a:srgbClr val="333333"/>
              </a:solidFill>
              <a:effectLst/>
              <a:latin typeface="Times New Roman" panose="02020603050405020304" pitchFamily="18" charset="0"/>
              <a:cs typeface="Times New Roman" panose="02020603050405020304" pitchFamily="18" charset="0"/>
            </a:endParaRPr>
          </a:p>
          <a:p>
            <a:pPr algn="just"/>
            <a:endParaRPr lang="en-US" sz="2000" b="0" i="0" dirty="0">
              <a:solidFill>
                <a:srgbClr val="333333"/>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72</a:t>
            </a:fld>
            <a:endParaRPr lang="en-US"/>
          </a:p>
        </p:txBody>
      </p:sp>
      <p:sp>
        <p:nvSpPr>
          <p:cNvPr id="5" name="Rectangle 4"/>
          <p:cNvSpPr/>
          <p:nvPr/>
        </p:nvSpPr>
        <p:spPr>
          <a:xfrm>
            <a:off x="838200" y="83377"/>
            <a:ext cx="8637104" cy="9088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224722"/>
            <a:ext cx="10515600" cy="5317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2"/>
          <a:stretch>
            <a:fillRect/>
          </a:stretch>
        </p:blipFill>
        <p:spPr>
          <a:xfrm>
            <a:off x="2466561" y="3305176"/>
            <a:ext cx="6781800" cy="2867025"/>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8637104" cy="908810"/>
          </a:xfrm>
        </p:spPr>
        <p:txBody>
          <a:bodyPr/>
          <a:lstStyle/>
          <a:p>
            <a:pPr algn="ctr"/>
            <a:r>
              <a:rPr lang="en-US" b="1" dirty="0">
                <a:latin typeface="Times New Roman" panose="02020603050405020304" pitchFamily="18" charset="0"/>
                <a:cs typeface="Times New Roman" panose="02020603050405020304" pitchFamily="18" charset="0"/>
              </a:rPr>
              <a:t>Bellman Ford Algorithm</a:t>
            </a:r>
            <a:endParaRPr lang="en-US" dirty="0"/>
          </a:p>
        </p:txBody>
      </p:sp>
      <p:sp>
        <p:nvSpPr>
          <p:cNvPr id="3" name="Content Placeholder 2"/>
          <p:cNvSpPr>
            <a:spLocks noGrp="1"/>
          </p:cNvSpPr>
          <p:nvPr>
            <p:ph idx="1"/>
          </p:nvPr>
        </p:nvSpPr>
        <p:spPr>
          <a:xfrm>
            <a:off x="838200" y="1229484"/>
            <a:ext cx="10515600" cy="5628516"/>
          </a:xfrm>
        </p:spPr>
        <p:txBody>
          <a:bodyPr>
            <a:normAutofit/>
          </a:bodyPr>
          <a:lstStyle/>
          <a:p>
            <a:pPr algn="just"/>
            <a:r>
              <a:rPr lang="en-US" sz="2000" b="0" i="0" dirty="0">
                <a:solidFill>
                  <a:srgbClr val="333333"/>
                </a:solidFill>
                <a:effectLst/>
                <a:latin typeface="Times New Roman" panose="02020603050405020304" pitchFamily="18" charset="0"/>
                <a:cs typeface="Times New Roman" panose="02020603050405020304" pitchFamily="18" charset="0"/>
              </a:rPr>
              <a:t>Let's consider the source vertex as 'A'; therefore, the distance value at vertex A is 0 and the distance value at all the other vertices as infinity shown as below:</a:t>
            </a:r>
          </a:p>
          <a:p>
            <a:pPr algn="just"/>
            <a:endParaRPr lang="en-US" sz="2000" dirty="0">
              <a:solidFill>
                <a:srgbClr val="333333"/>
              </a:solidFill>
              <a:latin typeface="Times New Roman" panose="02020603050405020304" pitchFamily="18" charset="0"/>
              <a:cs typeface="Times New Roman" panose="02020603050405020304" pitchFamily="18" charset="0"/>
            </a:endParaRPr>
          </a:p>
          <a:p>
            <a:pPr algn="just"/>
            <a:endParaRPr lang="en-US" sz="2000" b="0" i="0" dirty="0">
              <a:solidFill>
                <a:srgbClr val="333333"/>
              </a:solidFill>
              <a:effectLst/>
              <a:latin typeface="Times New Roman" panose="02020603050405020304" pitchFamily="18" charset="0"/>
              <a:cs typeface="Times New Roman" panose="02020603050405020304" pitchFamily="18" charset="0"/>
            </a:endParaRPr>
          </a:p>
          <a:p>
            <a:pPr algn="just"/>
            <a:endParaRPr lang="en-US" sz="2000" dirty="0">
              <a:solidFill>
                <a:srgbClr val="333333"/>
              </a:solidFill>
              <a:latin typeface="Times New Roman" panose="02020603050405020304" pitchFamily="18" charset="0"/>
              <a:cs typeface="Times New Roman" panose="02020603050405020304" pitchFamily="18" charset="0"/>
            </a:endParaRPr>
          </a:p>
          <a:p>
            <a:pPr algn="just"/>
            <a:endParaRPr lang="en-US" sz="2000" b="0" i="0" dirty="0">
              <a:solidFill>
                <a:srgbClr val="333333"/>
              </a:solidFill>
              <a:effectLst/>
              <a:latin typeface="Times New Roman" panose="02020603050405020304" pitchFamily="18" charset="0"/>
              <a:cs typeface="Times New Roman" panose="02020603050405020304" pitchFamily="18" charset="0"/>
            </a:endParaRPr>
          </a:p>
          <a:p>
            <a:pPr algn="just"/>
            <a:endParaRPr lang="en-US" sz="2000" dirty="0">
              <a:solidFill>
                <a:srgbClr val="333333"/>
              </a:solidFill>
              <a:latin typeface="Times New Roman" panose="02020603050405020304" pitchFamily="18" charset="0"/>
              <a:cs typeface="Times New Roman" panose="02020603050405020304" pitchFamily="18" charset="0"/>
            </a:endParaRPr>
          </a:p>
          <a:p>
            <a:pPr algn="just"/>
            <a:endParaRPr lang="en-US" sz="2000" b="0" i="0" dirty="0">
              <a:solidFill>
                <a:srgbClr val="333333"/>
              </a:solidFill>
              <a:effectLst/>
              <a:latin typeface="Times New Roman" panose="02020603050405020304" pitchFamily="18" charset="0"/>
              <a:cs typeface="Times New Roman" panose="02020603050405020304" pitchFamily="18" charset="0"/>
            </a:endParaRPr>
          </a:p>
          <a:p>
            <a:pPr algn="just"/>
            <a:endParaRPr lang="en-US" sz="2000" dirty="0">
              <a:solidFill>
                <a:srgbClr val="333333"/>
              </a:solidFill>
              <a:latin typeface="Times New Roman" panose="02020603050405020304" pitchFamily="18" charset="0"/>
              <a:cs typeface="Times New Roman" panose="02020603050405020304" pitchFamily="18" charset="0"/>
            </a:endParaRPr>
          </a:p>
          <a:p>
            <a:pPr algn="just"/>
            <a:endParaRPr lang="en-US" sz="2000" b="0" i="0" dirty="0">
              <a:solidFill>
                <a:srgbClr val="333333"/>
              </a:solidFill>
              <a:effectLst/>
              <a:latin typeface="Times New Roman" panose="02020603050405020304" pitchFamily="18" charset="0"/>
              <a:cs typeface="Times New Roman" panose="02020603050405020304" pitchFamily="18" charset="0"/>
            </a:endParaRPr>
          </a:p>
          <a:p>
            <a:pPr algn="just"/>
            <a:r>
              <a:rPr lang="en-US" sz="2000" b="0" i="0" dirty="0">
                <a:solidFill>
                  <a:srgbClr val="333333"/>
                </a:solidFill>
                <a:effectLst/>
                <a:latin typeface="Times New Roman" panose="02020603050405020304" pitchFamily="18" charset="0"/>
                <a:cs typeface="Times New Roman" panose="02020603050405020304" pitchFamily="18" charset="0"/>
              </a:rPr>
              <a:t>Source u=1------Putting in formula</a:t>
            </a:r>
          </a:p>
          <a:p>
            <a:pPr algn="just"/>
            <a:endParaRPr lang="en-US" sz="2000" b="0" i="0" dirty="0">
              <a:solidFill>
                <a:srgbClr val="333333"/>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73</a:t>
            </a:fld>
            <a:endParaRPr lang="en-US"/>
          </a:p>
        </p:txBody>
      </p:sp>
      <p:sp>
        <p:nvSpPr>
          <p:cNvPr id="5" name="Rectangle 4"/>
          <p:cNvSpPr/>
          <p:nvPr/>
        </p:nvSpPr>
        <p:spPr>
          <a:xfrm>
            <a:off x="838200" y="83377"/>
            <a:ext cx="8637104" cy="9088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224722"/>
            <a:ext cx="10515600" cy="5317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2"/>
          <a:stretch>
            <a:fillRect/>
          </a:stretch>
        </p:blipFill>
        <p:spPr>
          <a:xfrm>
            <a:off x="2543175" y="1881187"/>
            <a:ext cx="7105650" cy="3095625"/>
          </a:xfrm>
          <a:prstGeom prst="rect">
            <a:avLst/>
          </a:prstGeom>
        </p:spPr>
      </p:pic>
      <p:sp>
        <p:nvSpPr>
          <p:cNvPr id="11" name="TextBox 10"/>
          <p:cNvSpPr txBox="1"/>
          <p:nvPr/>
        </p:nvSpPr>
        <p:spPr>
          <a:xfrm>
            <a:off x="8550965" y="5166850"/>
            <a:ext cx="2862470" cy="923330"/>
          </a:xfrm>
          <a:prstGeom prst="rect">
            <a:avLst/>
          </a:prstGeom>
          <a:noFill/>
        </p:spPr>
        <p:txBody>
          <a:bodyPr wrap="square">
            <a:spAutoFit/>
          </a:bodyPr>
          <a:lstStyle/>
          <a:p>
            <a:pPr marL="0" indent="0" algn="just">
              <a:buNone/>
            </a:pPr>
            <a:r>
              <a:rPr lang="en-IN" sz="1800" b="1" dirty="0">
                <a:solidFill>
                  <a:srgbClr val="333333"/>
                </a:solidFill>
                <a:latin typeface="Times New Roman" panose="02020603050405020304" pitchFamily="18" charset="0"/>
                <a:cs typeface="Times New Roman" panose="02020603050405020304" pitchFamily="18" charset="0"/>
              </a:rPr>
              <a:t>Relaxing means:</a:t>
            </a:r>
          </a:p>
          <a:p>
            <a:pPr algn="just">
              <a:buFont typeface="+mj-lt"/>
              <a:buAutoNum type="arabicPeriod"/>
            </a:pPr>
            <a:r>
              <a:rPr lang="pl-PL" sz="1800" dirty="0">
                <a:solidFill>
                  <a:srgbClr val="333333"/>
                </a:solidFill>
                <a:latin typeface="Times New Roman" panose="02020603050405020304" pitchFamily="18" charset="0"/>
                <a:cs typeface="Times New Roman" panose="02020603050405020304" pitchFamily="18" charset="0"/>
              </a:rPr>
              <a:t>If (d(u) + c(u , v) &lt; d(v))  </a:t>
            </a:r>
          </a:p>
          <a:p>
            <a:pPr algn="just">
              <a:buFont typeface="+mj-lt"/>
              <a:buAutoNum type="arabicPeriod"/>
            </a:pPr>
            <a:r>
              <a:rPr lang="pl-PL" sz="1800" dirty="0">
                <a:solidFill>
                  <a:srgbClr val="333333"/>
                </a:solidFill>
                <a:latin typeface="Times New Roman" panose="02020603050405020304" pitchFamily="18" charset="0"/>
                <a:cs typeface="Times New Roman" panose="02020603050405020304" pitchFamily="18" charset="0"/>
              </a:rPr>
              <a:t> d(v) = d(u) + c(u , v) </a:t>
            </a:r>
            <a:endParaRPr lang="en-IN"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lnSpc>
                <a:spcPct val="96000"/>
              </a:lnSpc>
              <a:buClr>
                <a:srgbClr val="000000"/>
              </a:buClr>
              <a:buSzPct val="100000"/>
              <a:buFont typeface="Times New Roman" panose="02020603050405020304" pitchFamily="18" charset="0"/>
              <a:buNone/>
            </a:pPr>
            <a:r>
              <a:rPr lang="en-GB" sz="1600" dirty="0">
                <a:latin typeface="Times New Roman" panose="02020603050405020304" pitchFamily="18" charset="0"/>
                <a:ea typeface="HG Mincho Light J" charset="0"/>
                <a:cs typeface="Times New Roman" panose="02020603050405020304" pitchFamily="18" charset="0"/>
              </a:rPr>
              <a:t>Sometimes Dynamic Programming can be used to find relatively fast, but still exponential algorithms. </a:t>
            </a:r>
          </a:p>
          <a:p>
            <a:pPr algn="just">
              <a:lnSpc>
                <a:spcPct val="96000"/>
              </a:lnSpc>
              <a:buClr>
                <a:srgbClr val="000000"/>
              </a:buClr>
              <a:buSzPct val="100000"/>
              <a:buFont typeface="Times New Roman" panose="02020603050405020304" pitchFamily="18" charset="0"/>
              <a:buNone/>
            </a:pPr>
            <a:endParaRPr lang="en-GB" sz="1600" dirty="0">
              <a:latin typeface="Times New Roman" panose="02020603050405020304" pitchFamily="18" charset="0"/>
              <a:ea typeface="HG Mincho Light J" charset="0"/>
              <a:cs typeface="Times New Roman" panose="02020603050405020304" pitchFamily="18" charset="0"/>
            </a:endParaRPr>
          </a:p>
          <a:p>
            <a:pPr algn="just">
              <a:lnSpc>
                <a:spcPct val="96000"/>
              </a:lnSpc>
              <a:buClr>
                <a:srgbClr val="000000"/>
              </a:buClr>
              <a:buSzPct val="100000"/>
              <a:buFont typeface="Times New Roman" panose="02020603050405020304" pitchFamily="18" charset="0"/>
              <a:buNone/>
            </a:pPr>
            <a:r>
              <a:rPr lang="en-GB" sz="1600" b="1" dirty="0">
                <a:latin typeface="Times New Roman" panose="02020603050405020304" pitchFamily="18" charset="0"/>
                <a:ea typeface="HG Mincho Light J" charset="0"/>
                <a:cs typeface="Times New Roman" panose="02020603050405020304" pitchFamily="18" charset="0"/>
              </a:rPr>
              <a:t>Travelling Salesman Problem</a:t>
            </a:r>
          </a:p>
          <a:p>
            <a:pPr algn="just">
              <a:lnSpc>
                <a:spcPct val="96000"/>
              </a:lnSpc>
              <a:buClr>
                <a:srgbClr val="000000"/>
              </a:buClr>
              <a:buSzPct val="100000"/>
              <a:buFont typeface="Times New Roman" panose="02020603050405020304" pitchFamily="18" charset="0"/>
              <a:buNone/>
            </a:pPr>
            <a:endParaRPr lang="en-GB" sz="1600" dirty="0">
              <a:latin typeface="Times New Roman" panose="02020603050405020304" pitchFamily="18" charset="0"/>
              <a:ea typeface="HG Mincho Light J" charset="0"/>
              <a:cs typeface="Times New Roman" panose="02020603050405020304" pitchFamily="18" charset="0"/>
            </a:endParaRPr>
          </a:p>
          <a:p>
            <a:pPr algn="just">
              <a:lnSpc>
                <a:spcPct val="96000"/>
              </a:lnSpc>
              <a:buClr>
                <a:srgbClr val="000000"/>
              </a:buClr>
              <a:buSzPct val="100000"/>
              <a:buFont typeface="Times New Roman" panose="02020603050405020304" pitchFamily="18" charset="0"/>
              <a:buNone/>
            </a:pPr>
            <a:r>
              <a:rPr lang="en-GB" sz="1600" dirty="0">
                <a:latin typeface="Times New Roman" panose="02020603050405020304" pitchFamily="18" charset="0"/>
                <a:ea typeface="HG Mincho Light J" charset="0"/>
                <a:cs typeface="Times New Roman" panose="02020603050405020304" pitchFamily="18" charset="0"/>
              </a:rPr>
              <a:t>Given:  A distance table between </a:t>
            </a:r>
            <a:r>
              <a:rPr lang="en-GB" sz="1600" dirty="0">
                <a:solidFill>
                  <a:srgbClr val="0047FF"/>
                </a:solidFill>
                <a:latin typeface="Times New Roman" panose="02020603050405020304" pitchFamily="18" charset="0"/>
                <a:ea typeface="HG Mincho Light J" charset="0"/>
                <a:cs typeface="Times New Roman" panose="02020603050405020304" pitchFamily="18" charset="0"/>
              </a:rPr>
              <a:t>n</a:t>
            </a:r>
            <a:r>
              <a:rPr lang="en-GB" sz="1600" dirty="0">
                <a:latin typeface="Times New Roman" panose="02020603050405020304" pitchFamily="18" charset="0"/>
                <a:ea typeface="HG Mincho Light J" charset="0"/>
                <a:cs typeface="Times New Roman" panose="02020603050405020304" pitchFamily="18" charset="0"/>
              </a:rPr>
              <a:t> cities. </a:t>
            </a:r>
          </a:p>
          <a:p>
            <a:pPr algn="just">
              <a:lnSpc>
                <a:spcPct val="96000"/>
              </a:lnSpc>
              <a:buClr>
                <a:srgbClr val="000000"/>
              </a:buClr>
              <a:buSzPct val="100000"/>
              <a:buFont typeface="Times New Roman" panose="02020603050405020304" pitchFamily="18" charset="0"/>
              <a:buNone/>
            </a:pPr>
            <a:r>
              <a:rPr lang="en-GB" sz="1600" dirty="0">
                <a:latin typeface="Times New Roman" panose="02020603050405020304" pitchFamily="18" charset="0"/>
                <a:ea typeface="HG Mincho Light J" charset="0"/>
                <a:cs typeface="Times New Roman" panose="02020603050405020304" pitchFamily="18" charset="0"/>
              </a:rPr>
              <a:t>Problem:  Find a shortest tour.</a:t>
            </a:r>
          </a:p>
          <a:p>
            <a:pPr algn="just">
              <a:lnSpc>
                <a:spcPct val="96000"/>
              </a:lnSpc>
              <a:buClr>
                <a:srgbClr val="000000"/>
              </a:buClr>
              <a:buSzPct val="100000"/>
              <a:buFont typeface="Times New Roman" panose="02020603050405020304" pitchFamily="18" charset="0"/>
              <a:buNone/>
            </a:pPr>
            <a:endParaRPr lang="en-GB" sz="1600" dirty="0">
              <a:latin typeface="Times New Roman" panose="02020603050405020304" pitchFamily="18" charset="0"/>
              <a:ea typeface="HG Mincho Light J" charset="0"/>
              <a:cs typeface="Times New Roman" panose="02020603050405020304" pitchFamily="18" charset="0"/>
            </a:endParaRPr>
          </a:p>
          <a:p>
            <a:pPr algn="just">
              <a:lnSpc>
                <a:spcPct val="96000"/>
              </a:lnSpc>
              <a:buClr>
                <a:srgbClr val="000000"/>
              </a:buClr>
              <a:buSzPct val="100000"/>
              <a:buFont typeface="Times New Roman" panose="02020603050405020304" pitchFamily="18" charset="0"/>
              <a:buNone/>
            </a:pPr>
            <a:r>
              <a:rPr lang="en-GB" sz="1600" dirty="0">
                <a:latin typeface="Times New Roman" panose="02020603050405020304" pitchFamily="18" charset="0"/>
                <a:ea typeface="HG Mincho Light J" charset="0"/>
                <a:cs typeface="Times New Roman" panose="02020603050405020304" pitchFamily="18" charset="0"/>
              </a:rPr>
              <a:t>A tour here is required to visit each city exactly once and return to the city of origin.  The cost is the sum of the edge costs.</a:t>
            </a:r>
          </a:p>
          <a:p>
            <a:pPr algn="just"/>
            <a:endParaRPr lang="en-US" sz="1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74</a:t>
            </a:fld>
            <a:endParaRPr lang="en-US"/>
          </a:p>
        </p:txBody>
      </p:sp>
      <p:sp>
        <p:nvSpPr>
          <p:cNvPr id="5" name="Rectangle 4"/>
          <p:cNvSpPr/>
          <p:nvPr/>
        </p:nvSpPr>
        <p:spPr>
          <a:xfrm>
            <a:off x="838200" y="145415"/>
            <a:ext cx="8468360" cy="94869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319530"/>
            <a:ext cx="10515600" cy="485267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Box 6"/>
          <p:cNvSpPr txBox="1"/>
          <p:nvPr/>
        </p:nvSpPr>
        <p:spPr>
          <a:xfrm>
            <a:off x="838835" y="145415"/>
            <a:ext cx="8467725" cy="922020"/>
          </a:xfrm>
          <a:prstGeom prst="rect">
            <a:avLst/>
          </a:prstGeom>
          <a:noFill/>
        </p:spPr>
        <p:txBody>
          <a:bodyPr wrap="square" rtlCol="0" anchor="t">
            <a:spAutoFit/>
          </a:bodyPr>
          <a:lstStyle/>
          <a:p>
            <a:r>
              <a:rPr lang="en-US" sz="4000" b="1" dirty="0">
                <a:latin typeface="Times New Roman" panose="02020603050405020304" pitchFamily="18" charset="0"/>
                <a:cs typeface="Times New Roman" panose="02020603050405020304" pitchFamily="18" charset="0"/>
                <a:sym typeface="+mn-ea"/>
              </a:rPr>
              <a:t>Travelling Salesperson Problem(TSP)</a:t>
            </a:r>
            <a:endParaRPr lang="en-US" sz="1400" b="1" dirty="0">
              <a:latin typeface="Times New Roman" panose="02020603050405020304" pitchFamily="18" charset="0"/>
              <a:cs typeface="Times New Roman" panose="02020603050405020304" pitchFamily="18" charset="0"/>
              <a:sym typeface="+mn-ea"/>
            </a:endParaRPr>
          </a:p>
          <a:p>
            <a:endParaRPr lang="en-US" sz="1400" b="1" dirty="0">
              <a:latin typeface="Times New Roman" panose="02020603050405020304" pitchFamily="18" charset="0"/>
              <a:cs typeface="Times New Roman" panose="02020603050405020304" pitchFamily="18" charset="0"/>
              <a:sym typeface="+mn-ea"/>
            </a:endParaRPr>
          </a:p>
        </p:txBody>
      </p:sp>
      <p:sp>
        <p:nvSpPr>
          <p:cNvPr id="2" name="Text Box 1"/>
          <p:cNvSpPr txBox="1"/>
          <p:nvPr/>
        </p:nvSpPr>
        <p:spPr>
          <a:xfrm>
            <a:off x="6144260" y="2218690"/>
            <a:ext cx="3641725" cy="645160"/>
          </a:xfrm>
          <a:prstGeom prst="rect">
            <a:avLst/>
          </a:prstGeom>
          <a:noFill/>
        </p:spPr>
        <p:txBody>
          <a:bodyPr wrap="square" rtlCol="0" anchor="t">
            <a:spAutoFit/>
          </a:bodyPr>
          <a:lstStyle/>
          <a:p>
            <a:r>
              <a:rPr lang="en-US" b="1" dirty="0"/>
              <a:t>https://www.youtube.com/watch?v=XaXsJJh-Q5Y</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571500" indent="-571500" algn="just"/>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75</a:t>
            </a:fld>
            <a:endParaRPr lang="en-US"/>
          </a:p>
        </p:txBody>
      </p:sp>
      <p:sp>
        <p:nvSpPr>
          <p:cNvPr id="5" name="Rectangle 4"/>
          <p:cNvSpPr/>
          <p:nvPr/>
        </p:nvSpPr>
        <p:spPr>
          <a:xfrm>
            <a:off x="838200" y="152540"/>
            <a:ext cx="8582892" cy="96967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464973"/>
            <a:ext cx="10356273" cy="470722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B0074EE8-66A5-DA81-66DE-04E119EDE1A9}"/>
              </a:ext>
            </a:extLst>
          </p:cNvPr>
          <p:cNvPicPr>
            <a:picLocks noChangeAspect="1"/>
          </p:cNvPicPr>
          <p:nvPr/>
        </p:nvPicPr>
        <p:blipFill>
          <a:blip r:embed="rId2"/>
          <a:stretch>
            <a:fillRect/>
          </a:stretch>
        </p:blipFill>
        <p:spPr>
          <a:xfrm>
            <a:off x="1080655" y="1661394"/>
            <a:ext cx="9826397" cy="3745488"/>
          </a:xfrm>
          <a:prstGeom prst="rect">
            <a:avLst/>
          </a:prstGeom>
        </p:spPr>
      </p:pic>
      <p:sp>
        <p:nvSpPr>
          <p:cNvPr id="9" name="TextBox 8">
            <a:extLst>
              <a:ext uri="{FF2B5EF4-FFF2-40B4-BE49-F238E27FC236}">
                <a16:creationId xmlns:a16="http://schemas.microsoft.com/office/drawing/2014/main" id="{FD9DDF0C-7A88-C656-8A1D-8A1322F24C9E}"/>
              </a:ext>
            </a:extLst>
          </p:cNvPr>
          <p:cNvSpPr txBox="1"/>
          <p:nvPr/>
        </p:nvSpPr>
        <p:spPr>
          <a:xfrm>
            <a:off x="1205345" y="5406882"/>
            <a:ext cx="5860473" cy="369332"/>
          </a:xfrm>
          <a:prstGeom prst="rect">
            <a:avLst/>
          </a:prstGeom>
          <a:noFill/>
        </p:spPr>
        <p:txBody>
          <a:bodyPr wrap="square" rtlCol="0">
            <a:spAutoFit/>
          </a:bodyPr>
          <a:lstStyle/>
          <a:p>
            <a:r>
              <a:rPr lang="en-IN" dirty="0"/>
              <a:t>Starting Vertex--1</a:t>
            </a:r>
          </a:p>
        </p:txBody>
      </p:sp>
      <p:sp>
        <p:nvSpPr>
          <p:cNvPr id="12" name="Text Box 6">
            <a:extLst>
              <a:ext uri="{FF2B5EF4-FFF2-40B4-BE49-F238E27FC236}">
                <a16:creationId xmlns:a16="http://schemas.microsoft.com/office/drawing/2014/main" id="{595C58EE-86E6-238C-75B3-D694A87537C4}"/>
              </a:ext>
            </a:extLst>
          </p:cNvPr>
          <p:cNvSpPr txBox="1"/>
          <p:nvPr/>
        </p:nvSpPr>
        <p:spPr>
          <a:xfrm>
            <a:off x="838835" y="145415"/>
            <a:ext cx="8467725" cy="922020"/>
          </a:xfrm>
          <a:prstGeom prst="rect">
            <a:avLst/>
          </a:prstGeom>
          <a:noFill/>
        </p:spPr>
        <p:txBody>
          <a:bodyPr wrap="square" rtlCol="0" anchor="t">
            <a:spAutoFit/>
          </a:bodyPr>
          <a:lstStyle/>
          <a:p>
            <a:r>
              <a:rPr lang="en-US" sz="4000" b="1" dirty="0">
                <a:latin typeface="Times New Roman" panose="02020603050405020304" pitchFamily="18" charset="0"/>
                <a:cs typeface="Times New Roman" panose="02020603050405020304" pitchFamily="18" charset="0"/>
                <a:sym typeface="+mn-ea"/>
              </a:rPr>
              <a:t>Travelling Salesperson Problem(TSP)</a:t>
            </a:r>
            <a:endParaRPr lang="en-US" sz="1400" b="1" dirty="0">
              <a:latin typeface="Times New Roman" panose="02020603050405020304" pitchFamily="18" charset="0"/>
              <a:cs typeface="Times New Roman" panose="02020603050405020304" pitchFamily="18" charset="0"/>
              <a:sym typeface="+mn-ea"/>
            </a:endParaRPr>
          </a:p>
          <a:p>
            <a:endParaRPr lang="en-US" sz="1400" b="1"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a:latin typeface="Times New Roman" panose="02020603050405020304" pitchFamily="18" charset="0"/>
                <a:cs typeface="Times New Roman" panose="02020603050405020304" pitchFamily="18" charset="0"/>
              </a:rPr>
              <a:t>References</a:t>
            </a:r>
            <a:r>
              <a:rPr lang="en-US" sz="2800" dirty="0"/>
              <a:t> </a:t>
            </a:r>
            <a:endParaRPr lang="en-US" dirty="0"/>
          </a:p>
        </p:txBody>
      </p:sp>
      <p:sp>
        <p:nvSpPr>
          <p:cNvPr id="3" name="Content Placeholder 2"/>
          <p:cNvSpPr>
            <a:spLocks noGrp="1"/>
          </p:cNvSpPr>
          <p:nvPr>
            <p:ph idx="1"/>
          </p:nvPr>
        </p:nvSpPr>
        <p:spPr/>
        <p:txBody>
          <a:bodyPr>
            <a:normAutofit/>
          </a:bodyPr>
          <a:lstStyle/>
          <a:p>
            <a:pPr marL="457200" indent="-457200" algn="just">
              <a:buAutoNum type="arabicPeriod"/>
            </a:pPr>
            <a:r>
              <a:rPr lang="en-US" sz="1600" dirty="0">
                <a:latin typeface="Times New Roman" panose="02020603050405020304" pitchFamily="18" charset="0"/>
                <a:cs typeface="Times New Roman" panose="02020603050405020304" pitchFamily="18" charset="0"/>
              </a:rPr>
              <a:t>Introduction to Algorithms by </a:t>
            </a:r>
            <a:r>
              <a:rPr lang="en-US" sz="1600" dirty="0" err="1">
                <a:latin typeface="Times New Roman" panose="02020603050405020304" pitchFamily="18" charset="0"/>
                <a:cs typeface="Times New Roman" panose="02020603050405020304" pitchFamily="18" charset="0"/>
              </a:rPr>
              <a:t>Coreman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Leiserson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Rivest</a:t>
            </a:r>
            <a:r>
              <a:rPr lang="en-US" sz="1600" dirty="0">
                <a:latin typeface="Times New Roman" panose="02020603050405020304" pitchFamily="18" charset="0"/>
                <a:cs typeface="Times New Roman" panose="02020603050405020304" pitchFamily="18" charset="0"/>
              </a:rPr>
              <a:t>, Stein.</a:t>
            </a:r>
          </a:p>
          <a:p>
            <a:pPr marL="457200" indent="-457200" algn="just">
              <a:buAutoNum type="arabicPeriod"/>
            </a:pPr>
            <a:r>
              <a:rPr lang="en-US" sz="1600" dirty="0">
                <a:latin typeface="Times New Roman" panose="02020603050405020304" pitchFamily="18" charset="0"/>
                <a:cs typeface="Times New Roman" panose="02020603050405020304" pitchFamily="18" charset="0"/>
              </a:rPr>
              <a:t>Fundamentals of Algorithms by Ellis Horwitz, Sartaj </a:t>
            </a:r>
            <a:r>
              <a:rPr lang="en-US" sz="1600" dirty="0" err="1">
                <a:latin typeface="Times New Roman" panose="02020603050405020304" pitchFamily="18" charset="0"/>
                <a:cs typeface="Times New Roman" panose="02020603050405020304" pitchFamily="18" charset="0"/>
              </a:rPr>
              <a:t>Sahni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Sanguthevar</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Rajasekaran</a:t>
            </a:r>
            <a:endParaRPr lang="en-US" sz="1600" dirty="0">
              <a:latin typeface="Times New Roman" panose="02020603050405020304" pitchFamily="18" charset="0"/>
              <a:cs typeface="Times New Roman" panose="02020603050405020304" pitchFamily="18" charset="0"/>
            </a:endParaRPr>
          </a:p>
          <a:p>
            <a:pPr marL="457200" indent="-457200" algn="just">
              <a:buAutoNum type="arabicPeriod"/>
            </a:pPr>
            <a:r>
              <a:rPr lang="en-US" sz="1600" dirty="0">
                <a:latin typeface="Times New Roman" panose="02020603050405020304" pitchFamily="18" charset="0"/>
                <a:cs typeface="Times New Roman" panose="02020603050405020304" pitchFamily="18" charset="0"/>
              </a:rPr>
              <a:t>https://www.youtube.com/watch?v=052VkKhIaQ4</a:t>
            </a:r>
          </a:p>
          <a:p>
            <a:pPr marL="0" indent="0">
              <a:buNone/>
            </a:pP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76</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Light" panose="020F0302020204030204"/>
              </a:rPr>
              <a:t> </a:t>
            </a:r>
          </a:p>
        </p:txBody>
      </p:sp>
      <p:sp>
        <p:nvSpPr>
          <p:cNvPr id="9" name="Title 1"/>
          <p:cNvSpPr txBox="1"/>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1" fmla="*/ 0 w 3225800"/>
              <a:gd name="connsiteY0-2" fmla="*/ 1612900 h 3225800"/>
              <a:gd name="connsiteX1-3" fmla="*/ 1612900 w 3225800"/>
              <a:gd name="connsiteY1-4" fmla="*/ 0 h 3225800"/>
              <a:gd name="connsiteX2-5" fmla="*/ 2430463 w 3225800"/>
              <a:gd name="connsiteY2-6" fmla="*/ 817563 h 3225800"/>
              <a:gd name="connsiteX3-7" fmla="*/ 3225800 w 3225800"/>
              <a:gd name="connsiteY3-8" fmla="*/ 1612900 h 3225800"/>
              <a:gd name="connsiteX4-9" fmla="*/ 1612900 w 3225800"/>
              <a:gd name="connsiteY4-10" fmla="*/ 3225800 h 3225800"/>
              <a:gd name="connsiteX5" fmla="*/ 0 w 3225800"/>
              <a:gd name="connsiteY5" fmla="*/ 1612900 h 3225800"/>
              <a:gd name="connsiteX0-11" fmla="*/ 0 w 3225800"/>
              <a:gd name="connsiteY0-12" fmla="*/ 1612900 h 3225800"/>
              <a:gd name="connsiteX1-13" fmla="*/ 1612900 w 3225800"/>
              <a:gd name="connsiteY1-14" fmla="*/ 0 h 3225800"/>
              <a:gd name="connsiteX2-15" fmla="*/ 2430463 w 3225800"/>
              <a:gd name="connsiteY2-16" fmla="*/ 817563 h 3225800"/>
              <a:gd name="connsiteX3-17" fmla="*/ 3225800 w 3225800"/>
              <a:gd name="connsiteY3-18" fmla="*/ 1612900 h 3225800"/>
              <a:gd name="connsiteX4-19" fmla="*/ 2430463 w 3225800"/>
              <a:gd name="connsiteY4-20" fmla="*/ 2413000 h 3225800"/>
              <a:gd name="connsiteX5-21" fmla="*/ 1612900 w 3225800"/>
              <a:gd name="connsiteY5-22" fmla="*/ 3225800 h 3225800"/>
              <a:gd name="connsiteX6" fmla="*/ 0 w 3225800"/>
              <a:gd name="connsiteY6" fmla="*/ 1612900 h 3225800"/>
              <a:gd name="connsiteX0-23" fmla="*/ 3225800 w 3317240"/>
              <a:gd name="connsiteY0-24" fmla="*/ 1612900 h 3225800"/>
              <a:gd name="connsiteX1-25" fmla="*/ 2430463 w 3317240"/>
              <a:gd name="connsiteY1-26" fmla="*/ 2413000 h 3225800"/>
              <a:gd name="connsiteX2-27" fmla="*/ 1612900 w 3317240"/>
              <a:gd name="connsiteY2-28" fmla="*/ 3225800 h 3225800"/>
              <a:gd name="connsiteX3-29" fmla="*/ 0 w 3317240"/>
              <a:gd name="connsiteY3-30" fmla="*/ 1612900 h 3225800"/>
              <a:gd name="connsiteX4-31" fmla="*/ 1612900 w 3317240"/>
              <a:gd name="connsiteY4-32" fmla="*/ 0 h 3225800"/>
              <a:gd name="connsiteX5-33" fmla="*/ 2430463 w 3317240"/>
              <a:gd name="connsiteY5-34" fmla="*/ 817563 h 3225800"/>
              <a:gd name="connsiteX6-35" fmla="*/ 3317240 w 3317240"/>
              <a:gd name="connsiteY6-36" fmla="*/ 1704340 h 3225800"/>
              <a:gd name="connsiteX0-37" fmla="*/ 2430463 w 3317240"/>
              <a:gd name="connsiteY0-38" fmla="*/ 2413000 h 3225800"/>
              <a:gd name="connsiteX1-39" fmla="*/ 1612900 w 3317240"/>
              <a:gd name="connsiteY1-40" fmla="*/ 3225800 h 3225800"/>
              <a:gd name="connsiteX2-41" fmla="*/ 0 w 3317240"/>
              <a:gd name="connsiteY2-42" fmla="*/ 1612900 h 3225800"/>
              <a:gd name="connsiteX3-43" fmla="*/ 1612900 w 3317240"/>
              <a:gd name="connsiteY3-44" fmla="*/ 0 h 3225800"/>
              <a:gd name="connsiteX4-45" fmla="*/ 2430463 w 3317240"/>
              <a:gd name="connsiteY4-46" fmla="*/ 817563 h 3225800"/>
              <a:gd name="connsiteX5-47" fmla="*/ 3317240 w 3317240"/>
              <a:gd name="connsiteY5-48" fmla="*/ 1704340 h 3225800"/>
              <a:gd name="connsiteX0-49" fmla="*/ 2430463 w 2430463"/>
              <a:gd name="connsiteY0-50" fmla="*/ 2413000 h 3225800"/>
              <a:gd name="connsiteX1-51" fmla="*/ 1612900 w 2430463"/>
              <a:gd name="connsiteY1-52" fmla="*/ 3225800 h 3225800"/>
              <a:gd name="connsiteX2-53" fmla="*/ 0 w 2430463"/>
              <a:gd name="connsiteY2-54" fmla="*/ 1612900 h 3225800"/>
              <a:gd name="connsiteX3-55" fmla="*/ 1612900 w 2430463"/>
              <a:gd name="connsiteY3-56" fmla="*/ 0 h 3225800"/>
              <a:gd name="connsiteX4-57" fmla="*/ 2430463 w 2430463"/>
              <a:gd name="connsiteY4-58" fmla="*/ 817563 h 32258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Light" panose="020F0302020204030204"/>
            </a:endParaRPr>
          </a:p>
        </p:txBody>
      </p:sp>
      <p:sp>
        <p:nvSpPr>
          <p:cNvPr id="23" name="Diamond 6"/>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1" fmla="*/ 0 w 3225800"/>
              <a:gd name="connsiteY0-2" fmla="*/ 1612900 h 3225800"/>
              <a:gd name="connsiteX1-3" fmla="*/ 1612900 w 3225800"/>
              <a:gd name="connsiteY1-4" fmla="*/ 0 h 3225800"/>
              <a:gd name="connsiteX2-5" fmla="*/ 2430463 w 3225800"/>
              <a:gd name="connsiteY2-6" fmla="*/ 817563 h 3225800"/>
              <a:gd name="connsiteX3-7" fmla="*/ 3225800 w 3225800"/>
              <a:gd name="connsiteY3-8" fmla="*/ 1612900 h 3225800"/>
              <a:gd name="connsiteX4-9" fmla="*/ 1612900 w 3225800"/>
              <a:gd name="connsiteY4-10" fmla="*/ 3225800 h 3225800"/>
              <a:gd name="connsiteX5" fmla="*/ 0 w 3225800"/>
              <a:gd name="connsiteY5" fmla="*/ 1612900 h 3225800"/>
              <a:gd name="connsiteX0-11" fmla="*/ 0 w 3225800"/>
              <a:gd name="connsiteY0-12" fmla="*/ 1612900 h 3225800"/>
              <a:gd name="connsiteX1-13" fmla="*/ 1612900 w 3225800"/>
              <a:gd name="connsiteY1-14" fmla="*/ 0 h 3225800"/>
              <a:gd name="connsiteX2-15" fmla="*/ 2430463 w 3225800"/>
              <a:gd name="connsiteY2-16" fmla="*/ 817563 h 3225800"/>
              <a:gd name="connsiteX3-17" fmla="*/ 3225800 w 3225800"/>
              <a:gd name="connsiteY3-18" fmla="*/ 1612900 h 3225800"/>
              <a:gd name="connsiteX4-19" fmla="*/ 2430463 w 3225800"/>
              <a:gd name="connsiteY4-20" fmla="*/ 2413000 h 3225800"/>
              <a:gd name="connsiteX5-21" fmla="*/ 1612900 w 3225800"/>
              <a:gd name="connsiteY5-22" fmla="*/ 3225800 h 3225800"/>
              <a:gd name="connsiteX6" fmla="*/ 0 w 3225800"/>
              <a:gd name="connsiteY6" fmla="*/ 1612900 h 3225800"/>
              <a:gd name="connsiteX0-23" fmla="*/ 3225800 w 3317240"/>
              <a:gd name="connsiteY0-24" fmla="*/ 1612900 h 3225800"/>
              <a:gd name="connsiteX1-25" fmla="*/ 2430463 w 3317240"/>
              <a:gd name="connsiteY1-26" fmla="*/ 2413000 h 3225800"/>
              <a:gd name="connsiteX2-27" fmla="*/ 1612900 w 3317240"/>
              <a:gd name="connsiteY2-28" fmla="*/ 3225800 h 3225800"/>
              <a:gd name="connsiteX3-29" fmla="*/ 0 w 3317240"/>
              <a:gd name="connsiteY3-30" fmla="*/ 1612900 h 3225800"/>
              <a:gd name="connsiteX4-31" fmla="*/ 1612900 w 3317240"/>
              <a:gd name="connsiteY4-32" fmla="*/ 0 h 3225800"/>
              <a:gd name="connsiteX5-33" fmla="*/ 2430463 w 3317240"/>
              <a:gd name="connsiteY5-34" fmla="*/ 817563 h 3225800"/>
              <a:gd name="connsiteX6-35" fmla="*/ 3317240 w 3317240"/>
              <a:gd name="connsiteY6-36" fmla="*/ 1704340 h 3225800"/>
              <a:gd name="connsiteX0-37" fmla="*/ 2430463 w 3317240"/>
              <a:gd name="connsiteY0-38" fmla="*/ 2413000 h 3225800"/>
              <a:gd name="connsiteX1-39" fmla="*/ 1612900 w 3317240"/>
              <a:gd name="connsiteY1-40" fmla="*/ 3225800 h 3225800"/>
              <a:gd name="connsiteX2-41" fmla="*/ 0 w 3317240"/>
              <a:gd name="connsiteY2-42" fmla="*/ 1612900 h 3225800"/>
              <a:gd name="connsiteX3-43" fmla="*/ 1612900 w 3317240"/>
              <a:gd name="connsiteY3-44" fmla="*/ 0 h 3225800"/>
              <a:gd name="connsiteX4-45" fmla="*/ 2430463 w 3317240"/>
              <a:gd name="connsiteY4-46" fmla="*/ 817563 h 3225800"/>
              <a:gd name="connsiteX5-47" fmla="*/ 3317240 w 3317240"/>
              <a:gd name="connsiteY5-48" fmla="*/ 1704340 h 3225800"/>
              <a:gd name="connsiteX0-49" fmla="*/ 2430463 w 2430463"/>
              <a:gd name="connsiteY0-50" fmla="*/ 2413000 h 3225800"/>
              <a:gd name="connsiteX1-51" fmla="*/ 1612900 w 2430463"/>
              <a:gd name="connsiteY1-52" fmla="*/ 3225800 h 3225800"/>
              <a:gd name="connsiteX2-53" fmla="*/ 0 w 2430463"/>
              <a:gd name="connsiteY2-54" fmla="*/ 1612900 h 3225800"/>
              <a:gd name="connsiteX3-55" fmla="*/ 1612900 w 2430463"/>
              <a:gd name="connsiteY3-56" fmla="*/ 0 h 3225800"/>
              <a:gd name="connsiteX4-57" fmla="*/ 2430463 w 2430463"/>
              <a:gd name="connsiteY4-58" fmla="*/ 817563 h 32258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Light" panose="020F0302020204030204"/>
            </a:endParaRPr>
          </a:p>
        </p:txBody>
      </p:sp>
      <p:pic>
        <p:nvPicPr>
          <p:cNvPr id="9409" name="Picture 19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700" y="571500"/>
            <a:ext cx="3429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FC9A48AB-23F1-45F1-98E5-D2CDC7A5261D}" type="slidenum">
              <a:rPr lang="en-US" smtClean="0">
                <a:solidFill>
                  <a:prstClr val="black">
                    <a:tint val="75000"/>
                  </a:prstClr>
                </a:solidFill>
              </a:rPr>
              <a:t>77</a:t>
            </a:fld>
            <a:endParaRPr lang="en-US">
              <a:solidFill>
                <a:prstClr val="black">
                  <a:tint val="75000"/>
                </a:prstClr>
              </a:solidFill>
            </a:endParaRPr>
          </a:p>
        </p:txBody>
      </p:sp>
      <p:sp>
        <p:nvSpPr>
          <p:cNvPr id="16" name="TextBox 15"/>
          <p:cNvSpPr txBox="1"/>
          <p:nvPr/>
        </p:nvSpPr>
        <p:spPr>
          <a:xfrm>
            <a:off x="3306619" y="5490886"/>
            <a:ext cx="3234858" cy="584775"/>
          </a:xfrm>
          <a:prstGeom prst="rect">
            <a:avLst/>
          </a:prstGeom>
          <a:noFill/>
          <a:ln>
            <a:solidFill>
              <a:schemeClr val="tx1"/>
            </a:solidFill>
          </a:ln>
        </p:spPr>
        <p:txBody>
          <a:bodyPr wrap="square" rtlCol="0">
            <a:spAutoFit/>
          </a:bodyPr>
          <a:lstStyle/>
          <a:p>
            <a:r>
              <a:rPr lang="en-IN" sz="1600" b="1" dirty="0">
                <a:latin typeface="Times New Roman" panose="02020603050405020304" pitchFamily="18" charset="0"/>
                <a:cs typeface="Times New Roman" panose="02020603050405020304" pitchFamily="18" charset="0"/>
              </a:rPr>
              <a:t>For any Queries-</a:t>
            </a:r>
          </a:p>
          <a:p>
            <a:r>
              <a:rPr lang="en-IN" sz="1600" b="1" dirty="0">
                <a:latin typeface="Times New Roman" panose="02020603050405020304" pitchFamily="18" charset="0"/>
                <a:cs typeface="Times New Roman" panose="02020603050405020304" pitchFamily="18" charset="0"/>
              </a:rPr>
              <a:t>E-Mail: </a:t>
            </a:r>
            <a:r>
              <a:rPr lang="en-IN" sz="1600" dirty="0">
                <a:latin typeface="Times New Roman" panose="02020603050405020304" pitchFamily="18" charset="0"/>
                <a:cs typeface="Times New Roman" panose="02020603050405020304" pitchFamily="18" charset="0"/>
              </a:rPr>
              <a:t>gurpreetkaur.uic@cumail.in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8745</TotalTime>
  <Words>8682</Words>
  <Application>Microsoft Office PowerPoint</Application>
  <PresentationFormat>Widescreen</PresentationFormat>
  <Paragraphs>860</Paragraphs>
  <Slides>77</Slides>
  <Notes>4</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2</vt:i4>
      </vt:variant>
      <vt:variant>
        <vt:lpstr>Slide Titles</vt:lpstr>
      </vt:variant>
      <vt:variant>
        <vt:i4>77</vt:i4>
      </vt:variant>
    </vt:vector>
  </HeadingPairs>
  <TitlesOfParts>
    <vt:vector size="91" baseType="lpstr">
      <vt:lpstr>SimSun</vt:lpstr>
      <vt:lpstr>Arial</vt:lpstr>
      <vt:lpstr>Calibri</vt:lpstr>
      <vt:lpstr>Calibri Light</vt:lpstr>
      <vt:lpstr>Casper</vt:lpstr>
      <vt:lpstr>inter-regular</vt:lpstr>
      <vt:lpstr>Raleway ExtraBold</vt:lpstr>
      <vt:lpstr>Times New Roman</vt:lpstr>
      <vt:lpstr>Wingdings</vt:lpstr>
      <vt:lpstr>Wingdings 2</vt:lpstr>
      <vt:lpstr>Office Theme</vt:lpstr>
      <vt:lpstr>1_Office Theme</vt:lpstr>
      <vt:lpstr>VISIO</vt:lpstr>
      <vt:lpstr>Visio</vt:lpstr>
      <vt:lpstr>PowerPoint Presentation</vt:lpstr>
      <vt:lpstr>PowerPoint Presentation</vt:lpstr>
      <vt:lpstr>Dynamic Programming</vt:lpstr>
      <vt:lpstr>Dynamic Programming VS. Other Approaches</vt:lpstr>
      <vt:lpstr>Dynamic Programming</vt:lpstr>
      <vt:lpstr>Steps in Dynamic Programming</vt:lpstr>
      <vt:lpstr>Multi-Stage Graph</vt:lpstr>
      <vt:lpstr>Multistage Graphs</vt:lpstr>
      <vt:lpstr>Shortest Paths in Multi stage Graph</vt:lpstr>
      <vt:lpstr>Dynamic Programming (Forward Approach)</vt:lpstr>
      <vt:lpstr>Dynamic Programming (Forward Approach) Contd…</vt:lpstr>
      <vt:lpstr>Dynamic Programming (Forward Approach) Contd…</vt:lpstr>
      <vt:lpstr>Dynamic Programming (Forward Approach) Contd…</vt:lpstr>
      <vt:lpstr> Multistage Graph </vt:lpstr>
      <vt:lpstr> Multistage Graph </vt:lpstr>
      <vt:lpstr>Transitive Closure</vt:lpstr>
      <vt:lpstr>Warshall’s Algorithm</vt:lpstr>
      <vt:lpstr>Warshall’s Algorithm</vt:lpstr>
      <vt:lpstr>Warshall’s Algorithm</vt:lpstr>
      <vt:lpstr>Warshall’s Algorithm</vt:lpstr>
      <vt:lpstr>Warshall’s Algorithm</vt:lpstr>
      <vt:lpstr>Warshall’s Algorithm</vt:lpstr>
      <vt:lpstr>Warshall’s Algorithm</vt:lpstr>
      <vt:lpstr>Warshall’s Algorithm</vt:lpstr>
      <vt:lpstr>PowerPoint Presentation</vt:lpstr>
      <vt:lpstr>Algorithms used to solve the All-Pairs Shortest Paths problem</vt:lpstr>
      <vt:lpstr>Floyd’s Algorithm:  All Pair Shortest Paths</vt:lpstr>
      <vt:lpstr>Floyd’s Warshall Algorithm:  All Pair Shortest Paths</vt:lpstr>
      <vt:lpstr> Floyd’s Warshall Algorithm:  </vt:lpstr>
      <vt:lpstr> Floyd’s Warshall Algorithm:  </vt:lpstr>
      <vt:lpstr> Floyd’s Warshall Algorithm:  </vt:lpstr>
      <vt:lpstr> Floyd’s Warshall Algorithm:  </vt:lpstr>
      <vt:lpstr> Floyd’s Warshall Algorithm:  </vt:lpstr>
      <vt:lpstr> Floyd’s Warshall Algorithm:  </vt:lpstr>
      <vt:lpstr> Floyd’s Warshall Algorithm:  </vt:lpstr>
      <vt:lpstr> Optimal Binary Search Trees   </vt:lpstr>
      <vt:lpstr> Optimal Binary Search Trees   </vt:lpstr>
      <vt:lpstr> Optimal Binary Search Trees   </vt:lpstr>
      <vt:lpstr> Optimal Binary Search Trees   </vt:lpstr>
      <vt:lpstr> Optimal Binary Search Trees   </vt:lpstr>
      <vt:lpstr> Optimal Binary Search Trees   </vt:lpstr>
      <vt:lpstr> Optimal Binary Search Trees   </vt:lpstr>
      <vt:lpstr> Optimal Binary Search Trees   </vt:lpstr>
      <vt:lpstr> Optimal Binary Search Trees   </vt:lpstr>
      <vt:lpstr> Optimal Binary Search Trees   </vt:lpstr>
      <vt:lpstr> Optimal Binary Search Trees   </vt:lpstr>
      <vt:lpstr>0-1 Knapsack Problem</vt:lpstr>
      <vt:lpstr>0-1 Knapsack Problem Contd…</vt:lpstr>
      <vt:lpstr>Recurrence relation for the 0/1 Knapsack Problem</vt:lpstr>
      <vt:lpstr>0-1 Knapsack Problem Contd…</vt:lpstr>
      <vt:lpstr>0-1 Knapsack Problem Contd…</vt:lpstr>
      <vt:lpstr>PowerPoint Presentation</vt:lpstr>
      <vt:lpstr>0-1 Knapsack Problem Contd…</vt:lpstr>
      <vt:lpstr>0-1 Knapsack Problem Contd…</vt:lpstr>
      <vt:lpstr>0-1 Knapsack Problem Contd…</vt:lpstr>
      <vt:lpstr>0-1 Knapsack Problem Contd…</vt:lpstr>
      <vt:lpstr>0-1 Knapsack Problem Contd…</vt:lpstr>
      <vt:lpstr>0-1 Knapsack Problem Contd…</vt:lpstr>
      <vt:lpstr>0-1 Knapsack Problem Contd…</vt:lpstr>
      <vt:lpstr>0-1 Knapsack Problem Contd…</vt:lpstr>
      <vt:lpstr>Bellman Ford Algorithm</vt:lpstr>
      <vt:lpstr>Bellman Ford Algorithm</vt:lpstr>
      <vt:lpstr>Bellman Ford Algorithm</vt:lpstr>
      <vt:lpstr>Bellman Ford Algorithm</vt:lpstr>
      <vt:lpstr>Bellman Ford Algorithm</vt:lpstr>
      <vt:lpstr>Bellman Ford Algorithm</vt:lpstr>
      <vt:lpstr>Bellman Ford Algorithm</vt:lpstr>
      <vt:lpstr>Bellman Ford Algorithm</vt:lpstr>
      <vt:lpstr>Bellman Ford Algorithm</vt:lpstr>
      <vt:lpstr>Bellman Ford Algorithm</vt:lpstr>
      <vt:lpstr>Bellman Ford Algorithm</vt:lpstr>
      <vt:lpstr>Bellman Ford Algorithm</vt:lpstr>
      <vt:lpstr>Bellman Ford Algorithm</vt:lpstr>
      <vt:lpstr>PowerPoint Presentation</vt:lpstr>
      <vt:lpstr>PowerPoint Presentation</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Uttama Garg</dc:creator>
  <cp:lastModifiedBy>Paramjeet Singh</cp:lastModifiedBy>
  <cp:revision>561</cp:revision>
  <dcterms:created xsi:type="dcterms:W3CDTF">2020-06-19T07:16:00Z</dcterms:created>
  <dcterms:modified xsi:type="dcterms:W3CDTF">2025-10-16T08:23:13Z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88A49F08DE004230BCA3F2E869AD0818</vt:lpwstr>
  </property>
  <property fmtid="{D5CDD505-2E9C-101B-9397-08002B2CF9AE}" pid="3" name="KSOProductBuildVer">
    <vt:lpwstr>1033-11.2.0.11537</vt:lpwstr>
  </property>
</Properties>
</file>