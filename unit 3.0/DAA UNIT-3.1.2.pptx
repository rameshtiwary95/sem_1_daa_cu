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68"/>
  </p:notesMasterIdLst>
  <p:sldIdLst>
    <p:sldId id="414" r:id="rId3"/>
    <p:sldId id="300" r:id="rId4"/>
    <p:sldId id="301" r:id="rId5"/>
    <p:sldId id="302" r:id="rId6"/>
    <p:sldId id="416" r:id="rId7"/>
    <p:sldId id="417" r:id="rId8"/>
    <p:sldId id="419" r:id="rId9"/>
    <p:sldId id="415" r:id="rId10"/>
    <p:sldId id="420" r:id="rId11"/>
    <p:sldId id="303" r:id="rId12"/>
    <p:sldId id="389" r:id="rId13"/>
    <p:sldId id="422" r:id="rId14"/>
    <p:sldId id="513" r:id="rId15"/>
    <p:sldId id="514" r:id="rId16"/>
    <p:sldId id="515" r:id="rId17"/>
    <p:sldId id="423" r:id="rId18"/>
    <p:sldId id="424" r:id="rId19"/>
    <p:sldId id="426" r:id="rId20"/>
    <p:sldId id="421" r:id="rId21"/>
    <p:sldId id="508" r:id="rId22"/>
    <p:sldId id="512" r:id="rId23"/>
    <p:sldId id="465" r:id="rId24"/>
    <p:sldId id="307" r:id="rId25"/>
    <p:sldId id="308" r:id="rId26"/>
    <p:sldId id="466" r:id="rId27"/>
    <p:sldId id="467" r:id="rId28"/>
    <p:sldId id="510" r:id="rId29"/>
    <p:sldId id="469" r:id="rId30"/>
    <p:sldId id="470" r:id="rId31"/>
    <p:sldId id="471" r:id="rId32"/>
    <p:sldId id="468" r:id="rId33"/>
    <p:sldId id="509" r:id="rId34"/>
    <p:sldId id="516" r:id="rId35"/>
    <p:sldId id="517" r:id="rId36"/>
    <p:sldId id="518" r:id="rId37"/>
    <p:sldId id="519" r:id="rId38"/>
    <p:sldId id="520" r:id="rId39"/>
    <p:sldId id="309" r:id="rId40"/>
    <p:sldId id="472" r:id="rId41"/>
    <p:sldId id="507" r:id="rId42"/>
    <p:sldId id="428" r:id="rId43"/>
    <p:sldId id="427" r:id="rId44"/>
    <p:sldId id="429" r:id="rId45"/>
    <p:sldId id="431" r:id="rId46"/>
    <p:sldId id="430" r:id="rId47"/>
    <p:sldId id="433" r:id="rId48"/>
    <p:sldId id="434" r:id="rId49"/>
    <p:sldId id="483" r:id="rId50"/>
    <p:sldId id="511" r:id="rId51"/>
    <p:sldId id="488" r:id="rId52"/>
    <p:sldId id="489" r:id="rId53"/>
    <p:sldId id="490" r:id="rId54"/>
    <p:sldId id="491" r:id="rId55"/>
    <p:sldId id="492" r:id="rId56"/>
    <p:sldId id="494" r:id="rId57"/>
    <p:sldId id="493" r:id="rId58"/>
    <p:sldId id="495" r:id="rId59"/>
    <p:sldId id="501" r:id="rId60"/>
    <p:sldId id="502" r:id="rId61"/>
    <p:sldId id="503" r:id="rId62"/>
    <p:sldId id="504" r:id="rId63"/>
    <p:sldId id="505" r:id="rId64"/>
    <p:sldId id="506" r:id="rId65"/>
    <p:sldId id="284" r:id="rId66"/>
    <p:sldId id="27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660"/>
  </p:normalViewPr>
  <p:slideViewPr>
    <p:cSldViewPr snapToGrid="0">
      <p:cViewPr varScale="1">
        <p:scale>
          <a:sx n="65" d="100"/>
          <a:sy n="65" d="100"/>
        </p:scale>
        <p:origin x="6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9T05:03:54.84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5,'0'-1,"-1"1,1 0,0-1,0 1,-1 0,1-1,0 1,0 0,-1 0,1-1,0 1,-1 0,1 0,-1 0,1 0,0 0,-1-1,1 1,0 0,-1 0,1 0,-1 0,1 0,0 0,-1 0,1 0,-1 0,1 0,0 0,-1 1,1-1,0 0,-1 0,1 0,-1 0,1 1,0-1,0 0,-1 0,1 1,0-1,-1 0,1 0,0 1,0-1,-1 0,1 1,0-1,0 0,0 1,0-1,-1 1,1-1,0 0,0 1,-7 29,-5 77,6 186,6-191,2 1780,-2-1846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9T05:04:01.31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281 85,'5'-4,"1"0,-1 1,1-1,-1 1,1 0,0 0,0 1,0-1,1 1,-1 1,13-2,78-4,-76 7,184 2,88-4,-194-17,-73 12,0 2,30-3,12 4,106 8,-169-4,-1 1,0 0,0 0,0 0,0 1,0-1,0 1,0 0,-1 0,1 0,-1 0,1 1,-1 0,0-1,0 1,0 0,0 1,-1-1,1 0,-1 1,0-1,0 1,0 0,0 0,-1 0,1 0,-1 0,0 0,0 0,0 5,2 15,-2 1,0 0,-1-1,-5 29,2-9,4 3,2-1,14 74,-10-80,-1 0,-2 0,-3 81,-2-114,0 0,-1 0,0 0,0 0,0 0,-1 0,0 0,-1-1,1 0,-1 1,-1-1,1-1,-1 1,0-1,0 1,0-2,-1 1,0 0,-9 5,-12 4,0 0,0-2,-46 14,-19 9,-170 75,-5 2,97-35,-79 40,238-112,-26 14,36-19,0 1,-1-1,1 1,0 0,-1 0,1 0,0 0,0 0,0 0,0 0,0 0,0 0,0 0,0 0,0 1,1-1,-1 0,0 2,1-2,1-1,-1 1,1-1,-1 1,1-1,-1 0,1 1,-1-1,1 0,-1 1,1-1,0 0,-1 0,1 1,0-1,-1 0,1 0,0 0,-1 0,1 0,-1 0,1 0,0 0,-1 0,1 0,0 0,-1-1,1 1,0 0,-1 0,2-1,29-8,-27 7,150-53,42-13,-163 59,0 2,0 1,1 2,41-1,330 9,-386-4,0 1,0 0,0 2,0 0,-1 1,31 11,-41-12,0 0,0 1,0 1,-1-1,1 1,-1 1,0-1,-1 1,1 0,-1 1,-1 0,1 0,-1 0,0 0,-1 1,6 11,27 68,-4 1,24 98,-19-64,-27-93,-1 2,-1-1,-2 1,6 51,-12 210,-4-133,4-151,-1 1,0 0,0 0,-1 0,-1-1,1 1,-1 0,-1-1,0 0,0 1,0-1,-1 0,-1-1,1 1,-1-1,0 0,-1 0,0 0,0-1,0 0,-1 0,1 0,-2-1,1 0,0 0,-15 6,-105 38,89-37,2 2,-48 25,29-10,-1-2,-2-3,-71 21,35-8,75-28,0 0,-1-2,1 0,-1-1,-28 4,7-7,-1-1,1-2,0-2,-1-1,1-3,1-1,-1-2,-67-24,4 5,72 21,-51-18,2-4,46 19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3T05:47:39.061"/>
    </inkml:context>
    <inkml:brush xml:id="br0">
      <inkml:brushProperty name="width" value="0.035" units="cm"/>
      <inkml:brushProperty name="height" value="0.035" units="cm"/>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3T05:48:08.813"/>
    </inkml:context>
    <inkml:brush xml:id="br0">
      <inkml:brushProperty name="width" value="0.035" units="cm"/>
      <inkml:brushProperty name="height" value="0.035"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3T05:48:09.750"/>
    </inkml:context>
    <inkml:brush xml:id="br0">
      <inkml:brushProperty name="width" value="0.035" units="cm"/>
      <inkml:brushProperty name="height" value="0.035"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62FA2-C996-4D9D-A358-FD4E9DC4D022}" type="datetimeFigureOut">
              <a:rPr lang="en-IN" smtClean="0"/>
              <a:t>24-10-2025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D9F31-B2BE-4940-84CF-33910A1DD6E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3ED2120-49A2-400F-B8C8-26FFF09FA081}" type="datetime1">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D3DC3-77B8-45CA-BA61-8C8A4192F575}" type="datetime1">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BB8C2C-9C8A-4684-810B-E57DD48CB502}" type="datetime1">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F87085-630F-4EB1-BDDC-9BBF2734D804}" type="datetime1">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A2FE1D-21E2-4DA2-B859-5B19B62EFE4B}" type="datetime1">
              <a:rPr lang="en-IN" smtClean="0"/>
              <a:t>24-10-2025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97FC029-134F-4411-AEC2-CC1D77A78955}" type="datetime1">
              <a:rPr lang="en-IN" smtClean="0"/>
              <a:t>24-10-2025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2AB72E-0CDE-4155-BD23-DE259C1689C5}" type="datetime1">
              <a:rPr lang="en-IN" smtClean="0"/>
              <a:t>24-10-2025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F5BCB-F407-4D31-BA30-2FDD84777677}" type="datetime1">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750075-DB03-4FC1-BA6F-B0898AC7E720}" type="datetime1">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AC479AC-924C-4D57-9C64-D60E839C7E19}" type="datetime1">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A1EF2A4-9873-473A-B0D2-255A1809B208}" type="datetime1">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AFA1D54-BB41-49C1-92E7-B3BFFC19DBC1}"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24-10-2025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E6C7-9F78-4D01-A165-A27F83493D87}" type="datetime1">
              <a:rPr lang="en-IN" smtClean="0">
                <a:solidFill>
                  <a:prstClr val="black">
                    <a:tint val="75000"/>
                  </a:prstClr>
                </a:solidFill>
              </a:rPr>
              <a:t>24-10-2025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CCA92-FD60-4EE4-A613-BD692BB445EA}" type="datetime1">
              <a:rPr lang="en-IN" smtClean="0"/>
              <a:t>24-10-2025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BCCF61-4844-40CD-B14C-46E1ADFBF427}" type="datetime1">
              <a:rPr lang="en-IN" smtClean="0"/>
              <a:t>24-10-2025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FAA0B-0E94-4505-91B2-2EA39BC64FBA}" type="datetime1">
              <a:rPr lang="en-IN" smtClean="0"/>
              <a:t>24-10-2025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BE2B3B-D391-4522-B615-B96DD6ED6AB2}" type="datetime1">
              <a:rPr lang="en-IN" smtClean="0"/>
              <a:t>24-10-2025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6FF987-B3D0-4D22-9D84-BD63FFF843AA}" type="datetime1">
              <a:rPr lang="en-IN" smtClean="0"/>
              <a:t>24-10-2025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80F2EB-C3ED-4EA1-B540-D5BA9FD5767F}" type="datetime1">
              <a:rPr lang="en-IN" smtClean="0"/>
              <a:t>24-10-2025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04E8E-540B-47B6-8CCB-528EED7ED2B9}" type="datetime1">
              <a:rPr lang="en-IN" smtClean="0"/>
              <a:t>24-10-2025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BCBD77-7E25-4696-BA34-7A7D5D7C2164}" type="datetime1">
              <a:rPr lang="en-IN" smtClean="0"/>
              <a:t>24-10-2025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18EFA-9003-4777-A85A-B31FFE54E871}" type="datetime1">
              <a:rPr lang="en-IN" smtClean="0"/>
              <a:t>24-10-2025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BFDF51-648B-48B1-B8E5-9146DB38CC53}" type="datetime1">
              <a:rPr lang="en-IN" smtClean="0"/>
              <a:t>24-10-2025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38EAF-824F-4917-A7C4-BF0BAA77286A}" type="datetime1">
              <a:rPr lang="en-IN" smtClean="0"/>
              <a:t>24-10-2025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645832-1DB9-4726-860E-23D8A6329669}" type="datetime1">
              <a:rPr lang="en-IN" smtClean="0">
                <a:solidFill>
                  <a:prstClr val="black">
                    <a:tint val="75000"/>
                  </a:prstClr>
                </a:solidFill>
              </a:rPr>
              <a:t>24-10-2025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FAAAC2D-4EAC-4510-9F6F-1F65A171AFA9}"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24-10-2025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2090696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942873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28054452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10843633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2306573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26485966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40710792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10/24/2025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306288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image" Target="../media/image1.png"/><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E94C2-2163-46C2-B187-1EAD54B77E39}" type="datetime1">
              <a:rPr lang="en-IN" smtClean="0"/>
              <a:t>24-10-2025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EA4B-34B4-4AC2-B43A-8ADFF4CF648D}" type="slidenum">
              <a:rPr lang="en-IN" smtClean="0"/>
              <a:t>‹#›</a:t>
            </a:fld>
            <a:endParaRPr lang="en-IN"/>
          </a:p>
        </p:txBody>
      </p:sp>
      <p:sp>
        <p:nvSpPr>
          <p:cNvPr id="7" name="Rectangle 6"/>
          <p:cNvSpPr/>
          <p:nvPr userDrawn="1"/>
        </p:nvSpPr>
        <p:spPr>
          <a:xfrm>
            <a:off x="11029361" y="6356350"/>
            <a:ext cx="324439"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1F4AA-F870-4686-BD45-8368FDA01582}" type="datetime1">
              <a:rPr lang="en-IN" smtClean="0"/>
              <a:t>24-10-2025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
        <p:nvSpPr>
          <p:cNvPr id="7" name="Rectangle 6"/>
          <p:cNvSpPr/>
          <p:nvPr userDrawn="1"/>
        </p:nvSpPr>
        <p:spPr>
          <a:xfrm>
            <a:off x="11076495" y="6356350"/>
            <a:ext cx="277305"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6.png"/><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customXml" Target="../ink/ink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customXml" Target="../ink/ink3.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customXml" Target="../ink/ink5.xml"/><Relationship Id="rId4" Type="http://schemas.openxmlformats.org/officeDocument/2006/relationships/customXml" Target="../ink/ink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UNIT-3</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38250" y="1640959"/>
            <a:ext cx="9715499"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anose="02020603050405020304" pitchFamily="18" charset="0"/>
                <a:ea typeface="Karla" pitchFamily="2" charset="0"/>
                <a:cs typeface="Times New Roman" panose="02020603050405020304" pitchFamily="18" charset="0"/>
              </a:rPr>
              <a:t>UNIVERSITY INSTITUTE OF COMPUTING</a:t>
            </a:r>
          </a:p>
          <a:p>
            <a:pPr lvl="0" algn="ctr" defTabSz="622300">
              <a:lnSpc>
                <a:spcPct val="90000"/>
              </a:lnSpc>
              <a:spcBef>
                <a:spcPct val="0"/>
              </a:spcBef>
              <a:spcAft>
                <a:spcPct val="350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MASTER OF COMPUTER APPLICATIONS</a:t>
            </a:r>
          </a:p>
          <a:p>
            <a:pPr lvl="0" algn="ctr" defTabSz="622300">
              <a:lnSpc>
                <a:spcPct val="90000"/>
              </a:lnSpc>
              <a:spcBef>
                <a:spcPct val="0"/>
              </a:spcBef>
              <a:spcAft>
                <a:spcPct val="35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DESIGN AND ANALYSIS OF ALGORITHMS </a:t>
            </a:r>
          </a:p>
          <a:p>
            <a:pPr lvl="0" algn="ctr" defTabSz="622300">
              <a:lnSpc>
                <a:spcPct val="90000"/>
              </a:lnSpc>
              <a:spcBef>
                <a:spcPct val="0"/>
              </a:spcBef>
              <a:spcAft>
                <a:spcPct val="35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C60DEA4B-34B4-4AC2-B43A-8ADFF4CF648D}" type="slidenum">
              <a:rPr lang="en-IN" smtClean="0"/>
              <a:t>1</a:t>
            </a:fld>
            <a:endParaRPr lang="en-IN"/>
          </a:p>
        </p:txBody>
      </p:sp>
      <p:pic>
        <p:nvPicPr>
          <p:cNvPr id="14" name="Picture 13"/>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478" y="-311"/>
            <a:ext cx="3859753" cy="1538254"/>
          </a:xfrm>
          <a:prstGeom prst="rect">
            <a:avLst/>
          </a:prstGeom>
        </p:spPr>
      </p:pic>
      <p:pic>
        <p:nvPicPr>
          <p:cNvPr id="1141" name="Picture 11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50800" y="2781300"/>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242"/>
            <a:ext cx="8743122" cy="94106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Backtracking</a:t>
            </a:r>
            <a:endParaRPr lang="en-US" dirty="0"/>
          </a:p>
        </p:txBody>
      </p:sp>
      <p:sp>
        <p:nvSpPr>
          <p:cNvPr id="3" name="Content Placeholder 2"/>
          <p:cNvSpPr>
            <a:spLocks noGrp="1"/>
          </p:cNvSpPr>
          <p:nvPr>
            <p:ph idx="1"/>
          </p:nvPr>
        </p:nvSpPr>
        <p:spPr>
          <a:xfrm>
            <a:off x="838200" y="1247037"/>
            <a:ext cx="10515600" cy="4929926"/>
          </a:xfrm>
        </p:spPr>
        <p:txBody>
          <a:bodyPr>
            <a:normAutofit/>
          </a:bodyPr>
          <a:lstStyle/>
          <a:p>
            <a:pPr algn="just">
              <a:defRPr/>
            </a:pPr>
            <a:r>
              <a:rPr lang="en-US" sz="2400" dirty="0">
                <a:latin typeface="Times New Roman" panose="02020603050405020304" pitchFamily="18" charset="0"/>
                <a:cs typeface="Times New Roman" panose="02020603050405020304" pitchFamily="18" charset="0"/>
              </a:rPr>
              <a:t>Backtracking is a technique used to solve problems with a large search space, by systematically trying and eliminating possibilities.</a:t>
            </a:r>
          </a:p>
          <a:p>
            <a:pPr algn="just">
              <a:defRPr/>
            </a:pPr>
            <a:r>
              <a:rPr lang="en-US" sz="2400" dirty="0">
                <a:latin typeface="Times New Roman" panose="02020603050405020304" pitchFamily="18" charset="0"/>
                <a:cs typeface="Times New Roman" panose="02020603050405020304" pitchFamily="18" charset="0"/>
              </a:rPr>
              <a:t>A standard example of backtracking would be going through a maze. </a:t>
            </a:r>
          </a:p>
          <a:p>
            <a:pPr algn="just">
              <a:defRPr/>
            </a:pPr>
            <a:r>
              <a:rPr lang="en-US" sz="2400" dirty="0">
                <a:latin typeface="Times New Roman" panose="02020603050405020304" pitchFamily="18" charset="0"/>
                <a:cs typeface="Times New Roman" panose="02020603050405020304" pitchFamily="18" charset="0"/>
              </a:rPr>
              <a:t>At some point in a maze, you might have two options of which direction to go:</a:t>
            </a:r>
          </a:p>
          <a:p>
            <a:endParaRPr lang="en-US" sz="1800" dirty="0"/>
          </a:p>
        </p:txBody>
      </p:sp>
      <p:sp>
        <p:nvSpPr>
          <p:cNvPr id="4" name="Slide Number Placeholder 3"/>
          <p:cNvSpPr>
            <a:spLocks noGrp="1"/>
          </p:cNvSpPr>
          <p:nvPr>
            <p:ph type="sldNum" sz="quarter" idx="12"/>
          </p:nvPr>
        </p:nvSpPr>
        <p:spPr/>
        <p:txBody>
          <a:bodyPr/>
          <a:lstStyle/>
          <a:p>
            <a:fld id="{BDCDBBEF-AA6C-4BA6-85B2-A17D7F280E38}" type="slidenum">
              <a:rPr lang="en-US" smtClean="0"/>
              <a:t>2</a:t>
            </a:fld>
            <a:endParaRPr lang="en-US"/>
          </a:p>
        </p:txBody>
      </p:sp>
      <p:pic>
        <p:nvPicPr>
          <p:cNvPr id="5" name="Picture 4" descr="maze1.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15773" y="3652691"/>
            <a:ext cx="4914900" cy="2207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p:cNvSpPr txBox="1">
            <a:spLocks noChangeArrowheads="1"/>
          </p:cNvSpPr>
          <p:nvPr/>
        </p:nvSpPr>
        <p:spPr bwMode="auto">
          <a:xfrm>
            <a:off x="4324349" y="4299054"/>
            <a:ext cx="1329338" cy="400110"/>
          </a:xfrm>
          <a:prstGeom prst="rect">
            <a:avLst/>
          </a:prstGeom>
          <a:solidFill>
            <a:schemeClr val="bg1">
              <a:alpha val="76077"/>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sz="2000" b="1" i="1" dirty="0">
                <a:solidFill>
                  <a:srgbClr val="0070C0"/>
                </a:solidFill>
              </a:rPr>
              <a:t>Portion A</a:t>
            </a:r>
          </a:p>
        </p:txBody>
      </p:sp>
      <p:sp>
        <p:nvSpPr>
          <p:cNvPr id="8" name="TextBox 6"/>
          <p:cNvSpPr txBox="1">
            <a:spLocks noChangeArrowheads="1"/>
          </p:cNvSpPr>
          <p:nvPr/>
        </p:nvSpPr>
        <p:spPr bwMode="auto">
          <a:xfrm rot="16200000">
            <a:off x="3883235" y="5278002"/>
            <a:ext cx="1455848" cy="430887"/>
          </a:xfrm>
          <a:prstGeom prst="rect">
            <a:avLst/>
          </a:prstGeom>
          <a:solidFill>
            <a:schemeClr val="bg1">
              <a:alpha val="7294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sz="2200" b="1" i="1" dirty="0">
                <a:solidFill>
                  <a:srgbClr val="7030A0"/>
                </a:solidFill>
              </a:rPr>
              <a:t>Portion B</a:t>
            </a:r>
          </a:p>
        </p:txBody>
      </p:sp>
      <p:sp>
        <p:nvSpPr>
          <p:cNvPr id="9" name="TextBox 4"/>
          <p:cNvSpPr txBox="1">
            <a:spLocks noChangeArrowheads="1"/>
          </p:cNvSpPr>
          <p:nvPr/>
        </p:nvSpPr>
        <p:spPr bwMode="auto">
          <a:xfrm rot="19872600">
            <a:off x="2597056" y="4086351"/>
            <a:ext cx="14654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sz="2400" b="1" i="1" dirty="0">
                <a:solidFill>
                  <a:srgbClr val="FF0000"/>
                </a:solidFill>
              </a:rPr>
              <a:t>Junction</a:t>
            </a:r>
          </a:p>
        </p:txBody>
      </p:sp>
      <p:cxnSp>
        <p:nvCxnSpPr>
          <p:cNvPr id="10" name="Straight Arrow Connector 9"/>
          <p:cNvCxnSpPr/>
          <p:nvPr/>
        </p:nvCxnSpPr>
        <p:spPr>
          <a:xfrm rot="16200000" flipH="1">
            <a:off x="3915743" y="4247785"/>
            <a:ext cx="461962" cy="573616"/>
          </a:xfrm>
          <a:prstGeom prst="straightConnector1">
            <a:avLst/>
          </a:prstGeom>
          <a:ln w="317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18903" y="5391807"/>
            <a:ext cx="279635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3.8: </a:t>
            </a:r>
            <a:r>
              <a:rPr lang="en-US" dirty="0">
                <a:latin typeface="Times New Roman" panose="02020603050405020304" pitchFamily="18" charset="0"/>
                <a:cs typeface="Times New Roman" panose="02020603050405020304" pitchFamily="18" charset="0"/>
              </a:rPr>
              <a:t>Backtracking</a:t>
            </a:r>
          </a:p>
        </p:txBody>
      </p:sp>
      <p:sp>
        <p:nvSpPr>
          <p:cNvPr id="13" name="Rectangle 12"/>
          <p:cNvSpPr/>
          <p:nvPr/>
        </p:nvSpPr>
        <p:spPr>
          <a:xfrm>
            <a:off x="838200" y="1247037"/>
            <a:ext cx="10515600" cy="492516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1453"/>
            <a:ext cx="10515600" cy="4965510"/>
          </a:xfrm>
        </p:spPr>
        <p:txBody>
          <a:bodyPr>
            <a:normAutofit/>
          </a:bodyPr>
          <a:lstStyle/>
          <a:p>
            <a:pPr marL="368300" indent="-285750" algn="just" eaLnBrk="0" hangingPunct="0">
              <a:lnSpc>
                <a:spcPct val="100000"/>
              </a:lnSpc>
              <a:spcBef>
                <a:spcPts val="600"/>
              </a:spcBef>
              <a:buSzPct val="80000"/>
              <a:defRPr/>
            </a:pPr>
            <a:r>
              <a:rPr lang="en-US" sz="2400" dirty="0">
                <a:latin typeface="Times New Roman" panose="02020603050405020304" pitchFamily="18" charset="0"/>
                <a:cs typeface="Times New Roman" panose="02020603050405020304" pitchFamily="18" charset="0"/>
              </a:rPr>
              <a:t>One strategy would be to try going through Portion A of the maze. </a:t>
            </a:r>
          </a:p>
          <a:p>
            <a:pPr marL="368300" indent="-285750" algn="just" eaLnBrk="0" hangingPunct="0">
              <a:lnSpc>
                <a:spcPct val="100000"/>
              </a:lnSpc>
              <a:spcBef>
                <a:spcPts val="600"/>
              </a:spcBef>
              <a:buSzPct val="80000"/>
              <a:defRPr/>
            </a:pPr>
            <a:r>
              <a:rPr lang="en-US" sz="2400" dirty="0">
                <a:latin typeface="Times New Roman" panose="02020603050405020304" pitchFamily="18" charset="0"/>
                <a:cs typeface="Times New Roman" panose="02020603050405020304" pitchFamily="18" charset="0"/>
              </a:rPr>
              <a:t> If you get stuck before you find your way out, then you "backtrack" to the junction</a:t>
            </a:r>
          </a:p>
          <a:p>
            <a:pPr marL="368300" indent="-285750" algn="just" eaLnBrk="0" hangingPunct="0">
              <a:lnSpc>
                <a:spcPct val="100000"/>
              </a:lnSpc>
              <a:spcBef>
                <a:spcPts val="600"/>
              </a:spcBef>
              <a:buSzPct val="80000"/>
              <a:defRPr/>
            </a:pPr>
            <a:r>
              <a:rPr lang="en-US" sz="2400" dirty="0">
                <a:latin typeface="Times New Roman" panose="02020603050405020304" pitchFamily="18" charset="0"/>
                <a:cs typeface="Times New Roman" panose="02020603050405020304" pitchFamily="18" charset="0"/>
              </a:rPr>
              <a:t>At this point in time, you know that Portion A will NOT lead you out of the maze, so you then start searching in Portion B.</a:t>
            </a:r>
          </a:p>
          <a:p>
            <a:pPr algn="just">
              <a:lnSpc>
                <a:spcPct val="100000"/>
              </a:lnSpc>
              <a:spcBef>
                <a:spcPts val="0"/>
              </a:spcBef>
              <a:defRPr/>
            </a:pPr>
            <a:r>
              <a:rPr lang="en-US" sz="2400" dirty="0">
                <a:latin typeface="Times New Roman" panose="02020603050405020304" pitchFamily="18" charset="0"/>
                <a:cs typeface="Times New Roman" panose="02020603050405020304" pitchFamily="18" charset="0"/>
              </a:rPr>
              <a:t>  Clearly, at a single junction you could have even more than 2 choices. </a:t>
            </a:r>
          </a:p>
          <a:p>
            <a:pPr algn="just">
              <a:lnSpc>
                <a:spcPct val="100000"/>
              </a:lnSpc>
              <a:spcBef>
                <a:spcPts val="0"/>
              </a:spcBef>
              <a:defRPr/>
            </a:pPr>
            <a:r>
              <a:rPr lang="en-US" sz="2400" dirty="0">
                <a:latin typeface="Times New Roman" panose="02020603050405020304" pitchFamily="18" charset="0"/>
                <a:cs typeface="Times New Roman" panose="02020603050405020304" pitchFamily="18" charset="0"/>
              </a:rPr>
              <a:t>   The backtracking strategy says to try each choice, one after the other, if you ever get stuck, "backtrack" to the junction and try the next choice. </a:t>
            </a:r>
          </a:p>
          <a:p>
            <a:pPr algn="just">
              <a:lnSpc>
                <a:spcPct val="100000"/>
              </a:lnSpc>
              <a:spcBef>
                <a:spcPts val="0"/>
              </a:spcBef>
              <a:defRPr/>
            </a:pPr>
            <a:r>
              <a:rPr lang="en-US" sz="2400" dirty="0">
                <a:latin typeface="Times New Roman" panose="02020603050405020304" pitchFamily="18" charset="0"/>
                <a:cs typeface="Times New Roman" panose="02020603050405020304" pitchFamily="18" charset="0"/>
              </a:rPr>
              <a:t>   If you try all choices and never found a way out, then there is no solution to the maze.</a:t>
            </a:r>
          </a:p>
          <a:p>
            <a:pPr marL="82550" indent="0" algn="just" eaLnBrk="0" hangingPunct="0">
              <a:lnSpc>
                <a:spcPct val="100000"/>
              </a:lnSpc>
              <a:spcBef>
                <a:spcPts val="600"/>
              </a:spcBef>
              <a:buClr>
                <a:schemeClr val="accent1"/>
              </a:buClr>
              <a:buSzPct val="80000"/>
              <a:buNone/>
              <a:defRPr/>
            </a:pPr>
            <a:endParaRPr lang="en-US" sz="2400" dirty="0">
              <a:latin typeface="Times New Roman" panose="02020603050405020304" pitchFamily="18" charset="0"/>
              <a:cs typeface="Times New Roman" panose="02020603050405020304" pitchFamily="18" charset="0"/>
            </a:endParaRPr>
          </a:p>
          <a:p>
            <a:pPr>
              <a:lnSpc>
                <a:spcPct val="10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a:t>
            </a:fld>
            <a:endParaRPr lang="en-US"/>
          </a:p>
        </p:txBody>
      </p:sp>
      <p:sp>
        <p:nvSpPr>
          <p:cNvPr id="6" name="Rectangle 5"/>
          <p:cNvSpPr/>
          <p:nvPr/>
        </p:nvSpPr>
        <p:spPr>
          <a:xfrm>
            <a:off x="838200" y="1206690"/>
            <a:ext cx="10515600" cy="49655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p:nvPr/>
        </p:nvSpPr>
        <p:spPr>
          <a:xfrm>
            <a:off x="838200" y="86242"/>
            <a:ext cx="8743122" cy="941061"/>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pitchFamily="18" charset="0"/>
                <a:cs typeface="Times New Roman" panose="02020603050405020304" pitchFamily="18" charset="0"/>
              </a:rPr>
              <a:t>Backtracking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N Queen Problem</a:t>
            </a:r>
            <a:endParaRPr lang="en-US" dirty="0"/>
          </a:p>
        </p:txBody>
      </p:sp>
      <p:sp>
        <p:nvSpPr>
          <p:cNvPr id="3" name="Content Placeholder 2"/>
          <p:cNvSpPr>
            <a:spLocks noGrp="1"/>
          </p:cNvSpPr>
          <p:nvPr>
            <p:ph idx="1"/>
          </p:nvPr>
        </p:nvSpPr>
        <p:spPr>
          <a:xfrm>
            <a:off x="838200" y="1118509"/>
            <a:ext cx="10515600" cy="5047114"/>
          </a:xfrm>
        </p:spPr>
        <p:txBody>
          <a:bodyPr>
            <a:normAutofit/>
          </a:bodyPr>
          <a:lstStyle/>
          <a:p>
            <a:r>
              <a:rPr lang="en-US" sz="2400" dirty="0">
                <a:latin typeface="Times New Roman" panose="02020603050405020304" pitchFamily="18" charset="0"/>
                <a:cs typeface="Times New Roman" panose="02020603050405020304" pitchFamily="18" charset="0"/>
              </a:rPr>
              <a:t>N-Queen problem is based on chess games.</a:t>
            </a:r>
          </a:p>
          <a:p>
            <a:r>
              <a:rPr lang="en-US" sz="2400" dirty="0">
                <a:latin typeface="Times New Roman" panose="02020603050405020304" pitchFamily="18" charset="0"/>
                <a:cs typeface="Times New Roman" panose="02020603050405020304" pitchFamily="18" charset="0"/>
              </a:rPr>
              <a:t>The N-Queen problem states as consider a n x n chessboard on which we have to place n queens so that </a:t>
            </a:r>
            <a:r>
              <a:rPr lang="en-US" sz="2400" b="1" dirty="0">
                <a:latin typeface="Times New Roman" panose="02020603050405020304" pitchFamily="18" charset="0"/>
                <a:cs typeface="Times New Roman" panose="02020603050405020304" pitchFamily="18" charset="0"/>
              </a:rPr>
              <a:t>no two queens attack each other by being in the same row or in the same column or on the same diagonal</a:t>
            </a:r>
            <a:r>
              <a:rPr lang="en-US" sz="2400" dirty="0">
                <a:latin typeface="Times New Roman" panose="02020603050405020304" pitchFamily="18" charset="0"/>
                <a:cs typeface="Times New Roman" panose="02020603050405020304" pitchFamily="18" charset="0"/>
              </a:rPr>
              <a:t>.</a:t>
            </a:r>
          </a:p>
          <a:p>
            <a:pPr algn="just"/>
            <a:r>
              <a:rPr lang="en-US" sz="2400" b="0" i="0" dirty="0">
                <a:effectLst/>
                <a:latin typeface="Times New Roman" panose="02020603050405020304" pitchFamily="18" charset="0"/>
                <a:cs typeface="Times New Roman" panose="02020603050405020304" pitchFamily="18" charset="0"/>
              </a:rPr>
              <a:t>For n =1, the problem has a trivial solution, and no solution exists for n =2 and n =3. So first we will consider the 4 queens' problem and then generate it to n - queens problem.</a:t>
            </a:r>
          </a:p>
        </p:txBody>
      </p:sp>
      <p:sp>
        <p:nvSpPr>
          <p:cNvPr id="4" name="Slide Number Placeholder 3"/>
          <p:cNvSpPr>
            <a:spLocks noGrp="1"/>
          </p:cNvSpPr>
          <p:nvPr>
            <p:ph type="sldNum" sz="quarter" idx="12"/>
          </p:nvPr>
        </p:nvSpPr>
        <p:spPr/>
        <p:txBody>
          <a:bodyPr/>
          <a:lstStyle/>
          <a:p>
            <a:fld id="{BDCDBBEF-AA6C-4BA6-85B2-A17D7F280E38}" type="slidenum">
              <a:rPr lang="en-US" smtClean="0"/>
              <a:t>4</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6" name="Picture 6"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492" y="4161183"/>
            <a:ext cx="9104965" cy="17757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4 Queen Problem</a:t>
            </a:r>
            <a:endParaRPr lang="en-US" dirty="0"/>
          </a:p>
        </p:txBody>
      </p:sp>
      <p:sp>
        <p:nvSpPr>
          <p:cNvPr id="3" name="Content Placeholder 2"/>
          <p:cNvSpPr>
            <a:spLocks noGrp="1"/>
          </p:cNvSpPr>
          <p:nvPr>
            <p:ph idx="1"/>
          </p:nvPr>
        </p:nvSpPr>
        <p:spPr>
          <a:xfrm>
            <a:off x="838200" y="1118509"/>
            <a:ext cx="6555479" cy="5047114"/>
          </a:xfrm>
        </p:spPr>
        <p:txBody>
          <a:bodyPr>
            <a:normAutofit/>
          </a:bodyPr>
          <a:lstStyle/>
          <a:p>
            <a:pPr algn="l"/>
            <a:r>
              <a:rPr lang="en-US" sz="2400" dirty="0">
                <a:latin typeface="Times New Roman" panose="02020603050405020304" pitchFamily="18" charset="0"/>
                <a:cs typeface="Times New Roman" panose="02020603050405020304" pitchFamily="18" charset="0"/>
              </a:rPr>
              <a:t>Given a 4 x 4 chessboard and number the rows and column of the chessboard 1 through 4</a:t>
            </a: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Since, we have to place 4 queens such as q</a:t>
            </a:r>
            <a:r>
              <a:rPr lang="en-US" sz="2400" b="0" i="0" baseline="-25000" dirty="0">
                <a:effectLst/>
                <a:latin typeface="Times New Roman" panose="02020603050405020304" pitchFamily="18" charset="0"/>
                <a:cs typeface="Times New Roman" panose="02020603050405020304" pitchFamily="18" charset="0"/>
              </a:rPr>
              <a:t>1</a:t>
            </a:r>
            <a:r>
              <a:rPr lang="en-US" sz="2400" b="0" i="0" dirty="0">
                <a:effectLst/>
                <a:latin typeface="Times New Roman" panose="02020603050405020304" pitchFamily="18" charset="0"/>
                <a:cs typeface="Times New Roman" panose="02020603050405020304" pitchFamily="18" charset="0"/>
              </a:rPr>
              <a:t> q</a:t>
            </a:r>
            <a:r>
              <a:rPr lang="en-US" sz="2400" b="0" i="0" baseline="-25000" dirty="0">
                <a:effectLst/>
                <a:latin typeface="Times New Roman" panose="02020603050405020304" pitchFamily="18" charset="0"/>
                <a:cs typeface="Times New Roman" panose="02020603050405020304" pitchFamily="18" charset="0"/>
              </a:rPr>
              <a:t>2</a:t>
            </a:r>
            <a:r>
              <a:rPr lang="en-US" sz="2400" b="0" i="0" dirty="0">
                <a:effectLst/>
                <a:latin typeface="Times New Roman" panose="02020603050405020304" pitchFamily="18" charset="0"/>
                <a:cs typeface="Times New Roman" panose="02020603050405020304" pitchFamily="18" charset="0"/>
              </a:rPr>
              <a:t> q</a:t>
            </a:r>
            <a:r>
              <a:rPr lang="en-US" sz="2400" b="0" i="0" baseline="-25000" dirty="0">
                <a:effectLst/>
                <a:latin typeface="Times New Roman" panose="02020603050405020304" pitchFamily="18" charset="0"/>
                <a:cs typeface="Times New Roman" panose="02020603050405020304" pitchFamily="18" charset="0"/>
              </a:rPr>
              <a:t>3</a:t>
            </a:r>
            <a:r>
              <a:rPr lang="en-US" sz="2400" b="0" i="0" dirty="0">
                <a:effectLst/>
                <a:latin typeface="Times New Roman" panose="02020603050405020304" pitchFamily="18" charset="0"/>
                <a:cs typeface="Times New Roman" panose="02020603050405020304" pitchFamily="18" charset="0"/>
              </a:rPr>
              <a:t> and q</a:t>
            </a:r>
            <a:r>
              <a:rPr lang="en-US" sz="2400" b="0" i="0" baseline="-25000" dirty="0">
                <a:effectLst/>
                <a:latin typeface="Times New Roman" panose="02020603050405020304" pitchFamily="18" charset="0"/>
                <a:cs typeface="Times New Roman" panose="02020603050405020304" pitchFamily="18" charset="0"/>
              </a:rPr>
              <a:t>4</a:t>
            </a:r>
            <a:r>
              <a:rPr lang="en-US" sz="2400" b="0" i="0" dirty="0">
                <a:effectLst/>
                <a:latin typeface="Times New Roman" panose="02020603050405020304" pitchFamily="18" charset="0"/>
                <a:cs typeface="Times New Roman" panose="02020603050405020304" pitchFamily="18" charset="0"/>
              </a:rPr>
              <a:t> on the chessboard, such that no two queens attack each other. In such a conditional each queen must be placed on a different row, i.e., we put queen "</a:t>
            </a:r>
            <a:r>
              <a:rPr lang="en-US" sz="2400" b="0" i="0" dirty="0" err="1">
                <a:effectLst/>
                <a:latin typeface="Times New Roman" panose="02020603050405020304" pitchFamily="18" charset="0"/>
                <a:cs typeface="Times New Roman" panose="02020603050405020304" pitchFamily="18" charset="0"/>
              </a:rPr>
              <a:t>i</a:t>
            </a:r>
            <a:r>
              <a:rPr lang="en-US" sz="2400" b="0" i="0" dirty="0">
                <a:effectLst/>
                <a:latin typeface="Times New Roman" panose="02020603050405020304" pitchFamily="18" charset="0"/>
                <a:cs typeface="Times New Roman" panose="02020603050405020304" pitchFamily="18" charset="0"/>
              </a:rPr>
              <a:t>" on row "</a:t>
            </a:r>
            <a:r>
              <a:rPr lang="en-US" sz="2400" b="0" i="0" dirty="0" err="1">
                <a:effectLst/>
                <a:latin typeface="Times New Roman" panose="02020603050405020304" pitchFamily="18" charset="0"/>
                <a:cs typeface="Times New Roman" panose="02020603050405020304" pitchFamily="18" charset="0"/>
              </a:rPr>
              <a:t>i</a:t>
            </a:r>
            <a:r>
              <a:rPr lang="en-US" sz="2400" b="0" i="0" dirty="0">
                <a:effectLst/>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Place queen 1 in the first possible position of its row i.e. on 1st row and 1st column.</a:t>
            </a:r>
          </a:p>
          <a:p>
            <a:pPr algn="just"/>
            <a:endParaRPr lang="en-US" sz="2400"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N-Queens Probl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6991" y="1480755"/>
            <a:ext cx="3613497" cy="4340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4 Queen Problem</a:t>
            </a:r>
            <a:endParaRPr lang="en-US" dirty="0"/>
          </a:p>
        </p:txBody>
      </p:sp>
      <p:sp>
        <p:nvSpPr>
          <p:cNvPr id="3" name="Content Placeholder 2"/>
          <p:cNvSpPr>
            <a:spLocks noGrp="1"/>
          </p:cNvSpPr>
          <p:nvPr>
            <p:ph idx="1"/>
          </p:nvPr>
        </p:nvSpPr>
        <p:spPr>
          <a:xfrm>
            <a:off x="838200" y="1118509"/>
            <a:ext cx="10515600" cy="5047114"/>
          </a:xfrm>
        </p:spPr>
        <p:txBody>
          <a:bodyPr>
            <a:normAutofit/>
          </a:bodyPr>
          <a:lstStyle/>
          <a:p>
            <a:pPr algn="just"/>
            <a:r>
              <a:rPr lang="en-US" sz="2400" dirty="0">
                <a:solidFill>
                  <a:srgbClr val="333333"/>
                </a:solidFill>
                <a:latin typeface="Times New Roman" panose="02020603050405020304" pitchFamily="18" charset="0"/>
                <a:cs typeface="Times New Roman" panose="02020603050405020304" pitchFamily="18" charset="0"/>
              </a:rPr>
              <a:t>Place queen 1 in the first possible position of its row i.e. on 1st row and 1st column.</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Then place queen 2 after trying unsuccessful place (1, 2), (2, 1), (2, 2) at (2, 3) i.e. 2nd row and 3rd column.</a:t>
            </a:r>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This is a dead end because a 3rd queen cannot be placed in next column, as there is no acceptable position for queen 3. Hence algorithm backtracks and places the 2nd queen at (2, 4) position.</a:t>
            </a:r>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1169713" y="4089694"/>
            <a:ext cx="1839923" cy="1810006"/>
          </a:xfrm>
          <a:prstGeom prst="rect">
            <a:avLst/>
          </a:prstGeom>
        </p:spPr>
      </p:pic>
      <p:pic>
        <p:nvPicPr>
          <p:cNvPr id="11" name="Picture 10"/>
          <p:cNvPicPr>
            <a:picLocks noChangeAspect="1"/>
          </p:cNvPicPr>
          <p:nvPr/>
        </p:nvPicPr>
        <p:blipFill>
          <a:blip r:embed="rId3"/>
          <a:stretch>
            <a:fillRect/>
          </a:stretch>
        </p:blipFill>
        <p:spPr>
          <a:xfrm>
            <a:off x="3432307" y="4061817"/>
            <a:ext cx="1810006" cy="1810006"/>
          </a:xfrm>
          <a:prstGeom prst="rect">
            <a:avLst/>
          </a:prstGeom>
        </p:spPr>
      </p:pic>
      <p:pic>
        <p:nvPicPr>
          <p:cNvPr id="13" name="Picture 12"/>
          <p:cNvPicPr>
            <a:picLocks noChangeAspect="1"/>
          </p:cNvPicPr>
          <p:nvPr/>
        </p:nvPicPr>
        <p:blipFill>
          <a:blip r:embed="rId4"/>
          <a:stretch>
            <a:fillRect/>
          </a:stretch>
        </p:blipFill>
        <p:spPr>
          <a:xfrm>
            <a:off x="5664984" y="4089694"/>
            <a:ext cx="1839923" cy="1810006"/>
          </a:xfrm>
          <a:prstGeom prst="rect">
            <a:avLst/>
          </a:prstGeom>
        </p:spPr>
      </p:pic>
      <p:pic>
        <p:nvPicPr>
          <p:cNvPr id="15" name="Picture 14"/>
          <p:cNvPicPr>
            <a:picLocks noChangeAspect="1"/>
          </p:cNvPicPr>
          <p:nvPr/>
        </p:nvPicPr>
        <p:blipFill>
          <a:blip r:embed="rId5"/>
          <a:stretch>
            <a:fillRect/>
          </a:stretch>
        </p:blipFill>
        <p:spPr>
          <a:xfrm>
            <a:off x="7927578" y="4089694"/>
            <a:ext cx="1839923" cy="18100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4 Queen Problem</a:t>
            </a:r>
            <a:endParaRPr lang="en-US" dirty="0"/>
          </a:p>
        </p:txBody>
      </p:sp>
      <p:sp>
        <p:nvSpPr>
          <p:cNvPr id="3" name="Content Placeholder 2"/>
          <p:cNvSpPr>
            <a:spLocks noGrp="1"/>
          </p:cNvSpPr>
          <p:nvPr>
            <p:ph idx="1"/>
          </p:nvPr>
        </p:nvSpPr>
        <p:spPr>
          <a:xfrm>
            <a:off x="838200" y="1129849"/>
            <a:ext cx="10515600" cy="5035774"/>
          </a:xfrm>
        </p:spPr>
        <p:txBody>
          <a:bodyPr>
            <a:norm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Hence, we need to backtrack all the way up to queen 1 and move it to (1, 2). </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Place queen 1 at (1, 2), queen 2 at (2, 4), queen 3 at (3, 1) and queen 4 at (4, 3).</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2275809" y="2017164"/>
            <a:ext cx="7103344" cy="1454902"/>
          </a:xfrm>
          <a:prstGeom prst="rect">
            <a:avLst/>
          </a:prstGeom>
        </p:spPr>
      </p:pic>
      <p:pic>
        <p:nvPicPr>
          <p:cNvPr id="7" name="Picture 6"/>
          <p:cNvPicPr>
            <a:picLocks noChangeAspect="1"/>
          </p:cNvPicPr>
          <p:nvPr/>
        </p:nvPicPr>
        <p:blipFill>
          <a:blip r:embed="rId3"/>
          <a:stretch>
            <a:fillRect/>
          </a:stretch>
        </p:blipFill>
        <p:spPr>
          <a:xfrm>
            <a:off x="8316760" y="3590348"/>
            <a:ext cx="2419793" cy="2513138"/>
          </a:xfrm>
          <a:prstGeom prst="rect">
            <a:avLst/>
          </a:prstGeom>
        </p:spPr>
      </p:pic>
      <p:sp>
        <p:nvSpPr>
          <p:cNvPr id="10" name="TextBox 9"/>
          <p:cNvSpPr txBox="1"/>
          <p:nvPr/>
        </p:nvSpPr>
        <p:spPr>
          <a:xfrm>
            <a:off x="838201" y="3806759"/>
            <a:ext cx="7272308"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we get the solution (2, 4, 1, 3). This is one possible solution for the 4-queens problem. For another possible solution, the whole method is repeated for all partial solutions. The other solutions for 4 - queens' problems is (3, 1, 4, 2)</a:t>
            </a:r>
          </a:p>
          <a:p>
            <a:pPr marL="342900" indent="-342900" algn="just">
              <a:buFont typeface="Arial" panose="020B0604020202020204" pitchFamily="34" charset="0"/>
              <a:buChar char="•"/>
            </a:pPr>
            <a:endParaRPr lang="en-I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729"/>
            <a:ext cx="8544339" cy="893854"/>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Eight Queen Problem</a:t>
            </a:r>
            <a:endParaRPr lang="en-US" dirty="0"/>
          </a:p>
        </p:txBody>
      </p:sp>
      <p:sp>
        <p:nvSpPr>
          <p:cNvPr id="3" name="Content Placeholder 2"/>
          <p:cNvSpPr>
            <a:spLocks noGrp="1"/>
          </p:cNvSpPr>
          <p:nvPr>
            <p:ph idx="1"/>
          </p:nvPr>
        </p:nvSpPr>
        <p:spPr>
          <a:xfrm>
            <a:off x="838200" y="1268931"/>
            <a:ext cx="10515600" cy="4908032"/>
          </a:xfrm>
        </p:spPr>
        <p:txBody>
          <a:bodyPr>
            <a:normAutofit/>
          </a:bodyPr>
          <a:lstStyle/>
          <a:p>
            <a:pPr algn="just">
              <a:defRPr/>
            </a:pPr>
            <a:r>
              <a:rPr lang="en-US" sz="2000" dirty="0">
                <a:latin typeface="Times New Roman" panose="02020603050405020304" pitchFamily="18" charset="0"/>
                <a:cs typeface="Times New Roman" panose="02020603050405020304" pitchFamily="18" charset="0"/>
              </a:rPr>
              <a:t>Find an arrangement of 8 queens on a single chess board such that no two queens are attacking one another.</a:t>
            </a:r>
          </a:p>
          <a:p>
            <a:pPr algn="just">
              <a:defRPr/>
            </a:pPr>
            <a:r>
              <a:rPr lang="en-US" sz="2000" dirty="0">
                <a:latin typeface="Times New Roman" panose="02020603050405020304" pitchFamily="18" charset="0"/>
                <a:cs typeface="Times New Roman" panose="02020603050405020304" pitchFamily="18" charset="0"/>
              </a:rPr>
              <a:t>In chess, queens can move all the way down any row, column or diagonal (so long as no pieces are in the way).</a:t>
            </a:r>
          </a:p>
          <a:p>
            <a:pPr algn="just">
              <a:defRPr/>
            </a:pPr>
            <a:r>
              <a:rPr lang="en-US" sz="2000" dirty="0">
                <a:latin typeface="Times New Roman" panose="02020603050405020304" pitchFamily="18" charset="0"/>
                <a:cs typeface="Times New Roman" panose="02020603050405020304" pitchFamily="18" charset="0"/>
              </a:rPr>
              <a:t>Due to the first two restrictions, it's clear that each row and column of the board will have exactly one queen.</a:t>
            </a:r>
          </a:p>
          <a:p>
            <a:pPr marL="0" indent="0" algn="just">
              <a:buNone/>
            </a:pPr>
            <a:endParaRPr lang="en-US" sz="2000" dirty="0"/>
          </a:p>
        </p:txBody>
      </p:sp>
      <p:sp>
        <p:nvSpPr>
          <p:cNvPr id="4" name="Slide Number Placeholder 3"/>
          <p:cNvSpPr>
            <a:spLocks noGrp="1"/>
          </p:cNvSpPr>
          <p:nvPr>
            <p:ph type="sldNum" sz="quarter" idx="12"/>
          </p:nvPr>
        </p:nvSpPr>
        <p:spPr/>
        <p:txBody>
          <a:bodyPr/>
          <a:lstStyle/>
          <a:p>
            <a:fld id="{BDCDBBEF-AA6C-4BA6-85B2-A17D7F280E38}" type="slidenum">
              <a:rPr lang="en-US" smtClean="0"/>
              <a:t>8</a:t>
            </a:fld>
            <a:endParaRPr lang="en-US"/>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4896" y="3120067"/>
            <a:ext cx="4038600" cy="320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838200" y="1233970"/>
            <a:ext cx="10515600" cy="51223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7" y="126589"/>
            <a:ext cx="8451574" cy="867327"/>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N Queen Problem</a:t>
            </a:r>
            <a:endParaRPr lang="en-US" dirty="0"/>
          </a:p>
        </p:txBody>
      </p:sp>
      <p:sp>
        <p:nvSpPr>
          <p:cNvPr id="3" name="Content Placeholder 2"/>
          <p:cNvSpPr>
            <a:spLocks noGrp="1"/>
          </p:cNvSpPr>
          <p:nvPr>
            <p:ph idx="1"/>
          </p:nvPr>
        </p:nvSpPr>
        <p:spPr>
          <a:xfrm>
            <a:off x="838200" y="1173303"/>
            <a:ext cx="10515600" cy="5003660"/>
          </a:xfrm>
        </p:spPr>
        <p:txBody>
          <a:bodyPr>
            <a:normAutofit/>
          </a:bodyPr>
          <a:lstStyle/>
          <a:p>
            <a:pPr algn="just">
              <a:defRPr/>
            </a:pPr>
            <a:r>
              <a:rPr lang="en-US" sz="2200" dirty="0">
                <a:latin typeface="Times New Roman" panose="02020603050405020304" pitchFamily="18" charset="0"/>
                <a:cs typeface="Times New Roman" panose="02020603050405020304" pitchFamily="18" charset="0"/>
              </a:rPr>
              <a:t>The backtracking strategy is as follows:</a:t>
            </a:r>
          </a:p>
          <a:p>
            <a:pPr marL="871855" lvl="1" indent="-514350" algn="just">
              <a:buFont typeface="+mj-lt"/>
              <a:buAutoNum type="arabicParenR"/>
              <a:defRPr/>
            </a:pPr>
            <a:r>
              <a:rPr lang="en-US" sz="2200" dirty="0">
                <a:latin typeface="Times New Roman" panose="02020603050405020304" pitchFamily="18" charset="0"/>
                <a:cs typeface="Times New Roman" panose="02020603050405020304" pitchFamily="18" charset="0"/>
              </a:rPr>
              <a:t>Start in leftmost column.</a:t>
            </a:r>
          </a:p>
          <a:p>
            <a:pPr marL="871855" lvl="1" indent="-514350" algn="just">
              <a:buFont typeface="+mj-lt"/>
              <a:buAutoNum type="arabicParenR"/>
              <a:defRPr/>
            </a:pPr>
            <a:r>
              <a:rPr lang="en-US" sz="2200" dirty="0">
                <a:latin typeface="Times New Roman" panose="02020603050405020304" pitchFamily="18" charset="0"/>
                <a:cs typeface="Times New Roman" panose="02020603050405020304" pitchFamily="18" charset="0"/>
              </a:rPr>
              <a:t>If all are placed, return true.</a:t>
            </a:r>
          </a:p>
          <a:p>
            <a:pPr marL="871855" lvl="1" indent="-514350" algn="just">
              <a:buFont typeface="+mj-lt"/>
              <a:buAutoNum type="arabicParenR"/>
              <a:defRPr/>
            </a:pPr>
            <a:r>
              <a:rPr lang="en-US" sz="2200" dirty="0">
                <a:latin typeface="Times New Roman" panose="02020603050405020304" pitchFamily="18" charset="0"/>
                <a:cs typeface="Times New Roman" panose="02020603050405020304" pitchFamily="18" charset="0"/>
              </a:rPr>
              <a:t>Try all rows in current column</a:t>
            </a:r>
          </a:p>
          <a:p>
            <a:pPr marL="871855" lvl="1" indent="-514350" algn="just">
              <a:buFont typeface="+mj-lt"/>
              <a:buAutoNum type="arabicParenR"/>
              <a:defRPr/>
            </a:pPr>
            <a:endParaRPr lang="en-US" sz="2200" dirty="0">
              <a:latin typeface="Times New Roman" panose="02020603050405020304" pitchFamily="18" charset="0"/>
              <a:cs typeface="Times New Roman" panose="02020603050405020304" pitchFamily="18" charset="0"/>
            </a:endParaRPr>
          </a:p>
          <a:p>
            <a:pPr marL="357505" lvl="1" indent="0" algn="just">
              <a:buNone/>
              <a:defRPr/>
            </a:pPr>
            <a:r>
              <a:rPr lang="en-US" sz="2200" dirty="0">
                <a:latin typeface="Times New Roman" panose="02020603050405020304" pitchFamily="18" charset="0"/>
                <a:cs typeface="Times New Roman" panose="02020603050405020304" pitchFamily="18" charset="0"/>
              </a:rPr>
              <a:t>	Do following for every tried row</a:t>
            </a:r>
          </a:p>
          <a:p>
            <a:pPr marL="1371600" lvl="2" indent="-457200">
              <a:buFont typeface="+mj-lt"/>
              <a:buAutoNum type="alphaLcParenR"/>
            </a:pPr>
            <a:r>
              <a:rPr lang="en-US" sz="2200" dirty="0">
                <a:latin typeface="Times New Roman" panose="02020603050405020304" pitchFamily="18" charset="0"/>
                <a:cs typeface="Times New Roman" panose="02020603050405020304" pitchFamily="18" charset="0"/>
              </a:rPr>
              <a:t>If queen can be placed safely in this row then mark [</a:t>
            </a:r>
            <a:r>
              <a:rPr lang="en-US" sz="2200" dirty="0" err="1">
                <a:latin typeface="Times New Roman" panose="02020603050405020304" pitchFamily="18" charset="0"/>
                <a:cs typeface="Times New Roman" panose="02020603050405020304" pitchFamily="18" charset="0"/>
              </a:rPr>
              <a:t>r,c</a:t>
            </a:r>
            <a:r>
              <a:rPr lang="en-US" sz="2200" dirty="0">
                <a:latin typeface="Times New Roman" panose="02020603050405020304" pitchFamily="18" charset="0"/>
                <a:cs typeface="Times New Roman" panose="02020603050405020304" pitchFamily="18" charset="0"/>
              </a:rPr>
              <a:t>] as part of solution and recursively check if placing Q here leads to a solution.</a:t>
            </a:r>
          </a:p>
          <a:p>
            <a:pPr marL="1371600" lvl="2" indent="-457200">
              <a:buFont typeface="+mj-lt"/>
              <a:buAutoNum type="alphaLcParenR"/>
            </a:pPr>
            <a:r>
              <a:rPr lang="en-US" sz="2200" dirty="0">
                <a:latin typeface="Times New Roman" panose="02020603050405020304" pitchFamily="18" charset="0"/>
                <a:cs typeface="Times New Roman" panose="02020603050405020304" pitchFamily="18" charset="0"/>
              </a:rPr>
              <a:t>If placing leads to a solution, then return true.</a:t>
            </a:r>
          </a:p>
          <a:p>
            <a:pPr marL="914400" lvl="2" indent="0">
              <a:buNone/>
            </a:pPr>
            <a:r>
              <a:rPr lang="en-US" sz="2200" dirty="0">
                <a:latin typeface="Times New Roman" panose="02020603050405020304" pitchFamily="18" charset="0"/>
                <a:cs typeface="Times New Roman" panose="02020603050405020304" pitchFamily="18" charset="0"/>
              </a:rPr>
              <a:t>        else unmark [</a:t>
            </a:r>
            <a:r>
              <a:rPr lang="en-US" sz="2200" dirty="0" err="1">
                <a:latin typeface="Times New Roman" panose="02020603050405020304" pitchFamily="18" charset="0"/>
                <a:cs typeface="Times New Roman" panose="02020603050405020304" pitchFamily="18" charset="0"/>
              </a:rPr>
              <a:t>r,c</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goto</a:t>
            </a:r>
            <a:r>
              <a:rPr lang="en-US" sz="2200" dirty="0">
                <a:latin typeface="Times New Roman" panose="02020603050405020304" pitchFamily="18" charset="0"/>
                <a:cs typeface="Times New Roman" panose="02020603050405020304" pitchFamily="18" charset="0"/>
              </a:rPr>
              <a:t>(a) to try other rows.</a:t>
            </a:r>
          </a:p>
          <a:p>
            <a:pPr marL="914400" lvl="2" indent="0">
              <a:buNone/>
            </a:pPr>
            <a:endParaRPr lang="en-US" sz="2200" dirty="0">
              <a:latin typeface="Times New Roman" panose="02020603050405020304" pitchFamily="18" charset="0"/>
              <a:cs typeface="Times New Roman" panose="02020603050405020304" pitchFamily="18" charset="0"/>
            </a:endParaRPr>
          </a:p>
          <a:p>
            <a:pPr marL="914400" lvl="2" indent="0">
              <a:buNone/>
            </a:pPr>
            <a:r>
              <a:rPr lang="en-US" sz="2200" dirty="0">
                <a:latin typeface="Times New Roman" panose="02020603050405020304" pitchFamily="18" charset="0"/>
                <a:cs typeface="Times New Roman" panose="02020603050405020304" pitchFamily="18" charset="0"/>
              </a:rPr>
              <a:t>If all rows have been tried and nothing worked, return False to trigger backtracking.</a:t>
            </a:r>
          </a:p>
        </p:txBody>
      </p:sp>
      <p:sp>
        <p:nvSpPr>
          <p:cNvPr id="4" name="Slide Number Placeholder 3"/>
          <p:cNvSpPr>
            <a:spLocks noGrp="1"/>
          </p:cNvSpPr>
          <p:nvPr>
            <p:ph type="sldNum" sz="quarter" idx="12"/>
          </p:nvPr>
        </p:nvSpPr>
        <p:spPr/>
        <p:txBody>
          <a:bodyPr/>
          <a:lstStyle/>
          <a:p>
            <a:fld id="{BDCDBBEF-AA6C-4BA6-85B2-A17D7F280E38}" type="slidenum">
              <a:rPr lang="en-US" smtClean="0"/>
              <a:t>9</a:t>
            </a:fld>
            <a:endParaRPr lang="en-US"/>
          </a:p>
        </p:txBody>
      </p:sp>
      <p:sp>
        <p:nvSpPr>
          <p:cNvPr id="6" name="Rectangle 5"/>
          <p:cNvSpPr/>
          <p:nvPr/>
        </p:nvSpPr>
        <p:spPr>
          <a:xfrm>
            <a:off x="838200" y="1173303"/>
            <a:ext cx="10515600" cy="499889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7" y="126589"/>
            <a:ext cx="8451574" cy="867327"/>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N Queen Problem</a:t>
            </a:r>
            <a:endParaRPr lang="en-US" dirty="0"/>
          </a:p>
        </p:txBody>
      </p:sp>
      <p:sp>
        <p:nvSpPr>
          <p:cNvPr id="3" name="Content Placeholder 2"/>
          <p:cNvSpPr>
            <a:spLocks noGrp="1"/>
          </p:cNvSpPr>
          <p:nvPr>
            <p:ph idx="1"/>
          </p:nvPr>
        </p:nvSpPr>
        <p:spPr>
          <a:xfrm>
            <a:off x="838200" y="1173303"/>
            <a:ext cx="10515600" cy="5003660"/>
          </a:xfrm>
        </p:spPr>
        <p:txBody>
          <a:bodyPr>
            <a:normAutofit/>
          </a:bodyPr>
          <a:lstStyle/>
          <a:p>
            <a:pPr algn="just">
              <a:defRPr/>
            </a:pPr>
            <a:r>
              <a:rPr lang="en-US" sz="2400" dirty="0">
                <a:latin typeface="Times New Roman" panose="02020603050405020304" pitchFamily="18" charset="0"/>
                <a:cs typeface="Times New Roman" panose="02020603050405020304" pitchFamily="18" charset="0"/>
              </a:rPr>
              <a:t>The backtracking strategy is as follows:</a:t>
            </a:r>
          </a:p>
          <a:p>
            <a:pPr marL="871855" lvl="1" indent="-514350" algn="just">
              <a:buFont typeface="+mj-lt"/>
              <a:buAutoNum type="arabicParenR"/>
              <a:defRPr/>
            </a:pPr>
            <a:r>
              <a:rPr lang="en-US" dirty="0">
                <a:latin typeface="Times New Roman" panose="02020603050405020304" pitchFamily="18" charset="0"/>
                <a:cs typeface="Times New Roman" panose="02020603050405020304" pitchFamily="18" charset="0"/>
              </a:rPr>
              <a:t>Place a queen on the first available square in row 1.</a:t>
            </a:r>
          </a:p>
          <a:p>
            <a:pPr marL="871855" lvl="1" indent="-514350" algn="just">
              <a:buFont typeface="+mj-lt"/>
              <a:buAutoNum type="arabicParenR"/>
              <a:defRPr/>
            </a:pPr>
            <a:r>
              <a:rPr lang="en-US" dirty="0">
                <a:latin typeface="Times New Roman" panose="02020603050405020304" pitchFamily="18" charset="0"/>
                <a:cs typeface="Times New Roman" panose="02020603050405020304" pitchFamily="18" charset="0"/>
              </a:rPr>
              <a:t>Move onto the next row, placing a queen on the first available square there (that doesn't conflict with the previously placed queens).</a:t>
            </a:r>
          </a:p>
          <a:p>
            <a:pPr marL="871855" lvl="1" indent="-514350" algn="just">
              <a:buFont typeface="+mj-lt"/>
              <a:buAutoNum type="arabicParenR"/>
              <a:defRPr/>
            </a:pPr>
            <a:r>
              <a:rPr lang="en-US" dirty="0">
                <a:latin typeface="Times New Roman" panose="02020603050405020304" pitchFamily="18" charset="0"/>
                <a:cs typeface="Times New Roman" panose="02020603050405020304" pitchFamily="18" charset="0"/>
              </a:rPr>
              <a:t>Continue in this fashion until either: </a:t>
            </a:r>
          </a:p>
          <a:p>
            <a:pPr marL="1117600" lvl="2" indent="-514350" algn="just">
              <a:buFont typeface="+mj-lt"/>
              <a:buAutoNum type="alphaLcParenR"/>
              <a:defRPr/>
            </a:pPr>
            <a:r>
              <a:rPr lang="en-US" sz="2400" dirty="0">
                <a:latin typeface="Times New Roman" panose="02020603050405020304" pitchFamily="18" charset="0"/>
                <a:cs typeface="Times New Roman" panose="02020603050405020304" pitchFamily="18" charset="0"/>
              </a:rPr>
              <a:t>you have solved the problem, or </a:t>
            </a:r>
          </a:p>
          <a:p>
            <a:pPr marL="1117600" lvl="2" indent="-514350" algn="just">
              <a:buFont typeface="+mj-lt"/>
              <a:buAutoNum type="alphaLcParenR"/>
              <a:defRPr/>
            </a:pPr>
            <a:r>
              <a:rPr lang="en-US" sz="2400" dirty="0">
                <a:latin typeface="Times New Roman" panose="02020603050405020304" pitchFamily="18" charset="0"/>
                <a:cs typeface="Times New Roman" panose="02020603050405020304" pitchFamily="18" charset="0"/>
              </a:rPr>
              <a:t>you get stuck. </a:t>
            </a:r>
          </a:p>
          <a:p>
            <a:pPr marL="1329055" lvl="3" indent="-514350" algn="just">
              <a:defRPr/>
            </a:pPr>
            <a:r>
              <a:rPr lang="en-US" sz="2400" dirty="0">
                <a:latin typeface="Times New Roman" panose="02020603050405020304" pitchFamily="18" charset="0"/>
                <a:cs typeface="Times New Roman" panose="02020603050405020304" pitchFamily="18" charset="0"/>
              </a:rPr>
              <a:t>When you get stuck, remove the queens that got you there, until you get to a row where there is another valid square to try.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10</a:t>
            </a:fld>
            <a:endParaRPr lang="en-US"/>
          </a:p>
        </p:txBody>
      </p:sp>
      <p:sp>
        <p:nvSpPr>
          <p:cNvPr id="6" name="Rectangle 5"/>
          <p:cNvSpPr/>
          <p:nvPr/>
        </p:nvSpPr>
        <p:spPr>
          <a:xfrm>
            <a:off x="838200" y="1173303"/>
            <a:ext cx="10515600" cy="499889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608" y="1468933"/>
            <a:ext cx="11375150" cy="4900339"/>
          </a:xfrm>
          <a:ln>
            <a:solidFill>
              <a:schemeClr val="tx1"/>
            </a:solidFill>
          </a:ln>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the recursive solution of the N-Queens problem, the base case is the condition that terminates the recursion—i.e., when we have successfully placed queens on all N rows of the board.</a:t>
            </a:r>
          </a:p>
          <a:p>
            <a:pPr marL="0" indent="0">
              <a:buNone/>
            </a:pPr>
            <a:r>
              <a:rPr lang="en-US" sz="2400" dirty="0">
                <a:latin typeface="Times New Roman" panose="02020603050405020304" pitchFamily="18" charset="0"/>
                <a:cs typeface="Times New Roman" panose="02020603050405020304" pitchFamily="18" charset="0"/>
              </a:rPr>
              <a:t>if row == N:</a:t>
            </a:r>
          </a:p>
          <a:p>
            <a:pPr marL="0" indent="0">
              <a:buNone/>
            </a:pPr>
            <a:r>
              <a:rPr lang="en-US" sz="2400" dirty="0">
                <a:latin typeface="Times New Roman" panose="02020603050405020304" pitchFamily="18" charset="0"/>
                <a:cs typeface="Times New Roman" panose="02020603050405020304" pitchFamily="18" charset="0"/>
              </a:rPr>
              <a:t>    # A valid solution is found</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save_solution</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return</a:t>
            </a:r>
          </a:p>
          <a:p>
            <a:pPr marL="0" indent="0">
              <a:buNone/>
            </a:pPr>
            <a:r>
              <a:rPr lang="en-US" sz="2400" dirty="0">
                <a:latin typeface="Times New Roman" panose="02020603050405020304" pitchFamily="18" charset="0"/>
                <a:cs typeface="Times New Roman" panose="02020603050405020304" pitchFamily="18" charset="0"/>
              </a:rPr>
              <a:t>This means to place one queen per row. The recursion places queens' row by row. When you reach row == N, it means queens are placed safely on all N rows → you've found a valid solution.</a:t>
            </a: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t>11</a:t>
            </a:fld>
            <a:endParaRPr lang="en-IN" altLang="en-US"/>
          </a:p>
        </p:txBody>
      </p:sp>
      <p:sp>
        <p:nvSpPr>
          <p:cNvPr id="6" name="Title 1"/>
          <p:cNvSpPr txBox="1"/>
          <p:nvPr/>
        </p:nvSpPr>
        <p:spPr>
          <a:xfrm>
            <a:off x="811160" y="121821"/>
            <a:ext cx="8505117" cy="1218247"/>
          </a:xfrm>
          <a:prstGeom prst="rect">
            <a:avLst/>
          </a:prstGeom>
          <a:ln>
            <a:solidFill>
              <a:schemeClr val="tx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Base case of recursive solution of N queen Problem</a:t>
            </a:r>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850"/>
            <a:ext cx="8226287" cy="76131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Sum of Subset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12</a:t>
            </a:fld>
            <a:endParaRPr lang="en-US"/>
          </a:p>
        </p:txBody>
      </p:sp>
      <p:sp>
        <p:nvSpPr>
          <p:cNvPr id="8" name="Rectangle 7"/>
          <p:cNvSpPr/>
          <p:nvPr/>
        </p:nvSpPr>
        <p:spPr>
          <a:xfrm>
            <a:off x="838200" y="1138310"/>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38200" y="1093629"/>
            <a:ext cx="10515600" cy="5509200"/>
          </a:xfrm>
          <a:prstGeom prst="rect">
            <a:avLst/>
          </a:prstGeom>
          <a:noFill/>
        </p:spPr>
        <p:txBody>
          <a:bodyPr wrap="square" rtlCol="0">
            <a:spAutoFit/>
          </a:bodyPr>
          <a:lstStyle/>
          <a:p>
            <a:pPr algn="just"/>
            <a:r>
              <a:rPr lang="en-US" sz="2200" b="0" i="0" dirty="0">
                <a:solidFill>
                  <a:srgbClr val="000000"/>
                </a:solidFill>
                <a:effectLst/>
                <a:latin typeface="Times New Roman" panose="02020603050405020304" pitchFamily="18" charset="0"/>
                <a:cs typeface="Times New Roman" panose="02020603050405020304" pitchFamily="18" charset="0"/>
              </a:rPr>
              <a:t>In this problem, there is a given set with some integer elements. And another some value is also provided, we have to find a subset of the given set whose sum is the same as the given sum value.</a:t>
            </a:r>
          </a:p>
          <a:p>
            <a:pPr algn="just"/>
            <a:r>
              <a:rPr lang="en-US" sz="2200" b="0" i="0" dirty="0">
                <a:solidFill>
                  <a:srgbClr val="000000"/>
                </a:solidFill>
                <a:effectLst/>
                <a:latin typeface="Times New Roman" panose="02020603050405020304" pitchFamily="18" charset="0"/>
                <a:cs typeface="Times New Roman" panose="02020603050405020304" pitchFamily="18" charset="0"/>
              </a:rPr>
              <a:t>Here backtracking approach is used for trying to select a valid subset when an item is not valid, we will backtrack to get the previous subset and add another element to get the solution.</a:t>
            </a:r>
            <a:endParaRPr lang="en-US" sz="2200" dirty="0">
              <a:solidFill>
                <a:srgbClr val="000000"/>
              </a:solidFill>
              <a:latin typeface="Times New Roman" panose="02020603050405020304" pitchFamily="18" charset="0"/>
              <a:cs typeface="Times New Roman" panose="02020603050405020304" pitchFamily="18" charset="0"/>
            </a:endParaRPr>
          </a:p>
          <a:p>
            <a:pPr algn="just"/>
            <a:r>
              <a:rPr lang="en-US" sz="2000" b="1" i="0" dirty="0">
                <a:solidFill>
                  <a:srgbClr val="000000"/>
                </a:solidFill>
                <a:effectLst/>
                <a:latin typeface="Times New Roman" panose="02020603050405020304" pitchFamily="18" charset="0"/>
                <a:cs typeface="Times New Roman" panose="02020603050405020304" pitchFamily="18" charset="0"/>
              </a:rPr>
              <a:t>Input:</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This algorithm takes a set of numbers, and a sum value.</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The Set: {10, 7, 5, 18, 12, 20, 15}</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The sum Value: 35</a:t>
            </a:r>
          </a:p>
          <a:p>
            <a:pPr algn="just"/>
            <a:r>
              <a:rPr lang="en-US" sz="2000" b="1" i="0" dirty="0">
                <a:solidFill>
                  <a:srgbClr val="000000"/>
                </a:solidFill>
                <a:effectLst/>
                <a:latin typeface="Times New Roman" panose="02020603050405020304" pitchFamily="18" charset="0"/>
                <a:cs typeface="Times New Roman" panose="02020603050405020304" pitchFamily="18" charset="0"/>
              </a:rPr>
              <a:t>Output:</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All possible subsets of the given set, where sum of each element for every subsets is same as the given sum value.</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{10,  7,  18}</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{10,  5,  20}</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{5,  18,  12}</a:t>
            </a:r>
          </a:p>
          <a:p>
            <a:pPr algn="just"/>
            <a:r>
              <a:rPr lang="en-US" sz="2000" b="0" i="0" dirty="0">
                <a:solidFill>
                  <a:srgbClr val="000000"/>
                </a:solidFill>
                <a:effectLst/>
                <a:latin typeface="Times New Roman" panose="02020603050405020304" pitchFamily="18" charset="0"/>
                <a:cs typeface="Times New Roman" panose="02020603050405020304" pitchFamily="18" charset="0"/>
              </a:rPr>
              <a:t>{20,  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86B1-3A34-D397-A71F-C65CC1731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A071D-FC3B-BB31-A724-DA9D083B0D04}"/>
              </a:ext>
            </a:extLst>
          </p:cNvPr>
          <p:cNvSpPr>
            <a:spLocks noGrp="1"/>
          </p:cNvSpPr>
          <p:nvPr>
            <p:ph type="title"/>
          </p:nvPr>
        </p:nvSpPr>
        <p:spPr>
          <a:xfrm>
            <a:off x="838200" y="148606"/>
            <a:ext cx="8910484" cy="761310"/>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Steps in Backtracking (Sum of Subsets)</a:t>
            </a:r>
            <a:endParaRPr lang="en-US" dirty="0"/>
          </a:p>
        </p:txBody>
      </p:sp>
      <p:sp>
        <p:nvSpPr>
          <p:cNvPr id="4" name="Slide Number Placeholder 3">
            <a:extLst>
              <a:ext uri="{FF2B5EF4-FFF2-40B4-BE49-F238E27FC236}">
                <a16:creationId xmlns:a16="http://schemas.microsoft.com/office/drawing/2014/main" id="{7DDA88F8-DF07-32B9-4592-8D5FCD9804C1}"/>
              </a:ext>
            </a:extLst>
          </p:cNvPr>
          <p:cNvSpPr>
            <a:spLocks noGrp="1"/>
          </p:cNvSpPr>
          <p:nvPr>
            <p:ph type="sldNum" sz="quarter" idx="12"/>
          </p:nvPr>
        </p:nvSpPr>
        <p:spPr/>
        <p:txBody>
          <a:bodyPr/>
          <a:lstStyle/>
          <a:p>
            <a:fld id="{BDCDBBEF-AA6C-4BA6-85B2-A17D7F280E38}" type="slidenum">
              <a:rPr lang="en-US" smtClean="0"/>
              <a:t>13</a:t>
            </a:fld>
            <a:endParaRPr lang="en-US"/>
          </a:p>
        </p:txBody>
      </p:sp>
      <p:sp>
        <p:nvSpPr>
          <p:cNvPr id="8" name="Rectangle 7">
            <a:extLst>
              <a:ext uri="{FF2B5EF4-FFF2-40B4-BE49-F238E27FC236}">
                <a16:creationId xmlns:a16="http://schemas.microsoft.com/office/drawing/2014/main" id="{4489D407-47B8-C2E8-10B2-F05F9E8F2CEB}"/>
              </a:ext>
            </a:extLst>
          </p:cNvPr>
          <p:cNvSpPr/>
          <p:nvPr/>
        </p:nvSpPr>
        <p:spPr>
          <a:xfrm>
            <a:off x="838200" y="1005578"/>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75DE9D3D-EBDB-0FB8-D906-13303F2F7D6D}"/>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1">
            <a:extLst>
              <a:ext uri="{FF2B5EF4-FFF2-40B4-BE49-F238E27FC236}">
                <a16:creationId xmlns:a16="http://schemas.microsoft.com/office/drawing/2014/main" id="{0C12E744-4527-9701-1588-0AF5D0DE738B}"/>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2" name="TextBox 21">
            <a:extLst>
              <a:ext uri="{FF2B5EF4-FFF2-40B4-BE49-F238E27FC236}">
                <a16:creationId xmlns:a16="http://schemas.microsoft.com/office/drawing/2014/main" id="{A1A20059-19E5-ACD6-67D1-740683BC732B}"/>
              </a:ext>
            </a:extLst>
          </p:cNvPr>
          <p:cNvSpPr txBox="1"/>
          <p:nvPr/>
        </p:nvSpPr>
        <p:spPr>
          <a:xfrm>
            <a:off x="838200" y="1005578"/>
            <a:ext cx="10813026" cy="604204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Start with an empty subset, an initial sum of 0, and a pointer (or index) to the first element of the set.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Recursive Exploration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each step (or recursive call), consider two choices for the current element: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element in the subset.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Exclude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element from the subset.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State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including an element, add its value to the current sum and move to the next index.</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excluding, simply skip to the next index without changing the current sum.</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Feasibility Check (Pruning)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current sum exceeds the target sum, terminate that recursive branch (backtrack).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is called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pruning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it helps to avoid unnecessary computation.</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 Condition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current sum is equal to the target sum, the current subset is a valid solution. It is either printed, stored, or counted.</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Termination Condition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index reaches the end of the set (i.e., all elements are considered), the recursion terminates — regardless of whether a solution is found.</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Backtracking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exploring both the inclusion and exclusion of an element, the function backtracks to the previous state and explores other possibilities.</a:t>
            </a:r>
          </a:p>
        </p:txBody>
      </p:sp>
    </p:spTree>
    <p:extLst>
      <p:ext uri="{BB962C8B-B14F-4D97-AF65-F5344CB8AC3E}">
        <p14:creationId xmlns:p14="http://schemas.microsoft.com/office/powerpoint/2010/main" val="3985901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7D64-AC8B-6A8E-2957-C85EBC546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1CDCB-5F36-8A12-E43A-592BF45FBF43}"/>
              </a:ext>
            </a:extLst>
          </p:cNvPr>
          <p:cNvSpPr>
            <a:spLocks noGrp="1"/>
          </p:cNvSpPr>
          <p:nvPr>
            <p:ph type="title"/>
          </p:nvPr>
        </p:nvSpPr>
        <p:spPr>
          <a:xfrm>
            <a:off x="838200" y="192850"/>
            <a:ext cx="8910484" cy="761310"/>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Steps in Backtracking (Sum of Subsets)</a:t>
            </a:r>
            <a:endParaRPr lang="en-US" dirty="0"/>
          </a:p>
        </p:txBody>
      </p:sp>
      <p:sp>
        <p:nvSpPr>
          <p:cNvPr id="4" name="Slide Number Placeholder 3">
            <a:extLst>
              <a:ext uri="{FF2B5EF4-FFF2-40B4-BE49-F238E27FC236}">
                <a16:creationId xmlns:a16="http://schemas.microsoft.com/office/drawing/2014/main" id="{D76021E2-68EE-5DB8-3542-5C72CBEA0C24}"/>
              </a:ext>
            </a:extLst>
          </p:cNvPr>
          <p:cNvSpPr>
            <a:spLocks noGrp="1"/>
          </p:cNvSpPr>
          <p:nvPr>
            <p:ph type="sldNum" sz="quarter" idx="12"/>
          </p:nvPr>
        </p:nvSpPr>
        <p:spPr/>
        <p:txBody>
          <a:bodyPr/>
          <a:lstStyle/>
          <a:p>
            <a:fld id="{BDCDBBEF-AA6C-4BA6-85B2-A17D7F280E38}" type="slidenum">
              <a:rPr lang="en-US" smtClean="0"/>
              <a:t>14</a:t>
            </a:fld>
            <a:endParaRPr lang="en-US"/>
          </a:p>
        </p:txBody>
      </p:sp>
      <p:sp>
        <p:nvSpPr>
          <p:cNvPr id="8" name="Rectangle 7">
            <a:extLst>
              <a:ext uri="{FF2B5EF4-FFF2-40B4-BE49-F238E27FC236}">
                <a16:creationId xmlns:a16="http://schemas.microsoft.com/office/drawing/2014/main" id="{693C80A2-A61B-DDF6-3518-533058C70768}"/>
              </a:ext>
            </a:extLst>
          </p:cNvPr>
          <p:cNvSpPr/>
          <p:nvPr/>
        </p:nvSpPr>
        <p:spPr>
          <a:xfrm>
            <a:off x="838200" y="1138310"/>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BA498F62-6714-5D40-9D28-1B34BFE73F5C}"/>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1">
            <a:extLst>
              <a:ext uri="{FF2B5EF4-FFF2-40B4-BE49-F238E27FC236}">
                <a16:creationId xmlns:a16="http://schemas.microsoft.com/office/drawing/2014/main" id="{17EF963E-3635-E10C-4D07-352505882CB8}"/>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 name="Rectangle 12">
            <a:extLst>
              <a:ext uri="{FF2B5EF4-FFF2-40B4-BE49-F238E27FC236}">
                <a16:creationId xmlns:a16="http://schemas.microsoft.com/office/drawing/2014/main" id="{43BD0F9E-265B-0BF7-8838-D8C4A2690EF0}"/>
              </a:ext>
            </a:extLst>
          </p:cNvPr>
          <p:cNvSpPr>
            <a:spLocks noChangeArrowheads="1"/>
          </p:cNvSpPr>
          <p:nvPr/>
        </p:nvSpPr>
        <p:spPr bwMode="auto">
          <a:xfrm>
            <a:off x="0" y="98281"/>
            <a:ext cx="40908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3C55A5E-CA88-8CB0-B20B-C2BD639AA763}"/>
              </a:ext>
            </a:extLst>
          </p:cNvPr>
          <p:cNvSpPr txBox="1"/>
          <p:nvPr/>
        </p:nvSpPr>
        <p:spPr>
          <a:xfrm>
            <a:off x="838200" y="1081984"/>
            <a:ext cx="10395155"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Recursive Call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recursive call branches into two further calls: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with the current element included.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with the current element excluded.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forms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binary recursion tree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in the worst case, all 2ⁿ subsets are explored.</a:t>
            </a:r>
          </a:p>
        </p:txBody>
      </p:sp>
    </p:spTree>
    <p:extLst>
      <p:ext uri="{BB962C8B-B14F-4D97-AF65-F5344CB8AC3E}">
        <p14:creationId xmlns:p14="http://schemas.microsoft.com/office/powerpoint/2010/main" val="3271191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7C5B-385A-4F14-04AC-CAF18DE31156}"/>
              </a:ext>
            </a:extLst>
          </p:cNvPr>
          <p:cNvSpPr>
            <a:spLocks noGrp="1"/>
          </p:cNvSpPr>
          <p:nvPr>
            <p:ph type="title"/>
          </p:nvPr>
        </p:nvSpPr>
        <p:spPr>
          <a:xfrm>
            <a:off x="838200" y="195518"/>
            <a:ext cx="8807245" cy="657482"/>
          </a:xfrm>
        </p:spPr>
        <p:txBody>
          <a:bodyPr>
            <a:noAutofit/>
          </a:bodyPr>
          <a:lstStyle/>
          <a:p>
            <a:pPr algn="ctr"/>
            <a:r>
              <a:rPr lang="en-US" sz="3600" b="1" i="0" dirty="0">
                <a:solidFill>
                  <a:srgbClr val="001D35"/>
                </a:solidFill>
                <a:effectLst/>
                <a:latin typeface="Times New Roman" panose="02020603050405020304" pitchFamily="18" charset="0"/>
                <a:cs typeface="Times New Roman" panose="02020603050405020304" pitchFamily="18" charset="0"/>
              </a:rPr>
              <a:t>The sum </a:t>
            </a:r>
            <a:r>
              <a:rPr lang="en-US" sz="3600" b="1" dirty="0">
                <a:solidFill>
                  <a:srgbClr val="001D35"/>
                </a:solidFill>
                <a:latin typeface="Times New Roman" panose="02020603050405020304" pitchFamily="18" charset="0"/>
                <a:cs typeface="Times New Roman" panose="02020603050405020304" pitchFamily="18" charset="0"/>
              </a:rPr>
              <a:t>of </a:t>
            </a:r>
            <a:r>
              <a:rPr lang="en-US" sz="3600" b="1" i="0" dirty="0">
                <a:solidFill>
                  <a:srgbClr val="001D35"/>
                </a:solidFill>
                <a:effectLst/>
                <a:latin typeface="Times New Roman" panose="02020603050405020304" pitchFamily="18" charset="0"/>
                <a:cs typeface="Times New Roman" panose="02020603050405020304" pitchFamily="18" charset="0"/>
              </a:rPr>
              <a:t>subset problem is </a:t>
            </a:r>
            <a:br>
              <a:rPr lang="en-US" sz="3600" b="1" i="0" dirty="0">
                <a:solidFill>
                  <a:srgbClr val="001D35"/>
                </a:solidFill>
                <a:effectLst/>
                <a:latin typeface="Times New Roman" panose="02020603050405020304" pitchFamily="18" charset="0"/>
                <a:cs typeface="Times New Roman" panose="02020603050405020304" pitchFamily="18" charset="0"/>
              </a:rPr>
            </a:br>
            <a:r>
              <a:rPr lang="en-US" sz="3600" b="1" i="0" dirty="0">
                <a:solidFill>
                  <a:srgbClr val="001D35"/>
                </a:solidFill>
                <a:effectLst/>
                <a:latin typeface="Times New Roman" panose="02020603050405020304" pitchFamily="18" charset="0"/>
                <a:cs typeface="Times New Roman" panose="02020603050405020304" pitchFamily="18" charset="0"/>
              </a:rPr>
              <a:t>NP-complete </a:t>
            </a:r>
            <a:endParaRPr lang="en-IN" sz="3600" b="1" dirty="0"/>
          </a:p>
        </p:txBody>
      </p:sp>
      <p:sp>
        <p:nvSpPr>
          <p:cNvPr id="3" name="Content Placeholder 2">
            <a:extLst>
              <a:ext uri="{FF2B5EF4-FFF2-40B4-BE49-F238E27FC236}">
                <a16:creationId xmlns:a16="http://schemas.microsoft.com/office/drawing/2014/main" id="{6680A0CC-E9E9-4EDB-E650-AE27D9497151}"/>
              </a:ext>
            </a:extLst>
          </p:cNvPr>
          <p:cNvSpPr>
            <a:spLocks noGrp="1"/>
          </p:cNvSpPr>
          <p:nvPr>
            <p:ph idx="1"/>
          </p:nvPr>
        </p:nvSpPr>
        <p:spPr>
          <a:xfrm>
            <a:off x="838200" y="973393"/>
            <a:ext cx="10515600" cy="5748081"/>
          </a:xfrm>
          <a:ln>
            <a:solidFill>
              <a:schemeClr val="tx1"/>
            </a:solidFill>
          </a:ln>
        </p:spPr>
        <p:txBody>
          <a:bodyPr>
            <a:normAutofit fontScale="92500" lnSpcReduction="10000"/>
          </a:bodyPr>
          <a:lstStyle/>
          <a:p>
            <a:pPr algn="just" fontAlgn="ctr">
              <a:lnSpc>
                <a:spcPct val="120000"/>
              </a:lnSpc>
              <a:spcBef>
                <a:spcPts val="0"/>
              </a:spcBef>
              <a:buNone/>
            </a:pPr>
            <a:r>
              <a:rPr lang="en-US" sz="1800" b="0" i="0" dirty="0">
                <a:solidFill>
                  <a:srgbClr val="001D35"/>
                </a:solidFill>
                <a:effectLst/>
                <a:latin typeface="Times New Roman" panose="02020603050405020304" pitchFamily="18" charset="0"/>
                <a:cs typeface="Times New Roman" panose="02020603050405020304" pitchFamily="18" charset="0"/>
              </a:rPr>
              <a:t>The subset sum problem is NP-complete because it's a decision problem where finding a solution (a subset that sums to a target) is verifiable in polynomial time, but finding the solution itself requires potentially checking all possible subsets, which is computationally expensive and not solvable in polynomial time. Real-world applications include cryptography, knapsack problems, and resource allocation. </a:t>
            </a:r>
          </a:p>
          <a:p>
            <a:pPr algn="just">
              <a:lnSpc>
                <a:spcPct val="120000"/>
              </a:lnSpc>
              <a:spcBef>
                <a:spcPts val="0"/>
              </a:spcBef>
              <a:buNone/>
            </a:pPr>
            <a:r>
              <a:rPr lang="en-US" sz="1800" b="1" i="0" dirty="0">
                <a:solidFill>
                  <a:srgbClr val="001D35"/>
                </a:solidFill>
                <a:effectLst/>
                <a:latin typeface="Times New Roman" panose="02020603050405020304" pitchFamily="18" charset="0"/>
                <a:cs typeface="Times New Roman" panose="02020603050405020304" pitchFamily="18" charset="0"/>
              </a:rPr>
              <a:t>Why NP-Complete?</a:t>
            </a:r>
          </a:p>
          <a:p>
            <a:pPr algn="just">
              <a:lnSpc>
                <a:spcPct val="120000"/>
              </a:lnSpc>
              <a:spcBef>
                <a:spcPts val="0"/>
              </a:spcBef>
              <a:buFont typeface="Arial" panose="020B0604020202020204" pitchFamily="34" charset="0"/>
              <a:buChar char="•"/>
            </a:pPr>
            <a:r>
              <a:rPr lang="en-US" sz="1800" b="1" i="0" dirty="0">
                <a:solidFill>
                  <a:srgbClr val="001D35"/>
                </a:solidFill>
                <a:effectLst/>
                <a:latin typeface="Times New Roman" panose="02020603050405020304" pitchFamily="18" charset="0"/>
                <a:cs typeface="Times New Roman" panose="02020603050405020304" pitchFamily="18" charset="0"/>
              </a:rPr>
              <a:t>NP (Nondeterministic Polynomial Time):</a:t>
            </a:r>
            <a:endParaRPr lang="en-US" sz="1800" b="0" i="0" dirty="0">
              <a:solidFill>
                <a:srgbClr val="001D35"/>
              </a:solidFill>
              <a:effectLst/>
              <a:latin typeface="Times New Roman" panose="02020603050405020304" pitchFamily="18" charset="0"/>
              <a:cs typeface="Times New Roman" panose="02020603050405020304" pitchFamily="18" charset="0"/>
            </a:endParaRPr>
          </a:p>
          <a:p>
            <a:pPr algn="just" fontAlgn="ctr">
              <a:lnSpc>
                <a:spcPct val="120000"/>
              </a:lnSpc>
              <a:spcBef>
                <a:spcPts val="0"/>
              </a:spcBef>
              <a:buFont typeface="Arial" panose="020B0604020202020204" pitchFamily="34" charset="0"/>
              <a:buChar char="•"/>
            </a:pPr>
            <a:r>
              <a:rPr lang="en-US" sz="1800" b="0" i="0" dirty="0">
                <a:solidFill>
                  <a:srgbClr val="001D35"/>
                </a:solidFill>
                <a:effectLst/>
                <a:latin typeface="Times New Roman" panose="02020603050405020304" pitchFamily="18" charset="0"/>
                <a:cs typeface="Times New Roman" panose="02020603050405020304" pitchFamily="18" charset="0"/>
              </a:rPr>
              <a:t>The problem belongs to the class NP because if you're given a subset, you can quickly verify if it sums to the target value by simply adding the numbers in the subset. This verification is done in polynomial time (O(n) in this case). </a:t>
            </a:r>
          </a:p>
          <a:p>
            <a:pPr algn="just">
              <a:lnSpc>
                <a:spcPct val="120000"/>
              </a:lnSpc>
              <a:spcBef>
                <a:spcPts val="0"/>
              </a:spcBef>
              <a:buFont typeface="Arial" panose="020B0604020202020204" pitchFamily="34" charset="0"/>
              <a:buChar char="•"/>
            </a:pPr>
            <a:r>
              <a:rPr lang="en-US" sz="1800" b="1" i="0" dirty="0">
                <a:solidFill>
                  <a:srgbClr val="001D35"/>
                </a:solidFill>
                <a:effectLst/>
                <a:latin typeface="Times New Roman" panose="02020603050405020304" pitchFamily="18" charset="0"/>
                <a:cs typeface="Times New Roman" panose="02020603050405020304" pitchFamily="18" charset="0"/>
              </a:rPr>
              <a:t>NP-Completeness:</a:t>
            </a:r>
            <a:endParaRPr lang="en-US" sz="1800" b="0" i="0" dirty="0">
              <a:solidFill>
                <a:srgbClr val="001D35"/>
              </a:solidFill>
              <a:effectLst/>
              <a:latin typeface="Times New Roman" panose="02020603050405020304" pitchFamily="18" charset="0"/>
              <a:cs typeface="Times New Roman" panose="02020603050405020304" pitchFamily="18" charset="0"/>
            </a:endParaRPr>
          </a:p>
          <a:p>
            <a:pPr algn="just" fontAlgn="ctr">
              <a:lnSpc>
                <a:spcPct val="120000"/>
              </a:lnSpc>
              <a:spcBef>
                <a:spcPts val="0"/>
              </a:spcBef>
              <a:buFont typeface="Arial" panose="020B0604020202020204" pitchFamily="34" charset="0"/>
              <a:buChar char="•"/>
            </a:pPr>
            <a:r>
              <a:rPr lang="en-US" sz="1800" b="0" i="0" dirty="0">
                <a:solidFill>
                  <a:srgbClr val="001D35"/>
                </a:solidFill>
                <a:effectLst/>
                <a:latin typeface="Times New Roman" panose="02020603050405020304" pitchFamily="18" charset="0"/>
                <a:cs typeface="Times New Roman" panose="02020603050405020304" pitchFamily="18" charset="0"/>
              </a:rPr>
              <a:t>A problem is NP-complete if it's in NP and every other problem in NP can be reduced to it in polynomial time. This means if you could solve any NP-complete problem in polynomial time, you could solve all problems in NP in polynomial time. </a:t>
            </a:r>
          </a:p>
          <a:p>
            <a:pPr algn="just">
              <a:lnSpc>
                <a:spcPct val="120000"/>
              </a:lnSpc>
              <a:spcBef>
                <a:spcPts val="0"/>
              </a:spcBef>
              <a:buFont typeface="Arial" panose="020B0604020202020204" pitchFamily="34" charset="0"/>
              <a:buChar char="•"/>
            </a:pPr>
            <a:r>
              <a:rPr lang="en-US" sz="1800" b="1" i="0" dirty="0">
                <a:solidFill>
                  <a:srgbClr val="001D35"/>
                </a:solidFill>
                <a:effectLst/>
                <a:latin typeface="Times New Roman" panose="02020603050405020304" pitchFamily="18" charset="0"/>
                <a:cs typeface="Times New Roman" panose="02020603050405020304" pitchFamily="18" charset="0"/>
              </a:rPr>
              <a:t>Subset Sum Problem:</a:t>
            </a:r>
            <a:endParaRPr lang="en-US" sz="1800" b="0" i="0" dirty="0">
              <a:solidFill>
                <a:srgbClr val="001D35"/>
              </a:solidFill>
              <a:effectLst/>
              <a:latin typeface="Times New Roman" panose="02020603050405020304" pitchFamily="18" charset="0"/>
              <a:cs typeface="Times New Roman" panose="02020603050405020304" pitchFamily="18" charset="0"/>
            </a:endParaRPr>
          </a:p>
          <a:p>
            <a:pPr algn="just" fontAlgn="ctr">
              <a:lnSpc>
                <a:spcPct val="120000"/>
              </a:lnSpc>
              <a:spcBef>
                <a:spcPts val="0"/>
              </a:spcBef>
              <a:buFont typeface="Arial" panose="020B0604020202020204" pitchFamily="34" charset="0"/>
              <a:buChar char="•"/>
            </a:pPr>
            <a:r>
              <a:rPr lang="en-US" sz="1800" b="0" i="0" dirty="0">
                <a:solidFill>
                  <a:srgbClr val="001D35"/>
                </a:solidFill>
                <a:effectLst/>
                <a:latin typeface="Times New Roman" panose="02020603050405020304" pitchFamily="18" charset="0"/>
                <a:cs typeface="Times New Roman" panose="02020603050405020304" pitchFamily="18" charset="0"/>
              </a:rPr>
              <a:t>The subset sum problem asks: given a set of integers and a target sum, does any subset of those integers sum up to the target? </a:t>
            </a:r>
          </a:p>
          <a:p>
            <a:pPr algn="just">
              <a:lnSpc>
                <a:spcPct val="120000"/>
              </a:lnSpc>
              <a:spcBef>
                <a:spcPts val="0"/>
              </a:spcBef>
              <a:buFont typeface="Arial" panose="020B0604020202020204" pitchFamily="34" charset="0"/>
              <a:buChar char="•"/>
            </a:pPr>
            <a:r>
              <a:rPr lang="en-US" sz="1800" b="1" i="0" dirty="0">
                <a:solidFill>
                  <a:srgbClr val="001D35"/>
                </a:solidFill>
                <a:effectLst/>
                <a:latin typeface="Times New Roman" panose="02020603050405020304" pitchFamily="18" charset="0"/>
                <a:cs typeface="Times New Roman" panose="02020603050405020304" pitchFamily="18" charset="0"/>
              </a:rPr>
              <a:t>No Known Efficient Algorithm:</a:t>
            </a:r>
            <a:endParaRPr lang="en-US" sz="1800" b="0" i="0" dirty="0">
              <a:solidFill>
                <a:srgbClr val="001D35"/>
              </a:solidFill>
              <a:effectLst/>
              <a:latin typeface="Times New Roman" panose="02020603050405020304" pitchFamily="18" charset="0"/>
              <a:cs typeface="Times New Roman" panose="02020603050405020304" pitchFamily="18" charset="0"/>
            </a:endParaRPr>
          </a:p>
          <a:p>
            <a:pPr algn="just">
              <a:lnSpc>
                <a:spcPct val="120000"/>
              </a:lnSpc>
              <a:spcBef>
                <a:spcPts val="0"/>
              </a:spcBef>
              <a:buFont typeface="Arial" panose="020B0604020202020204" pitchFamily="34" charset="0"/>
              <a:buChar char="•"/>
            </a:pPr>
            <a:r>
              <a:rPr lang="en-US" sz="1800" b="0" i="0" dirty="0">
                <a:solidFill>
                  <a:srgbClr val="001D35"/>
                </a:solidFill>
                <a:effectLst/>
                <a:latin typeface="Times New Roman" panose="02020603050405020304" pitchFamily="18" charset="0"/>
                <a:cs typeface="Times New Roman" panose="02020603050405020304" pitchFamily="18" charset="0"/>
              </a:rPr>
              <a:t>While verifying a solution is easy, finding the solution itself requires potentially checking every possible subset, which is an exponential operation (O(2^n)). There is no known polynomial-time algorithm to solve the general subset sum problem efficiently. </a:t>
            </a:r>
          </a:p>
        </p:txBody>
      </p:sp>
      <p:sp>
        <p:nvSpPr>
          <p:cNvPr id="4" name="Slide Number Placeholder 3">
            <a:extLst>
              <a:ext uri="{FF2B5EF4-FFF2-40B4-BE49-F238E27FC236}">
                <a16:creationId xmlns:a16="http://schemas.microsoft.com/office/drawing/2014/main" id="{481E59A8-DE83-40C2-C3AF-2D7B4CB11B21}"/>
              </a:ext>
            </a:extLst>
          </p:cNvPr>
          <p:cNvSpPr>
            <a:spLocks noGrp="1"/>
          </p:cNvSpPr>
          <p:nvPr>
            <p:ph type="sldNum" sz="quarter" idx="12"/>
          </p:nvPr>
        </p:nvSpPr>
        <p:spPr/>
        <p:txBody>
          <a:bodyPr/>
          <a:lstStyle/>
          <a:p>
            <a:fld id="{BDCDBBEF-AA6C-4BA6-85B2-A17D7F280E38}" type="slidenum">
              <a:rPr lang="en-US" smtClean="0"/>
              <a:t>15</a:t>
            </a:fld>
            <a:endParaRPr lang="en-US"/>
          </a:p>
        </p:txBody>
      </p:sp>
    </p:spTree>
    <p:extLst>
      <p:ext uri="{BB962C8B-B14F-4D97-AF65-F5344CB8AC3E}">
        <p14:creationId xmlns:p14="http://schemas.microsoft.com/office/powerpoint/2010/main" val="11931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850"/>
            <a:ext cx="8226287" cy="76131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Sum of Subset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16</a:t>
            </a:fld>
            <a:endParaRPr lang="en-US"/>
          </a:p>
        </p:txBody>
      </p:sp>
      <p:sp>
        <p:nvSpPr>
          <p:cNvPr id="8" name="Rectangle 7"/>
          <p:cNvSpPr/>
          <p:nvPr/>
        </p:nvSpPr>
        <p:spPr>
          <a:xfrm>
            <a:off x="838200" y="1138310"/>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930964" y="1266103"/>
            <a:ext cx="10021174" cy="4796802"/>
          </a:xfrm>
          <a:prstGeom prst="rect">
            <a:avLst/>
          </a:prstGeom>
        </p:spPr>
      </p:pic>
      <p:sp>
        <p:nvSpPr>
          <p:cNvPr id="9" name="Rectangle 8"/>
          <p:cNvSpPr/>
          <p:nvPr/>
        </p:nvSpPr>
        <p:spPr>
          <a:xfrm>
            <a:off x="7129670" y="2531165"/>
            <a:ext cx="2650434" cy="3651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850"/>
            <a:ext cx="8226287" cy="76131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Sum of Subset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17</a:t>
            </a:fld>
            <a:endParaRPr lang="en-US"/>
          </a:p>
        </p:txBody>
      </p:sp>
      <p:sp>
        <p:nvSpPr>
          <p:cNvPr id="8" name="Rectangle 7"/>
          <p:cNvSpPr/>
          <p:nvPr/>
        </p:nvSpPr>
        <p:spPr>
          <a:xfrm>
            <a:off x="838200" y="1138310"/>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129670" y="2531165"/>
            <a:ext cx="2650434" cy="3651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886588" y="1197129"/>
            <a:ext cx="10301812" cy="5102895"/>
          </a:xfrm>
          <a:prstGeom prst="rect">
            <a:avLst/>
          </a:prstGeom>
        </p:spPr>
      </p:pic>
      <p:sp>
        <p:nvSpPr>
          <p:cNvPr id="6" name="Rectangle 5"/>
          <p:cNvSpPr/>
          <p:nvPr/>
        </p:nvSpPr>
        <p:spPr>
          <a:xfrm>
            <a:off x="4492487" y="5719690"/>
            <a:ext cx="2981739" cy="4823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0A32EFB-73EB-B978-1EC2-4FE44FAD30D0}"/>
                  </a:ext>
                </a:extLst>
              </p14:cNvPr>
              <p14:cNvContentPartPr/>
              <p14:nvPr/>
            </p14:nvContentPartPr>
            <p14:xfrm>
              <a:off x="3052161" y="5072060"/>
              <a:ext cx="15480" cy="885240"/>
            </p14:xfrm>
          </p:contentPart>
        </mc:Choice>
        <mc:Fallback xmlns="">
          <p:pic>
            <p:nvPicPr>
              <p:cNvPr id="10" name="Ink 9">
                <a:extLst>
                  <a:ext uri="{FF2B5EF4-FFF2-40B4-BE49-F238E27FC236}">
                    <a16:creationId xmlns:a16="http://schemas.microsoft.com/office/drawing/2014/main" id="{10A32EFB-73EB-B978-1EC2-4FE44FAD30D0}"/>
                  </a:ext>
                </a:extLst>
              </p:cNvPr>
              <p:cNvPicPr/>
              <p:nvPr/>
            </p:nvPicPr>
            <p:blipFill>
              <a:blip r:embed="rId4"/>
              <a:stretch>
                <a:fillRect/>
              </a:stretch>
            </p:blipFill>
            <p:spPr>
              <a:xfrm>
                <a:off x="2998521" y="4964060"/>
                <a:ext cx="123120" cy="110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0FD56E90-5FCA-CF70-FAFB-D60B5A0FB5BB}"/>
                  </a:ext>
                </a:extLst>
              </p14:cNvPr>
              <p14:cNvContentPartPr/>
              <p14:nvPr/>
            </p14:nvContentPartPr>
            <p14:xfrm>
              <a:off x="3067641" y="5030112"/>
              <a:ext cx="618840" cy="1108800"/>
            </p14:xfrm>
          </p:contentPart>
        </mc:Choice>
        <mc:Fallback xmlns="">
          <p:pic>
            <p:nvPicPr>
              <p:cNvPr id="11" name="Ink 10">
                <a:extLst>
                  <a:ext uri="{FF2B5EF4-FFF2-40B4-BE49-F238E27FC236}">
                    <a16:creationId xmlns:a16="http://schemas.microsoft.com/office/drawing/2014/main" id="{0FD56E90-5FCA-CF70-FAFB-D60B5A0FB5BB}"/>
                  </a:ext>
                </a:extLst>
              </p:cNvPr>
              <p:cNvPicPr/>
              <p:nvPr/>
            </p:nvPicPr>
            <p:blipFill>
              <a:blip r:embed="rId6"/>
              <a:stretch>
                <a:fillRect/>
              </a:stretch>
            </p:blipFill>
            <p:spPr>
              <a:xfrm>
                <a:off x="3014001" y="4922112"/>
                <a:ext cx="726480" cy="132444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26"/>
            <a:ext cx="8226287" cy="76131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Sum of Subset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18</a:t>
            </a:fld>
            <a:endParaRPr lang="en-US"/>
          </a:p>
        </p:txBody>
      </p:sp>
      <p:sp>
        <p:nvSpPr>
          <p:cNvPr id="8" name="Rectangle 7"/>
          <p:cNvSpPr/>
          <p:nvPr/>
        </p:nvSpPr>
        <p:spPr>
          <a:xfrm>
            <a:off x="838200" y="914400"/>
            <a:ext cx="10386391" cy="57507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Solve following problem and draw portion of state space tree M=30,W ={5, 10, 12, 13, 15, 18}</a:t>
            </a:r>
          </a:p>
        </p:txBody>
      </p:sp>
      <p:sp>
        <p:nvSpPr>
          <p:cNvPr id="9" name="Rectangle 8"/>
          <p:cNvSpPr/>
          <p:nvPr/>
        </p:nvSpPr>
        <p:spPr>
          <a:xfrm>
            <a:off x="7129670" y="2531165"/>
            <a:ext cx="2650434" cy="3651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ectangle 5"/>
          <p:cNvSpPr/>
          <p:nvPr/>
        </p:nvSpPr>
        <p:spPr>
          <a:xfrm>
            <a:off x="4492487" y="5719690"/>
            <a:ext cx="2981739" cy="4823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TextBox 11"/>
          <p:cNvSpPr txBox="1"/>
          <p:nvPr/>
        </p:nvSpPr>
        <p:spPr>
          <a:xfrm>
            <a:off x="838200" y="841482"/>
            <a:ext cx="105156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Solve following problem and draw portion of state space tree M=30,W ={5, 10, 12, 13, 15, 18}</a:t>
            </a:r>
            <a:endParaRPr lang="en-IN" sz="2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C5A56E1-E950-DD8D-D6B9-5DD13828AB78}"/>
                  </a:ext>
                </a:extLst>
              </p14:cNvPr>
              <p14:cNvContentPartPr/>
              <p14:nvPr/>
            </p14:nvContentPartPr>
            <p14:xfrm>
              <a:off x="-499025" y="4516440"/>
              <a:ext cx="360" cy="360"/>
            </p14:xfrm>
          </p:contentPart>
        </mc:Choice>
        <mc:Fallback xmlns="">
          <p:pic>
            <p:nvPicPr>
              <p:cNvPr id="5" name="Ink 4">
                <a:extLst>
                  <a:ext uri="{FF2B5EF4-FFF2-40B4-BE49-F238E27FC236}">
                    <a16:creationId xmlns:a16="http://schemas.microsoft.com/office/drawing/2014/main" id="{CC5A56E1-E950-DD8D-D6B9-5DD13828AB78}"/>
                  </a:ext>
                </a:extLst>
              </p:cNvPr>
              <p:cNvPicPr/>
              <p:nvPr/>
            </p:nvPicPr>
            <p:blipFill>
              <a:blip r:embed="rId3"/>
              <a:stretch>
                <a:fillRect/>
              </a:stretch>
            </p:blipFill>
            <p:spPr>
              <a:xfrm>
                <a:off x="-505145" y="45103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81E9579-C2BE-C8C5-B1CA-E94B08C6F691}"/>
                  </a:ext>
                </a:extLst>
              </p14:cNvPr>
              <p14:cNvContentPartPr/>
              <p14:nvPr/>
            </p14:nvContentPartPr>
            <p14:xfrm>
              <a:off x="6774775" y="4696440"/>
              <a:ext cx="360" cy="360"/>
            </p14:xfrm>
          </p:contentPart>
        </mc:Choice>
        <mc:Fallback xmlns="">
          <p:pic>
            <p:nvPicPr>
              <p:cNvPr id="7" name="Ink 6">
                <a:extLst>
                  <a:ext uri="{FF2B5EF4-FFF2-40B4-BE49-F238E27FC236}">
                    <a16:creationId xmlns:a16="http://schemas.microsoft.com/office/drawing/2014/main" id="{381E9579-C2BE-C8C5-B1CA-E94B08C6F691}"/>
                  </a:ext>
                </a:extLst>
              </p:cNvPr>
              <p:cNvPicPr/>
              <p:nvPr/>
            </p:nvPicPr>
            <p:blipFill>
              <a:blip r:embed="rId3"/>
              <a:stretch>
                <a:fillRect/>
              </a:stretch>
            </p:blipFill>
            <p:spPr>
              <a:xfrm>
                <a:off x="6768655" y="46903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DCEF3763-8B51-9AD3-CA2D-CFBAC40C1D2B}"/>
                  </a:ext>
                </a:extLst>
              </p14:cNvPr>
              <p14:cNvContentPartPr/>
              <p14:nvPr/>
            </p14:nvContentPartPr>
            <p14:xfrm>
              <a:off x="5389495" y="4170120"/>
              <a:ext cx="360" cy="360"/>
            </p14:xfrm>
          </p:contentPart>
        </mc:Choice>
        <mc:Fallback xmlns="">
          <p:pic>
            <p:nvPicPr>
              <p:cNvPr id="11" name="Ink 10">
                <a:extLst>
                  <a:ext uri="{FF2B5EF4-FFF2-40B4-BE49-F238E27FC236}">
                    <a16:creationId xmlns:a16="http://schemas.microsoft.com/office/drawing/2014/main" id="{DCEF3763-8B51-9AD3-CA2D-CFBAC40C1D2B}"/>
                  </a:ext>
                </a:extLst>
              </p:cNvPr>
              <p:cNvPicPr/>
              <p:nvPr/>
            </p:nvPicPr>
            <p:blipFill>
              <a:blip r:embed="rId3"/>
              <a:stretch>
                <a:fillRect/>
              </a:stretch>
            </p:blipFill>
            <p:spPr>
              <a:xfrm>
                <a:off x="5383375" y="4164000"/>
                <a:ext cx="12600" cy="12600"/>
              </a:xfrm>
              <a:prstGeom prst="rect">
                <a:avLst/>
              </a:prstGeom>
            </p:spPr>
          </p:pic>
        </mc:Fallback>
      </mc:AlternateContent>
      <p:pic>
        <p:nvPicPr>
          <p:cNvPr id="14" name="Picture 13">
            <a:extLst>
              <a:ext uri="{FF2B5EF4-FFF2-40B4-BE49-F238E27FC236}">
                <a16:creationId xmlns:a16="http://schemas.microsoft.com/office/drawing/2014/main" id="{77FFF41E-8DFA-1544-0DDC-7AE9345CDFCA}"/>
              </a:ext>
            </a:extLst>
          </p:cNvPr>
          <p:cNvPicPr>
            <a:picLocks noChangeAspect="1"/>
          </p:cNvPicPr>
          <p:nvPr/>
        </p:nvPicPr>
        <p:blipFill>
          <a:blip r:embed="rId6"/>
          <a:stretch>
            <a:fillRect/>
          </a:stretch>
        </p:blipFill>
        <p:spPr>
          <a:xfrm>
            <a:off x="967409" y="1484427"/>
            <a:ext cx="9983703" cy="49378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850"/>
            <a:ext cx="8226287" cy="76131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Sum of Subset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19</a:t>
            </a:fld>
            <a:endParaRPr lang="en-US"/>
          </a:p>
        </p:txBody>
      </p:sp>
      <p:sp>
        <p:nvSpPr>
          <p:cNvPr id="8" name="Rectangle 7"/>
          <p:cNvSpPr/>
          <p:nvPr/>
        </p:nvSpPr>
        <p:spPr>
          <a:xfrm>
            <a:off x="838200" y="1138310"/>
            <a:ext cx="10515600" cy="55268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64704" y="1186393"/>
            <a:ext cx="10515600" cy="4893647"/>
          </a:xfrm>
          <a:prstGeom prst="rect">
            <a:avLst/>
          </a:prstGeom>
          <a:noFill/>
        </p:spPr>
        <p:txBody>
          <a:bodyPr wrap="square" rtlCol="0">
            <a:spAutoFit/>
          </a:bodyPr>
          <a:lstStyle/>
          <a:p>
            <a:pPr algn="just"/>
            <a:r>
              <a:rPr lang="en-US" sz="2400" b="0" i="0" dirty="0" err="1">
                <a:solidFill>
                  <a:srgbClr val="000000"/>
                </a:solidFill>
                <a:effectLst/>
                <a:latin typeface="Times New Roman" panose="02020603050405020304" pitchFamily="18" charset="0"/>
                <a:cs typeface="Times New Roman" panose="02020603050405020304" pitchFamily="18" charset="0"/>
              </a:rPr>
              <a:t>subsetSum</a:t>
            </a:r>
            <a:r>
              <a:rPr lang="en-US" sz="2400" b="0" i="0" dirty="0">
                <a:solidFill>
                  <a:srgbClr val="000000"/>
                </a:solidFill>
                <a:effectLst/>
                <a:latin typeface="Times New Roman" panose="02020603050405020304" pitchFamily="18" charset="0"/>
                <a:cs typeface="Times New Roman" panose="02020603050405020304" pitchFamily="18" charset="0"/>
              </a:rPr>
              <a:t>(set, subset, n, </a:t>
            </a:r>
            <a:r>
              <a:rPr lang="en-US" sz="2400" b="0" i="0" dirty="0" err="1">
                <a:solidFill>
                  <a:srgbClr val="000000"/>
                </a:solidFill>
                <a:effectLst/>
                <a:latin typeface="Times New Roman" panose="02020603050405020304" pitchFamily="18" charset="0"/>
                <a:cs typeface="Times New Roman" panose="02020603050405020304" pitchFamily="18" charset="0"/>
              </a:rPr>
              <a:t>subSize</a:t>
            </a:r>
            <a:r>
              <a:rPr lang="en-US" sz="2400" b="0" i="0" dirty="0">
                <a:solidFill>
                  <a:srgbClr val="000000"/>
                </a:solidFill>
                <a:effectLst/>
                <a:latin typeface="Times New Roman" panose="02020603050405020304" pitchFamily="18" charset="0"/>
                <a:cs typeface="Times New Roman" panose="02020603050405020304" pitchFamily="18" charset="0"/>
              </a:rPr>
              <a:t>, total, node, sum)</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Begin</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if total = sum, then</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display the subset</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//go for finding next subset</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a:t>
            </a:r>
            <a:r>
              <a:rPr lang="en-US" sz="2400" b="0" i="0" dirty="0" err="1">
                <a:solidFill>
                  <a:srgbClr val="000000"/>
                </a:solidFill>
                <a:effectLst/>
                <a:latin typeface="Times New Roman" panose="02020603050405020304" pitchFamily="18" charset="0"/>
                <a:cs typeface="Times New Roman" panose="02020603050405020304" pitchFamily="18" charset="0"/>
              </a:rPr>
              <a:t>subsetSum</a:t>
            </a:r>
            <a:r>
              <a:rPr lang="en-US" sz="2400" b="0" i="0" dirty="0">
                <a:solidFill>
                  <a:srgbClr val="000000"/>
                </a:solidFill>
                <a:effectLst/>
                <a:latin typeface="Times New Roman" panose="02020603050405020304" pitchFamily="18" charset="0"/>
                <a:cs typeface="Times New Roman" panose="02020603050405020304" pitchFamily="18" charset="0"/>
              </a:rPr>
              <a:t>(set, subset, , subSize-1, total-set[node], node+1, sum)</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return</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else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for all element </a:t>
            </a:r>
            <a:r>
              <a:rPr lang="en-US" sz="2400" b="0" i="0" dirty="0" err="1">
                <a:solidFill>
                  <a:srgbClr val="000000"/>
                </a:solidFill>
                <a:effectLst/>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 in the set, do</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subset[</a:t>
            </a:r>
            <a:r>
              <a:rPr lang="en-US" sz="2400" b="0" i="0" dirty="0" err="1">
                <a:solidFill>
                  <a:srgbClr val="000000"/>
                </a:solidFill>
                <a:effectLst/>
                <a:latin typeface="Times New Roman" panose="02020603050405020304" pitchFamily="18" charset="0"/>
                <a:cs typeface="Times New Roman" panose="02020603050405020304" pitchFamily="18" charset="0"/>
              </a:rPr>
              <a:t>subSize</a:t>
            </a:r>
            <a:r>
              <a:rPr lang="en-US" sz="2400" b="0" i="0" dirty="0">
                <a:solidFill>
                  <a:srgbClr val="000000"/>
                </a:solidFill>
                <a:effectLst/>
                <a:latin typeface="Times New Roman" panose="02020603050405020304" pitchFamily="18" charset="0"/>
                <a:cs typeface="Times New Roman" panose="02020603050405020304" pitchFamily="18" charset="0"/>
              </a:rPr>
              <a:t>] := set[</a:t>
            </a:r>
            <a:r>
              <a:rPr lang="en-US" sz="2400" b="0" i="0" dirty="0" err="1">
                <a:solidFill>
                  <a:srgbClr val="000000"/>
                </a:solidFill>
                <a:effectLst/>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a:t>
            </a:r>
            <a:r>
              <a:rPr lang="en-US" sz="2400" b="0" i="0" dirty="0" err="1">
                <a:solidFill>
                  <a:srgbClr val="000000"/>
                </a:solidFill>
                <a:effectLst/>
                <a:latin typeface="Times New Roman" panose="02020603050405020304" pitchFamily="18" charset="0"/>
                <a:cs typeface="Times New Roman" panose="02020603050405020304" pitchFamily="18" charset="0"/>
              </a:rPr>
              <a:t>subSetSum</a:t>
            </a:r>
            <a:r>
              <a:rPr lang="en-US" sz="2400" b="0" i="0" dirty="0">
                <a:solidFill>
                  <a:srgbClr val="000000"/>
                </a:solidFill>
                <a:effectLst/>
                <a:latin typeface="Times New Roman" panose="02020603050405020304" pitchFamily="18" charset="0"/>
                <a:cs typeface="Times New Roman" panose="02020603050405020304" pitchFamily="18" charset="0"/>
              </a:rPr>
              <a:t>(set, subset, n, subSize+1, </a:t>
            </a:r>
            <a:r>
              <a:rPr lang="en-US" sz="2400" b="0" i="0" dirty="0" err="1">
                <a:solidFill>
                  <a:srgbClr val="000000"/>
                </a:solidFill>
                <a:effectLst/>
                <a:latin typeface="Times New Roman" panose="02020603050405020304" pitchFamily="18" charset="0"/>
                <a:cs typeface="Times New Roman" panose="02020603050405020304" pitchFamily="18" charset="0"/>
              </a:rPr>
              <a:t>total+set</a:t>
            </a:r>
            <a:r>
              <a:rPr lang="en-US" sz="2400" b="0" i="0" dirty="0">
                <a:solidFill>
                  <a:srgbClr val="000000"/>
                </a:solidFill>
                <a:effectLst/>
                <a:latin typeface="Times New Roman" panose="02020603050405020304" pitchFamily="18" charset="0"/>
                <a:cs typeface="Times New Roman" panose="02020603050405020304" pitchFamily="18" charset="0"/>
              </a:rPr>
              <a:t>[</a:t>
            </a:r>
            <a:r>
              <a:rPr lang="en-US" sz="2400" b="0" i="0" dirty="0" err="1">
                <a:solidFill>
                  <a:srgbClr val="000000"/>
                </a:solidFill>
                <a:effectLst/>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 i+1, sum)</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done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End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CF2BE-7B76-15F5-4E44-43DE266F3CA0}"/>
              </a:ext>
            </a:extLst>
          </p:cNvPr>
          <p:cNvSpPr>
            <a:spLocks noGrp="1"/>
          </p:cNvSpPr>
          <p:nvPr>
            <p:ph type="title"/>
          </p:nvPr>
        </p:nvSpPr>
        <p:spPr>
          <a:xfrm>
            <a:off x="1198418" y="205508"/>
            <a:ext cx="8181110" cy="951057"/>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Sum of Subsets Applications</a:t>
            </a:r>
          </a:p>
        </p:txBody>
      </p:sp>
      <p:sp>
        <p:nvSpPr>
          <p:cNvPr id="3" name="Content Placeholder 2">
            <a:extLst>
              <a:ext uri="{FF2B5EF4-FFF2-40B4-BE49-F238E27FC236}">
                <a16:creationId xmlns:a16="http://schemas.microsoft.com/office/drawing/2014/main" id="{8A3E3A6B-F757-4BED-BDBF-AD295E635DE2}"/>
              </a:ext>
            </a:extLst>
          </p:cNvPr>
          <p:cNvSpPr>
            <a:spLocks noGrp="1"/>
          </p:cNvSpPr>
          <p:nvPr>
            <p:ph idx="1"/>
          </p:nvPr>
        </p:nvSpPr>
        <p:spPr>
          <a:xfrm>
            <a:off x="838200" y="1565564"/>
            <a:ext cx="10515600" cy="4611399"/>
          </a:xfrm>
          <a:ln>
            <a:solidFill>
              <a:schemeClr val="tx1"/>
            </a:solidFill>
          </a:ln>
        </p:spPr>
        <p:txBody>
          <a:bodyPr>
            <a:normAutofit/>
          </a:bodyPr>
          <a:lstStyle/>
          <a:p>
            <a:pPr algn="l" fontAlgn="ctr">
              <a:buFont typeface="Arial" panose="020B0604020202020204" pitchFamily="34" charset="0"/>
              <a:buChar char="•"/>
            </a:pPr>
            <a:r>
              <a:rPr lang="en-US" sz="2400" b="1" i="0" dirty="0">
                <a:solidFill>
                  <a:srgbClr val="001D35"/>
                </a:solidFill>
                <a:effectLst/>
                <a:latin typeface="Times New Roman" panose="02020603050405020304" pitchFamily="18" charset="0"/>
                <a:cs typeface="Times New Roman" panose="02020603050405020304" pitchFamily="18" charset="0"/>
              </a:rPr>
              <a:t>Financial data analysis</a:t>
            </a:r>
            <a:r>
              <a:rPr lang="en-US" sz="2400" b="0" i="0" dirty="0">
                <a:solidFill>
                  <a:srgbClr val="001D35"/>
                </a:solidFill>
                <a:effectLst/>
                <a:latin typeface="Times New Roman" panose="02020603050405020304" pitchFamily="18" charset="0"/>
                <a:cs typeface="Times New Roman" panose="02020603050405020304" pitchFamily="18" charset="0"/>
              </a:rPr>
              <a:t>: The subset sum problem can be used to analyze and check the consistency of financial documents. </a:t>
            </a:r>
          </a:p>
          <a:p>
            <a:pPr algn="l" fontAlgn="ctr">
              <a:buFont typeface="Arial" panose="020B0604020202020204" pitchFamily="34" charset="0"/>
              <a:buChar char="•"/>
            </a:pPr>
            <a:r>
              <a:rPr lang="en-US" sz="2400" b="1" i="0" dirty="0">
                <a:solidFill>
                  <a:srgbClr val="001D35"/>
                </a:solidFill>
                <a:effectLst/>
                <a:latin typeface="Times New Roman" panose="02020603050405020304" pitchFamily="18" charset="0"/>
                <a:cs typeface="Times New Roman" panose="02020603050405020304" pitchFamily="18" charset="0"/>
              </a:rPr>
              <a:t>Automated auditing</a:t>
            </a:r>
            <a:r>
              <a:rPr lang="en-US" sz="2400" b="0" i="0" dirty="0">
                <a:solidFill>
                  <a:srgbClr val="001D35"/>
                </a:solidFill>
                <a:effectLst/>
                <a:latin typeface="Times New Roman" panose="02020603050405020304" pitchFamily="18" charset="0"/>
                <a:cs typeface="Times New Roman" panose="02020603050405020304" pitchFamily="18" charset="0"/>
              </a:rPr>
              <a:t>: The subset sum problem can be used in automated auditing. </a:t>
            </a:r>
          </a:p>
          <a:p>
            <a:pPr algn="l">
              <a:buFont typeface="Arial" panose="020B0604020202020204" pitchFamily="34" charset="0"/>
              <a:buChar char="•"/>
            </a:pPr>
            <a:r>
              <a:rPr lang="en-US" sz="2400" b="1" i="0" dirty="0">
                <a:solidFill>
                  <a:srgbClr val="001D35"/>
                </a:solidFill>
                <a:effectLst/>
                <a:latin typeface="Times New Roman" panose="02020603050405020304" pitchFamily="18" charset="0"/>
                <a:cs typeface="Times New Roman" panose="02020603050405020304" pitchFamily="18" charset="0"/>
              </a:rPr>
              <a:t>Computer passwords</a:t>
            </a:r>
            <a:r>
              <a:rPr lang="en-US" sz="2400" b="0" i="0" dirty="0">
                <a:solidFill>
                  <a:srgbClr val="001D35"/>
                </a:solidFill>
                <a:effectLst/>
                <a:latin typeface="Times New Roman" panose="02020603050405020304" pitchFamily="18" charset="0"/>
                <a:cs typeface="Times New Roman" panose="02020603050405020304" pitchFamily="18" charset="0"/>
              </a:rPr>
              <a:t>: The subset sum problem can be used to verify a user's identity for computer access. </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108A10C-ED3D-545E-6A15-A1E7460C3AEF}"/>
              </a:ext>
            </a:extLst>
          </p:cNvPr>
          <p:cNvSpPr>
            <a:spLocks noGrp="1"/>
          </p:cNvSpPr>
          <p:nvPr>
            <p:ph type="sldNum" sz="quarter" idx="12"/>
          </p:nvPr>
        </p:nvSpPr>
        <p:spPr/>
        <p:txBody>
          <a:bodyPr/>
          <a:lstStyle/>
          <a:p>
            <a:fld id="{BDCDBBEF-AA6C-4BA6-85B2-A17D7F280E38}" type="slidenum">
              <a:rPr lang="en-US" smtClean="0"/>
              <a:t>20</a:t>
            </a:fld>
            <a:endParaRPr lang="en-US"/>
          </a:p>
        </p:txBody>
      </p:sp>
    </p:spTree>
    <p:extLst>
      <p:ext uri="{BB962C8B-B14F-4D97-AF65-F5344CB8AC3E}">
        <p14:creationId xmlns:p14="http://schemas.microsoft.com/office/powerpoint/2010/main" val="1554947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C1B86-C43A-7CB8-E26E-E3913724F279}"/>
              </a:ext>
            </a:extLst>
          </p:cNvPr>
          <p:cNvSpPr>
            <a:spLocks noGrp="1"/>
          </p:cNvSpPr>
          <p:nvPr>
            <p:ph type="title"/>
          </p:nvPr>
        </p:nvSpPr>
        <p:spPr>
          <a:xfrm>
            <a:off x="970936" y="136525"/>
            <a:ext cx="8379542" cy="770501"/>
          </a:xfrm>
        </p:spPr>
        <p:txBody>
          <a:bodyPr/>
          <a:lstStyle/>
          <a:p>
            <a:pPr algn="ctr"/>
            <a:r>
              <a:rPr lang="en-US" b="1" dirty="0">
                <a:latin typeface="Times New Roman" panose="02020603050405020304" pitchFamily="18" charset="0"/>
                <a:cs typeface="Times New Roman" panose="02020603050405020304" pitchFamily="18" charset="0"/>
              </a:rPr>
              <a:t>Time Complexity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36F4F3-194A-63A1-D6DA-6829E3542FA7}"/>
              </a:ext>
            </a:extLst>
          </p:cNvPr>
          <p:cNvSpPr>
            <a:spLocks noGrp="1"/>
          </p:cNvSpPr>
          <p:nvPr>
            <p:ph idx="1"/>
          </p:nvPr>
        </p:nvSpPr>
        <p:spPr>
          <a:xfrm>
            <a:off x="838200" y="1120877"/>
            <a:ext cx="10515600" cy="5056086"/>
          </a:xfrm>
          <a:ln>
            <a:solidFill>
              <a:schemeClr val="tx1"/>
            </a:solidFill>
          </a:ln>
        </p:spPr>
        <p:txBody>
          <a:bodyPr>
            <a:normAutofit/>
          </a:bodyPr>
          <a:lstStyle/>
          <a:p>
            <a:r>
              <a:rPr lang="en-US" sz="2400" b="1" dirty="0">
                <a:latin typeface="Times New Roman" panose="02020603050405020304" pitchFamily="18" charset="0"/>
                <a:cs typeface="Times New Roman" panose="02020603050405020304" pitchFamily="18" charset="0"/>
              </a:rPr>
              <a:t>Best Case </a:t>
            </a:r>
          </a:p>
          <a:p>
            <a:r>
              <a:rPr lang="en-US" sz="2400" dirty="0">
                <a:latin typeface="Times New Roman" panose="02020603050405020304" pitchFamily="18" charset="0"/>
                <a:cs typeface="Times New Roman" panose="02020603050405020304" pitchFamily="18" charset="0"/>
              </a:rPr>
              <a:t>(Early Pruning Possible)When the solution is found early or many branches are pruned due to sum exceeding the target.</a:t>
            </a:r>
          </a:p>
          <a:p>
            <a:r>
              <a:rPr lang="en-US" sz="2400" dirty="0">
                <a:latin typeface="Times New Roman" panose="02020603050405020304" pitchFamily="18" charset="0"/>
                <a:cs typeface="Times New Roman" panose="02020603050405020304" pitchFamily="18" charset="0"/>
              </a:rPr>
              <a:t>O(n).</a:t>
            </a:r>
          </a:p>
          <a:p>
            <a:pPr>
              <a:buNone/>
            </a:pPr>
            <a:r>
              <a:rPr lang="en-US" sz="2400" b="1" dirty="0">
                <a:latin typeface="Times New Roman" panose="02020603050405020304" pitchFamily="18" charset="0"/>
                <a:cs typeface="Times New Roman" panose="02020603050405020304" pitchFamily="18" charset="0"/>
              </a:rPr>
              <a:t>Average Case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Some pruning happens, but not significantly.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O(2^n)</a:t>
            </a:r>
          </a:p>
          <a:p>
            <a:pPr>
              <a:buNone/>
            </a:pPr>
            <a:r>
              <a:rPr lang="en-US" sz="2400" b="1" dirty="0">
                <a:latin typeface="Times New Roman" panose="02020603050405020304" pitchFamily="18" charset="0"/>
                <a:cs typeface="Times New Roman" panose="02020603050405020304" pitchFamily="18" charset="0"/>
              </a:rPr>
              <a:t>Worst Case (No Pruning)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subsets are explored (e.g., all elements are small and can be part of the sum).</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O(2^n)</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82A2B49-4D12-9798-FAF6-ED93BA2FB965}"/>
              </a:ext>
            </a:extLst>
          </p:cNvPr>
          <p:cNvSpPr>
            <a:spLocks noGrp="1"/>
          </p:cNvSpPr>
          <p:nvPr>
            <p:ph type="sldNum" sz="quarter" idx="12"/>
          </p:nvPr>
        </p:nvSpPr>
        <p:spPr/>
        <p:txBody>
          <a:bodyPr/>
          <a:lstStyle/>
          <a:p>
            <a:fld id="{BDCDBBEF-AA6C-4BA6-85B2-A17D7F280E38}" type="slidenum">
              <a:rPr lang="en-US" smtClean="0"/>
              <a:t>21</a:t>
            </a:fld>
            <a:endParaRPr lang="en-US"/>
          </a:p>
        </p:txBody>
      </p:sp>
    </p:spTree>
    <p:extLst>
      <p:ext uri="{BB962C8B-B14F-4D97-AF65-F5344CB8AC3E}">
        <p14:creationId xmlns:p14="http://schemas.microsoft.com/office/powerpoint/2010/main" val="2435172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240"/>
            <a:ext cx="8743122" cy="808214"/>
          </a:xfrm>
        </p:spPr>
        <p:txBody>
          <a:bodyPr/>
          <a:lstStyle/>
          <a:p>
            <a:pPr algn="ctr"/>
            <a:r>
              <a:rPr lang="en-US" altLang="zh-TW" b="1" dirty="0">
                <a:latin typeface="Times New Roman" panose="02020603050405020304" pitchFamily="18" charset="0"/>
                <a:cs typeface="Times New Roman" panose="02020603050405020304" pitchFamily="18" charset="0"/>
              </a:rPr>
              <a:t>Graph Coloring</a:t>
            </a:r>
            <a:endParaRPr lang="en-US" dirty="0"/>
          </a:p>
        </p:txBody>
      </p:sp>
      <p:sp>
        <p:nvSpPr>
          <p:cNvPr id="3" name="Content Placeholder 2"/>
          <p:cNvSpPr>
            <a:spLocks noGrp="1"/>
          </p:cNvSpPr>
          <p:nvPr>
            <p:ph idx="1"/>
          </p:nvPr>
        </p:nvSpPr>
        <p:spPr>
          <a:xfrm>
            <a:off x="838200" y="1120844"/>
            <a:ext cx="10515600" cy="5235505"/>
          </a:xfrm>
        </p:spPr>
        <p:txBody>
          <a:bodyPr>
            <a:normAutofit fontScale="92500" lnSpcReduction="10000"/>
          </a:bodyPr>
          <a:lstStyle/>
          <a:p>
            <a:pPr marL="0" indent="0" algn="just">
              <a:spcBef>
                <a:spcPct val="50000"/>
              </a:spcBef>
              <a:buNone/>
            </a:pPr>
            <a:r>
              <a:rPr lang="en-US" sz="2400" dirty="0">
                <a:latin typeface="Times New Roman" panose="02020603050405020304" pitchFamily="18" charset="0"/>
                <a:cs typeface="Times New Roman" panose="02020603050405020304" pitchFamily="18" charset="0"/>
              </a:rPr>
              <a:t>Let G be undirected graph and let c be an integer.</a:t>
            </a:r>
          </a:p>
          <a:p>
            <a:pPr algn="just">
              <a:spcBef>
                <a:spcPct val="50000"/>
              </a:spcBef>
            </a:pPr>
            <a:r>
              <a:rPr lang="en-US" sz="2400" dirty="0">
                <a:latin typeface="Times New Roman" panose="02020603050405020304" pitchFamily="18" charset="0"/>
                <a:cs typeface="Times New Roman" panose="02020603050405020304" pitchFamily="18" charset="0"/>
              </a:rPr>
              <a:t>Assignment of colors to the vertices or edges such that  no two adjacent vertices are to be similarly colored.</a:t>
            </a:r>
          </a:p>
          <a:p>
            <a:pPr algn="just">
              <a:spcBef>
                <a:spcPct val="50000"/>
              </a:spcBef>
            </a:pPr>
            <a:r>
              <a:rPr lang="en-US" sz="2400" dirty="0">
                <a:latin typeface="Times New Roman" panose="02020603050405020304" pitchFamily="18" charset="0"/>
                <a:cs typeface="Times New Roman" panose="02020603050405020304" pitchFamily="18" charset="0"/>
              </a:rPr>
              <a:t>We want to minimize the number of colors used.</a:t>
            </a:r>
          </a:p>
          <a:p>
            <a:pPr algn="just">
              <a:spcBef>
                <a:spcPct val="50000"/>
              </a:spcBef>
              <a:buFontTx/>
              <a:buAutoNum type="arabicPeriod"/>
            </a:pPr>
            <a:r>
              <a:rPr lang="en-US" sz="2400" dirty="0">
                <a:latin typeface="Times New Roman" panose="02020603050405020304" pitchFamily="18" charset="0"/>
                <a:cs typeface="Times New Roman" panose="02020603050405020304" pitchFamily="18" charset="0"/>
              </a:rPr>
              <a:t>The graph coloring optimization problem: find the minimum number of colors needed to color a graph.</a:t>
            </a:r>
          </a:p>
          <a:p>
            <a:pPr algn="just">
              <a:spcBef>
                <a:spcPct val="50000"/>
              </a:spcBef>
              <a:buFontTx/>
              <a:buAutoNum type="arabicPeriod"/>
            </a:pPr>
            <a:r>
              <a:rPr lang="en-US" sz="2400" dirty="0">
                <a:latin typeface="Times New Roman" panose="02020603050405020304" pitchFamily="18" charset="0"/>
                <a:cs typeface="Times New Roman" panose="02020603050405020304" pitchFamily="18" charset="0"/>
              </a:rPr>
              <a:t>The graph coloring decision problem: determine if there exists a coloring for a given graph which uses at most m colors.</a:t>
            </a:r>
          </a:p>
          <a:p>
            <a:pPr algn="just">
              <a:spcBef>
                <a:spcPct val="50000"/>
              </a:spcBef>
            </a:pPr>
            <a:r>
              <a:rPr lang="en-US" sz="2400" dirty="0">
                <a:latin typeface="Times New Roman" panose="02020603050405020304" pitchFamily="18" charset="0"/>
              </a:rPr>
              <a:t>Practical applications: scheduling, time-tabling, register allocation for compilers, coloring of maps.</a:t>
            </a:r>
          </a:p>
          <a:p>
            <a:pPr algn="just">
              <a:spcBef>
                <a:spcPct val="50000"/>
              </a:spcBef>
            </a:pPr>
            <a:r>
              <a:rPr lang="en-US" sz="2400" dirty="0">
                <a:latin typeface="Times New Roman" panose="02020603050405020304" pitchFamily="18" charset="0"/>
              </a:rPr>
              <a:t>A simple graph coloring algorithm - choose a color and an arbitrary starting vertex and  color all the vertices that can be colored with that color. </a:t>
            </a:r>
          </a:p>
          <a:p>
            <a:pPr algn="just">
              <a:spcBef>
                <a:spcPct val="50000"/>
              </a:spcBef>
            </a:pPr>
            <a:r>
              <a:rPr lang="en-US" sz="2400" dirty="0">
                <a:latin typeface="Times New Roman" panose="02020603050405020304" pitchFamily="18" charset="0"/>
              </a:rPr>
              <a:t>Choose next starting vertex and next color and repeat the coloring until all the vertices are colored.</a:t>
            </a:r>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t>22</a:t>
            </a:fld>
            <a:endParaRPr lang="en-US"/>
          </a:p>
        </p:txBody>
      </p:sp>
      <p:sp>
        <p:nvSpPr>
          <p:cNvPr id="6" name="Rectangle 5"/>
          <p:cNvSpPr/>
          <p:nvPr/>
        </p:nvSpPr>
        <p:spPr>
          <a:xfrm>
            <a:off x="838200" y="1120844"/>
            <a:ext cx="10515600" cy="523550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25849"/>
            <a:ext cx="8743122" cy="9516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765"/>
            <a:ext cx="8743122" cy="946841"/>
          </a:xfrm>
        </p:spPr>
        <p:txBody>
          <a:bodyPr/>
          <a:lstStyle/>
          <a:p>
            <a:pPr algn="ctr"/>
            <a:r>
              <a:rPr lang="en-US" altLang="zh-TW" b="1" dirty="0">
                <a:latin typeface="Times New Roman" panose="02020603050405020304" pitchFamily="18" charset="0"/>
                <a:cs typeface="Times New Roman" panose="02020603050405020304" pitchFamily="18" charset="0"/>
              </a:rPr>
              <a:t>Graph Coloring</a:t>
            </a:r>
            <a:endParaRPr lang="en-US" dirty="0"/>
          </a:p>
        </p:txBody>
      </p:sp>
      <p:sp>
        <p:nvSpPr>
          <p:cNvPr id="3" name="Content Placeholder 2"/>
          <p:cNvSpPr>
            <a:spLocks noGrp="1"/>
          </p:cNvSpPr>
          <p:nvPr>
            <p:ph idx="1"/>
          </p:nvPr>
        </p:nvSpPr>
        <p:spPr>
          <a:xfrm>
            <a:off x="838200" y="1304993"/>
            <a:ext cx="10515600" cy="4871970"/>
          </a:xfrm>
        </p:spPr>
        <p:txBody>
          <a:bodyPr>
            <a:normAutofit/>
          </a:bodyPr>
          <a:lstStyle/>
          <a:p>
            <a:pPr marL="0" indent="0" algn="just">
              <a:spcBef>
                <a:spcPct val="50000"/>
              </a:spcBef>
              <a:buNone/>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Graph coloring (also called vertex coloring) is a way of coloring a graph’s vertices such that no two adjacent vertices share the same color. </a:t>
            </a:r>
          </a:p>
          <a:p>
            <a:pPr marL="0" indent="0" algn="just">
              <a:spcBef>
                <a:spcPct val="50000"/>
              </a:spcBef>
              <a:buNone/>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Graph coloring is a problem of coloring each vertex in graph in such a way that no two adjacent vertices have same color and yet m-colors are used. This problem is also called m-coloring problem. If the degree of given graph is d then we can color it with d + 1 colors. </a:t>
            </a:r>
          </a:p>
          <a:p>
            <a:pPr marL="0" indent="0" algn="just">
              <a:spcBef>
                <a:spcPct val="50000"/>
              </a:spcBef>
              <a:buNone/>
            </a:pPr>
            <a:r>
              <a:rPr lang="en-US" sz="2400" dirty="0">
                <a:latin typeface="Times New Roman" panose="02020603050405020304" pitchFamily="18" charset="0"/>
                <a:ea typeface="Tahoma" panose="020B0604030504040204" pitchFamily="34" charset="0"/>
                <a:cs typeface="Times New Roman" panose="02020603050405020304" pitchFamily="18" charset="0"/>
              </a:rPr>
              <a:t>The least possible value of ‘m’ required to color the graph successfully is known as the chromatic number of the given graph.</a:t>
            </a:r>
          </a:p>
        </p:txBody>
      </p:sp>
      <p:sp>
        <p:nvSpPr>
          <p:cNvPr id="4" name="Slide Number Placeholder 3"/>
          <p:cNvSpPr>
            <a:spLocks noGrp="1"/>
          </p:cNvSpPr>
          <p:nvPr>
            <p:ph type="sldNum" sz="quarter" idx="12"/>
          </p:nvPr>
        </p:nvSpPr>
        <p:spPr/>
        <p:txBody>
          <a:bodyPr/>
          <a:lstStyle/>
          <a:p>
            <a:fld id="{BDCDBBEF-AA6C-4BA6-85B2-A17D7F280E38}" type="slidenum">
              <a:rPr lang="en-US" smtClean="0"/>
              <a:t>23</a:t>
            </a:fld>
            <a:endParaRPr lang="en-US"/>
          </a:p>
        </p:txBody>
      </p:sp>
      <p:sp>
        <p:nvSpPr>
          <p:cNvPr id="5" name="Rectangle 4"/>
          <p:cNvSpPr/>
          <p:nvPr/>
        </p:nvSpPr>
        <p:spPr>
          <a:xfrm>
            <a:off x="838200" y="174002"/>
            <a:ext cx="8743122" cy="9516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04993"/>
            <a:ext cx="10515600" cy="48672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Graph coloring probl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8275" y="4162425"/>
            <a:ext cx="1847850" cy="2009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68"/>
            <a:ext cx="8703365" cy="914857"/>
          </a:xfrm>
        </p:spPr>
        <p:txBody>
          <a:bodyPr/>
          <a:lstStyle/>
          <a:p>
            <a:pPr algn="ctr"/>
            <a:r>
              <a:rPr lang="en-US" altLang="zh-TW" b="1" dirty="0">
                <a:latin typeface="Times New Roman" panose="02020603050405020304" pitchFamily="18" charset="0"/>
                <a:cs typeface="Times New Roman" panose="02020603050405020304" pitchFamily="18" charset="0"/>
              </a:rPr>
              <a:t>Graph Coloring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24</a:t>
            </a:fld>
            <a:endParaRPr lang="en-US"/>
          </a:p>
        </p:txBody>
      </p:sp>
      <p:pic>
        <p:nvPicPr>
          <p:cNvPr id="5" name="Content Placeholder 4"/>
          <p:cNvPicPr>
            <a:picLocks noGrp="1" noChangeAspect="1"/>
          </p:cNvPicPr>
          <p:nvPr>
            <p:ph idx="1"/>
          </p:nvPr>
        </p:nvPicPr>
        <p:blipFill>
          <a:blip r:embed="rId2" cstate="print"/>
          <a:stretch>
            <a:fillRect/>
          </a:stretch>
        </p:blipFill>
        <p:spPr>
          <a:xfrm>
            <a:off x="1212681" y="1979892"/>
            <a:ext cx="4883319" cy="2341067"/>
          </a:xfrm>
          <a:prstGeom prst="rect">
            <a:avLst/>
          </a:prstGeom>
        </p:spPr>
      </p:pic>
      <p:pic>
        <p:nvPicPr>
          <p:cNvPr id="6" name="Picture 5"/>
          <p:cNvPicPr>
            <a:picLocks noChangeAspect="1"/>
          </p:cNvPicPr>
          <p:nvPr/>
        </p:nvPicPr>
        <p:blipFill>
          <a:blip r:embed="rId3" cstate="print"/>
          <a:stretch>
            <a:fillRect/>
          </a:stretch>
        </p:blipFill>
        <p:spPr>
          <a:xfrm>
            <a:off x="5975172" y="1945309"/>
            <a:ext cx="5499457" cy="2200847"/>
          </a:xfrm>
          <a:prstGeom prst="rect">
            <a:avLst/>
          </a:prstGeom>
        </p:spPr>
      </p:pic>
      <p:sp>
        <p:nvSpPr>
          <p:cNvPr id="7" name="TextBox 6"/>
          <p:cNvSpPr txBox="1"/>
          <p:nvPr/>
        </p:nvSpPr>
        <p:spPr>
          <a:xfrm>
            <a:off x="3985448" y="4878108"/>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3.13: </a:t>
            </a:r>
            <a:r>
              <a:rPr lang="en-US" dirty="0">
                <a:latin typeface="Times New Roman" panose="02020603050405020304" pitchFamily="18" charset="0"/>
                <a:cs typeface="Times New Roman" panose="02020603050405020304" pitchFamily="18" charset="0"/>
              </a:rPr>
              <a:t>Graph Coloring</a:t>
            </a:r>
          </a:p>
        </p:txBody>
      </p:sp>
      <p:sp>
        <p:nvSpPr>
          <p:cNvPr id="8" name="Rectangle 7"/>
          <p:cNvSpPr/>
          <p:nvPr/>
        </p:nvSpPr>
        <p:spPr>
          <a:xfrm>
            <a:off x="838200" y="102668"/>
            <a:ext cx="8703365" cy="9148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272209"/>
            <a:ext cx="10515600" cy="489999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240"/>
            <a:ext cx="8743122" cy="808214"/>
          </a:xfrm>
        </p:spPr>
        <p:txBody>
          <a:bodyPr/>
          <a:lstStyle/>
          <a:p>
            <a:pPr algn="ctr"/>
            <a:r>
              <a:rPr lang="en-US" altLang="zh-TW" b="1" dirty="0">
                <a:latin typeface="Times New Roman" panose="02020603050405020304" pitchFamily="18" charset="0"/>
                <a:cs typeface="Times New Roman" panose="02020603050405020304" pitchFamily="18" charset="0"/>
              </a:rPr>
              <a:t>Graph Coloring</a:t>
            </a:r>
            <a:endParaRPr lang="en-US" dirty="0"/>
          </a:p>
        </p:txBody>
      </p:sp>
      <p:sp>
        <p:nvSpPr>
          <p:cNvPr id="3" name="Content Placeholder 2"/>
          <p:cNvSpPr>
            <a:spLocks noGrp="1"/>
          </p:cNvSpPr>
          <p:nvPr>
            <p:ph idx="1"/>
          </p:nvPr>
        </p:nvSpPr>
        <p:spPr>
          <a:xfrm>
            <a:off x="838200" y="1120844"/>
            <a:ext cx="10515600" cy="5235505"/>
          </a:xfrm>
        </p:spPr>
        <p:txBody>
          <a:bodyPr>
            <a:normAutofit lnSpcReduction="10000"/>
          </a:bodyPr>
          <a:lstStyle/>
          <a:p>
            <a:pPr algn="just" fontAlgn="base"/>
            <a:r>
              <a:rPr lang="en-US" sz="2400" b="0" i="0" dirty="0">
                <a:solidFill>
                  <a:srgbClr val="0A0A0A"/>
                </a:solidFill>
                <a:effectLst/>
                <a:latin typeface="Times New Roman" panose="02020603050405020304" pitchFamily="18" charset="0"/>
                <a:cs typeface="Times New Roman" panose="02020603050405020304" pitchFamily="18" charset="0"/>
              </a:rPr>
              <a:t>Using backtracking algorithm approach, we color a single vertex and then move to its adjacent (connected) vertex to color it with different color.</a:t>
            </a:r>
          </a:p>
          <a:p>
            <a:pPr algn="just" fontAlgn="base"/>
            <a:endParaRPr lang="en-US" sz="2400" b="0" i="0" dirty="0">
              <a:solidFill>
                <a:srgbClr val="0A0A0A"/>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0A0A0A"/>
                </a:solidFill>
                <a:effectLst/>
                <a:latin typeface="Times New Roman" panose="02020603050405020304" pitchFamily="18" charset="0"/>
                <a:cs typeface="Times New Roman" panose="02020603050405020304" pitchFamily="18" charset="0"/>
              </a:rPr>
              <a:t>After coloring, we again move to another adjacent vertex that is uncolored and repeat the process until all vertices of the given graph are colored.</a:t>
            </a:r>
          </a:p>
          <a:p>
            <a:pPr algn="just" fontAlgn="base"/>
            <a:endParaRPr lang="en-US" sz="2400" b="0" i="0" dirty="0">
              <a:solidFill>
                <a:srgbClr val="0A0A0A"/>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0A0A0A"/>
                </a:solidFill>
                <a:effectLst/>
                <a:latin typeface="Times New Roman" panose="02020603050405020304" pitchFamily="18" charset="0"/>
                <a:cs typeface="Times New Roman" panose="02020603050405020304" pitchFamily="18" charset="0"/>
              </a:rPr>
              <a:t>In case, we find a vertex that has all adjacent vertices colored and no color is left to make it color different, we backtrack and change the color of the last colored vertices and again proceed further.</a:t>
            </a:r>
          </a:p>
          <a:p>
            <a:pPr algn="just" fontAlgn="base"/>
            <a:endParaRPr lang="en-US" sz="2400" b="0" i="0" dirty="0">
              <a:solidFill>
                <a:srgbClr val="0A0A0A"/>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0A0A0A"/>
                </a:solidFill>
                <a:effectLst/>
                <a:latin typeface="Times New Roman" panose="02020603050405020304" pitchFamily="18" charset="0"/>
                <a:cs typeface="Times New Roman" panose="02020603050405020304" pitchFamily="18" charset="0"/>
              </a:rPr>
              <a:t>If by backtracking, we come back to the same vertex from where we started and all colors were tried on it, then it means the given number of colors (i.e. ‘m’) is insufficient to color the given graph and we require more colors (i.e. a bigger chromatic number).</a:t>
            </a:r>
          </a:p>
        </p:txBody>
      </p:sp>
      <p:sp>
        <p:nvSpPr>
          <p:cNvPr id="4" name="Slide Number Placeholder 3"/>
          <p:cNvSpPr>
            <a:spLocks noGrp="1"/>
          </p:cNvSpPr>
          <p:nvPr>
            <p:ph type="sldNum" sz="quarter" idx="12"/>
          </p:nvPr>
        </p:nvSpPr>
        <p:spPr/>
        <p:txBody>
          <a:bodyPr/>
          <a:lstStyle/>
          <a:p>
            <a:fld id="{BDCDBBEF-AA6C-4BA6-85B2-A17D7F280E38}" type="slidenum">
              <a:rPr lang="en-US" smtClean="0"/>
              <a:t>25</a:t>
            </a:fld>
            <a:endParaRPr lang="en-US"/>
          </a:p>
        </p:txBody>
      </p:sp>
      <p:sp>
        <p:nvSpPr>
          <p:cNvPr id="6" name="Rectangle 5"/>
          <p:cNvSpPr/>
          <p:nvPr/>
        </p:nvSpPr>
        <p:spPr>
          <a:xfrm>
            <a:off x="838200" y="1120844"/>
            <a:ext cx="10515600" cy="523550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25849"/>
            <a:ext cx="8743122" cy="9516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68"/>
            <a:ext cx="8703365" cy="914857"/>
          </a:xfrm>
        </p:spPr>
        <p:txBody>
          <a:bodyPr/>
          <a:lstStyle/>
          <a:p>
            <a:pPr algn="ctr"/>
            <a:r>
              <a:rPr lang="en-US" altLang="zh-TW" b="1" dirty="0">
                <a:latin typeface="Times New Roman" panose="02020603050405020304" pitchFamily="18" charset="0"/>
                <a:cs typeface="Times New Roman" panose="02020603050405020304" pitchFamily="18" charset="0"/>
              </a:rPr>
              <a:t>Graph Coloring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26</a:t>
            </a:fld>
            <a:endParaRPr lang="en-US"/>
          </a:p>
        </p:txBody>
      </p:sp>
      <p:sp>
        <p:nvSpPr>
          <p:cNvPr id="7" name="TextBox 6"/>
          <p:cNvSpPr txBox="1"/>
          <p:nvPr/>
        </p:nvSpPr>
        <p:spPr>
          <a:xfrm>
            <a:off x="3985448" y="4878108"/>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3.13: </a:t>
            </a:r>
            <a:r>
              <a:rPr lang="en-US" dirty="0">
                <a:latin typeface="Times New Roman" panose="02020603050405020304" pitchFamily="18" charset="0"/>
                <a:cs typeface="Times New Roman" panose="02020603050405020304" pitchFamily="18" charset="0"/>
              </a:rPr>
              <a:t>Graph Coloring</a:t>
            </a:r>
          </a:p>
        </p:txBody>
      </p:sp>
      <p:sp>
        <p:nvSpPr>
          <p:cNvPr id="8" name="Rectangle 7"/>
          <p:cNvSpPr/>
          <p:nvPr/>
        </p:nvSpPr>
        <p:spPr>
          <a:xfrm>
            <a:off x="838200" y="102668"/>
            <a:ext cx="8703365" cy="9148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139687"/>
            <a:ext cx="10515600" cy="5486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Graph coloring problem algorith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345" y="1191383"/>
            <a:ext cx="7128220" cy="53437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A30E-37E0-C5A6-99EF-1A85649AFC73}"/>
              </a:ext>
            </a:extLst>
          </p:cNvPr>
          <p:cNvSpPr>
            <a:spLocks noGrp="1"/>
          </p:cNvSpPr>
          <p:nvPr>
            <p:ph type="title"/>
          </p:nvPr>
        </p:nvSpPr>
        <p:spPr>
          <a:xfrm>
            <a:off x="838200" y="207296"/>
            <a:ext cx="8659761" cy="947481"/>
          </a:xfrm>
          <a:ln>
            <a:solidFill>
              <a:schemeClr val="tx1"/>
            </a:solidFill>
          </a:ln>
        </p:spPr>
        <p:txBody>
          <a:bodyPr>
            <a:normAutofit/>
          </a:bodyPr>
          <a:lstStyle/>
          <a:p>
            <a:pPr algn="ctr"/>
            <a:r>
              <a:rPr lang="en-IN" b="1" dirty="0">
                <a:latin typeface="Times New Roman" panose="02020603050405020304" pitchFamily="18" charset="0"/>
                <a:cs typeface="Times New Roman" panose="02020603050405020304" pitchFamily="18" charset="0"/>
              </a:rPr>
              <a:t>Chromatic Number</a:t>
            </a:r>
          </a:p>
        </p:txBody>
      </p:sp>
      <p:sp>
        <p:nvSpPr>
          <p:cNvPr id="3" name="Content Placeholder 2">
            <a:extLst>
              <a:ext uri="{FF2B5EF4-FFF2-40B4-BE49-F238E27FC236}">
                <a16:creationId xmlns:a16="http://schemas.microsoft.com/office/drawing/2014/main" id="{8E74CDD0-BB85-DF5D-7813-14B2E0499804}"/>
              </a:ext>
            </a:extLst>
          </p:cNvPr>
          <p:cNvSpPr>
            <a:spLocks noGrp="1"/>
          </p:cNvSpPr>
          <p:nvPr>
            <p:ph idx="1"/>
          </p:nvPr>
        </p:nvSpPr>
        <p:spPr>
          <a:xfrm>
            <a:off x="838200" y="1415845"/>
            <a:ext cx="10515600" cy="4761118"/>
          </a:xfrm>
          <a:ln>
            <a:solidFill>
              <a:schemeClr val="tx1"/>
            </a:solidFill>
          </a:ln>
        </p:spPr>
        <p:txBody>
          <a:bodyPr/>
          <a:lstStyle/>
          <a:p>
            <a:r>
              <a:rPr lang="en-US" b="0" i="0" dirty="0">
                <a:effectLst/>
                <a:latin typeface="Times New Roman" panose="02020603050405020304" pitchFamily="18" charset="0"/>
                <a:cs typeface="Times New Roman" panose="02020603050405020304" pitchFamily="18" charset="0"/>
              </a:rPr>
              <a:t>The chromatic number of a graph is the minimum number of colors needed to color its vertices such that no two adjacent vertices have the same color.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00E43B-EEE4-D4FA-66CF-AE23DF651DC7}"/>
              </a:ext>
            </a:extLst>
          </p:cNvPr>
          <p:cNvSpPr>
            <a:spLocks noGrp="1"/>
          </p:cNvSpPr>
          <p:nvPr>
            <p:ph type="sldNum" sz="quarter" idx="12"/>
          </p:nvPr>
        </p:nvSpPr>
        <p:spPr/>
        <p:txBody>
          <a:bodyPr/>
          <a:lstStyle/>
          <a:p>
            <a:fld id="{BDCDBBEF-AA6C-4BA6-85B2-A17D7F280E38}" type="slidenum">
              <a:rPr lang="en-US" smtClean="0"/>
              <a:t>27</a:t>
            </a:fld>
            <a:endParaRPr lang="en-US"/>
          </a:p>
        </p:txBody>
      </p:sp>
    </p:spTree>
    <p:extLst>
      <p:ext uri="{BB962C8B-B14F-4D97-AF65-F5344CB8AC3E}">
        <p14:creationId xmlns:p14="http://schemas.microsoft.com/office/powerpoint/2010/main" val="2781723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765"/>
            <a:ext cx="8743122" cy="946841"/>
          </a:xfrm>
        </p:spPr>
        <p:txBody>
          <a:bodyPr/>
          <a:lstStyle/>
          <a:p>
            <a:pPr algn="ctr"/>
            <a:r>
              <a:rPr lang="en-US" altLang="zh-TW" b="1" dirty="0">
                <a:latin typeface="Times New Roman" panose="02020603050405020304" pitchFamily="18" charset="0"/>
                <a:cs typeface="Times New Roman" panose="02020603050405020304" pitchFamily="18" charset="0"/>
              </a:rPr>
              <a:t>Graph Coloring</a:t>
            </a:r>
            <a:endParaRPr lang="en-US" dirty="0"/>
          </a:p>
        </p:txBody>
      </p:sp>
      <p:sp>
        <p:nvSpPr>
          <p:cNvPr id="3" name="Content Placeholder 2"/>
          <p:cNvSpPr>
            <a:spLocks noGrp="1"/>
          </p:cNvSpPr>
          <p:nvPr>
            <p:ph idx="1"/>
          </p:nvPr>
        </p:nvSpPr>
        <p:spPr>
          <a:xfrm>
            <a:off x="838200" y="1304993"/>
            <a:ext cx="10515600" cy="4871970"/>
          </a:xfrm>
        </p:spPr>
        <p:txBody>
          <a:bodyPr>
            <a:normAutofit/>
          </a:bodyPr>
          <a:lstStyle/>
          <a:p>
            <a:pPr marL="0" indent="0" algn="just">
              <a:spcBef>
                <a:spcPct val="50000"/>
              </a:spcBef>
              <a:buNone/>
            </a:pPr>
            <a:r>
              <a:rPr lang="en-US" sz="2400" b="0" i="0" dirty="0">
                <a:solidFill>
                  <a:srgbClr val="444444"/>
                </a:solidFill>
                <a:effectLst/>
                <a:latin typeface="Times New Roman" panose="02020603050405020304" pitchFamily="18" charset="0"/>
                <a:cs typeface="Times New Roman" panose="02020603050405020304" pitchFamily="18" charset="0"/>
              </a:rPr>
              <a:t>For example, consider the following graph:</a:t>
            </a:r>
            <a:endParaRPr lang="en-US" sz="3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28</a:t>
            </a:fld>
            <a:endParaRPr lang="en-US"/>
          </a:p>
        </p:txBody>
      </p:sp>
      <p:sp>
        <p:nvSpPr>
          <p:cNvPr id="5" name="Rectangle 4"/>
          <p:cNvSpPr/>
          <p:nvPr/>
        </p:nvSpPr>
        <p:spPr>
          <a:xfrm>
            <a:off x="838200" y="174002"/>
            <a:ext cx="8743122" cy="9516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04993"/>
            <a:ext cx="10515600" cy="48672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Graph colo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0" y="1631519"/>
            <a:ext cx="278130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Graph Coloring – Step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527" y="4039584"/>
            <a:ext cx="27622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Graph Coloring – Step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6658" y="3991959"/>
            <a:ext cx="272415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Graph Coloring – Step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2971" y="3953859"/>
            <a:ext cx="2733675" cy="16764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852694" y="3312807"/>
            <a:ext cx="9020176" cy="461665"/>
          </a:xfrm>
          <a:prstGeom prst="rect">
            <a:avLst/>
          </a:prstGeom>
          <a:noFill/>
        </p:spPr>
        <p:txBody>
          <a:bodyPr wrap="square">
            <a:spAutoFit/>
          </a:bodyPr>
          <a:lstStyle/>
          <a:p>
            <a:r>
              <a:rPr lang="en-US" sz="2400" b="0" i="0" dirty="0">
                <a:solidFill>
                  <a:srgbClr val="444444"/>
                </a:solidFill>
                <a:effectLst/>
                <a:latin typeface="Times New Roman" panose="02020603050405020304" pitchFamily="18" charset="0"/>
                <a:cs typeface="Times New Roman" panose="02020603050405020304" pitchFamily="18" charset="0"/>
              </a:rPr>
              <a:t>We can color it in many ways by using the minimum of 3 colors.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68"/>
            <a:ext cx="8703365" cy="914857"/>
          </a:xfrm>
        </p:spPr>
        <p:txBody>
          <a:bodyPr/>
          <a:lstStyle/>
          <a:p>
            <a:pPr algn="ctr"/>
            <a:r>
              <a:rPr lang="en-US" altLang="zh-TW" b="1" dirty="0">
                <a:latin typeface="Times New Roman" panose="02020603050405020304" pitchFamily="18" charset="0"/>
                <a:cs typeface="Times New Roman" panose="02020603050405020304" pitchFamily="18" charset="0"/>
              </a:rPr>
              <a:t>Graph Coloring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29</a:t>
            </a:fld>
            <a:endParaRPr lang="en-US"/>
          </a:p>
        </p:txBody>
      </p:sp>
      <p:sp>
        <p:nvSpPr>
          <p:cNvPr id="8" name="Rectangle 7"/>
          <p:cNvSpPr/>
          <p:nvPr/>
        </p:nvSpPr>
        <p:spPr>
          <a:xfrm>
            <a:off x="838200" y="102668"/>
            <a:ext cx="8703365" cy="9148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139687"/>
            <a:ext cx="10515600" cy="5486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38200" y="1139686"/>
            <a:ext cx="8039100" cy="1015663"/>
          </a:xfrm>
          <a:prstGeom prst="rect">
            <a:avLst/>
          </a:prstGeom>
          <a:noFill/>
        </p:spPr>
        <p:txBody>
          <a:bodyPr wrap="square">
            <a:sp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For example : Consider a graph given in Fig. We require three colors to color the graph. Hence the chromatic number of given graph is 3. We can use backtracking technique to solve the graph coloring problem as follows –</a:t>
            </a:r>
            <a:endParaRPr lang="en-IN" sz="2000" dirty="0">
              <a:latin typeface="Times New Roman" panose="02020603050405020304" pitchFamily="18" charset="0"/>
              <a:cs typeface="Times New Roman" panose="02020603050405020304" pitchFamily="18" charset="0"/>
            </a:endParaRPr>
          </a:p>
        </p:txBody>
      </p:sp>
      <p:pic>
        <p:nvPicPr>
          <p:cNvPr id="11266"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7300" y="1268238"/>
            <a:ext cx="2209800" cy="2614649"/>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enter image description 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086" y="2112115"/>
            <a:ext cx="6218582" cy="45139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870"/>
            <a:ext cx="8703310" cy="915035"/>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Graph Coloring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30</a:t>
            </a:fld>
            <a:endParaRPr lang="en-US"/>
          </a:p>
        </p:txBody>
      </p:sp>
      <p:sp>
        <p:nvSpPr>
          <p:cNvPr id="8" name="Rectangle 7"/>
          <p:cNvSpPr/>
          <p:nvPr/>
        </p:nvSpPr>
        <p:spPr>
          <a:xfrm>
            <a:off x="838200" y="102668"/>
            <a:ext cx="8703365" cy="9148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139687"/>
            <a:ext cx="10515600" cy="5486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38200" y="1139686"/>
            <a:ext cx="8039100" cy="1015663"/>
          </a:xfrm>
          <a:prstGeom prst="rect">
            <a:avLst/>
          </a:prstGeom>
          <a:noFill/>
        </p:spPr>
        <p:txBody>
          <a:bodyPr wrap="square">
            <a:sp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For example : Consider a graph given in Fig. We require three colors to color the graph. Hence the chromatic number of given graph is 3. We can use backtracking technique to solve the graph coloring problem as follows –</a:t>
            </a:r>
            <a:endParaRPr lang="en-IN" sz="2000" dirty="0">
              <a:latin typeface="Times New Roman" panose="02020603050405020304" pitchFamily="18" charset="0"/>
              <a:cs typeface="Times New Roman" panose="02020603050405020304" pitchFamily="18" charset="0"/>
            </a:endParaRPr>
          </a:p>
        </p:txBody>
      </p:sp>
      <p:pic>
        <p:nvPicPr>
          <p:cNvPr id="11266"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7300" y="1268238"/>
            <a:ext cx="2209800" cy="2614649"/>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p:cNvPicPr>
            <a:picLocks noGrp="1" noChangeAspect="1"/>
          </p:cNvPicPr>
          <p:nvPr>
            <p:ph idx="1"/>
          </p:nvPr>
        </p:nvPicPr>
        <p:blipFill>
          <a:blip r:embed="rId3"/>
          <a:stretch>
            <a:fillRect/>
          </a:stretch>
        </p:blipFill>
        <p:spPr>
          <a:xfrm>
            <a:off x="1997075" y="2188845"/>
            <a:ext cx="6428740" cy="43745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240"/>
            <a:ext cx="8743122" cy="808214"/>
          </a:xfrm>
        </p:spPr>
        <p:txBody>
          <a:bodyPr/>
          <a:lstStyle/>
          <a:p>
            <a:pPr algn="ctr"/>
            <a:r>
              <a:rPr lang="en-US" altLang="zh-TW" b="1" dirty="0">
                <a:latin typeface="Times New Roman" panose="02020603050405020304" pitchFamily="18" charset="0"/>
                <a:cs typeface="Times New Roman" panose="02020603050405020304" pitchFamily="18" charset="0"/>
              </a:rPr>
              <a:t>Graph Coloring</a:t>
            </a:r>
            <a:endParaRPr lang="en-US" dirty="0"/>
          </a:p>
        </p:txBody>
      </p:sp>
      <p:sp>
        <p:nvSpPr>
          <p:cNvPr id="3" name="Content Placeholder 2"/>
          <p:cNvSpPr>
            <a:spLocks noGrp="1"/>
          </p:cNvSpPr>
          <p:nvPr>
            <p:ph idx="1"/>
          </p:nvPr>
        </p:nvSpPr>
        <p:spPr>
          <a:xfrm>
            <a:off x="838200" y="1120844"/>
            <a:ext cx="10515600" cy="5235505"/>
          </a:xfrm>
        </p:spPr>
        <p:txBody>
          <a:bodyPr>
            <a:normAutofit/>
          </a:bodyPr>
          <a:lstStyle/>
          <a:p>
            <a:pPr marL="0" indent="0" algn="l" fontAlgn="base">
              <a:buNone/>
            </a:pPr>
            <a:r>
              <a:rPr lang="en-US" sz="2400" b="1" i="0" dirty="0">
                <a:solidFill>
                  <a:srgbClr val="0A0A0A"/>
                </a:solidFill>
                <a:effectLst/>
                <a:latin typeface="Times New Roman" panose="02020603050405020304" pitchFamily="18" charset="0"/>
                <a:cs typeface="Times New Roman" panose="02020603050405020304" pitchFamily="18" charset="0"/>
              </a:rPr>
              <a:t>Steps To color graph using the Backtracking Algorithm:</a:t>
            </a:r>
            <a:endParaRPr lang="en-US" sz="2400" b="0" i="0" dirty="0">
              <a:solidFill>
                <a:srgbClr val="0A0A0A"/>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sz="2400" b="0" i="0" dirty="0">
                <a:solidFill>
                  <a:srgbClr val="0A0A0A"/>
                </a:solidFill>
                <a:effectLst/>
                <a:latin typeface="Times New Roman" panose="02020603050405020304" pitchFamily="18" charset="0"/>
                <a:cs typeface="Times New Roman" panose="02020603050405020304" pitchFamily="18" charset="0"/>
              </a:rPr>
              <a:t>Different colors:</a:t>
            </a:r>
          </a:p>
          <a:p>
            <a:pPr marL="742950" lvl="1" indent="-285750" algn="l" fontAlgn="base">
              <a:buFont typeface="+mj-lt"/>
              <a:buAutoNum type="arabicPeriod"/>
            </a:pPr>
            <a:r>
              <a:rPr lang="en-US" b="0" i="0" dirty="0">
                <a:solidFill>
                  <a:srgbClr val="0A0A0A"/>
                </a:solidFill>
                <a:effectLst/>
                <a:latin typeface="Times New Roman" panose="02020603050405020304" pitchFamily="18" charset="0"/>
                <a:cs typeface="Times New Roman" panose="02020603050405020304" pitchFamily="18" charset="0"/>
              </a:rPr>
              <a:t>Confirm whether it is valid to color the current vertex with the current color (by checking whether any of its adjacent vertices are colored with the same color).</a:t>
            </a:r>
          </a:p>
          <a:p>
            <a:pPr marL="742950" lvl="1" indent="-285750" algn="l" fontAlgn="base">
              <a:buFont typeface="+mj-lt"/>
              <a:buAutoNum type="arabicPeriod"/>
            </a:pPr>
            <a:r>
              <a:rPr lang="en-US" b="0" i="0" dirty="0">
                <a:solidFill>
                  <a:srgbClr val="0A0A0A"/>
                </a:solidFill>
                <a:effectLst/>
                <a:latin typeface="Times New Roman" panose="02020603050405020304" pitchFamily="18" charset="0"/>
                <a:cs typeface="Times New Roman" panose="02020603050405020304" pitchFamily="18" charset="0"/>
              </a:rPr>
              <a:t>If yes, then color it and otherwise try a different color.</a:t>
            </a:r>
          </a:p>
          <a:p>
            <a:pPr marL="742950" lvl="1" indent="-285750" algn="l" fontAlgn="base">
              <a:buFont typeface="+mj-lt"/>
              <a:buAutoNum type="arabicPeriod"/>
            </a:pPr>
            <a:r>
              <a:rPr lang="en-US" b="0" i="0" dirty="0">
                <a:solidFill>
                  <a:srgbClr val="0A0A0A"/>
                </a:solidFill>
                <a:effectLst/>
                <a:latin typeface="Times New Roman" panose="02020603050405020304" pitchFamily="18" charset="0"/>
                <a:cs typeface="Times New Roman" panose="02020603050405020304" pitchFamily="18" charset="0"/>
              </a:rPr>
              <a:t>Check if all vertices are colored or not.</a:t>
            </a:r>
          </a:p>
          <a:p>
            <a:pPr marL="742950" lvl="1" indent="-285750" algn="l" fontAlgn="base">
              <a:buFont typeface="+mj-lt"/>
              <a:buAutoNum type="arabicPeriod"/>
            </a:pPr>
            <a:r>
              <a:rPr lang="en-US" b="0" i="0" dirty="0">
                <a:solidFill>
                  <a:srgbClr val="0A0A0A"/>
                </a:solidFill>
                <a:effectLst/>
                <a:latin typeface="Times New Roman" panose="02020603050405020304" pitchFamily="18" charset="0"/>
                <a:cs typeface="Times New Roman" panose="02020603050405020304" pitchFamily="18" charset="0"/>
              </a:rPr>
              <a:t>If not, then move to the next adjacent uncolored vertex.</a:t>
            </a:r>
          </a:p>
          <a:p>
            <a:pPr algn="l" fontAlgn="base">
              <a:buFont typeface="+mj-lt"/>
              <a:buAutoNum type="arabicPeriod"/>
            </a:pPr>
            <a:r>
              <a:rPr lang="en-US" sz="2400" b="0" i="0" dirty="0">
                <a:solidFill>
                  <a:srgbClr val="0A0A0A"/>
                </a:solidFill>
                <a:effectLst/>
                <a:latin typeface="Times New Roman" panose="02020603050405020304" pitchFamily="18" charset="0"/>
                <a:cs typeface="Times New Roman" panose="02020603050405020304" pitchFamily="18" charset="0"/>
              </a:rPr>
              <a:t>If no other color is available, then backtrack (i.e. un-color last colored vertex).</a:t>
            </a:r>
          </a:p>
          <a:p>
            <a:pPr algn="l" fontAlgn="base">
              <a:buFont typeface="+mj-lt"/>
              <a:buAutoNum type="arabicPeriod"/>
            </a:pPr>
            <a:endParaRPr lang="en-US" sz="2400" b="0" i="0" dirty="0">
              <a:solidFill>
                <a:srgbClr val="0A0A0A"/>
              </a:solidFill>
              <a:effectLst/>
              <a:latin typeface="Times New Roman" panose="02020603050405020304" pitchFamily="18" charset="0"/>
              <a:cs typeface="Times New Roman" panose="02020603050405020304" pitchFamily="18" charset="0"/>
            </a:endParaRPr>
          </a:p>
          <a:p>
            <a:pPr algn="l" fontAlgn="base"/>
            <a:r>
              <a:rPr lang="en-US" sz="2400" b="0" i="1" dirty="0">
                <a:solidFill>
                  <a:srgbClr val="0A0A0A"/>
                </a:solidFill>
                <a:effectLst/>
                <a:latin typeface="Times New Roman" panose="02020603050405020304" pitchFamily="18" charset="0"/>
                <a:cs typeface="Times New Roman" panose="02020603050405020304" pitchFamily="18" charset="0"/>
              </a:rPr>
              <a:t>Here </a:t>
            </a:r>
            <a:r>
              <a:rPr lang="en-US" sz="2400" b="1" i="1" dirty="0">
                <a:solidFill>
                  <a:srgbClr val="0A0A0A"/>
                </a:solidFill>
                <a:effectLst/>
                <a:latin typeface="Times New Roman" panose="02020603050405020304" pitchFamily="18" charset="0"/>
                <a:cs typeface="Times New Roman" panose="02020603050405020304" pitchFamily="18" charset="0"/>
              </a:rPr>
              <a:t>backtracking means to stop further recursive calls</a:t>
            </a:r>
            <a:r>
              <a:rPr lang="en-US" sz="2400" b="0" i="1" dirty="0">
                <a:solidFill>
                  <a:srgbClr val="0A0A0A"/>
                </a:solidFill>
                <a:effectLst/>
                <a:latin typeface="Times New Roman" panose="02020603050405020304" pitchFamily="18" charset="0"/>
                <a:cs typeface="Times New Roman" panose="02020603050405020304" pitchFamily="18" charset="0"/>
              </a:rPr>
              <a:t> on adjacent vertices by returning false. In this algorithm Step-1.2 (Continue) and Step-2 (backtracking) is causing the program to try different color option.</a:t>
            </a:r>
            <a:endParaRPr lang="en-US" sz="2400" b="0" i="0" dirty="0">
              <a:solidFill>
                <a:srgbClr val="0A0A0A"/>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31</a:t>
            </a:fld>
            <a:endParaRPr lang="en-US"/>
          </a:p>
        </p:txBody>
      </p:sp>
      <p:sp>
        <p:nvSpPr>
          <p:cNvPr id="6" name="Rectangle 5"/>
          <p:cNvSpPr/>
          <p:nvPr/>
        </p:nvSpPr>
        <p:spPr>
          <a:xfrm>
            <a:off x="838200" y="1120844"/>
            <a:ext cx="10515600" cy="523550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25849"/>
            <a:ext cx="8743122" cy="9516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56BC2-D0BF-76E1-B053-E71BF7EF912F}"/>
              </a:ext>
            </a:extLst>
          </p:cNvPr>
          <p:cNvSpPr>
            <a:spLocks noGrp="1"/>
          </p:cNvSpPr>
          <p:nvPr>
            <p:ph idx="1"/>
          </p:nvPr>
        </p:nvSpPr>
        <p:spPr>
          <a:xfrm>
            <a:off x="810491" y="1467265"/>
            <a:ext cx="10515600" cy="5071647"/>
          </a:xfrm>
          <a:ln>
            <a:solidFill>
              <a:schemeClr val="tx1"/>
            </a:solidFill>
          </a:ln>
        </p:spPr>
        <p:txBody>
          <a:bodyPr>
            <a:normAutofit lnSpcReduction="10000"/>
          </a:bodyPr>
          <a:lstStyle/>
          <a:p>
            <a:r>
              <a:rPr lang="en-US" sz="2400">
                <a:latin typeface="Times New Roman" panose="02020603050405020304" pitchFamily="18" charset="0"/>
                <a:cs typeface="Times New Roman" panose="02020603050405020304" pitchFamily="18" charset="0"/>
              </a:rPr>
              <a:t>Scheduling</a:t>
            </a:r>
            <a:r>
              <a:rPr lang="en-US" sz="2400" dirty="0">
                <a:latin typeface="Times New Roman" panose="02020603050405020304" pitchFamily="18" charset="0"/>
                <a:cs typeface="Times New Roman" panose="02020603050405020304" pitchFamily="18" charset="0"/>
              </a:rPr>
              <a:t>: Graph coloring can help with scheduling problems like exam scheduling, timetabling, and aircraft scheduling. For example, in a classroom scheduling problem, each elective course can be represented by a vertex, and classes can be represented by edges. </a:t>
            </a:r>
          </a:p>
          <a:p>
            <a:r>
              <a:rPr lang="en-US" sz="2400" dirty="0">
                <a:latin typeface="Times New Roman" panose="02020603050405020304" pitchFamily="18" charset="0"/>
                <a:cs typeface="Times New Roman" panose="02020603050405020304" pitchFamily="18" charset="0"/>
              </a:rPr>
              <a:t>Resource allocation: Graph coloring can be used to allocate resources. </a:t>
            </a:r>
          </a:p>
          <a:p>
            <a:r>
              <a:rPr lang="en-US" sz="2400" dirty="0">
                <a:latin typeface="Times New Roman" panose="02020603050405020304" pitchFamily="18" charset="0"/>
                <a:cs typeface="Times New Roman" panose="02020603050405020304" pitchFamily="18" charset="0"/>
              </a:rPr>
              <a:t>Network analysis: Graph coloring can be used to model communications networks. </a:t>
            </a:r>
          </a:p>
          <a:p>
            <a:r>
              <a:rPr lang="en-US" sz="2400" dirty="0">
                <a:latin typeface="Times New Roman" panose="02020603050405020304" pitchFamily="18" charset="0"/>
                <a:cs typeface="Times New Roman" panose="02020603050405020304" pitchFamily="18" charset="0"/>
              </a:rPr>
              <a:t>Image segmentation: Graph coloring can be used in image segmentation. </a:t>
            </a:r>
          </a:p>
          <a:p>
            <a:r>
              <a:rPr lang="en-US" sz="2400" dirty="0">
                <a:latin typeface="Times New Roman" panose="02020603050405020304" pitchFamily="18" charset="0"/>
                <a:cs typeface="Times New Roman" panose="02020603050405020304" pitchFamily="18" charset="0"/>
              </a:rPr>
              <a:t>Data mining: Graph coloring can be used in data mining. </a:t>
            </a:r>
          </a:p>
          <a:p>
            <a:r>
              <a:rPr lang="en-US" sz="2400" dirty="0">
                <a:latin typeface="Times New Roman" panose="02020603050405020304" pitchFamily="18" charset="0"/>
                <a:cs typeface="Times New Roman" panose="02020603050405020304" pitchFamily="18" charset="0"/>
              </a:rPr>
              <a:t>Clustering: Graph coloring can be used in clustering. </a:t>
            </a:r>
          </a:p>
          <a:p>
            <a:r>
              <a:rPr lang="en-US" sz="2400" dirty="0">
                <a:latin typeface="Times New Roman" panose="02020603050405020304" pitchFamily="18" charset="0"/>
                <a:cs typeface="Times New Roman" panose="02020603050405020304" pitchFamily="18" charset="0"/>
              </a:rPr>
              <a:t>Image capturing: Graph coloring can be used in image capturing. </a:t>
            </a:r>
          </a:p>
          <a:p>
            <a:r>
              <a:rPr lang="en-US" sz="2400" dirty="0">
                <a:latin typeface="Times New Roman" panose="02020603050405020304" pitchFamily="18" charset="0"/>
                <a:cs typeface="Times New Roman" panose="02020603050405020304" pitchFamily="18" charset="0"/>
              </a:rPr>
              <a:t>Frequency assignment: Graph coloring can be used in frequency assignment for radio stations. </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70DD700-15F8-53FC-75CD-144C86BF900B}"/>
              </a:ext>
            </a:extLst>
          </p:cNvPr>
          <p:cNvSpPr>
            <a:spLocks noGrp="1"/>
          </p:cNvSpPr>
          <p:nvPr>
            <p:ph type="sldNum" sz="quarter" idx="12"/>
          </p:nvPr>
        </p:nvSpPr>
        <p:spPr/>
        <p:txBody>
          <a:bodyPr/>
          <a:lstStyle/>
          <a:p>
            <a:fld id="{BDCDBBEF-AA6C-4BA6-85B2-A17D7F280E38}" type="slidenum">
              <a:rPr lang="en-US" smtClean="0"/>
              <a:t>32</a:t>
            </a:fld>
            <a:endParaRPr lang="en-US"/>
          </a:p>
        </p:txBody>
      </p:sp>
      <p:sp>
        <p:nvSpPr>
          <p:cNvPr id="5" name="Title 1">
            <a:extLst>
              <a:ext uri="{FF2B5EF4-FFF2-40B4-BE49-F238E27FC236}">
                <a16:creationId xmlns:a16="http://schemas.microsoft.com/office/drawing/2014/main" id="{EA77D046-B89C-61C6-54F2-2CDBE1D6A5C2}"/>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Graph Coloring Applications </a:t>
            </a:r>
            <a:endParaRPr lang="en-US" dirty="0"/>
          </a:p>
        </p:txBody>
      </p:sp>
    </p:spTree>
    <p:extLst>
      <p:ext uri="{BB962C8B-B14F-4D97-AF65-F5344CB8AC3E}">
        <p14:creationId xmlns:p14="http://schemas.microsoft.com/office/powerpoint/2010/main" val="1548145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5C568-A402-CF6E-88F0-BBFF12B4FD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E88BD9-F8BC-5183-7E7F-0D550C95006D}"/>
              </a:ext>
            </a:extLst>
          </p:cNvPr>
          <p:cNvSpPr>
            <a:spLocks noGrp="1"/>
          </p:cNvSpPr>
          <p:nvPr>
            <p:ph idx="1"/>
          </p:nvPr>
        </p:nvSpPr>
        <p:spPr>
          <a:xfrm>
            <a:off x="810491" y="1445343"/>
            <a:ext cx="10515600" cy="4689986"/>
          </a:xfrm>
          <a:ln>
            <a:solidFill>
              <a:schemeClr val="tx1"/>
            </a:solidFill>
          </a:ln>
        </p:spPr>
        <p:txBody>
          <a:bodyPr>
            <a:normAutofit/>
          </a:bodyPr>
          <a:lstStyle/>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Determine the vertices' degrees and sort them in decreasing order.</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Set the allotted </a:t>
            </a:r>
            <a:r>
              <a:rPr lang="en-US" sz="2400" b="0" i="0" dirty="0" err="1">
                <a:solidFill>
                  <a:srgbClr val="000000"/>
                </a:solidFill>
                <a:effectLst/>
                <a:latin typeface="Times New Roman" panose="02020603050405020304" pitchFamily="18" charset="0"/>
                <a:cs typeface="Times New Roman" panose="02020603050405020304" pitchFamily="18" charset="0"/>
              </a:rPr>
              <a:t>colours</a:t>
            </a:r>
            <a:r>
              <a:rPr lang="en-US" sz="2400" b="0" i="0" dirty="0">
                <a:solidFill>
                  <a:srgbClr val="000000"/>
                </a:solidFill>
                <a:effectLst/>
                <a:latin typeface="Times New Roman" panose="02020603050405020304" pitchFamily="18" charset="0"/>
                <a:cs typeface="Times New Roman" panose="02020603050405020304" pitchFamily="18" charset="0"/>
              </a:rPr>
              <a:t> for each vertex's location in an array.</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Repeat step 2 over the vertices in the order determined there.</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Give each vertex the smallest </a:t>
            </a:r>
            <a:r>
              <a:rPr lang="en-US" sz="2400" b="0" i="0" dirty="0" err="1">
                <a:solidFill>
                  <a:srgbClr val="000000"/>
                </a:solidFill>
                <a:effectLst/>
                <a:latin typeface="Times New Roman" panose="02020603050405020304" pitchFamily="18" charset="0"/>
                <a:cs typeface="Times New Roman" panose="02020603050405020304" pitchFamily="18" charset="0"/>
              </a:rPr>
              <a:t>colour</a:t>
            </a:r>
            <a:r>
              <a:rPr lang="en-US" sz="2400" b="0" i="0" dirty="0">
                <a:solidFill>
                  <a:srgbClr val="000000"/>
                </a:solidFill>
                <a:effectLst/>
                <a:latin typeface="Times New Roman" panose="02020603050405020304" pitchFamily="18" charset="0"/>
                <a:cs typeface="Times New Roman" panose="02020603050405020304" pitchFamily="18" charset="0"/>
              </a:rPr>
              <a:t> that isn't already being </a:t>
            </a:r>
            <a:r>
              <a:rPr lang="en-US" sz="2400" b="0" i="0" dirty="0" err="1">
                <a:solidFill>
                  <a:srgbClr val="000000"/>
                </a:solidFill>
                <a:effectLst/>
                <a:latin typeface="Times New Roman" panose="02020603050405020304" pitchFamily="18" charset="0"/>
                <a:cs typeface="Times New Roman" panose="02020603050405020304" pitchFamily="18" charset="0"/>
              </a:rPr>
              <a:t>utilised</a:t>
            </a:r>
            <a:r>
              <a:rPr lang="en-US" sz="2400" b="0" i="0" dirty="0">
                <a:solidFill>
                  <a:srgbClr val="000000"/>
                </a:solidFill>
                <a:effectLst/>
                <a:latin typeface="Times New Roman" panose="02020603050405020304" pitchFamily="18" charset="0"/>
                <a:cs typeface="Times New Roman" panose="02020603050405020304" pitchFamily="18" charset="0"/>
              </a:rPr>
              <a:t> by its </a:t>
            </a:r>
            <a:r>
              <a:rPr lang="en-US" sz="2400" b="0" i="0" dirty="0" err="1">
                <a:solidFill>
                  <a:srgbClr val="000000"/>
                </a:solidFill>
                <a:effectLst/>
                <a:latin typeface="Times New Roman" panose="02020603050405020304" pitchFamily="18" charset="0"/>
                <a:cs typeface="Times New Roman" panose="02020603050405020304" pitchFamily="18" charset="0"/>
              </a:rPr>
              <a:t>neighbouring</a:t>
            </a:r>
            <a:r>
              <a:rPr lang="en-US" sz="2400" b="0" i="0" dirty="0">
                <a:solidFill>
                  <a:srgbClr val="000000"/>
                </a:solidFill>
                <a:effectLst/>
                <a:latin typeface="Times New Roman" panose="02020603050405020304" pitchFamily="18" charset="0"/>
                <a:cs typeface="Times New Roman" panose="02020603050405020304" pitchFamily="18" charset="0"/>
              </a:rPr>
              <a:t> vertices.</a:t>
            </a:r>
          </a:p>
        </p:txBody>
      </p:sp>
      <p:sp>
        <p:nvSpPr>
          <p:cNvPr id="4" name="Slide Number Placeholder 3">
            <a:extLst>
              <a:ext uri="{FF2B5EF4-FFF2-40B4-BE49-F238E27FC236}">
                <a16:creationId xmlns:a16="http://schemas.microsoft.com/office/drawing/2014/main" id="{52D153B1-7F5B-24C9-B376-EA6DD57D39AB}"/>
              </a:ext>
            </a:extLst>
          </p:cNvPr>
          <p:cNvSpPr>
            <a:spLocks noGrp="1"/>
          </p:cNvSpPr>
          <p:nvPr>
            <p:ph type="sldNum" sz="quarter" idx="12"/>
          </p:nvPr>
        </p:nvSpPr>
        <p:spPr/>
        <p:txBody>
          <a:bodyPr/>
          <a:lstStyle/>
          <a:p>
            <a:fld id="{BDCDBBEF-AA6C-4BA6-85B2-A17D7F280E38}" type="slidenum">
              <a:rPr lang="en-US" smtClean="0"/>
              <a:t>33</a:t>
            </a:fld>
            <a:endParaRPr lang="en-US"/>
          </a:p>
        </p:txBody>
      </p:sp>
      <p:sp>
        <p:nvSpPr>
          <p:cNvPr id="5" name="Title 1">
            <a:extLst>
              <a:ext uri="{FF2B5EF4-FFF2-40B4-BE49-F238E27FC236}">
                <a16:creationId xmlns:a16="http://schemas.microsoft.com/office/drawing/2014/main" id="{F8D66E61-EA7D-D7DF-8F23-D2515BC7F05E}"/>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Welsh-Powell algorithm</a:t>
            </a:r>
            <a:endParaRPr lang="en-US" dirty="0"/>
          </a:p>
        </p:txBody>
      </p:sp>
    </p:spTree>
    <p:extLst>
      <p:ext uri="{BB962C8B-B14F-4D97-AF65-F5344CB8AC3E}">
        <p14:creationId xmlns:p14="http://schemas.microsoft.com/office/powerpoint/2010/main" val="3257851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37C4D-1E5E-6BB3-FF51-EAB6B326DD5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D22CB91-7745-4EB5-E6CE-756D7892ACB0}"/>
              </a:ext>
            </a:extLst>
          </p:cNvPr>
          <p:cNvPicPr>
            <a:picLocks noGrp="1" noChangeAspect="1"/>
          </p:cNvPicPr>
          <p:nvPr>
            <p:ph idx="1"/>
          </p:nvPr>
        </p:nvPicPr>
        <p:blipFill>
          <a:blip r:embed="rId2"/>
          <a:stretch>
            <a:fillRect/>
          </a:stretch>
        </p:blipFill>
        <p:spPr>
          <a:xfrm>
            <a:off x="1238707" y="1304298"/>
            <a:ext cx="5361052" cy="3960871"/>
          </a:xfrm>
          <a:ln>
            <a:solidFill>
              <a:schemeClr val="tx1"/>
            </a:solidFill>
          </a:ln>
        </p:spPr>
      </p:pic>
      <p:sp>
        <p:nvSpPr>
          <p:cNvPr id="4" name="Slide Number Placeholder 3">
            <a:extLst>
              <a:ext uri="{FF2B5EF4-FFF2-40B4-BE49-F238E27FC236}">
                <a16:creationId xmlns:a16="http://schemas.microsoft.com/office/drawing/2014/main" id="{6AC76339-6D73-4277-13E6-3974A26700CD}"/>
              </a:ext>
            </a:extLst>
          </p:cNvPr>
          <p:cNvSpPr>
            <a:spLocks noGrp="1"/>
          </p:cNvSpPr>
          <p:nvPr>
            <p:ph type="sldNum" sz="quarter" idx="12"/>
          </p:nvPr>
        </p:nvSpPr>
        <p:spPr/>
        <p:txBody>
          <a:bodyPr/>
          <a:lstStyle/>
          <a:p>
            <a:fld id="{BDCDBBEF-AA6C-4BA6-85B2-A17D7F280E38}" type="slidenum">
              <a:rPr lang="en-US" smtClean="0"/>
              <a:t>34</a:t>
            </a:fld>
            <a:endParaRPr lang="en-US"/>
          </a:p>
        </p:txBody>
      </p:sp>
      <p:sp>
        <p:nvSpPr>
          <p:cNvPr id="5" name="Title 1">
            <a:extLst>
              <a:ext uri="{FF2B5EF4-FFF2-40B4-BE49-F238E27FC236}">
                <a16:creationId xmlns:a16="http://schemas.microsoft.com/office/drawing/2014/main" id="{E1921CB7-6EF7-77EE-39B9-5B364CC0191A}"/>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Welsh-Powell algorithm</a:t>
            </a:r>
            <a:endParaRPr lang="en-US" dirty="0"/>
          </a:p>
        </p:txBody>
      </p:sp>
      <p:pic>
        <p:nvPicPr>
          <p:cNvPr id="8" name="Picture 7">
            <a:extLst>
              <a:ext uri="{FF2B5EF4-FFF2-40B4-BE49-F238E27FC236}">
                <a16:creationId xmlns:a16="http://schemas.microsoft.com/office/drawing/2014/main" id="{5EBFBB20-8FA0-BF0B-DFD1-EDD3B0705FBA}"/>
              </a:ext>
            </a:extLst>
          </p:cNvPr>
          <p:cNvPicPr>
            <a:picLocks noChangeAspect="1"/>
          </p:cNvPicPr>
          <p:nvPr/>
        </p:nvPicPr>
        <p:blipFill>
          <a:blip r:embed="rId3"/>
          <a:stretch>
            <a:fillRect/>
          </a:stretch>
        </p:blipFill>
        <p:spPr>
          <a:xfrm>
            <a:off x="7733862" y="1304298"/>
            <a:ext cx="2398280" cy="4832898"/>
          </a:xfrm>
          <a:prstGeom prst="rect">
            <a:avLst/>
          </a:prstGeom>
        </p:spPr>
      </p:pic>
      <p:sp>
        <p:nvSpPr>
          <p:cNvPr id="9" name="TextBox 8">
            <a:extLst>
              <a:ext uri="{FF2B5EF4-FFF2-40B4-BE49-F238E27FC236}">
                <a16:creationId xmlns:a16="http://schemas.microsoft.com/office/drawing/2014/main" id="{A84433DA-EA1E-0ACE-63A2-D35CADF34FE8}"/>
              </a:ext>
            </a:extLst>
          </p:cNvPr>
          <p:cNvSpPr txBox="1"/>
          <p:nvPr/>
        </p:nvSpPr>
        <p:spPr>
          <a:xfrm>
            <a:off x="905359" y="5565278"/>
            <a:ext cx="6828503"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Now arrange in descending order of their degree.</a:t>
            </a:r>
          </a:p>
          <a:p>
            <a:r>
              <a:rPr lang="en-IN" sz="2400" dirty="0">
                <a:latin typeface="Times New Roman" panose="02020603050405020304" pitchFamily="18" charset="0"/>
                <a:cs typeface="Times New Roman" panose="02020603050405020304" pitchFamily="18" charset="0"/>
              </a:rPr>
              <a:t>New Order is H,K,D,G,I,J,A,B,E,F,C</a:t>
            </a:r>
          </a:p>
        </p:txBody>
      </p:sp>
    </p:spTree>
    <p:extLst>
      <p:ext uri="{BB962C8B-B14F-4D97-AF65-F5344CB8AC3E}">
        <p14:creationId xmlns:p14="http://schemas.microsoft.com/office/powerpoint/2010/main" val="2341086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2F435-C733-4301-A915-ADD3EE4A40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9B51DB-27F6-F417-5BBA-996F3235C7DA}"/>
              </a:ext>
            </a:extLst>
          </p:cNvPr>
          <p:cNvSpPr>
            <a:spLocks noGrp="1"/>
          </p:cNvSpPr>
          <p:nvPr>
            <p:ph type="sldNum" sz="quarter" idx="12"/>
          </p:nvPr>
        </p:nvSpPr>
        <p:spPr/>
        <p:txBody>
          <a:bodyPr/>
          <a:lstStyle/>
          <a:p>
            <a:fld id="{BDCDBBEF-AA6C-4BA6-85B2-A17D7F280E38}" type="slidenum">
              <a:rPr lang="en-US" smtClean="0"/>
              <a:t>35</a:t>
            </a:fld>
            <a:endParaRPr lang="en-US"/>
          </a:p>
        </p:txBody>
      </p:sp>
      <p:sp>
        <p:nvSpPr>
          <p:cNvPr id="5" name="Title 1">
            <a:extLst>
              <a:ext uri="{FF2B5EF4-FFF2-40B4-BE49-F238E27FC236}">
                <a16:creationId xmlns:a16="http://schemas.microsoft.com/office/drawing/2014/main" id="{32B7313F-E1A5-2991-22CB-81C6EC91F6E3}"/>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Welsh-Powell algorithm</a:t>
            </a:r>
            <a:endParaRPr lang="en-US" dirty="0"/>
          </a:p>
        </p:txBody>
      </p:sp>
      <p:sp>
        <p:nvSpPr>
          <p:cNvPr id="9" name="TextBox 8">
            <a:extLst>
              <a:ext uri="{FF2B5EF4-FFF2-40B4-BE49-F238E27FC236}">
                <a16:creationId xmlns:a16="http://schemas.microsoft.com/office/drawing/2014/main" id="{01412BFD-D464-D954-4863-4C07359FFDA7}"/>
              </a:ext>
            </a:extLst>
          </p:cNvPr>
          <p:cNvSpPr txBox="1"/>
          <p:nvPr/>
        </p:nvSpPr>
        <p:spPr>
          <a:xfrm>
            <a:off x="471948" y="1458589"/>
            <a:ext cx="5073446" cy="5016758"/>
          </a:xfrm>
          <a:prstGeom prst="rect">
            <a:avLst/>
          </a:prstGeom>
          <a:noFill/>
          <a:ln>
            <a:solidFill>
              <a:schemeClr val="tx1"/>
            </a:solidFill>
          </a:ln>
        </p:spPr>
        <p:txBody>
          <a:bodyPr wrap="square" rtlCol="0">
            <a:spAutoFit/>
          </a:bodyPr>
          <a:lstStyle/>
          <a:p>
            <a:r>
              <a:rPr lang="en-IN" sz="2000" dirty="0">
                <a:latin typeface="Times New Roman" panose="02020603050405020304" pitchFamily="18" charset="0"/>
                <a:cs typeface="Times New Roman" panose="02020603050405020304" pitchFamily="18" charset="0"/>
              </a:rPr>
              <a:t>For </a:t>
            </a:r>
            <a:r>
              <a:rPr lang="en-IN" sz="2000" dirty="0" err="1">
                <a:latin typeface="Times New Roman" panose="02020603050405020304" pitchFamily="18" charset="0"/>
                <a:cs typeface="Times New Roman" panose="02020603050405020304" pitchFamily="18" charset="0"/>
              </a:rPr>
              <a:t>coloring</a:t>
            </a:r>
            <a:r>
              <a:rPr lang="en-IN" sz="2000" dirty="0">
                <a:latin typeface="Times New Roman" panose="02020603050405020304" pitchFamily="18" charset="0"/>
                <a:cs typeface="Times New Roman" panose="02020603050405020304" pitchFamily="18" charset="0"/>
              </a:rPr>
              <a:t> the graph:</a:t>
            </a:r>
          </a:p>
          <a:p>
            <a:r>
              <a:rPr lang="en-IN" sz="2000" dirty="0">
                <a:latin typeface="Times New Roman" panose="02020603050405020304" pitchFamily="18" charset="0"/>
                <a:cs typeface="Times New Roman" panose="02020603050405020304" pitchFamily="18" charset="0"/>
              </a:rPr>
              <a:t>Order is: H,K,D,G,I,J,A,B,E,F,C</a:t>
            </a:r>
          </a:p>
          <a:p>
            <a:r>
              <a:rPr lang="en-IN" sz="2000" dirty="0">
                <a:latin typeface="Times New Roman" panose="02020603050405020304" pitchFamily="18" charset="0"/>
                <a:cs typeface="Times New Roman" panose="02020603050405020304" pitchFamily="18" charset="0"/>
              </a:rPr>
              <a:t>Try Red </a:t>
            </a:r>
            <a:r>
              <a:rPr lang="en-IN" sz="2000" dirty="0" err="1">
                <a:latin typeface="Times New Roman" panose="02020603050405020304" pitchFamily="18" charset="0"/>
                <a:cs typeface="Times New Roman" panose="02020603050405020304" pitchFamily="18" charset="0"/>
              </a:rPr>
              <a:t>Color</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a:t>
            </a:r>
          </a:p>
          <a:p>
            <a:r>
              <a:rPr lang="en-IN" sz="2000" dirty="0">
                <a:latin typeface="Times New Roman" panose="02020603050405020304" pitchFamily="18" charset="0"/>
                <a:cs typeface="Times New Roman" panose="02020603050405020304" pitchFamily="18" charset="0"/>
              </a:rPr>
              <a:t>K-Don’t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H</a:t>
            </a:r>
          </a:p>
          <a:p>
            <a:r>
              <a:rPr lang="en-IN" sz="2000" dirty="0">
                <a:latin typeface="Times New Roman" panose="02020603050405020304" pitchFamily="18" charset="0"/>
                <a:cs typeface="Times New Roman" panose="02020603050405020304" pitchFamily="18" charset="0"/>
              </a:rPr>
              <a:t>D-</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a:t>
            </a:r>
          </a:p>
          <a:p>
            <a:r>
              <a:rPr lang="en-IN" sz="2000" dirty="0">
                <a:latin typeface="Times New Roman" panose="02020603050405020304" pitchFamily="18" charset="0"/>
                <a:cs typeface="Times New Roman" panose="02020603050405020304" pitchFamily="18" charset="0"/>
              </a:rPr>
              <a:t>G-Don’t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H</a:t>
            </a:r>
          </a:p>
          <a:p>
            <a:r>
              <a:rPr lang="en-IN" sz="2000" dirty="0">
                <a:latin typeface="Times New Roman" panose="02020603050405020304" pitchFamily="18" charset="0"/>
                <a:cs typeface="Times New Roman" panose="02020603050405020304" pitchFamily="18" charset="0"/>
              </a:rPr>
              <a:t>I-Don’t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H</a:t>
            </a:r>
          </a:p>
          <a:p>
            <a:r>
              <a:rPr lang="en-IN" sz="2000" dirty="0">
                <a:latin typeface="Times New Roman" panose="02020603050405020304" pitchFamily="18" charset="0"/>
                <a:cs typeface="Times New Roman" panose="02020603050405020304" pitchFamily="18" charset="0"/>
              </a:rPr>
              <a:t>J-Don’t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H</a:t>
            </a:r>
          </a:p>
          <a:p>
            <a:r>
              <a:rPr lang="en-IN" sz="2000" dirty="0">
                <a:latin typeface="Times New Roman" panose="02020603050405020304" pitchFamily="18" charset="0"/>
                <a:cs typeface="Times New Roman" panose="02020603050405020304" pitchFamily="18" charset="0"/>
              </a:rPr>
              <a:t>A-Don’t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H</a:t>
            </a:r>
          </a:p>
          <a:p>
            <a:r>
              <a:rPr lang="en-IN" sz="2000" dirty="0">
                <a:latin typeface="Times New Roman" panose="02020603050405020304" pitchFamily="18" charset="0"/>
                <a:cs typeface="Times New Roman" panose="02020603050405020304" pitchFamily="18" charset="0"/>
              </a:rPr>
              <a:t>B-Don’t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D</a:t>
            </a:r>
          </a:p>
          <a:p>
            <a:r>
              <a:rPr lang="en-IN" sz="2000" dirty="0">
                <a:latin typeface="Times New Roman" panose="02020603050405020304" pitchFamily="18" charset="0"/>
                <a:cs typeface="Times New Roman" panose="02020603050405020304" pitchFamily="18" charset="0"/>
              </a:rPr>
              <a:t>E-</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a:t>
            </a:r>
          </a:p>
          <a:p>
            <a:r>
              <a:rPr lang="en-IN" sz="2000" dirty="0">
                <a:latin typeface="Times New Roman" panose="02020603050405020304" pitchFamily="18" charset="0"/>
                <a:cs typeface="Times New Roman" panose="02020603050405020304" pitchFamily="18" charset="0"/>
              </a:rPr>
              <a:t>F-Don’t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E</a:t>
            </a:r>
          </a:p>
          <a:p>
            <a:r>
              <a:rPr lang="en-IN" sz="2000" dirty="0">
                <a:latin typeface="Times New Roman" panose="02020603050405020304" pitchFamily="18" charset="0"/>
                <a:cs typeface="Times New Roman" panose="02020603050405020304" pitchFamily="18" charset="0"/>
              </a:rPr>
              <a:t>C-Don’t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as it connects to D</a:t>
            </a:r>
          </a:p>
          <a:p>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6DD2477-13F4-88DF-1CDC-5F07D8DE9FA6}"/>
              </a:ext>
            </a:extLst>
          </p:cNvPr>
          <p:cNvPicPr>
            <a:picLocks noChangeAspect="1"/>
          </p:cNvPicPr>
          <p:nvPr/>
        </p:nvPicPr>
        <p:blipFill>
          <a:blip r:embed="rId2"/>
          <a:stretch>
            <a:fillRect/>
          </a:stretch>
        </p:blipFill>
        <p:spPr>
          <a:xfrm>
            <a:off x="5828446" y="1620820"/>
            <a:ext cx="5525354" cy="4263785"/>
          </a:xfrm>
          <a:prstGeom prst="rect">
            <a:avLst/>
          </a:prstGeom>
        </p:spPr>
      </p:pic>
    </p:spTree>
    <p:extLst>
      <p:ext uri="{BB962C8B-B14F-4D97-AF65-F5344CB8AC3E}">
        <p14:creationId xmlns:p14="http://schemas.microsoft.com/office/powerpoint/2010/main" val="3170778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4301A-2F2A-0967-54A5-9232759420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9CDA80-3C4B-29EB-C680-018CDAEF79F6}"/>
              </a:ext>
            </a:extLst>
          </p:cNvPr>
          <p:cNvSpPr>
            <a:spLocks noGrp="1"/>
          </p:cNvSpPr>
          <p:nvPr>
            <p:ph type="sldNum" sz="quarter" idx="12"/>
          </p:nvPr>
        </p:nvSpPr>
        <p:spPr/>
        <p:txBody>
          <a:bodyPr/>
          <a:lstStyle/>
          <a:p>
            <a:fld id="{BDCDBBEF-AA6C-4BA6-85B2-A17D7F280E38}" type="slidenum">
              <a:rPr lang="en-US" smtClean="0"/>
              <a:t>36</a:t>
            </a:fld>
            <a:endParaRPr lang="en-US"/>
          </a:p>
        </p:txBody>
      </p:sp>
      <p:sp>
        <p:nvSpPr>
          <p:cNvPr id="5" name="Title 1">
            <a:extLst>
              <a:ext uri="{FF2B5EF4-FFF2-40B4-BE49-F238E27FC236}">
                <a16:creationId xmlns:a16="http://schemas.microsoft.com/office/drawing/2014/main" id="{D6EF126B-7A1D-3E81-4872-4D7D76B0304D}"/>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Welsh-Powell algorithm</a:t>
            </a:r>
            <a:endParaRPr lang="en-US" dirty="0"/>
          </a:p>
        </p:txBody>
      </p:sp>
      <p:sp>
        <p:nvSpPr>
          <p:cNvPr id="9" name="TextBox 8">
            <a:extLst>
              <a:ext uri="{FF2B5EF4-FFF2-40B4-BE49-F238E27FC236}">
                <a16:creationId xmlns:a16="http://schemas.microsoft.com/office/drawing/2014/main" id="{51B88182-F59E-3E51-D8DA-3DF191A09D5A}"/>
              </a:ext>
            </a:extLst>
          </p:cNvPr>
          <p:cNvSpPr txBox="1"/>
          <p:nvPr/>
        </p:nvSpPr>
        <p:spPr>
          <a:xfrm>
            <a:off x="575184" y="1311109"/>
            <a:ext cx="5073446" cy="5115311"/>
          </a:xfrm>
          <a:prstGeom prst="rect">
            <a:avLst/>
          </a:prstGeom>
          <a:noFill/>
          <a:ln>
            <a:solidFill>
              <a:schemeClr val="tx1"/>
            </a:solidFill>
          </a:ln>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Ignoring the vertices already coloured:</a:t>
            </a:r>
          </a:p>
          <a:p>
            <a:pPr>
              <a:lnSpc>
                <a:spcPct val="150000"/>
              </a:lnSpc>
            </a:pPr>
            <a:r>
              <a:rPr lang="en-IN" sz="2000" dirty="0">
                <a:latin typeface="Times New Roman" panose="02020603050405020304" pitchFamily="18" charset="0"/>
                <a:cs typeface="Times New Roman" panose="02020603050405020304" pitchFamily="18" charset="0"/>
              </a:rPr>
              <a:t>Rest vertices are: K,G,I,J,A,B,F,C</a:t>
            </a:r>
          </a:p>
          <a:p>
            <a:pPr>
              <a:lnSpc>
                <a:spcPct val="150000"/>
              </a:lnSpc>
            </a:pPr>
            <a:r>
              <a:rPr lang="en-IN" sz="2000" dirty="0">
                <a:latin typeface="Times New Roman" panose="02020603050405020304" pitchFamily="18" charset="0"/>
                <a:cs typeface="Times New Roman" panose="02020603050405020304" pitchFamily="18" charset="0"/>
              </a:rPr>
              <a:t>Now try </a:t>
            </a:r>
            <a:r>
              <a:rPr lang="en-IN" sz="2000" b="1" dirty="0">
                <a:latin typeface="Times New Roman" panose="02020603050405020304" pitchFamily="18" charset="0"/>
                <a:cs typeface="Times New Roman" panose="02020603050405020304" pitchFamily="18" charset="0"/>
              </a:rPr>
              <a:t>Green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Color</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K-</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a:t>
            </a:r>
          </a:p>
          <a:p>
            <a:pPr>
              <a:lnSpc>
                <a:spcPct val="150000"/>
              </a:lnSpc>
            </a:pPr>
            <a:r>
              <a:rPr lang="en-IN" sz="2000" dirty="0">
                <a:latin typeface="Times New Roman" panose="02020603050405020304" pitchFamily="18" charset="0"/>
                <a:cs typeface="Times New Roman" panose="02020603050405020304" pitchFamily="18" charset="0"/>
              </a:rPr>
              <a:t>G-Don’t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 as it connects to K</a:t>
            </a:r>
          </a:p>
          <a:p>
            <a:pPr>
              <a:lnSpc>
                <a:spcPct val="150000"/>
              </a:lnSpc>
            </a:pPr>
            <a:r>
              <a:rPr lang="en-IN" sz="2000" dirty="0">
                <a:latin typeface="Times New Roman" panose="02020603050405020304" pitchFamily="18" charset="0"/>
                <a:cs typeface="Times New Roman" panose="02020603050405020304" pitchFamily="18" charset="0"/>
              </a:rPr>
              <a:t>I-</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a:t>
            </a:r>
          </a:p>
          <a:p>
            <a:pPr>
              <a:lnSpc>
                <a:spcPct val="150000"/>
              </a:lnSpc>
            </a:pPr>
            <a:r>
              <a:rPr lang="en-IN" sz="2000" dirty="0">
                <a:latin typeface="Times New Roman" panose="02020603050405020304" pitchFamily="18" charset="0"/>
                <a:cs typeface="Times New Roman" panose="02020603050405020304" pitchFamily="18" charset="0"/>
              </a:rPr>
              <a:t>J-Don’t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 as it connects to I</a:t>
            </a:r>
          </a:p>
          <a:p>
            <a:pPr>
              <a:lnSpc>
                <a:spcPct val="150000"/>
              </a:lnSpc>
            </a:pPr>
            <a:r>
              <a:rPr lang="en-IN" sz="2000" dirty="0">
                <a:latin typeface="Times New Roman" panose="02020603050405020304" pitchFamily="18" charset="0"/>
                <a:cs typeface="Times New Roman" panose="02020603050405020304" pitchFamily="18" charset="0"/>
              </a:rPr>
              <a:t>A-</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a:t>
            </a:r>
          </a:p>
          <a:p>
            <a:pPr>
              <a:lnSpc>
                <a:spcPct val="150000"/>
              </a:lnSpc>
            </a:pPr>
            <a:r>
              <a:rPr lang="en-IN" sz="2000" dirty="0">
                <a:latin typeface="Times New Roman" panose="02020603050405020304" pitchFamily="18" charset="0"/>
                <a:cs typeface="Times New Roman" panose="02020603050405020304" pitchFamily="18" charset="0"/>
              </a:rPr>
              <a:t>B-Don’t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 as it connects to A</a:t>
            </a:r>
          </a:p>
          <a:p>
            <a:pPr>
              <a:lnSpc>
                <a:spcPct val="150000"/>
              </a:lnSpc>
            </a:pPr>
            <a:r>
              <a:rPr lang="en-IN" sz="2000" dirty="0">
                <a:latin typeface="Times New Roman" panose="02020603050405020304" pitchFamily="18" charset="0"/>
                <a:cs typeface="Times New Roman" panose="02020603050405020304" pitchFamily="18" charset="0"/>
              </a:rPr>
              <a:t>F-</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a:t>
            </a:r>
          </a:p>
          <a:p>
            <a:pPr>
              <a:lnSpc>
                <a:spcPct val="150000"/>
              </a:lnSpc>
            </a:pPr>
            <a:r>
              <a:rPr lang="en-IN" sz="2000" dirty="0">
                <a:latin typeface="Times New Roman" panose="02020603050405020304" pitchFamily="18" charset="0"/>
                <a:cs typeface="Times New Roman" panose="02020603050405020304" pitchFamily="18" charset="0"/>
              </a:rPr>
              <a:t>C-</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Green</a:t>
            </a:r>
          </a:p>
        </p:txBody>
      </p:sp>
      <p:pic>
        <p:nvPicPr>
          <p:cNvPr id="3" name="Picture 2">
            <a:extLst>
              <a:ext uri="{FF2B5EF4-FFF2-40B4-BE49-F238E27FC236}">
                <a16:creationId xmlns:a16="http://schemas.microsoft.com/office/drawing/2014/main" id="{5CFFDB34-2386-A7EA-C688-44DEAAFFA26B}"/>
              </a:ext>
            </a:extLst>
          </p:cNvPr>
          <p:cNvPicPr>
            <a:picLocks noChangeAspect="1"/>
          </p:cNvPicPr>
          <p:nvPr/>
        </p:nvPicPr>
        <p:blipFill>
          <a:blip r:embed="rId2"/>
          <a:stretch>
            <a:fillRect/>
          </a:stretch>
        </p:blipFill>
        <p:spPr>
          <a:xfrm>
            <a:off x="5724280" y="1716940"/>
            <a:ext cx="5629519" cy="4060637"/>
          </a:xfrm>
          <a:prstGeom prst="rect">
            <a:avLst/>
          </a:prstGeom>
        </p:spPr>
      </p:pic>
    </p:spTree>
    <p:extLst>
      <p:ext uri="{BB962C8B-B14F-4D97-AF65-F5344CB8AC3E}">
        <p14:creationId xmlns:p14="http://schemas.microsoft.com/office/powerpoint/2010/main" val="1005058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13563-0F8C-C194-15FD-5A6E6E9B6B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A1F171-21FC-02DE-8776-84853B6AD531}"/>
              </a:ext>
            </a:extLst>
          </p:cNvPr>
          <p:cNvSpPr>
            <a:spLocks noGrp="1"/>
          </p:cNvSpPr>
          <p:nvPr>
            <p:ph type="sldNum" sz="quarter" idx="12"/>
          </p:nvPr>
        </p:nvSpPr>
        <p:spPr/>
        <p:txBody>
          <a:bodyPr/>
          <a:lstStyle/>
          <a:p>
            <a:fld id="{BDCDBBEF-AA6C-4BA6-85B2-A17D7F280E38}" type="slidenum">
              <a:rPr lang="en-US" smtClean="0"/>
              <a:t>37</a:t>
            </a:fld>
            <a:endParaRPr lang="en-US"/>
          </a:p>
        </p:txBody>
      </p:sp>
      <p:sp>
        <p:nvSpPr>
          <p:cNvPr id="5" name="Title 1">
            <a:extLst>
              <a:ext uri="{FF2B5EF4-FFF2-40B4-BE49-F238E27FC236}">
                <a16:creationId xmlns:a16="http://schemas.microsoft.com/office/drawing/2014/main" id="{877BF0BB-0C24-F70A-DE08-1046671F5741}"/>
              </a:ext>
            </a:extLst>
          </p:cNvPr>
          <p:cNvSpPr txBox="1">
            <a:spLocks/>
          </p:cNvSpPr>
          <p:nvPr/>
        </p:nvSpPr>
        <p:spPr>
          <a:xfrm>
            <a:off x="838200" y="276930"/>
            <a:ext cx="8743122" cy="808214"/>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b="1" dirty="0">
                <a:latin typeface="Times New Roman" panose="02020603050405020304" pitchFamily="18" charset="0"/>
                <a:cs typeface="Times New Roman" panose="02020603050405020304" pitchFamily="18" charset="0"/>
              </a:rPr>
              <a:t>Welsh-Powell algorithm</a:t>
            </a:r>
            <a:endParaRPr lang="en-US" dirty="0"/>
          </a:p>
        </p:txBody>
      </p:sp>
      <p:sp>
        <p:nvSpPr>
          <p:cNvPr id="9" name="TextBox 8">
            <a:extLst>
              <a:ext uri="{FF2B5EF4-FFF2-40B4-BE49-F238E27FC236}">
                <a16:creationId xmlns:a16="http://schemas.microsoft.com/office/drawing/2014/main" id="{0E036F80-3205-A54A-28C4-75B6AB4B68B7}"/>
              </a:ext>
            </a:extLst>
          </p:cNvPr>
          <p:cNvSpPr txBox="1"/>
          <p:nvPr/>
        </p:nvSpPr>
        <p:spPr>
          <a:xfrm>
            <a:off x="471948" y="1960034"/>
            <a:ext cx="5073446" cy="3268652"/>
          </a:xfrm>
          <a:prstGeom prst="rect">
            <a:avLst/>
          </a:prstGeom>
          <a:noFill/>
          <a:ln>
            <a:solidFill>
              <a:schemeClr val="tx1"/>
            </a:solidFill>
          </a:ln>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Ignoring the vertices already coloured:</a:t>
            </a:r>
          </a:p>
          <a:p>
            <a:pPr>
              <a:lnSpc>
                <a:spcPct val="150000"/>
              </a:lnSpc>
            </a:pPr>
            <a:r>
              <a:rPr lang="en-IN" sz="2000" dirty="0">
                <a:latin typeface="Times New Roman" panose="02020603050405020304" pitchFamily="18" charset="0"/>
                <a:cs typeface="Times New Roman" panose="02020603050405020304" pitchFamily="18" charset="0"/>
              </a:rPr>
              <a:t>Rest vertices are: G,J,B</a:t>
            </a:r>
          </a:p>
          <a:p>
            <a:pPr>
              <a:lnSpc>
                <a:spcPct val="150000"/>
              </a:lnSpc>
            </a:pPr>
            <a:r>
              <a:rPr lang="en-IN" sz="2000" dirty="0">
                <a:latin typeface="Times New Roman" panose="02020603050405020304" pitchFamily="18" charset="0"/>
                <a:cs typeface="Times New Roman" panose="02020603050405020304" pitchFamily="18" charset="0"/>
              </a:rPr>
              <a:t>Now Try Blue </a:t>
            </a:r>
            <a:r>
              <a:rPr lang="en-IN" sz="2000" dirty="0" err="1">
                <a:latin typeface="Times New Roman" panose="02020603050405020304" pitchFamily="18" charset="0"/>
                <a:cs typeface="Times New Roman" panose="02020603050405020304" pitchFamily="18" charset="0"/>
              </a:rPr>
              <a:t>Color</a:t>
            </a: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G-</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Blue</a:t>
            </a:r>
          </a:p>
          <a:p>
            <a:pPr>
              <a:lnSpc>
                <a:spcPct val="150000"/>
              </a:lnSpc>
            </a:pPr>
            <a:r>
              <a:rPr lang="en-IN" sz="2000" dirty="0">
                <a:latin typeface="Times New Roman" panose="02020603050405020304" pitchFamily="18" charset="0"/>
                <a:cs typeface="Times New Roman" panose="02020603050405020304" pitchFamily="18" charset="0"/>
              </a:rPr>
              <a:t>J-</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Blue</a:t>
            </a:r>
          </a:p>
          <a:p>
            <a:pPr>
              <a:lnSpc>
                <a:spcPct val="150000"/>
              </a:lnSpc>
            </a:pPr>
            <a:r>
              <a:rPr lang="en-IN" sz="2000" dirty="0">
                <a:latin typeface="Times New Roman" panose="02020603050405020304" pitchFamily="18" charset="0"/>
                <a:cs typeface="Times New Roman" panose="02020603050405020304" pitchFamily="18" charset="0"/>
              </a:rPr>
              <a:t>B-</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Blue</a:t>
            </a:r>
          </a:p>
        </p:txBody>
      </p:sp>
      <p:pic>
        <p:nvPicPr>
          <p:cNvPr id="6" name="Picture 5">
            <a:extLst>
              <a:ext uri="{FF2B5EF4-FFF2-40B4-BE49-F238E27FC236}">
                <a16:creationId xmlns:a16="http://schemas.microsoft.com/office/drawing/2014/main" id="{9E936746-FC08-9648-B2BE-A39AD12B40C3}"/>
              </a:ext>
            </a:extLst>
          </p:cNvPr>
          <p:cNvPicPr>
            <a:picLocks noChangeAspect="1"/>
          </p:cNvPicPr>
          <p:nvPr/>
        </p:nvPicPr>
        <p:blipFill>
          <a:blip r:embed="rId2"/>
          <a:stretch>
            <a:fillRect/>
          </a:stretch>
        </p:blipFill>
        <p:spPr>
          <a:xfrm>
            <a:off x="6009239" y="1618707"/>
            <a:ext cx="5187974" cy="3951306"/>
          </a:xfrm>
          <a:prstGeom prst="rect">
            <a:avLst/>
          </a:prstGeom>
        </p:spPr>
      </p:pic>
    </p:spTree>
    <p:extLst>
      <p:ext uri="{BB962C8B-B14F-4D97-AF65-F5344CB8AC3E}">
        <p14:creationId xmlns:p14="http://schemas.microsoft.com/office/powerpoint/2010/main" val="2869336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617" y="87655"/>
            <a:ext cx="8120270" cy="990069"/>
          </a:xfrm>
        </p:spPr>
        <p:txBody>
          <a:bodyPr/>
          <a:lstStyle/>
          <a:p>
            <a:pPr algn="ctr"/>
            <a:r>
              <a:rPr lang="en-US" b="1" dirty="0">
                <a:latin typeface="Times New Roman" panose="02020603050405020304" pitchFamily="18" charset="0"/>
                <a:cs typeface="Times New Roman" panose="02020603050405020304" pitchFamily="18" charset="0"/>
              </a:rPr>
              <a:t>Hamiltonian Cycles</a:t>
            </a:r>
            <a:endParaRPr lang="en-US" dirty="0"/>
          </a:p>
        </p:txBody>
      </p:sp>
      <p:sp>
        <p:nvSpPr>
          <p:cNvPr id="3" name="Content Placeholder 2"/>
          <p:cNvSpPr>
            <a:spLocks noGrp="1"/>
          </p:cNvSpPr>
          <p:nvPr>
            <p:ph idx="1"/>
          </p:nvPr>
        </p:nvSpPr>
        <p:spPr>
          <a:xfrm>
            <a:off x="838200" y="1261874"/>
            <a:ext cx="10515600" cy="4915089"/>
          </a:xfrm>
        </p:spPr>
        <p:txBody>
          <a:bodyPr>
            <a:normAutofit/>
          </a:bodyPr>
          <a:lstStyle/>
          <a:p>
            <a:pPr algn="just"/>
            <a:r>
              <a:rPr lang="en-US" sz="2400" dirty="0">
                <a:latin typeface="Times New Roman" panose="02020603050405020304" pitchFamily="18" charset="0"/>
                <a:cs typeface="Times New Roman" panose="02020603050405020304" pitchFamily="18" charset="0"/>
              </a:rPr>
              <a:t>Hamiltonian cycle (HC): is a cycle which passes once and exactly once through every vertex of G (G can be digraph).</a:t>
            </a:r>
          </a:p>
          <a:p>
            <a:pPr algn="just"/>
            <a:r>
              <a:rPr lang="en-US" sz="2400" dirty="0">
                <a:latin typeface="Times New Roman" panose="02020603050405020304" pitchFamily="18" charset="0"/>
                <a:cs typeface="Times New Roman" panose="02020603050405020304" pitchFamily="18" charset="0"/>
              </a:rPr>
              <a:t> Hamiltonian path: is a path which passes once and exactly once through every vertex of G (G can be digraph).</a:t>
            </a:r>
          </a:p>
          <a:p>
            <a:pPr algn="just"/>
            <a:r>
              <a:rPr lang="en-US" sz="2400" dirty="0">
                <a:latin typeface="Times New Roman" panose="02020603050405020304" pitchFamily="18" charset="0"/>
                <a:cs typeface="Times New Roman" panose="02020603050405020304" pitchFamily="18" charset="0"/>
              </a:rPr>
              <a:t>A graph is Hamiltonian </a:t>
            </a:r>
            <a:r>
              <a:rPr lang="en-US" sz="2400" dirty="0" err="1">
                <a:latin typeface="Times New Roman" panose="02020603050405020304" pitchFamily="18" charset="0"/>
                <a:cs typeface="Times New Roman" panose="02020603050405020304" pitchFamily="18" charset="0"/>
              </a:rPr>
              <a:t>iff</a:t>
            </a:r>
            <a:r>
              <a:rPr lang="en-US" sz="2400" dirty="0">
                <a:latin typeface="Times New Roman" panose="02020603050405020304" pitchFamily="18" charset="0"/>
                <a:cs typeface="Times New Roman" panose="02020603050405020304" pitchFamily="18" charset="0"/>
              </a:rPr>
              <a:t> a Hamiltonian cycle (HC) exists.</a:t>
            </a: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38</a:t>
            </a:fld>
            <a:endParaRPr lang="en-US"/>
          </a:p>
        </p:txBody>
      </p:sp>
      <p:pic>
        <p:nvPicPr>
          <p:cNvPr id="5" name="Picture 2" descr="figure168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98085" y="3614531"/>
            <a:ext cx="7595830" cy="235127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8200" y="59875"/>
            <a:ext cx="8637104" cy="10178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8200" y="1257111"/>
            <a:ext cx="10515600" cy="491508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617" y="87655"/>
            <a:ext cx="8120270" cy="990069"/>
          </a:xfrm>
        </p:spPr>
        <p:txBody>
          <a:bodyPr/>
          <a:lstStyle/>
          <a:p>
            <a:pPr algn="ctr"/>
            <a:r>
              <a:rPr lang="en-US" b="1" dirty="0">
                <a:latin typeface="Times New Roman" panose="02020603050405020304" pitchFamily="18" charset="0"/>
                <a:cs typeface="Times New Roman" panose="02020603050405020304" pitchFamily="18" charset="0"/>
              </a:rPr>
              <a:t>Hamiltonian Cycles</a:t>
            </a:r>
            <a:endParaRPr lang="en-US" dirty="0"/>
          </a:p>
        </p:txBody>
      </p:sp>
      <p:sp>
        <p:nvSpPr>
          <p:cNvPr id="3" name="Content Placeholder 2"/>
          <p:cNvSpPr>
            <a:spLocks noGrp="1"/>
          </p:cNvSpPr>
          <p:nvPr>
            <p:ph idx="1"/>
          </p:nvPr>
        </p:nvSpPr>
        <p:spPr>
          <a:xfrm>
            <a:off x="838200" y="1261874"/>
            <a:ext cx="10515600" cy="5311204"/>
          </a:xfrm>
        </p:spPr>
        <p:txBody>
          <a:bodyPr>
            <a:norm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A </a:t>
            </a:r>
            <a:r>
              <a:rPr lang="en-US" sz="2400" b="1" i="0" dirty="0">
                <a:solidFill>
                  <a:srgbClr val="000000"/>
                </a:solidFill>
                <a:effectLst/>
                <a:latin typeface="Times New Roman" panose="02020603050405020304" pitchFamily="18" charset="0"/>
                <a:cs typeface="Times New Roman" panose="02020603050405020304" pitchFamily="18" charset="0"/>
              </a:rPr>
              <a:t>Hamiltonian</a:t>
            </a:r>
            <a:r>
              <a:rPr lang="en-US" sz="2400" b="0" i="0" dirty="0">
                <a:solidFill>
                  <a:srgbClr val="000000"/>
                </a:solidFill>
                <a:effectLst/>
                <a:latin typeface="Times New Roman" panose="02020603050405020304" pitchFamily="18" charset="0"/>
                <a:cs typeface="Times New Roman" panose="02020603050405020304" pitchFamily="18" charset="0"/>
              </a:rPr>
              <a:t> graph is the directed or undirected graph containing a Hamiltonian cycle. The </a:t>
            </a:r>
            <a:r>
              <a:rPr lang="en-US" sz="2400" b="1" i="0" dirty="0">
                <a:solidFill>
                  <a:srgbClr val="000000"/>
                </a:solidFill>
                <a:effectLst/>
                <a:latin typeface="Times New Roman" panose="02020603050405020304" pitchFamily="18" charset="0"/>
                <a:cs typeface="Times New Roman" panose="02020603050405020304" pitchFamily="18" charset="0"/>
              </a:rPr>
              <a:t>Hamiltonian cycle</a:t>
            </a:r>
            <a:r>
              <a:rPr lang="en-US" sz="2400" b="0" i="0" dirty="0">
                <a:solidFill>
                  <a:srgbClr val="000000"/>
                </a:solidFill>
                <a:effectLst/>
                <a:latin typeface="Times New Roman" panose="02020603050405020304" pitchFamily="18" charset="0"/>
                <a:cs typeface="Times New Roman" panose="02020603050405020304" pitchFamily="18" charset="0"/>
              </a:rPr>
              <a:t> is the cycle that traverses all the vertices of the given graph G exactly once and then ends at the starting vertex.</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The input for the Hamiltonian graph problem can be the directed or undirected graph. The Hamiltonian problem involves checking if the Hamiltonian cycle is present in a graph </a:t>
            </a:r>
            <a:r>
              <a:rPr lang="en-US" sz="2400" b="1" i="0" dirty="0">
                <a:solidFill>
                  <a:srgbClr val="000000"/>
                </a:solidFill>
                <a:effectLst/>
                <a:latin typeface="Times New Roman" panose="02020603050405020304" pitchFamily="18" charset="0"/>
                <a:cs typeface="Times New Roman" panose="02020603050405020304" pitchFamily="18" charset="0"/>
              </a:rPr>
              <a:t>G</a:t>
            </a:r>
            <a:r>
              <a:rPr lang="en-US" sz="2400" b="0" i="0" dirty="0">
                <a:solidFill>
                  <a:srgbClr val="000000"/>
                </a:solidFill>
                <a:effectLst/>
                <a:latin typeface="Times New Roman" panose="02020603050405020304" pitchFamily="18" charset="0"/>
                <a:cs typeface="Times New Roman" panose="02020603050405020304" pitchFamily="18" charset="0"/>
              </a:rPr>
              <a:t> or not.</a:t>
            </a:r>
          </a:p>
        </p:txBody>
      </p:sp>
      <p:sp>
        <p:nvSpPr>
          <p:cNvPr id="4" name="Slide Number Placeholder 3"/>
          <p:cNvSpPr>
            <a:spLocks noGrp="1"/>
          </p:cNvSpPr>
          <p:nvPr>
            <p:ph type="sldNum" sz="quarter" idx="12"/>
          </p:nvPr>
        </p:nvSpPr>
        <p:spPr/>
        <p:txBody>
          <a:bodyPr/>
          <a:lstStyle/>
          <a:p>
            <a:fld id="{BDCDBBEF-AA6C-4BA6-85B2-A17D7F280E38}" type="slidenum">
              <a:rPr lang="en-US" smtClean="0"/>
              <a:t>39</a:t>
            </a:fld>
            <a:endParaRPr lang="en-US"/>
          </a:p>
        </p:txBody>
      </p:sp>
      <p:sp>
        <p:nvSpPr>
          <p:cNvPr id="7" name="Rectangle 6"/>
          <p:cNvSpPr/>
          <p:nvPr/>
        </p:nvSpPr>
        <p:spPr>
          <a:xfrm>
            <a:off x="838200" y="59875"/>
            <a:ext cx="8637104" cy="10178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8200" y="1257111"/>
            <a:ext cx="10515600" cy="541042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amiltonian Cycle in 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525" y="3544128"/>
            <a:ext cx="5314950" cy="3028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4970913"/>
          </a:xfrm>
          <a:prstGeom prst="rect">
            <a:avLst/>
          </a:prstGeom>
          <a:noFill/>
          <a:ln>
            <a:solidFill>
              <a:schemeClr val="tx1"/>
            </a:solidFill>
          </a:ln>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In an undirected graph, the Hamiltonian path is a path, that visits each vertex exactly once, and the Hamiltonian cycle or circuit is a Hamiltonian path, that there is an edge from the last vertex to the first vertex.</a:t>
            </a:r>
          </a:p>
          <a:p>
            <a:pPr>
              <a:lnSpc>
                <a:spcPct val="150000"/>
              </a:lnSpc>
            </a:pPr>
            <a:r>
              <a:rPr lang="en-US" sz="2400" dirty="0">
                <a:latin typeface="Times New Roman" panose="02020603050405020304" pitchFamily="18" charset="0"/>
                <a:cs typeface="Times New Roman" panose="02020603050405020304" pitchFamily="18" charset="0"/>
              </a:rPr>
              <a:t>In this problem, we will try to determine whether a graph contains a Hamiltonian cycle or not. And when a Hamiltonian cycle is present, also print the cycle.</a:t>
            </a: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40</a:t>
            </a:fld>
            <a:endParaRPr lang="en-IN" altLang="en-US"/>
          </a:p>
        </p:txBody>
      </p:sp>
      <p:sp>
        <p:nvSpPr>
          <p:cNvPr id="6" name="Title 1">
            <a:extLst>
              <a:ext uri="{FF2B5EF4-FFF2-40B4-BE49-F238E27FC236}">
                <a16:creationId xmlns:a16="http://schemas.microsoft.com/office/drawing/2014/main" id="{3E2CD8D7-F964-8E54-CCB5-4ED87BCCFEF0}"/>
              </a:ext>
            </a:extLst>
          </p:cNvPr>
          <p:cNvSpPr txBox="1">
            <a:spLocks/>
          </p:cNvSpPr>
          <p:nvPr/>
        </p:nvSpPr>
        <p:spPr>
          <a:xfrm>
            <a:off x="914400" y="87655"/>
            <a:ext cx="8659091" cy="990069"/>
          </a:xfrm>
          <a:prstGeom prst="rect">
            <a:avLst/>
          </a:prstGeom>
          <a:ln>
            <a:solidFill>
              <a:schemeClr val="tx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pitchFamily="18" charset="0"/>
                <a:cs typeface="Times New Roman" panose="02020603050405020304" pitchFamily="18" charset="0"/>
              </a:rPr>
              <a:t>Hamiltonian Cycles</a:t>
            </a:r>
            <a:endParaRPr lang="en-US" dirty="0"/>
          </a:p>
        </p:txBody>
      </p:sp>
    </p:spTree>
    <p:extLst>
      <p:ext uri="{BB962C8B-B14F-4D97-AF65-F5344CB8AC3E}">
        <p14:creationId xmlns:p14="http://schemas.microsoft.com/office/powerpoint/2010/main" val="51075103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5235279"/>
          </a:xfrm>
          <a:prstGeom prst="rect">
            <a:avLst/>
          </a:prstGeom>
          <a:noFill/>
          <a:ln>
            <a:solidFill>
              <a:schemeClr val="tx1"/>
            </a:solidFill>
          </a:ln>
        </p:spPr>
        <p:txBody>
          <a:bodyPr wrap="square" rtlCol="0">
            <a:spAutoFit/>
          </a:bodyPr>
          <a:lstStyle/>
          <a:p>
            <a:r>
              <a:rPr lang="en-US" sz="2400" dirty="0">
                <a:latin typeface="Times New Roman" panose="02020603050405020304" pitchFamily="18" charset="0"/>
                <a:cs typeface="Times New Roman" panose="02020603050405020304" pitchFamily="18" charset="0"/>
              </a:rPr>
              <a:t>Input: The adjacency matrix of a graph G(V, E).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Output: The algorithm finds the Hamiltonian path of the given graph. For this case it is (0, 1, 2, 4, 3, 0). This graph has some other Hamiltonian paths. If one graph has no Hamiltonian path, the algorithm should return false.</a:t>
            </a: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41</a:t>
            </a:fld>
            <a:endParaRPr lang="en-IN" alt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414" y="1950880"/>
            <a:ext cx="8921784" cy="2775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1">
            <a:extLst>
              <a:ext uri="{FF2B5EF4-FFF2-40B4-BE49-F238E27FC236}">
                <a16:creationId xmlns:a16="http://schemas.microsoft.com/office/drawing/2014/main" id="{92D821D2-DE65-DD6B-1168-D8FBFEF7F53A}"/>
              </a:ext>
            </a:extLst>
          </p:cNvPr>
          <p:cNvSpPr txBox="1">
            <a:spLocks/>
          </p:cNvSpPr>
          <p:nvPr/>
        </p:nvSpPr>
        <p:spPr>
          <a:xfrm>
            <a:off x="914400" y="87655"/>
            <a:ext cx="8659091" cy="990069"/>
          </a:xfrm>
          <a:prstGeom prst="rect">
            <a:avLst/>
          </a:prstGeom>
          <a:ln>
            <a:solidFill>
              <a:schemeClr val="tx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pitchFamily="18" charset="0"/>
                <a:cs typeface="Times New Roman" panose="02020603050405020304" pitchFamily="18" charset="0"/>
              </a:rPr>
              <a:t>Hamiltonian Cycles</a:t>
            </a:r>
            <a:endParaRPr lang="en-US" dirty="0"/>
          </a:p>
        </p:txBody>
      </p:sp>
    </p:spTree>
    <p:extLst>
      <p:ext uri="{BB962C8B-B14F-4D97-AF65-F5344CB8AC3E}">
        <p14:creationId xmlns:p14="http://schemas.microsoft.com/office/powerpoint/2010/main" val="269001593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5491760"/>
          </a:xfrm>
          <a:prstGeom prst="rect">
            <a:avLst/>
          </a:prstGeom>
          <a:noFill/>
          <a:ln>
            <a:solidFill>
              <a:schemeClr val="tx1"/>
            </a:solidFill>
          </a:ln>
        </p:spPr>
        <p:txBody>
          <a:bodyPr wrap="square" rtlCol="0">
            <a:spAutoFit/>
          </a:bodyPr>
          <a:lstStyle/>
          <a:p>
            <a:r>
              <a:rPr lang="en-US" sz="2400" b="1" dirty="0">
                <a:latin typeface="Times New Roman" panose="02020603050405020304" pitchFamily="18" charset="0"/>
                <a:cs typeface="Times New Roman" panose="02020603050405020304" pitchFamily="18" charset="0"/>
              </a:rPr>
              <a:t>Algorithm</a:t>
            </a:r>
          </a:p>
          <a:p>
            <a:r>
              <a:rPr lang="en-US" sz="2400" b="1" dirty="0" err="1">
                <a:latin typeface="Times New Roman" panose="02020603050405020304" pitchFamily="18" charset="0"/>
                <a:cs typeface="Times New Roman" panose="02020603050405020304" pitchFamily="18" charset="0"/>
              </a:rPr>
              <a:t>isValid</a:t>
            </a:r>
            <a:r>
              <a:rPr lang="en-US" sz="2400" b="1" dirty="0">
                <a:latin typeface="Times New Roman" panose="02020603050405020304" pitchFamily="18" charset="0"/>
                <a:cs typeface="Times New Roman" panose="02020603050405020304" pitchFamily="18" charset="0"/>
              </a:rPr>
              <a:t>(v, k)</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Input − </a:t>
            </a:r>
            <a:r>
              <a:rPr lang="en-US" sz="2400" dirty="0">
                <a:latin typeface="Times New Roman" panose="02020603050405020304" pitchFamily="18" charset="0"/>
                <a:cs typeface="Times New Roman" panose="02020603050405020304" pitchFamily="18" charset="0"/>
              </a:rPr>
              <a:t>Vertex v and position k.</a:t>
            </a:r>
          </a:p>
          <a:p>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 Checks whether placing v in the position k is valid or not.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Begin    </a:t>
            </a:r>
          </a:p>
          <a:p>
            <a:r>
              <a:rPr lang="en-US" sz="2400" dirty="0">
                <a:latin typeface="Times New Roman" panose="02020603050405020304" pitchFamily="18" charset="0"/>
                <a:cs typeface="Times New Roman" panose="02020603050405020304" pitchFamily="18" charset="0"/>
              </a:rPr>
              <a:t>if there is no edge between node(k-1) to v, then</a:t>
            </a:r>
          </a:p>
          <a:p>
            <a:r>
              <a:rPr lang="en-US" sz="2400" dirty="0">
                <a:latin typeface="Times New Roman" panose="02020603050405020304" pitchFamily="18" charset="0"/>
                <a:cs typeface="Times New Roman" panose="02020603050405020304" pitchFamily="18" charset="0"/>
              </a:rPr>
              <a:t>       	return false    </a:t>
            </a:r>
          </a:p>
          <a:p>
            <a:r>
              <a:rPr lang="en-US" sz="2400" dirty="0">
                <a:latin typeface="Times New Roman" panose="02020603050405020304" pitchFamily="18" charset="0"/>
                <a:cs typeface="Times New Roman" panose="02020603050405020304" pitchFamily="18" charset="0"/>
              </a:rPr>
              <a:t>if v is already taken, then       </a:t>
            </a:r>
          </a:p>
          <a:p>
            <a:r>
              <a:rPr lang="en-US" sz="2400" dirty="0">
                <a:latin typeface="Times New Roman" panose="02020603050405020304" pitchFamily="18" charset="0"/>
                <a:cs typeface="Times New Roman" panose="02020603050405020304" pitchFamily="18" charset="0"/>
              </a:rPr>
              <a:t>	return false    </a:t>
            </a:r>
          </a:p>
          <a:p>
            <a:r>
              <a:rPr lang="en-US" sz="2400" dirty="0">
                <a:latin typeface="Times New Roman" panose="02020603050405020304" pitchFamily="18" charset="0"/>
                <a:cs typeface="Times New Roman" panose="02020603050405020304" pitchFamily="18" charset="0"/>
              </a:rPr>
              <a:t>return true; //otherwise it is valid </a:t>
            </a:r>
          </a:p>
          <a:p>
            <a:r>
              <a:rPr lang="en-US" sz="2400" dirty="0">
                <a:latin typeface="Times New Roman" panose="02020603050405020304" pitchFamily="18" charset="0"/>
                <a:cs typeface="Times New Roman" panose="02020603050405020304" pitchFamily="18" charset="0"/>
              </a:rPr>
              <a:t>End</a:t>
            </a:r>
          </a:p>
        </p:txBody>
      </p:sp>
      <p:sp>
        <p:nvSpPr>
          <p:cNvPr id="2" name="Title 1"/>
          <p:cNvSpPr>
            <a:spLocks noGrp="1"/>
          </p:cNvSpPr>
          <p:nvPr>
            <p:ph type="title" idx="4294967295"/>
          </p:nvPr>
        </p:nvSpPr>
        <p:spPr>
          <a:xfrm>
            <a:off x="788276" y="198000"/>
            <a:ext cx="8518525" cy="904875"/>
          </a:xfrm>
          <a:ln>
            <a:solidFill>
              <a:schemeClr val="tx1"/>
            </a:solidFill>
          </a:ln>
        </p:spPr>
        <p:txBody>
          <a:bodyPr/>
          <a:lstStyle/>
          <a:p>
            <a:pPr algn="ctr"/>
            <a:r>
              <a:rPr lang="en-IN" sz="4400" b="1" dirty="0">
                <a:solidFill>
                  <a:schemeClr val="tx1"/>
                </a:solidFill>
                <a:latin typeface="Times New Roman" pitchFamily="18" charset="0"/>
                <a:cs typeface="Times New Roman" pitchFamily="18" charset="0"/>
              </a:rPr>
              <a:t>Algorithm</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42</a:t>
            </a:fld>
            <a:endParaRPr lang="en-IN" altLang="en-US"/>
          </a:p>
        </p:txBody>
      </p:sp>
    </p:spTree>
    <p:extLst>
      <p:ext uri="{BB962C8B-B14F-4D97-AF65-F5344CB8AC3E}">
        <p14:creationId xmlns:p14="http://schemas.microsoft.com/office/powerpoint/2010/main" val="49175053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66571" y="924910"/>
            <a:ext cx="10267592" cy="5847755"/>
          </a:xfrm>
          <a:prstGeom prst="rect">
            <a:avLst/>
          </a:prstGeom>
          <a:noFill/>
          <a:ln>
            <a:solidFill>
              <a:schemeClr val="tx1"/>
            </a:solidFill>
          </a:ln>
        </p:spPr>
        <p:txBody>
          <a:bodyPr wrap="square" rtlCol="0">
            <a:spAutoFit/>
          </a:bodyPr>
          <a:lstStyle/>
          <a:p>
            <a:pPr>
              <a:lnSpc>
                <a:spcPct val="100000"/>
              </a:lnSpc>
              <a:spcBef>
                <a:spcPts val="0"/>
              </a:spcBef>
            </a:pPr>
            <a:r>
              <a:rPr lang="en-US" sz="2200" b="1" dirty="0" err="1">
                <a:latin typeface="Times New Roman" panose="02020603050405020304" pitchFamily="18" charset="0"/>
                <a:cs typeface="Times New Roman" panose="02020603050405020304" pitchFamily="18" charset="0"/>
              </a:rPr>
              <a:t>cycleFound</a:t>
            </a:r>
            <a:r>
              <a:rPr lang="en-US" sz="2200" b="1" dirty="0">
                <a:latin typeface="Times New Roman" panose="02020603050405020304" pitchFamily="18" charset="0"/>
                <a:cs typeface="Times New Roman" panose="02020603050405020304" pitchFamily="18" charset="0"/>
              </a:rPr>
              <a:t>(node k)</a:t>
            </a:r>
            <a:endParaRPr lang="en-US" sz="2200" dirty="0">
              <a:latin typeface="Times New Roman" panose="02020603050405020304" pitchFamily="18" charset="0"/>
              <a:cs typeface="Times New Roman" panose="02020603050405020304" pitchFamily="18" charset="0"/>
            </a:endParaRPr>
          </a:p>
          <a:p>
            <a:pPr>
              <a:lnSpc>
                <a:spcPct val="100000"/>
              </a:lnSpc>
              <a:spcBef>
                <a:spcPts val="0"/>
              </a:spcBef>
            </a:pPr>
            <a:r>
              <a:rPr lang="en-US" sz="2200" b="1" dirty="0">
                <a:latin typeface="Times New Roman" panose="02020603050405020304" pitchFamily="18" charset="0"/>
                <a:cs typeface="Times New Roman" panose="02020603050405020304" pitchFamily="18" charset="0"/>
              </a:rPr>
              <a:t>Input −</a:t>
            </a:r>
            <a:r>
              <a:rPr lang="en-US" sz="2200" dirty="0">
                <a:latin typeface="Times New Roman" panose="02020603050405020304" pitchFamily="18" charset="0"/>
                <a:cs typeface="Times New Roman" panose="02020603050405020304" pitchFamily="18" charset="0"/>
              </a:rPr>
              <a:t> node of the graph.</a:t>
            </a:r>
          </a:p>
          <a:p>
            <a:pPr>
              <a:lnSpc>
                <a:spcPct val="100000"/>
              </a:lnSpc>
              <a:spcBef>
                <a:spcPts val="0"/>
              </a:spcBef>
            </a:pPr>
            <a:r>
              <a:rPr lang="en-US" sz="2200" b="1" dirty="0">
                <a:latin typeface="Times New Roman" panose="02020603050405020304" pitchFamily="18" charset="0"/>
                <a:cs typeface="Times New Roman" panose="02020603050405020304" pitchFamily="18" charset="0"/>
              </a:rPr>
              <a:t>Output −</a:t>
            </a:r>
            <a:r>
              <a:rPr lang="en-US" sz="2200" dirty="0">
                <a:latin typeface="Times New Roman" panose="02020603050405020304" pitchFamily="18" charset="0"/>
                <a:cs typeface="Times New Roman" panose="02020603050405020304" pitchFamily="18" charset="0"/>
              </a:rPr>
              <a:t> True when there is a Hamiltonian Cycle, otherwise false.</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Begin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if all nodes are included, then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if there is an edge between nodes k and 0, then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return true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else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return false;    for all vertex v except starting point, do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if </a:t>
            </a:r>
            <a:r>
              <a:rPr lang="en-US" sz="2200" dirty="0" err="1">
                <a:latin typeface="Times New Roman" panose="02020603050405020304" pitchFamily="18" charset="0"/>
                <a:cs typeface="Times New Roman" panose="02020603050405020304" pitchFamily="18" charset="0"/>
              </a:rPr>
              <a:t>isValid</a:t>
            </a:r>
            <a:r>
              <a:rPr lang="en-US" sz="2200" dirty="0">
                <a:latin typeface="Times New Roman" panose="02020603050405020304" pitchFamily="18" charset="0"/>
                <a:cs typeface="Times New Roman" panose="02020603050405020304" pitchFamily="18" charset="0"/>
              </a:rPr>
              <a:t>(v, k), then //when v is a valid edge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add v into the path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if </a:t>
            </a:r>
            <a:r>
              <a:rPr lang="en-US" sz="2200" dirty="0" err="1">
                <a:latin typeface="Times New Roman" panose="02020603050405020304" pitchFamily="18" charset="0"/>
                <a:cs typeface="Times New Roman" panose="02020603050405020304" pitchFamily="18" charset="0"/>
              </a:rPr>
              <a:t>cycleFound</a:t>
            </a:r>
            <a:r>
              <a:rPr lang="en-US" sz="2200" dirty="0">
                <a:latin typeface="Times New Roman" panose="02020603050405020304" pitchFamily="18" charset="0"/>
                <a:cs typeface="Times New Roman" panose="02020603050405020304" pitchFamily="18" charset="0"/>
              </a:rPr>
              <a:t>(k+1) is true, then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return true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otherwise remove v from the path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done </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return false</a:t>
            </a:r>
          </a:p>
          <a:p>
            <a:pPr>
              <a:lnSpc>
                <a:spcPct val="100000"/>
              </a:lnSpc>
              <a:spcBef>
                <a:spcPts val="0"/>
              </a:spcBef>
            </a:pPr>
            <a:r>
              <a:rPr lang="en-US" sz="2200" dirty="0">
                <a:latin typeface="Times New Roman" panose="02020603050405020304" pitchFamily="18" charset="0"/>
                <a:cs typeface="Times New Roman" panose="02020603050405020304" pitchFamily="18" charset="0"/>
              </a:rPr>
              <a:t> End</a:t>
            </a:r>
          </a:p>
        </p:txBody>
      </p:sp>
      <p:sp>
        <p:nvSpPr>
          <p:cNvPr id="2" name="Title 1"/>
          <p:cNvSpPr>
            <a:spLocks noGrp="1"/>
          </p:cNvSpPr>
          <p:nvPr>
            <p:ph type="title" idx="4294967295"/>
          </p:nvPr>
        </p:nvSpPr>
        <p:spPr>
          <a:xfrm>
            <a:off x="788276" y="198000"/>
            <a:ext cx="8518525" cy="664885"/>
          </a:xfrm>
          <a:ln>
            <a:solidFill>
              <a:schemeClr val="tx1"/>
            </a:solidFill>
          </a:ln>
        </p:spPr>
        <p:txBody>
          <a:bodyPr>
            <a:normAutofit fontScale="90000"/>
          </a:bodyPr>
          <a:lstStyle/>
          <a:p>
            <a:r>
              <a:rPr lang="en-IN" sz="4400" b="1" dirty="0">
                <a:solidFill>
                  <a:schemeClr val="tx1"/>
                </a:solidFill>
                <a:latin typeface="Times New Roman" pitchFamily="18" charset="0"/>
                <a:cs typeface="Times New Roman" pitchFamily="18" charset="0"/>
              </a:rPr>
              <a:t>Algorithm</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43</a:t>
            </a:fld>
            <a:endParaRPr lang="en-IN" altLang="en-US"/>
          </a:p>
        </p:txBody>
      </p:sp>
    </p:spTree>
    <p:extLst>
      <p:ext uri="{BB962C8B-B14F-4D97-AF65-F5344CB8AC3E}">
        <p14:creationId xmlns:p14="http://schemas.microsoft.com/office/powerpoint/2010/main" val="253354136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66571" y="924910"/>
            <a:ext cx="10267592" cy="5952399"/>
          </a:xfrm>
          <a:prstGeom prst="rect">
            <a:avLst/>
          </a:prstGeom>
          <a:noFill/>
          <a:ln>
            <a:solidFill>
              <a:schemeClr val="tx1"/>
            </a:solidFill>
          </a:ln>
        </p:spPr>
        <p:txBody>
          <a:bodyPr wrap="square" rtlCol="0">
            <a:spAutoFit/>
          </a:bodyPr>
          <a:lstStyle/>
          <a:p>
            <a:r>
              <a:rPr lang="en-IN" sz="2400" dirty="0">
                <a:latin typeface="Times New Roman" panose="02020603050405020304" pitchFamily="18" charset="0"/>
                <a:cs typeface="Times New Roman" panose="02020603050405020304" pitchFamily="18" charset="0"/>
              </a:rPr>
              <a:t>#include&lt;</a:t>
            </a:r>
            <a:r>
              <a:rPr lang="en-IN" sz="2400" dirty="0" err="1">
                <a:latin typeface="Times New Roman" panose="02020603050405020304" pitchFamily="18" charset="0"/>
                <a:cs typeface="Times New Roman" panose="02020603050405020304" pitchFamily="18" charset="0"/>
              </a:rPr>
              <a:t>iostream</a:t>
            </a:r>
            <a:r>
              <a:rPr lang="en-IN" sz="2400" dirty="0">
                <a:latin typeface="Times New Roman" panose="02020603050405020304" pitchFamily="18" charset="0"/>
                <a:cs typeface="Times New Roman" panose="02020603050405020304" pitchFamily="18" charset="0"/>
              </a:rPr>
              <a:t>&gt; </a:t>
            </a:r>
          </a:p>
          <a:p>
            <a:r>
              <a:rPr lang="en-IN" sz="2400" dirty="0">
                <a:latin typeface="Times New Roman" panose="02020603050405020304" pitchFamily="18" charset="0"/>
                <a:cs typeface="Times New Roman" panose="02020603050405020304" pitchFamily="18" charset="0"/>
              </a:rPr>
              <a:t>#define NODE 5 using namespace </a:t>
            </a:r>
            <a:r>
              <a:rPr lang="en-IN" sz="2400" dirty="0" err="1">
                <a:latin typeface="Times New Roman" panose="02020603050405020304" pitchFamily="18" charset="0"/>
                <a:cs typeface="Times New Roman" panose="02020603050405020304" pitchFamily="18" charset="0"/>
              </a:rPr>
              <a:t>std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graph[NODE][NODE] = {    {0, 1, 0, 1, 0},   </a:t>
            </a:r>
          </a:p>
          <a:p>
            <a:r>
              <a:rPr lang="en-IN" sz="2400" dirty="0">
                <a:latin typeface="Times New Roman" panose="02020603050405020304" pitchFamily="18" charset="0"/>
                <a:cs typeface="Times New Roman" panose="02020603050405020304" pitchFamily="18" charset="0"/>
              </a:rPr>
              <a:t>				      {1, 0, 1, 1, 1},   </a:t>
            </a:r>
          </a:p>
          <a:p>
            <a:r>
              <a:rPr lang="en-IN" sz="2400" dirty="0">
                <a:latin typeface="Times New Roman" panose="02020603050405020304" pitchFamily="18" charset="0"/>
                <a:cs typeface="Times New Roman" panose="02020603050405020304" pitchFamily="18" charset="0"/>
              </a:rPr>
              <a:t>				      {0, 1, 0, 0, 1}, </a:t>
            </a:r>
          </a:p>
          <a:p>
            <a:r>
              <a:rPr lang="en-IN" sz="2400" dirty="0">
                <a:latin typeface="Times New Roman" panose="02020603050405020304" pitchFamily="18" charset="0"/>
                <a:cs typeface="Times New Roman" panose="02020603050405020304" pitchFamily="18" charset="0"/>
              </a:rPr>
              <a:t>                                                  {1, 1, 0, 0, 1},    </a:t>
            </a:r>
          </a:p>
          <a:p>
            <a:r>
              <a:rPr lang="en-IN" sz="2400" dirty="0">
                <a:latin typeface="Times New Roman" panose="02020603050405020304" pitchFamily="18" charset="0"/>
                <a:cs typeface="Times New Roman" panose="02020603050405020304" pitchFamily="18" charset="0"/>
              </a:rPr>
              <a:t>                                                  {0, 1, 1, 1, 0}, };    </a:t>
            </a:r>
          </a:p>
          <a:p>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graph[NODE][NODE] = {    </a:t>
            </a:r>
          </a:p>
          <a:p>
            <a:r>
              <a:rPr lang="en-IN" sz="2400" dirty="0">
                <a:latin typeface="Times New Roman" panose="02020603050405020304" pitchFamily="18" charset="0"/>
                <a:cs typeface="Times New Roman" panose="02020603050405020304" pitchFamily="18" charset="0"/>
              </a:rPr>
              <a:t>			   {0, 1, 0, 1, 0},   </a:t>
            </a:r>
          </a:p>
          <a:p>
            <a:r>
              <a:rPr lang="en-IN" sz="2400" dirty="0">
                <a:latin typeface="Times New Roman" panose="02020603050405020304" pitchFamily="18" charset="0"/>
                <a:cs typeface="Times New Roman" panose="02020603050405020304" pitchFamily="18" charset="0"/>
              </a:rPr>
              <a:t>			   {1, 0, 1, 1, 1},  </a:t>
            </a:r>
          </a:p>
          <a:p>
            <a:r>
              <a:rPr lang="en-IN" sz="2400" dirty="0">
                <a:latin typeface="Times New Roman" panose="02020603050405020304" pitchFamily="18" charset="0"/>
                <a:cs typeface="Times New Roman" panose="02020603050405020304" pitchFamily="18" charset="0"/>
              </a:rPr>
              <a:t>			   {0, 1, 0, 0, 1},</a:t>
            </a:r>
          </a:p>
          <a:p>
            <a:r>
              <a:rPr lang="en-IN" sz="2400" dirty="0">
                <a:latin typeface="Times New Roman" panose="02020603050405020304" pitchFamily="18" charset="0"/>
                <a:cs typeface="Times New Roman" panose="02020603050405020304" pitchFamily="18" charset="0"/>
              </a:rPr>
              <a:t>			    {1, 1, 0, 0, 0},</a:t>
            </a:r>
          </a:p>
          <a:p>
            <a:r>
              <a:rPr lang="en-IN" sz="2400" dirty="0">
                <a:latin typeface="Times New Roman" panose="02020603050405020304" pitchFamily="18" charset="0"/>
                <a:cs typeface="Times New Roman" panose="02020603050405020304" pitchFamily="18" charset="0"/>
              </a:rPr>
              <a:t>			    {0, 1, 1, 0, 0}, }; */ </a:t>
            </a: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788276" y="198000"/>
            <a:ext cx="8518525" cy="664885"/>
          </a:xfrm>
          <a:ln>
            <a:solidFill>
              <a:schemeClr val="tx1"/>
            </a:solidFill>
          </a:ln>
        </p:spPr>
        <p:txBody>
          <a:bodyPr>
            <a:normAutofit fontScale="90000"/>
          </a:bodyPr>
          <a:lstStyle/>
          <a:p>
            <a:pPr algn="ctr"/>
            <a:r>
              <a:rPr lang="en-IN" sz="4400" b="1" dirty="0">
                <a:solidFill>
                  <a:schemeClr val="tx1"/>
                </a:solidFill>
                <a:latin typeface="Times New Roman" pitchFamily="18" charset="0"/>
                <a:cs typeface="Times New Roman" pitchFamily="18" charset="0"/>
              </a:rPr>
              <a:t>Example </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44</a:t>
            </a:fld>
            <a:endParaRPr lang="en-IN" altLang="en-US"/>
          </a:p>
        </p:txBody>
      </p:sp>
    </p:spTree>
    <p:extLst>
      <p:ext uri="{BB962C8B-B14F-4D97-AF65-F5344CB8AC3E}">
        <p14:creationId xmlns:p14="http://schemas.microsoft.com/office/powerpoint/2010/main" val="350811473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5491760"/>
          </a:xfrm>
          <a:prstGeom prst="rect">
            <a:avLst/>
          </a:prstGeom>
          <a:noFill/>
          <a:ln>
            <a:solidFill>
              <a:schemeClr val="tx1"/>
            </a:solidFill>
          </a:ln>
        </p:spPr>
        <p:txBody>
          <a:bodyPr wrap="square" rtlCol="0">
            <a:spAutoFit/>
          </a:bodyPr>
          <a:lstStyle/>
          <a:p>
            <a:pPr algn="l">
              <a:buNone/>
            </a:pP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path[NODE]; </a:t>
            </a:r>
          </a:p>
          <a:p>
            <a:pPr algn="l">
              <a:buNone/>
            </a:pPr>
            <a:r>
              <a:rPr lang="en-IN" sz="2400" dirty="0">
                <a:latin typeface="Times New Roman" panose="02020603050405020304" pitchFamily="18" charset="0"/>
                <a:cs typeface="Times New Roman" panose="02020603050405020304" pitchFamily="18" charset="0"/>
              </a:rPr>
              <a:t>void </a:t>
            </a:r>
            <a:r>
              <a:rPr lang="en-IN" sz="2400" dirty="0" err="1">
                <a:latin typeface="Times New Roman" panose="02020603050405020304" pitchFamily="18" charset="0"/>
                <a:cs typeface="Times New Roman" panose="02020603050405020304" pitchFamily="18" charset="0"/>
              </a:rPr>
              <a:t>displayCycle</a:t>
            </a:r>
            <a:r>
              <a:rPr lang="en-IN" sz="2400" dirty="0">
                <a:latin typeface="Times New Roman" panose="02020603050405020304" pitchFamily="18" charset="0"/>
                <a:cs typeface="Times New Roman" panose="02020603050405020304" pitchFamily="18" charset="0"/>
              </a:rPr>
              <a:t>() </a:t>
            </a:r>
          </a:p>
          <a:p>
            <a:pPr algn="l">
              <a:buNone/>
            </a:pPr>
            <a:r>
              <a:rPr lang="en-IN" sz="2400" dirty="0">
                <a:latin typeface="Times New Roman" panose="02020603050405020304" pitchFamily="18" charset="0"/>
                <a:cs typeface="Times New Roman" panose="02020603050405020304" pitchFamily="18" charset="0"/>
              </a:rPr>
              <a:t>{    </a:t>
            </a:r>
          </a:p>
          <a:p>
            <a:pPr algn="l">
              <a:buNone/>
            </a:pP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&lt;&lt;"Cycle: ";  </a:t>
            </a:r>
          </a:p>
          <a:p>
            <a:pPr algn="l">
              <a:buNone/>
            </a:pPr>
            <a:r>
              <a:rPr lang="en-IN" sz="2400" dirty="0">
                <a:latin typeface="Times New Roman" panose="02020603050405020304" pitchFamily="18" charset="0"/>
                <a:cs typeface="Times New Roman" panose="02020603050405020304" pitchFamily="18" charset="0"/>
              </a:rPr>
              <a:t>  for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i = 0; i &lt; NODE; i++) </a:t>
            </a:r>
          </a:p>
          <a:p>
            <a:pPr algn="l">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path[i] &lt;&lt; " ";</a:t>
            </a:r>
          </a:p>
          <a:p>
            <a:pPr algn="l">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path[0] &lt;&lt; </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      //print the first vertex again </a:t>
            </a:r>
          </a:p>
          <a:p>
            <a:pPr algn="l">
              <a:buNone/>
            </a:pPr>
            <a:r>
              <a:rPr lang="en-IN" sz="2400" dirty="0">
                <a:latin typeface="Times New Roman" panose="02020603050405020304" pitchFamily="18" charset="0"/>
                <a:cs typeface="Times New Roman" panose="02020603050405020304" pitchFamily="18" charset="0"/>
              </a:rPr>
              <a:t>} </a:t>
            </a:r>
          </a:p>
          <a:p>
            <a:pPr algn="l">
              <a:buNone/>
            </a:pPr>
            <a:r>
              <a:rPr lang="en-IN" sz="2400" dirty="0">
                <a:latin typeface="Times New Roman" panose="02020603050405020304" pitchFamily="18" charset="0"/>
                <a:cs typeface="Times New Roman" panose="02020603050405020304" pitchFamily="18" charset="0"/>
              </a:rPr>
              <a:t>bool </a:t>
            </a:r>
            <a:r>
              <a:rPr lang="en-IN" sz="2400" dirty="0" err="1">
                <a:latin typeface="Times New Roman" panose="02020603050405020304" pitchFamily="18" charset="0"/>
                <a:cs typeface="Times New Roman" panose="02020603050405020304" pitchFamily="18" charset="0"/>
              </a:rPr>
              <a:t>isValid</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v,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k) </a:t>
            </a:r>
          </a:p>
          <a:p>
            <a:pPr algn="l">
              <a:buNone/>
            </a:pPr>
            <a:r>
              <a:rPr lang="en-IN" sz="2400" dirty="0">
                <a:latin typeface="Times New Roman" panose="02020603050405020304" pitchFamily="18" charset="0"/>
                <a:cs typeface="Times New Roman" panose="02020603050405020304" pitchFamily="18" charset="0"/>
              </a:rPr>
              <a:t>{    </a:t>
            </a:r>
          </a:p>
          <a:p>
            <a:pPr algn="l">
              <a:buNone/>
            </a:pPr>
            <a:r>
              <a:rPr lang="en-IN" sz="2400" dirty="0">
                <a:latin typeface="Times New Roman" panose="02020603050405020304" pitchFamily="18" charset="0"/>
                <a:cs typeface="Times New Roman" panose="02020603050405020304" pitchFamily="18" charset="0"/>
              </a:rPr>
              <a:t>if (graph [path[k-1]][v] == 0)   //if there is no edge     </a:t>
            </a:r>
          </a:p>
          <a:p>
            <a:pPr algn="l">
              <a:buNone/>
            </a:pPr>
            <a:r>
              <a:rPr lang="en-IN" sz="2400" dirty="0">
                <a:latin typeface="Times New Roman" panose="02020603050405020304" pitchFamily="18" charset="0"/>
                <a:cs typeface="Times New Roman" panose="02020603050405020304" pitchFamily="18" charset="0"/>
              </a:rPr>
              <a:t>  return false;</a:t>
            </a:r>
            <a:endParaRPr lang="en-US" sz="2400" dirty="0">
              <a:latin typeface="Times New Roman" panose="02020603050405020304" pitchFamily="18" charset="0"/>
              <a:cs typeface="Times New Roman" pitchFamily="18" charset="0"/>
            </a:endParaRPr>
          </a:p>
        </p:txBody>
      </p:sp>
      <p:sp>
        <p:nvSpPr>
          <p:cNvPr id="2" name="Title 1"/>
          <p:cNvSpPr>
            <a:spLocks noGrp="1"/>
          </p:cNvSpPr>
          <p:nvPr>
            <p:ph type="title" idx="4294967295"/>
          </p:nvPr>
        </p:nvSpPr>
        <p:spPr>
          <a:xfrm>
            <a:off x="788276" y="198000"/>
            <a:ext cx="8518525" cy="904875"/>
          </a:xfrm>
          <a:ln>
            <a:solidFill>
              <a:schemeClr val="tx1"/>
            </a:solidFill>
          </a:ln>
        </p:spPr>
        <p:txBody>
          <a:bodyPr/>
          <a:lstStyle/>
          <a:p>
            <a:pPr algn="ctr"/>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45</a:t>
            </a:fld>
            <a:endParaRPr lang="en-IN" altLang="en-US"/>
          </a:p>
        </p:txBody>
      </p:sp>
    </p:spTree>
    <p:extLst>
      <p:ext uri="{BB962C8B-B14F-4D97-AF65-F5344CB8AC3E}">
        <p14:creationId xmlns:p14="http://schemas.microsoft.com/office/powerpoint/2010/main" val="380061553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5491760"/>
          </a:xfrm>
          <a:prstGeom prst="rect">
            <a:avLst/>
          </a:prstGeom>
          <a:noFill/>
          <a:ln>
            <a:solidFill>
              <a:schemeClr val="tx1"/>
            </a:solidFill>
          </a:ln>
        </p:spPr>
        <p:txBody>
          <a:bodyPr wrap="square" rtlCol="0">
            <a:spAutoFit/>
          </a:bodyPr>
          <a:lstStyle/>
          <a:p>
            <a:pPr algn="l">
              <a:buNone/>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v = 1; v &lt; NODE; v++) </a:t>
            </a:r>
          </a:p>
          <a:p>
            <a:pPr algn="l">
              <a:buNone/>
            </a:pPr>
            <a:r>
              <a:rPr lang="en-US" sz="2400" dirty="0">
                <a:latin typeface="Times New Roman" panose="02020603050405020304" pitchFamily="18" charset="0"/>
                <a:cs typeface="Times New Roman" panose="02020603050405020304" pitchFamily="18" charset="0"/>
              </a:rPr>
              <a:t>{       //for all vertices except starting point      </a:t>
            </a:r>
          </a:p>
          <a:p>
            <a:pPr algn="l">
              <a:buNone/>
            </a:pP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isValid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v,k</a:t>
            </a:r>
            <a:r>
              <a:rPr lang="en-US" sz="2400" dirty="0">
                <a:latin typeface="Times New Roman" panose="02020603050405020304" pitchFamily="18" charset="0"/>
                <a:cs typeface="Times New Roman" panose="02020603050405020304" pitchFamily="18" charset="0"/>
              </a:rPr>
              <a:t>)) </a:t>
            </a:r>
          </a:p>
          <a:p>
            <a:pPr algn="l">
              <a:buNone/>
            </a:pPr>
            <a:r>
              <a:rPr lang="en-US" sz="2400" dirty="0">
                <a:latin typeface="Times New Roman" panose="02020603050405020304" pitchFamily="18" charset="0"/>
                <a:cs typeface="Times New Roman" panose="02020603050405020304" pitchFamily="18" charset="0"/>
              </a:rPr>
              <a:t>{                //if possible to add v in the path         </a:t>
            </a:r>
          </a:p>
          <a:p>
            <a:pPr algn="l">
              <a:buNone/>
            </a:pPr>
            <a:r>
              <a:rPr lang="en-US" sz="2400" dirty="0">
                <a:latin typeface="Times New Roman" panose="02020603050405020304" pitchFamily="18" charset="0"/>
                <a:cs typeface="Times New Roman" panose="02020603050405020304" pitchFamily="18" charset="0"/>
              </a:rPr>
              <a:t> path[k] = v;          </a:t>
            </a:r>
          </a:p>
          <a:p>
            <a:pPr algn="l">
              <a:buNone/>
            </a:pPr>
            <a:r>
              <a:rPr lang="en-US" sz="2400" dirty="0">
                <a:latin typeface="Times New Roman" panose="02020603050405020304" pitchFamily="18" charset="0"/>
                <a:cs typeface="Times New Roman" panose="02020603050405020304" pitchFamily="18" charset="0"/>
              </a:rPr>
              <a:t>if (</a:t>
            </a:r>
            <a:r>
              <a:rPr lang="en-US" sz="2400" dirty="0" err="1">
                <a:latin typeface="Times New Roman" panose="02020603050405020304" pitchFamily="18" charset="0"/>
                <a:cs typeface="Times New Roman" panose="02020603050405020304" pitchFamily="18" charset="0"/>
              </a:rPr>
              <a:t>cycleFound</a:t>
            </a:r>
            <a:r>
              <a:rPr lang="en-US" sz="2400" dirty="0">
                <a:latin typeface="Times New Roman" panose="02020603050405020304" pitchFamily="18" charset="0"/>
                <a:cs typeface="Times New Roman" panose="02020603050405020304" pitchFamily="18" charset="0"/>
              </a:rPr>
              <a:t> (k+1) == true)        </a:t>
            </a:r>
          </a:p>
          <a:p>
            <a:pPr algn="l">
              <a:buNone/>
            </a:pPr>
            <a:r>
              <a:rPr lang="en-US" sz="2400" dirty="0">
                <a:latin typeface="Times New Roman" panose="02020603050405020304" pitchFamily="18" charset="0"/>
                <a:cs typeface="Times New Roman" panose="02020603050405020304" pitchFamily="18" charset="0"/>
              </a:rPr>
              <a:t>     return true;          </a:t>
            </a:r>
          </a:p>
          <a:p>
            <a:pPr algn="l">
              <a:buNone/>
            </a:pPr>
            <a:r>
              <a:rPr lang="en-US" sz="2400" dirty="0">
                <a:latin typeface="Times New Roman" panose="02020603050405020304" pitchFamily="18" charset="0"/>
                <a:cs typeface="Times New Roman" panose="02020603050405020304" pitchFamily="18" charset="0"/>
              </a:rPr>
              <a:t>path[k] = -1;               //when k vertex will not in the solution      </a:t>
            </a:r>
          </a:p>
          <a:p>
            <a:pPr algn="l">
              <a:buNone/>
            </a:pPr>
            <a:r>
              <a:rPr lang="en-US" sz="2400" dirty="0">
                <a:latin typeface="Times New Roman" panose="02020603050405020304" pitchFamily="18" charset="0"/>
                <a:cs typeface="Times New Roman" panose="02020603050405020304" pitchFamily="18" charset="0"/>
              </a:rPr>
              <a:t> }   </a:t>
            </a:r>
          </a:p>
          <a:p>
            <a:pPr algn="l">
              <a:buNone/>
            </a:pPr>
            <a:r>
              <a:rPr lang="en-US" sz="2400" dirty="0">
                <a:latin typeface="Times New Roman" panose="02020603050405020304" pitchFamily="18" charset="0"/>
                <a:cs typeface="Times New Roman" panose="02020603050405020304" pitchFamily="18" charset="0"/>
              </a:rPr>
              <a:t> }    </a:t>
            </a:r>
          </a:p>
          <a:p>
            <a:pPr algn="l">
              <a:buNone/>
            </a:pPr>
            <a:r>
              <a:rPr lang="en-US" sz="2400" dirty="0">
                <a:latin typeface="Times New Roman" panose="02020603050405020304" pitchFamily="18" charset="0"/>
                <a:cs typeface="Times New Roman" panose="02020603050405020304" pitchFamily="18" charset="0"/>
              </a:rPr>
              <a:t>return false; </a:t>
            </a:r>
          </a:p>
          <a:p>
            <a:pPr algn="l">
              <a:buNone/>
            </a:pPr>
            <a:r>
              <a:rPr lang="en-US" sz="2400" dirty="0">
                <a:latin typeface="Times New Roman" panose="02020603050405020304" pitchFamily="18" charset="0"/>
                <a:cs typeface="Times New Roman" panose="02020603050405020304" pitchFamily="18" charset="0"/>
              </a:rPr>
              <a:t>}</a:t>
            </a:r>
          </a:p>
        </p:txBody>
      </p:sp>
      <p:sp>
        <p:nvSpPr>
          <p:cNvPr id="2" name="Title 1"/>
          <p:cNvSpPr>
            <a:spLocks noGrp="1"/>
          </p:cNvSpPr>
          <p:nvPr>
            <p:ph type="title" idx="4294967295"/>
          </p:nvPr>
        </p:nvSpPr>
        <p:spPr>
          <a:xfrm>
            <a:off x="788276" y="198000"/>
            <a:ext cx="8518525" cy="904875"/>
          </a:xfrm>
          <a:ln>
            <a:solidFill>
              <a:schemeClr val="tx1"/>
            </a:solidFill>
          </a:ln>
        </p:spPr>
        <p:txBody>
          <a:bodyPr/>
          <a:lstStyle/>
          <a:p>
            <a:pPr algn="ctr"/>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46</a:t>
            </a:fld>
            <a:endParaRPr lang="en-IN" altLang="en-US"/>
          </a:p>
        </p:txBody>
      </p:sp>
    </p:spTree>
    <p:extLst>
      <p:ext uri="{BB962C8B-B14F-4D97-AF65-F5344CB8AC3E}">
        <p14:creationId xmlns:p14="http://schemas.microsoft.com/office/powerpoint/2010/main" val="14289737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noGrp="1"/>
          </p:cNvSpPr>
          <p:nvPr>
            <p:ph idx="1"/>
          </p:nvPr>
        </p:nvSpPr>
        <p:spPr>
          <a:xfrm>
            <a:off x="679450" y="1311275"/>
            <a:ext cx="10515600" cy="5031121"/>
          </a:xfrm>
          <a:prstGeom prst="rect">
            <a:avLst/>
          </a:prstGeom>
          <a:noFill/>
          <a:ln>
            <a:solidFill>
              <a:schemeClr val="tx1"/>
            </a:solidFill>
          </a:ln>
        </p:spPr>
        <p:txBody>
          <a:bodyPr wrap="square" rtlCol="0">
            <a:spAutoFit/>
          </a:bodyPr>
          <a:lstStyle/>
          <a:p>
            <a:pPr algn="l">
              <a:buNone/>
            </a:pPr>
            <a:r>
              <a:rPr lang="en-IN" sz="2400" dirty="0">
                <a:latin typeface="Times New Roman" panose="02020603050405020304" pitchFamily="18" charset="0"/>
                <a:cs typeface="Times New Roman" panose="02020603050405020304" pitchFamily="18" charset="0"/>
              </a:rPr>
              <a:t>bool </a:t>
            </a:r>
            <a:r>
              <a:rPr lang="en-IN" sz="2400" dirty="0" err="1">
                <a:latin typeface="Times New Roman" panose="02020603050405020304" pitchFamily="18" charset="0"/>
                <a:cs typeface="Times New Roman" panose="02020603050405020304" pitchFamily="18" charset="0"/>
              </a:rPr>
              <a:t>hamiltonianCycle</a:t>
            </a:r>
            <a:r>
              <a:rPr lang="en-IN" sz="2400" dirty="0">
                <a:latin typeface="Times New Roman" panose="02020603050405020304" pitchFamily="18" charset="0"/>
                <a:cs typeface="Times New Roman" panose="02020603050405020304" pitchFamily="18" charset="0"/>
              </a:rPr>
              <a:t>() </a:t>
            </a:r>
          </a:p>
          <a:p>
            <a:pPr algn="l">
              <a:buNone/>
            </a:pPr>
            <a:r>
              <a:rPr lang="en-IN" sz="2400" dirty="0">
                <a:latin typeface="Times New Roman" panose="02020603050405020304" pitchFamily="18" charset="0"/>
                <a:cs typeface="Times New Roman" panose="02020603050405020304" pitchFamily="18" charset="0"/>
              </a:rPr>
              <a:t>{    for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i = 0; i &lt; NODE; i++)     </a:t>
            </a:r>
          </a:p>
          <a:p>
            <a:pPr algn="l">
              <a:buNone/>
            </a:pPr>
            <a:r>
              <a:rPr lang="en-IN" sz="2400" dirty="0">
                <a:latin typeface="Times New Roman" panose="02020603050405020304" pitchFamily="18" charset="0"/>
                <a:cs typeface="Times New Roman" panose="02020603050405020304" pitchFamily="18" charset="0"/>
              </a:rPr>
              <a:t>  path[i] = -1;    </a:t>
            </a:r>
          </a:p>
          <a:p>
            <a:pPr algn="l">
              <a:buNone/>
            </a:pPr>
            <a:r>
              <a:rPr lang="en-IN" sz="2400" dirty="0">
                <a:latin typeface="Times New Roman" panose="02020603050405020304" pitchFamily="18" charset="0"/>
                <a:cs typeface="Times New Roman" panose="02020603050405020304" pitchFamily="18" charset="0"/>
              </a:rPr>
              <a:t>path[0] = 0; //first vertex as 0  </a:t>
            </a:r>
          </a:p>
          <a:p>
            <a:pPr algn="l">
              <a:buNone/>
            </a:pPr>
            <a:r>
              <a:rPr lang="en-IN" sz="2400" dirty="0">
                <a:latin typeface="Times New Roman" panose="02020603050405020304" pitchFamily="18" charset="0"/>
                <a:cs typeface="Times New Roman" panose="02020603050405020304" pitchFamily="18" charset="0"/>
              </a:rPr>
              <a:t>  if ( </a:t>
            </a:r>
            <a:r>
              <a:rPr lang="en-IN" sz="2400" dirty="0" err="1">
                <a:latin typeface="Times New Roman" panose="02020603050405020304" pitchFamily="18" charset="0"/>
                <a:cs typeface="Times New Roman" panose="02020603050405020304" pitchFamily="18" charset="0"/>
              </a:rPr>
              <a:t>cycleFound</a:t>
            </a:r>
            <a:r>
              <a:rPr lang="en-IN" sz="2400" dirty="0">
                <a:latin typeface="Times New Roman" panose="02020603050405020304" pitchFamily="18" charset="0"/>
                <a:cs typeface="Times New Roman" panose="02020603050405020304" pitchFamily="18" charset="0"/>
              </a:rPr>
              <a:t>(1) == false )</a:t>
            </a:r>
          </a:p>
          <a:p>
            <a:pPr algn="l">
              <a:buNone/>
            </a:pPr>
            <a:r>
              <a:rPr lang="en-IN" sz="2400" dirty="0">
                <a:latin typeface="Times New Roman" panose="02020603050405020304" pitchFamily="18" charset="0"/>
                <a:cs typeface="Times New Roman" panose="02020603050405020304" pitchFamily="18" charset="0"/>
              </a:rPr>
              <a:t> {       </a:t>
            </a:r>
          </a:p>
          <a:p>
            <a:pPr algn="l">
              <a:buNone/>
            </a:pP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"Solution does not exist"&lt;&lt;</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      </a:t>
            </a:r>
          </a:p>
          <a:p>
            <a:pPr algn="l">
              <a:buNone/>
            </a:pPr>
            <a:r>
              <a:rPr lang="en-IN" sz="2400" dirty="0">
                <a:latin typeface="Times New Roman" panose="02020603050405020304" pitchFamily="18" charset="0"/>
                <a:cs typeface="Times New Roman" panose="02020603050405020304" pitchFamily="18" charset="0"/>
              </a:rPr>
              <a:t> return false;   </a:t>
            </a:r>
          </a:p>
          <a:p>
            <a:pPr algn="l">
              <a:buNone/>
            </a:pPr>
            <a:r>
              <a:rPr lang="en-IN" sz="2400" dirty="0">
                <a:latin typeface="Times New Roman" panose="02020603050405020304" pitchFamily="18" charset="0"/>
                <a:cs typeface="Times New Roman" panose="02020603050405020304" pitchFamily="18" charset="0"/>
              </a:rPr>
              <a:t> }</a:t>
            </a:r>
          </a:p>
          <a:p>
            <a:pPr algn="l">
              <a:buNone/>
            </a:pPr>
            <a:endParaRPr lang="en-IN" sz="2400" dirty="0">
              <a:latin typeface="Times New Roman" panose="02020603050405020304" pitchFamily="18" charset="0"/>
              <a:cs typeface="Times New Roman" panose="02020603050405020304" pitchFamily="18" charset="0"/>
            </a:endParaRPr>
          </a:p>
          <a:p>
            <a:pPr algn="l">
              <a:buNone/>
            </a:pPr>
            <a:endParaRPr lang="en-US" sz="2400" dirty="0">
              <a:latin typeface="Times New Roman" panose="02020603050405020304" pitchFamily="18" charset="0"/>
              <a:cs typeface="Times New Roman" pitchFamily="18" charset="0"/>
            </a:endParaRPr>
          </a:p>
        </p:txBody>
      </p:sp>
      <p:sp>
        <p:nvSpPr>
          <p:cNvPr id="2" name="Title 1"/>
          <p:cNvSpPr>
            <a:spLocks noGrp="1"/>
          </p:cNvSpPr>
          <p:nvPr>
            <p:ph type="title" idx="4294967295"/>
          </p:nvPr>
        </p:nvSpPr>
        <p:spPr>
          <a:xfrm>
            <a:off x="788276" y="198000"/>
            <a:ext cx="8518525" cy="904875"/>
          </a:xfrm>
          <a:ln>
            <a:solidFill>
              <a:schemeClr val="tx1"/>
            </a:solidFill>
          </a:ln>
        </p:spPr>
        <p:txBody>
          <a:bodyPr/>
          <a:lstStyle/>
          <a:p>
            <a:pPr algn="ctr"/>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pPr>
                <a:defRPr/>
              </a:pPr>
              <a:t>47</a:t>
            </a:fld>
            <a:endParaRPr lang="en-IN" altLang="en-US"/>
          </a:p>
        </p:txBody>
      </p:sp>
    </p:spTree>
    <p:extLst>
      <p:ext uri="{BB962C8B-B14F-4D97-AF65-F5344CB8AC3E}">
        <p14:creationId xmlns:p14="http://schemas.microsoft.com/office/powerpoint/2010/main" val="303639861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5455"/>
            <a:ext cx="10515600" cy="4791508"/>
          </a:xfrm>
        </p:spPr>
        <p:txBody>
          <a:bodyPr>
            <a:normAutofit/>
          </a:bodyPr>
          <a:lstStyle/>
          <a:p>
            <a:pPr algn="just"/>
            <a:r>
              <a:rPr lang="en-US" sz="2400" dirty="0">
                <a:latin typeface="Times New Roman" panose="02020603050405020304" pitchFamily="18" charset="0"/>
                <a:cs typeface="Times New Roman" panose="02020603050405020304" pitchFamily="18" charset="0"/>
              </a:rPr>
              <a:t>Search all the potential solutions</a:t>
            </a:r>
          </a:p>
          <a:p>
            <a:pPr algn="just"/>
            <a:r>
              <a:rPr lang="en-US" sz="2400" dirty="0">
                <a:latin typeface="Times New Roman" panose="02020603050405020304" pitchFamily="18" charset="0"/>
                <a:cs typeface="Times New Roman" panose="02020603050405020304" pitchFamily="18" charset="0"/>
              </a:rPr>
              <a:t>Employ pruning of some kind to restrict the amount of researching</a:t>
            </a:r>
          </a:p>
          <a:p>
            <a:pPr algn="just"/>
            <a:r>
              <a:rPr lang="en-US" sz="2400" dirty="0">
                <a:latin typeface="Times New Roman" panose="02020603050405020304" pitchFamily="18" charset="0"/>
                <a:cs typeface="Times New Roman" panose="02020603050405020304" pitchFamily="18" charset="0"/>
              </a:rPr>
              <a:t>Advantages:</a:t>
            </a:r>
          </a:p>
          <a:p>
            <a:pPr algn="just">
              <a:buFontTx/>
              <a:buNone/>
            </a:pPr>
            <a:r>
              <a:rPr lang="en-US" sz="2400" dirty="0">
                <a:latin typeface="Times New Roman" panose="02020603050405020304" pitchFamily="18" charset="0"/>
                <a:cs typeface="Times New Roman" panose="02020603050405020304" pitchFamily="18" charset="0"/>
              </a:rPr>
              <a:t>   Find all solution, can decide HC exists or not</a:t>
            </a:r>
          </a:p>
          <a:p>
            <a:pPr algn="just"/>
            <a:r>
              <a:rPr lang="en-US" sz="2400" dirty="0">
                <a:latin typeface="Times New Roman" panose="02020603050405020304" pitchFamily="18" charset="0"/>
                <a:cs typeface="Times New Roman" panose="02020603050405020304" pitchFamily="18" charset="0"/>
              </a:rPr>
              <a:t>Disadvantages:</a:t>
            </a:r>
          </a:p>
          <a:p>
            <a:pPr algn="just">
              <a:buFontTx/>
              <a:buNone/>
            </a:pPr>
            <a:r>
              <a:rPr lang="en-US" sz="2400" dirty="0">
                <a:latin typeface="Times New Roman" panose="02020603050405020304" pitchFamily="18" charset="0"/>
                <a:cs typeface="Times New Roman" panose="02020603050405020304" pitchFamily="18" charset="0"/>
              </a:rPr>
              <a:t>    Worst case, needs exponential time. Normally, take a long time </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48</a:t>
            </a:fld>
            <a:endParaRPr lang="en-US"/>
          </a:p>
        </p:txBody>
      </p:sp>
      <p:sp>
        <p:nvSpPr>
          <p:cNvPr id="6" name="Rectangle 5"/>
          <p:cNvSpPr/>
          <p:nvPr/>
        </p:nvSpPr>
        <p:spPr>
          <a:xfrm>
            <a:off x="838200" y="1385455"/>
            <a:ext cx="10515600" cy="4786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6D8F540B-4F27-D3A7-88A4-B1DD01AF5D3D}"/>
              </a:ext>
            </a:extLst>
          </p:cNvPr>
          <p:cNvSpPr txBox="1">
            <a:spLocks/>
          </p:cNvSpPr>
          <p:nvPr/>
        </p:nvSpPr>
        <p:spPr>
          <a:xfrm>
            <a:off x="914400" y="87655"/>
            <a:ext cx="8659091" cy="990069"/>
          </a:xfrm>
          <a:prstGeom prst="rect">
            <a:avLst/>
          </a:prstGeom>
          <a:ln>
            <a:solidFill>
              <a:schemeClr val="tx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Hamiltonian Cycles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264B9-87E5-A520-40D0-06AFB7E180B0}"/>
              </a:ext>
            </a:extLst>
          </p:cNvPr>
          <p:cNvSpPr>
            <a:spLocks noGrp="1"/>
          </p:cNvSpPr>
          <p:nvPr>
            <p:ph type="title"/>
          </p:nvPr>
        </p:nvSpPr>
        <p:spPr>
          <a:xfrm>
            <a:off x="838200" y="136525"/>
            <a:ext cx="8748252" cy="1161334"/>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Applications of Hamiltonian Cycles</a:t>
            </a:r>
            <a:br>
              <a:rPr lang="en-US" dirty="0"/>
            </a:br>
            <a:endParaRPr lang="en-IN" dirty="0"/>
          </a:p>
        </p:txBody>
      </p:sp>
      <p:sp>
        <p:nvSpPr>
          <p:cNvPr id="4" name="Slide Number Placeholder 3">
            <a:extLst>
              <a:ext uri="{FF2B5EF4-FFF2-40B4-BE49-F238E27FC236}">
                <a16:creationId xmlns:a16="http://schemas.microsoft.com/office/drawing/2014/main" id="{827EE285-1A5A-B55C-6EEF-CDADE888A6FE}"/>
              </a:ext>
            </a:extLst>
          </p:cNvPr>
          <p:cNvSpPr>
            <a:spLocks noGrp="1"/>
          </p:cNvSpPr>
          <p:nvPr>
            <p:ph type="sldNum" sz="quarter" idx="12"/>
          </p:nvPr>
        </p:nvSpPr>
        <p:spPr/>
        <p:txBody>
          <a:bodyPr/>
          <a:lstStyle/>
          <a:p>
            <a:fld id="{BDCDBBEF-AA6C-4BA6-85B2-A17D7F280E38}" type="slidenum">
              <a:rPr lang="en-US" smtClean="0"/>
              <a:t>49</a:t>
            </a:fld>
            <a:endParaRPr lang="en-US"/>
          </a:p>
        </p:txBody>
      </p:sp>
      <p:sp>
        <p:nvSpPr>
          <p:cNvPr id="5" name="Rectangle 1">
            <a:extLst>
              <a:ext uri="{FF2B5EF4-FFF2-40B4-BE49-F238E27FC236}">
                <a16:creationId xmlns:a16="http://schemas.microsoft.com/office/drawing/2014/main" id="{FFCD2E1E-3CAE-F3FC-4B7A-2F74C82346BB}"/>
              </a:ext>
            </a:extLst>
          </p:cNvPr>
          <p:cNvSpPr>
            <a:spLocks noGrp="1" noChangeArrowheads="1"/>
          </p:cNvSpPr>
          <p:nvPr>
            <p:ph idx="1"/>
          </p:nvPr>
        </p:nvSpPr>
        <p:spPr bwMode="auto">
          <a:xfrm>
            <a:off x="838200" y="1638465"/>
            <a:ext cx="10223090" cy="44012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Traveling Salesman Problem (TSP)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Routing and logistics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topology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Circuit and VLSI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Genome sequencing (DNA assembly)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Puzzle solving (e.g., Knight’s Tour)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Robotics path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Scheduling 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clustering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Complexity theory and NP-completeness studies</a:t>
            </a:r>
          </a:p>
        </p:txBody>
      </p:sp>
    </p:spTree>
    <p:extLst>
      <p:ext uri="{BB962C8B-B14F-4D97-AF65-F5344CB8AC3E}">
        <p14:creationId xmlns:p14="http://schemas.microsoft.com/office/powerpoint/2010/main" val="2838416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Branch and Bound </a:t>
            </a:r>
            <a:endParaRPr lang="en-US" dirty="0"/>
          </a:p>
        </p:txBody>
      </p:sp>
      <p:sp>
        <p:nvSpPr>
          <p:cNvPr id="3" name="Content Placeholder 2"/>
          <p:cNvSpPr>
            <a:spLocks noGrp="1"/>
          </p:cNvSpPr>
          <p:nvPr>
            <p:ph idx="1"/>
          </p:nvPr>
        </p:nvSpPr>
        <p:spPr>
          <a:xfrm>
            <a:off x="838200" y="1210945"/>
            <a:ext cx="10515600" cy="5511165"/>
          </a:xfrm>
        </p:spPr>
        <p:txBody>
          <a:bodyPr>
            <a:normAutofit/>
          </a:bodyPr>
          <a:lstStyle/>
          <a:p>
            <a:r>
              <a:rPr lang="en-US" sz="2400" dirty="0">
                <a:latin typeface="Times New Roman" panose="02020603050405020304" pitchFamily="18" charset="0"/>
                <a:cs typeface="Times New Roman" panose="02020603050405020304" pitchFamily="18" charset="0"/>
              </a:rPr>
              <a:t>Branch and bound is a strategy that uses state space tree to solve a problem.</a:t>
            </a:r>
          </a:p>
          <a:p>
            <a:r>
              <a:rPr lang="en-US" sz="2400" dirty="0">
                <a:latin typeface="Times New Roman" panose="02020603050405020304" pitchFamily="18" charset="0"/>
                <a:cs typeface="Times New Roman" panose="02020603050405020304" pitchFamily="18" charset="0"/>
              </a:rPr>
              <a:t>It is used to solve optimization problems and minimization problems, but not maximization problems. </a:t>
            </a:r>
          </a:p>
          <a:p>
            <a:r>
              <a:rPr lang="en-US" sz="2400" dirty="0">
                <a:latin typeface="Times New Roman" panose="02020603050405020304" pitchFamily="18" charset="0"/>
                <a:cs typeface="Times New Roman" panose="02020603050405020304" pitchFamily="18" charset="0"/>
              </a:rPr>
              <a:t>Although we can convert maximization problems into minization problems and then can solve by it.</a:t>
            </a:r>
          </a:p>
          <a:p>
            <a:r>
              <a:rPr lang="en-US" sz="2400" dirty="0">
                <a:latin typeface="Times New Roman" panose="02020603050405020304" pitchFamily="18" charset="0"/>
                <a:cs typeface="Times New Roman" panose="02020603050405020304" pitchFamily="18" charset="0"/>
              </a:rPr>
              <a:t>It works with breadth first method.</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50</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75"/>
            <a:ext cx="8797925" cy="1039495"/>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Assignment Problem using Branch and Bound </a:t>
            </a:r>
            <a:endParaRPr lang="en-US" dirty="0"/>
          </a:p>
        </p:txBody>
      </p:sp>
      <p:sp>
        <p:nvSpPr>
          <p:cNvPr id="3" name="Content Placeholder 2"/>
          <p:cNvSpPr>
            <a:spLocks noGrp="1"/>
          </p:cNvSpPr>
          <p:nvPr>
            <p:ph sz="half" idx="1"/>
          </p:nvPr>
        </p:nvSpPr>
        <p:spPr>
          <a:xfrm>
            <a:off x="838200" y="1181735"/>
            <a:ext cx="10306685" cy="4995545"/>
          </a:xfrm>
        </p:spPr>
        <p:txBody>
          <a:bodyPr>
            <a:normAutofit/>
          </a:bodyPr>
          <a:lstStyle/>
          <a:p>
            <a:pPr algn="just"/>
            <a:r>
              <a:rPr lang="en-US" sz="2400" dirty="0">
                <a:latin typeface="Times New Roman" panose="02020603050405020304" pitchFamily="18" charset="0"/>
                <a:cs typeface="Times New Roman" panose="02020603050405020304" pitchFamily="18" charset="0"/>
              </a:rPr>
              <a:t>Let there be N workers and N jobs. Any worker can be assigned to perform any job, incurring some cost that may vary depending on the work-job assignment. It is required to perform all jobs by assigning exactly one worker to each job and exactly one job to each agent in such a way that the total cost of the assignment is minimized.</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51</a:t>
            </a:fld>
            <a:endParaRPr lang="en-US"/>
          </a:p>
        </p:txBody>
      </p:sp>
      <p:sp>
        <p:nvSpPr>
          <p:cNvPr id="6" name="Rectangle 5"/>
          <p:cNvSpPr/>
          <p:nvPr/>
        </p:nvSpPr>
        <p:spPr>
          <a:xfrm>
            <a:off x="838200" y="1189990"/>
            <a:ext cx="10515600" cy="553148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sz="half" idx="2"/>
          </p:nvPr>
        </p:nvPicPr>
        <p:blipFill>
          <a:blip r:embed="rId2"/>
          <a:stretch>
            <a:fillRect/>
          </a:stretch>
        </p:blipFill>
        <p:spPr>
          <a:xfrm>
            <a:off x="6284595" y="3235325"/>
            <a:ext cx="4650740" cy="3326130"/>
          </a:xfrm>
          <a:prstGeom prst="rect">
            <a:avLst/>
          </a:prstGeom>
        </p:spPr>
      </p:pic>
      <p:pic>
        <p:nvPicPr>
          <p:cNvPr id="100" name="Picture 99"/>
          <p:cNvPicPr/>
          <p:nvPr/>
        </p:nvPicPr>
        <p:blipFill>
          <a:blip r:embed="rId3"/>
          <a:srcRect r="10220" b="-2860"/>
          <a:stretch>
            <a:fillRect/>
          </a:stretch>
        </p:blipFill>
        <p:spPr>
          <a:xfrm>
            <a:off x="1372870" y="3034665"/>
            <a:ext cx="4406900" cy="3321050"/>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75"/>
            <a:ext cx="8797925" cy="1039495"/>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Assignment Problem using Branch and Bound </a:t>
            </a:r>
            <a:endParaRPr lang="en-US" dirty="0"/>
          </a:p>
        </p:txBody>
      </p:sp>
      <p:sp>
        <p:nvSpPr>
          <p:cNvPr id="3" name="Content Placeholder 2"/>
          <p:cNvSpPr>
            <a:spLocks noGrp="1"/>
          </p:cNvSpPr>
          <p:nvPr>
            <p:ph sz="half" idx="1"/>
          </p:nvPr>
        </p:nvSpPr>
        <p:spPr>
          <a:xfrm>
            <a:off x="838200" y="1181735"/>
            <a:ext cx="10306685" cy="4995545"/>
          </a:xfrm>
        </p:spPr>
        <p:txBody>
          <a:bodyPr>
            <a:normAutofit/>
          </a:bodyPr>
          <a:lstStyle/>
          <a:p>
            <a:pPr algn="just"/>
            <a:r>
              <a:rPr lang="en-US" sz="2400" dirty="0">
                <a:latin typeface="Times New Roman" panose="02020603050405020304" pitchFamily="18" charset="0"/>
                <a:cs typeface="Times New Roman" panose="02020603050405020304" pitchFamily="18" charset="0"/>
              </a:rPr>
              <a:t>Let’s take below example and try to calculate promising cost that can be assigned to different workers.</a:t>
            </a:r>
          </a:p>
          <a:p>
            <a:pPr algn="just"/>
            <a:r>
              <a:rPr lang="en-US" sz="2400" dirty="0">
                <a:latin typeface="Times New Roman" panose="02020603050405020304" pitchFamily="18" charset="0"/>
                <a:cs typeface="Times New Roman" panose="02020603050405020304" pitchFamily="18" charset="0"/>
              </a:rPr>
              <a:t>Find minimum of every row keeping constraints of job assigning in mind.</a:t>
            </a: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52</a:t>
            </a:fld>
            <a:endParaRPr lang="en-US"/>
          </a:p>
        </p:txBody>
      </p:sp>
      <p:sp>
        <p:nvSpPr>
          <p:cNvPr id="6" name="Rectangle 5"/>
          <p:cNvSpPr/>
          <p:nvPr/>
        </p:nvSpPr>
        <p:spPr>
          <a:xfrm>
            <a:off x="838200" y="1189990"/>
            <a:ext cx="10515600" cy="553148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p:cNvPicPr/>
          <p:nvPr/>
        </p:nvPicPr>
        <p:blipFill>
          <a:blip r:embed="rId2"/>
          <a:stretch>
            <a:fillRect/>
          </a:stretch>
        </p:blipFill>
        <p:spPr>
          <a:xfrm>
            <a:off x="3267075" y="2574290"/>
            <a:ext cx="3940810" cy="2762250"/>
          </a:xfrm>
          <a:prstGeom prst="rect">
            <a:avLst/>
          </a:prstGeom>
          <a:noFill/>
          <a:ln w="9525">
            <a:noFill/>
          </a:ln>
        </p:spPr>
      </p:pic>
      <p:sp>
        <p:nvSpPr>
          <p:cNvPr id="8" name="Text Box 7"/>
          <p:cNvSpPr txBox="1"/>
          <p:nvPr/>
        </p:nvSpPr>
        <p:spPr>
          <a:xfrm>
            <a:off x="2616200" y="5443855"/>
            <a:ext cx="6013450" cy="46037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Total minimum cost= 2+3+5+4=14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75"/>
            <a:ext cx="8797925" cy="1039495"/>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Assignment Problem using Branch and Bound </a:t>
            </a:r>
            <a:endParaRPr lang="en-US" dirty="0"/>
          </a:p>
        </p:txBody>
      </p:sp>
      <p:sp>
        <p:nvSpPr>
          <p:cNvPr id="3" name="Content Placeholder 2"/>
          <p:cNvSpPr>
            <a:spLocks noGrp="1"/>
          </p:cNvSpPr>
          <p:nvPr>
            <p:ph sz="half" idx="1"/>
          </p:nvPr>
        </p:nvSpPr>
        <p:spPr>
          <a:xfrm>
            <a:off x="443345" y="1181735"/>
            <a:ext cx="11429999" cy="508519"/>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diagram shows complete search space diagram showing optimal solution path in green. </a:t>
            </a:r>
          </a:p>
        </p:txBody>
      </p:sp>
      <p:sp>
        <p:nvSpPr>
          <p:cNvPr id="4" name="Slide Number Placeholder 3"/>
          <p:cNvSpPr>
            <a:spLocks noGrp="1"/>
          </p:cNvSpPr>
          <p:nvPr>
            <p:ph type="sldNum" sz="quarter" idx="12"/>
          </p:nvPr>
        </p:nvSpPr>
        <p:spPr/>
        <p:txBody>
          <a:bodyPr/>
          <a:lstStyle/>
          <a:p>
            <a:fld id="{BDCDBBEF-AA6C-4BA6-85B2-A17D7F280E38}" type="slidenum">
              <a:rPr lang="en-US" smtClean="0"/>
              <a:t>53</a:t>
            </a:fld>
            <a:endParaRPr lang="en-US"/>
          </a:p>
        </p:txBody>
      </p:sp>
      <p:pic>
        <p:nvPicPr>
          <p:cNvPr id="5" name="Picture 4"/>
          <p:cNvPicPr>
            <a:picLocks noChangeAspect="1"/>
          </p:cNvPicPr>
          <p:nvPr/>
        </p:nvPicPr>
        <p:blipFill>
          <a:blip r:embed="rId2"/>
          <a:stretch>
            <a:fillRect/>
          </a:stretch>
        </p:blipFill>
        <p:spPr>
          <a:xfrm>
            <a:off x="2671445" y="1608158"/>
            <a:ext cx="5939155" cy="516318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0/1 Knapsack Problem using Branch and Bound </a:t>
            </a:r>
            <a:endParaRPr lang="en-US" dirty="0"/>
          </a:p>
        </p:txBody>
      </p:sp>
      <p:sp>
        <p:nvSpPr>
          <p:cNvPr id="3" name="Content Placeholder 2"/>
          <p:cNvSpPr>
            <a:spLocks noGrp="1"/>
          </p:cNvSpPr>
          <p:nvPr>
            <p:ph idx="1"/>
          </p:nvPr>
        </p:nvSpPr>
        <p:spPr>
          <a:xfrm>
            <a:off x="838200" y="1210945"/>
            <a:ext cx="10515600" cy="5511165"/>
          </a:xfrm>
        </p:spPr>
        <p:txBody>
          <a:bodyPr>
            <a:normAutofit/>
          </a:bodyPr>
          <a:lstStyle/>
          <a:p>
            <a:pPr algn="just"/>
            <a:r>
              <a:rPr lang="en-US" sz="2400" dirty="0">
                <a:latin typeface="Times New Roman" panose="02020603050405020304" pitchFamily="18" charset="0"/>
                <a:cs typeface="Times New Roman" panose="02020603050405020304" pitchFamily="18" charset="0"/>
              </a:rPr>
              <a:t>Given two arrays v[] and w[] that represent values and weights associated with n items respectively. Find out the maximum value subset(Maximum Profit) of v[] such that sum of the weights of this subset is smaller than or equal to Knapsack capacity Cap(W).</a:t>
            </a:r>
          </a:p>
          <a:p>
            <a:pPr algn="just"/>
            <a:r>
              <a:rPr lang="en-US" sz="2400" dirty="0">
                <a:latin typeface="Times New Roman" panose="02020603050405020304" pitchFamily="18" charset="0"/>
                <a:cs typeface="Times New Roman" panose="02020603050405020304" pitchFamily="18" charset="0"/>
              </a:rPr>
              <a:t>We have a bound that none of the items can have sum more than the capacity of knapsack and must give the maximum possible values.</a:t>
            </a:r>
          </a:p>
          <a:p>
            <a:pPr algn="just"/>
            <a:r>
              <a:rPr lang="en-US" sz="2400" dirty="0">
                <a:latin typeface="Times New Roman" panose="02020603050405020304" pitchFamily="18" charset="0"/>
                <a:cs typeface="Times New Roman" panose="02020603050405020304" pitchFamily="18" charset="0"/>
              </a:rPr>
              <a:t>We compute bound (best solution) for every node and compare the bound with current best solution before exploring the node.</a:t>
            </a:r>
          </a:p>
          <a:p>
            <a:pPr algn="just"/>
            <a:r>
              <a:rPr lang="en-US" sz="2400" dirty="0">
                <a:latin typeface="Times New Roman" panose="02020603050405020304" pitchFamily="18" charset="0"/>
                <a:cs typeface="Times New Roman" panose="02020603050405020304" pitchFamily="18" charset="0"/>
              </a:rPr>
              <a:t>The implicit tree for this problem is constructed as binary tree, where left branch signifies the inclusion of the items and right branch signifies the exclusion of the items.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54</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0/1 Knapsack Problem using Branch and Bound </a:t>
            </a:r>
            <a:endParaRPr lang="en-US" dirty="0"/>
          </a:p>
        </p:txBody>
      </p:sp>
      <p:sp>
        <p:nvSpPr>
          <p:cNvPr id="3" name="Content Placeholder 2"/>
          <p:cNvSpPr>
            <a:spLocks noGrp="1"/>
          </p:cNvSpPr>
          <p:nvPr>
            <p:ph idx="1"/>
          </p:nvPr>
        </p:nvSpPr>
        <p:spPr>
          <a:xfrm>
            <a:off x="838200" y="1210945"/>
            <a:ext cx="4314825" cy="5511165"/>
          </a:xfrm>
        </p:spPr>
        <p:txBody>
          <a:bodyPr>
            <a:normAutofit/>
          </a:bodyPr>
          <a:lstStyle/>
          <a:p>
            <a:pPr algn="just"/>
            <a:r>
              <a:rPr lang="en-US" sz="2400" dirty="0">
                <a:latin typeface="Times New Roman" panose="02020603050405020304" pitchFamily="18" charset="0"/>
                <a:cs typeface="Times New Roman" panose="02020603050405020304" pitchFamily="18" charset="0"/>
              </a:rPr>
              <a:t>The node has three parts:</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where        </a:t>
            </a:r>
          </a:p>
          <a:p>
            <a:pPr marL="0" indent="0" algn="just">
              <a:buNone/>
            </a:pPr>
            <a:r>
              <a:rPr lang="en-US" sz="2400" dirty="0">
                <a:latin typeface="Times New Roman" panose="02020603050405020304" pitchFamily="18" charset="0"/>
                <a:cs typeface="Times New Roman" panose="02020603050405020304" pitchFamily="18" charset="0"/>
              </a:rPr>
              <a:t>v=value of the item</a:t>
            </a:r>
          </a:p>
          <a:p>
            <a:pPr marL="0" indent="0" algn="just">
              <a:buNone/>
            </a:pPr>
            <a:r>
              <a:rPr lang="en-US" sz="2400" dirty="0">
                <a:latin typeface="Times New Roman" panose="02020603050405020304" pitchFamily="18" charset="0"/>
                <a:cs typeface="Times New Roman" panose="02020603050405020304" pitchFamily="18" charset="0"/>
              </a:rPr>
              <a:t>w=weight of the item</a:t>
            </a:r>
          </a:p>
          <a:p>
            <a:pPr marL="0" indent="0" algn="just">
              <a:buNone/>
            </a:pPr>
            <a:r>
              <a:rPr lang="en-US" sz="2400" dirty="0">
                <a:latin typeface="Times New Roman" panose="02020603050405020304" pitchFamily="18" charset="0"/>
                <a:cs typeface="Times New Roman" panose="02020603050405020304" pitchFamily="18" charset="0"/>
              </a:rPr>
              <a:t>W=total weight of knapsack</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Consider the example given, where weight of the knapsack W=10</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55</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5" idx="0"/>
          </p:cNvCxnSpPr>
          <p:nvPr/>
        </p:nvCxnSpPr>
        <p:spPr>
          <a:xfrm flipH="1">
            <a:off x="4878705" y="1903095"/>
            <a:ext cx="6985" cy="386715"/>
          </a:xfrm>
          <a:prstGeom prst="line">
            <a:avLst/>
          </a:prstGeom>
        </p:spPr>
        <p:style>
          <a:lnRef idx="1">
            <a:schemeClr val="dk1"/>
          </a:lnRef>
          <a:fillRef idx="0">
            <a:schemeClr val="dk1"/>
          </a:fillRef>
          <a:effectRef idx="0">
            <a:schemeClr val="dk1"/>
          </a:effectRef>
          <a:fontRef idx="minor">
            <a:schemeClr val="tx1"/>
          </a:fontRef>
        </p:style>
      </p:cxnSp>
      <p:pic>
        <p:nvPicPr>
          <p:cNvPr id="12" name="Picture 11"/>
          <p:cNvPicPr>
            <a:picLocks noChangeAspect="1"/>
          </p:cNvPicPr>
          <p:nvPr/>
        </p:nvPicPr>
        <p:blipFill>
          <a:blip r:embed="rId2"/>
          <a:stretch>
            <a:fillRect/>
          </a:stretch>
        </p:blipFill>
        <p:spPr>
          <a:xfrm>
            <a:off x="4008755" y="1713230"/>
            <a:ext cx="2559050" cy="766445"/>
          </a:xfrm>
          <a:prstGeom prst="rect">
            <a:avLst/>
          </a:prstGeom>
        </p:spPr>
      </p:pic>
      <p:pic>
        <p:nvPicPr>
          <p:cNvPr id="13" name="Picture 12"/>
          <p:cNvPicPr>
            <a:picLocks noChangeAspect="1"/>
          </p:cNvPicPr>
          <p:nvPr/>
        </p:nvPicPr>
        <p:blipFill>
          <a:blip r:embed="rId3"/>
          <a:stretch>
            <a:fillRect/>
          </a:stretch>
        </p:blipFill>
        <p:spPr>
          <a:xfrm>
            <a:off x="3322320" y="2686685"/>
            <a:ext cx="4589780" cy="383540"/>
          </a:xfrm>
          <a:prstGeom prst="rect">
            <a:avLst/>
          </a:prstGeom>
        </p:spPr>
      </p:pic>
      <p:graphicFrame>
        <p:nvGraphicFramePr>
          <p:cNvPr id="14" name="Table 13"/>
          <p:cNvGraphicFramePr/>
          <p:nvPr/>
        </p:nvGraphicFramePr>
        <p:xfrm>
          <a:off x="5379720" y="4217670"/>
          <a:ext cx="5882640" cy="2226945"/>
        </p:xfrm>
        <a:graphic>
          <a:graphicData uri="http://schemas.openxmlformats.org/drawingml/2006/table">
            <a:tbl>
              <a:tblPr firstRow="1" bandRow="1">
                <a:tableStyleId>{5C22544A-7EE6-4342-B048-85BDC9FD1C3A}</a:tableStyleId>
              </a:tblPr>
              <a:tblGrid>
                <a:gridCol w="1470660">
                  <a:extLst>
                    <a:ext uri="{9D8B030D-6E8A-4147-A177-3AD203B41FA5}">
                      <a16:colId xmlns:a16="http://schemas.microsoft.com/office/drawing/2014/main" val="20000"/>
                    </a:ext>
                  </a:extLst>
                </a:gridCol>
                <a:gridCol w="1470660">
                  <a:extLst>
                    <a:ext uri="{9D8B030D-6E8A-4147-A177-3AD203B41FA5}">
                      <a16:colId xmlns:a16="http://schemas.microsoft.com/office/drawing/2014/main" val="20001"/>
                    </a:ext>
                  </a:extLst>
                </a:gridCol>
                <a:gridCol w="1470660">
                  <a:extLst>
                    <a:ext uri="{9D8B030D-6E8A-4147-A177-3AD203B41FA5}">
                      <a16:colId xmlns:a16="http://schemas.microsoft.com/office/drawing/2014/main" val="20002"/>
                    </a:ext>
                  </a:extLst>
                </a:gridCol>
                <a:gridCol w="1470660">
                  <a:extLst>
                    <a:ext uri="{9D8B030D-6E8A-4147-A177-3AD203B41FA5}">
                      <a16:colId xmlns:a16="http://schemas.microsoft.com/office/drawing/2014/main" val="20003"/>
                    </a:ext>
                  </a:extLst>
                </a:gridCol>
              </a:tblGrid>
              <a:tr h="677545">
                <a:tc>
                  <a:txBody>
                    <a:bodyPr/>
                    <a:lstStyle/>
                    <a:p>
                      <a:pPr>
                        <a:buNone/>
                      </a:pPr>
                      <a:r>
                        <a:rPr lang="en-US"/>
                        <a:t>Item</a:t>
                      </a:r>
                    </a:p>
                  </a:txBody>
                  <a:tcPr/>
                </a:tc>
                <a:tc>
                  <a:txBody>
                    <a:bodyPr/>
                    <a:lstStyle/>
                    <a:p>
                      <a:pPr>
                        <a:buNone/>
                      </a:pPr>
                      <a:r>
                        <a:rPr lang="en-US"/>
                        <a:t>Weight</a:t>
                      </a:r>
                    </a:p>
                  </a:txBody>
                  <a:tcPr/>
                </a:tc>
                <a:tc>
                  <a:txBody>
                    <a:bodyPr/>
                    <a:lstStyle/>
                    <a:p>
                      <a:pPr>
                        <a:buNone/>
                      </a:pPr>
                      <a:r>
                        <a:rPr lang="en-US"/>
                        <a:t>Value</a:t>
                      </a:r>
                    </a:p>
                  </a:txBody>
                  <a:tcPr/>
                </a:tc>
                <a:tc>
                  <a:txBody>
                    <a:bodyPr/>
                    <a:lstStyle/>
                    <a:p>
                      <a:pPr>
                        <a:buNone/>
                      </a:pPr>
                      <a:r>
                        <a:rPr lang="en-US"/>
                        <a:t>Value/weight</a:t>
                      </a:r>
                    </a:p>
                  </a:txBody>
                  <a:tcPr/>
                </a:tc>
                <a:extLst>
                  <a:ext uri="{0D108BD9-81ED-4DB2-BD59-A6C34878D82A}">
                    <a16:rowId xmlns:a16="http://schemas.microsoft.com/office/drawing/2014/main" val="10000"/>
                  </a:ext>
                </a:extLst>
              </a:tr>
              <a:tr h="387350">
                <a:tc>
                  <a:txBody>
                    <a:bodyPr/>
                    <a:lstStyle/>
                    <a:p>
                      <a:pPr>
                        <a:buNone/>
                      </a:pPr>
                      <a:r>
                        <a:rPr lang="en-US"/>
                        <a:t>1</a:t>
                      </a:r>
                    </a:p>
                  </a:txBody>
                  <a:tcPr/>
                </a:tc>
                <a:tc>
                  <a:txBody>
                    <a:bodyPr/>
                    <a:lstStyle/>
                    <a:p>
                      <a:pPr>
                        <a:buNone/>
                      </a:pPr>
                      <a:r>
                        <a:rPr lang="en-US"/>
                        <a:t>4</a:t>
                      </a:r>
                    </a:p>
                  </a:txBody>
                  <a:tcPr/>
                </a:tc>
                <a:tc>
                  <a:txBody>
                    <a:bodyPr/>
                    <a:lstStyle/>
                    <a:p>
                      <a:pPr>
                        <a:buNone/>
                      </a:pPr>
                      <a:r>
                        <a:rPr lang="en-US"/>
                        <a:t>40</a:t>
                      </a:r>
                    </a:p>
                  </a:txBody>
                  <a:tcPr/>
                </a:tc>
                <a:tc>
                  <a:txBody>
                    <a:bodyPr/>
                    <a:lstStyle/>
                    <a:p>
                      <a:pPr>
                        <a:buNone/>
                      </a:pPr>
                      <a:r>
                        <a:rPr lang="en-US"/>
                        <a:t>10</a:t>
                      </a:r>
                    </a:p>
                  </a:txBody>
                  <a:tcPr/>
                </a:tc>
                <a:extLst>
                  <a:ext uri="{0D108BD9-81ED-4DB2-BD59-A6C34878D82A}">
                    <a16:rowId xmlns:a16="http://schemas.microsoft.com/office/drawing/2014/main" val="10001"/>
                  </a:ext>
                </a:extLst>
              </a:tr>
              <a:tr h="387350">
                <a:tc>
                  <a:txBody>
                    <a:bodyPr/>
                    <a:lstStyle/>
                    <a:p>
                      <a:pPr>
                        <a:buNone/>
                      </a:pPr>
                      <a:r>
                        <a:rPr lang="en-US"/>
                        <a:t>2</a:t>
                      </a:r>
                    </a:p>
                  </a:txBody>
                  <a:tcPr/>
                </a:tc>
                <a:tc>
                  <a:txBody>
                    <a:bodyPr/>
                    <a:lstStyle/>
                    <a:p>
                      <a:pPr>
                        <a:buNone/>
                      </a:pPr>
                      <a:r>
                        <a:rPr lang="en-US"/>
                        <a:t>7</a:t>
                      </a:r>
                    </a:p>
                  </a:txBody>
                  <a:tcPr/>
                </a:tc>
                <a:tc>
                  <a:txBody>
                    <a:bodyPr/>
                    <a:lstStyle/>
                    <a:p>
                      <a:pPr>
                        <a:buNone/>
                      </a:pPr>
                      <a:r>
                        <a:rPr lang="en-US"/>
                        <a:t>42</a:t>
                      </a:r>
                    </a:p>
                  </a:txBody>
                  <a:tcPr/>
                </a:tc>
                <a:tc>
                  <a:txBody>
                    <a:bodyPr/>
                    <a:lstStyle/>
                    <a:p>
                      <a:pPr>
                        <a:buNone/>
                      </a:pPr>
                      <a:r>
                        <a:rPr lang="en-US"/>
                        <a:t>6</a:t>
                      </a:r>
                    </a:p>
                  </a:txBody>
                  <a:tcPr/>
                </a:tc>
                <a:extLst>
                  <a:ext uri="{0D108BD9-81ED-4DB2-BD59-A6C34878D82A}">
                    <a16:rowId xmlns:a16="http://schemas.microsoft.com/office/drawing/2014/main" val="10002"/>
                  </a:ext>
                </a:extLst>
              </a:tr>
              <a:tr h="387350">
                <a:tc>
                  <a:txBody>
                    <a:bodyPr/>
                    <a:lstStyle/>
                    <a:p>
                      <a:pPr>
                        <a:buNone/>
                      </a:pPr>
                      <a:r>
                        <a:rPr lang="en-US"/>
                        <a:t>3</a:t>
                      </a:r>
                    </a:p>
                  </a:txBody>
                  <a:tcPr/>
                </a:tc>
                <a:tc>
                  <a:txBody>
                    <a:bodyPr/>
                    <a:lstStyle/>
                    <a:p>
                      <a:pPr>
                        <a:buNone/>
                      </a:pPr>
                      <a:r>
                        <a:rPr lang="en-US"/>
                        <a:t>5</a:t>
                      </a:r>
                    </a:p>
                  </a:txBody>
                  <a:tcPr/>
                </a:tc>
                <a:tc>
                  <a:txBody>
                    <a:bodyPr/>
                    <a:lstStyle/>
                    <a:p>
                      <a:pPr>
                        <a:buNone/>
                      </a:pPr>
                      <a:r>
                        <a:rPr lang="en-US"/>
                        <a:t>25</a:t>
                      </a:r>
                    </a:p>
                  </a:txBody>
                  <a:tcPr/>
                </a:tc>
                <a:tc>
                  <a:txBody>
                    <a:bodyPr/>
                    <a:lstStyle/>
                    <a:p>
                      <a:pPr>
                        <a:buNone/>
                      </a:pPr>
                      <a:r>
                        <a:rPr lang="en-US"/>
                        <a:t>5</a:t>
                      </a:r>
                    </a:p>
                  </a:txBody>
                  <a:tcPr/>
                </a:tc>
                <a:extLst>
                  <a:ext uri="{0D108BD9-81ED-4DB2-BD59-A6C34878D82A}">
                    <a16:rowId xmlns:a16="http://schemas.microsoft.com/office/drawing/2014/main" val="10003"/>
                  </a:ext>
                </a:extLst>
              </a:tr>
              <a:tr h="387350">
                <a:tc>
                  <a:txBody>
                    <a:bodyPr/>
                    <a:lstStyle/>
                    <a:p>
                      <a:pPr>
                        <a:buNone/>
                      </a:pPr>
                      <a:r>
                        <a:rPr lang="en-US"/>
                        <a:t>4</a:t>
                      </a:r>
                    </a:p>
                  </a:txBody>
                  <a:tcPr/>
                </a:tc>
                <a:tc>
                  <a:txBody>
                    <a:bodyPr/>
                    <a:lstStyle/>
                    <a:p>
                      <a:pPr>
                        <a:buNone/>
                      </a:pPr>
                      <a:r>
                        <a:rPr lang="en-US"/>
                        <a:t>3</a:t>
                      </a:r>
                    </a:p>
                  </a:txBody>
                  <a:tcPr/>
                </a:tc>
                <a:tc>
                  <a:txBody>
                    <a:bodyPr/>
                    <a:lstStyle/>
                    <a:p>
                      <a:pPr>
                        <a:buNone/>
                      </a:pPr>
                      <a:r>
                        <a:rPr lang="en-US"/>
                        <a:t>12</a:t>
                      </a:r>
                    </a:p>
                  </a:txBody>
                  <a:tcPr/>
                </a:tc>
                <a:tc>
                  <a:txBody>
                    <a:bodyPr/>
                    <a:lstStyle/>
                    <a:p>
                      <a:pPr>
                        <a:buNone/>
                      </a:pPr>
                      <a:r>
                        <a:rPr lang="en-US"/>
                        <a:t>4</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4294505" cy="4530725"/>
          </a:xfrm>
        </p:spPr>
        <p:txBody>
          <a:bodyPr>
            <a:normAutofit/>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UB=0+(10-0)*(40/4)=100 (For Root node)</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Items selected in the solution are {1,3}</a:t>
            </a:r>
          </a:p>
          <a:p>
            <a:pPr algn="just"/>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56</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5" idx="0"/>
          </p:cNvCxnSpPr>
          <p:nvPr/>
        </p:nvCxnSpPr>
        <p:spPr>
          <a:xfrm flipH="1">
            <a:off x="4878705" y="1903095"/>
            <a:ext cx="6985" cy="386715"/>
          </a:xfrm>
          <a:prstGeom prst="line">
            <a:avLst/>
          </a:prstGeom>
        </p:spPr>
        <p:style>
          <a:lnRef idx="1">
            <a:schemeClr val="dk1"/>
          </a:lnRef>
          <a:fillRef idx="0">
            <a:schemeClr val="dk1"/>
          </a:fillRef>
          <a:effectRef idx="0">
            <a:schemeClr val="dk1"/>
          </a:effectRef>
          <a:fontRef idx="minor">
            <a:schemeClr val="tx1"/>
          </a:fontRef>
        </p:style>
      </p:cxnSp>
      <p:pic>
        <p:nvPicPr>
          <p:cNvPr id="12" name="Picture 11"/>
          <p:cNvPicPr>
            <a:picLocks noChangeAspect="1"/>
          </p:cNvPicPr>
          <p:nvPr/>
        </p:nvPicPr>
        <p:blipFill>
          <a:blip r:embed="rId2"/>
          <a:stretch>
            <a:fillRect/>
          </a:stretch>
        </p:blipFill>
        <p:spPr>
          <a:xfrm>
            <a:off x="867410" y="1393190"/>
            <a:ext cx="2559050" cy="766445"/>
          </a:xfrm>
          <a:prstGeom prst="rect">
            <a:avLst/>
          </a:prstGeom>
        </p:spPr>
      </p:pic>
      <p:pic>
        <p:nvPicPr>
          <p:cNvPr id="13" name="Picture 12"/>
          <p:cNvPicPr>
            <a:picLocks noChangeAspect="1"/>
          </p:cNvPicPr>
          <p:nvPr/>
        </p:nvPicPr>
        <p:blipFill>
          <a:blip r:embed="rId3"/>
          <a:stretch>
            <a:fillRect/>
          </a:stretch>
        </p:blipFill>
        <p:spPr>
          <a:xfrm>
            <a:off x="885825" y="2377440"/>
            <a:ext cx="4080510" cy="340995"/>
          </a:xfrm>
          <a:prstGeom prst="rect">
            <a:avLst/>
          </a:prstGeom>
        </p:spPr>
      </p:pic>
      <p:graphicFrame>
        <p:nvGraphicFramePr>
          <p:cNvPr id="14" name="Table 13"/>
          <p:cNvGraphicFramePr/>
          <p:nvPr>
            <p:extLst>
              <p:ext uri="{D42A27DB-BD31-4B8C-83A1-F6EECF244321}">
                <p14:modId xmlns:p14="http://schemas.microsoft.com/office/powerpoint/2010/main" val="2804383890"/>
              </p:ext>
            </p:extLst>
          </p:nvPr>
        </p:nvGraphicFramePr>
        <p:xfrm>
          <a:off x="885825" y="3209232"/>
          <a:ext cx="3820795" cy="2226945"/>
        </p:xfrm>
        <a:graphic>
          <a:graphicData uri="http://schemas.openxmlformats.org/drawingml/2006/table">
            <a:tbl>
              <a:tblPr firstRow="1" bandRow="1">
                <a:tableStyleId>{5C22544A-7EE6-4342-B048-85BDC9FD1C3A}</a:tableStyleId>
              </a:tblPr>
              <a:tblGrid>
                <a:gridCol w="668655">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gridCol w="1542415">
                  <a:extLst>
                    <a:ext uri="{9D8B030D-6E8A-4147-A177-3AD203B41FA5}">
                      <a16:colId xmlns:a16="http://schemas.microsoft.com/office/drawing/2014/main" val="20003"/>
                    </a:ext>
                  </a:extLst>
                </a:gridCol>
              </a:tblGrid>
              <a:tr h="677545">
                <a:tc>
                  <a:txBody>
                    <a:bodyPr/>
                    <a:lstStyle/>
                    <a:p>
                      <a:pPr>
                        <a:buNone/>
                      </a:pPr>
                      <a:r>
                        <a:rPr lang="en-US"/>
                        <a:t>Item</a:t>
                      </a:r>
                    </a:p>
                  </a:txBody>
                  <a:tcPr/>
                </a:tc>
                <a:tc>
                  <a:txBody>
                    <a:bodyPr/>
                    <a:lstStyle/>
                    <a:p>
                      <a:pPr>
                        <a:buNone/>
                      </a:pPr>
                      <a:r>
                        <a:rPr lang="en-US"/>
                        <a:t>Weight</a:t>
                      </a:r>
                    </a:p>
                  </a:txBody>
                  <a:tcPr/>
                </a:tc>
                <a:tc>
                  <a:txBody>
                    <a:bodyPr/>
                    <a:lstStyle/>
                    <a:p>
                      <a:pPr>
                        <a:buNone/>
                      </a:pPr>
                      <a:r>
                        <a:rPr lang="en-US"/>
                        <a:t>Value</a:t>
                      </a:r>
                    </a:p>
                  </a:txBody>
                  <a:tcPr/>
                </a:tc>
                <a:tc>
                  <a:txBody>
                    <a:bodyPr/>
                    <a:lstStyle/>
                    <a:p>
                      <a:pPr>
                        <a:buNone/>
                      </a:pPr>
                      <a:r>
                        <a:rPr lang="en-US"/>
                        <a:t>Value/weight</a:t>
                      </a:r>
                    </a:p>
                  </a:txBody>
                  <a:tcPr/>
                </a:tc>
                <a:extLst>
                  <a:ext uri="{0D108BD9-81ED-4DB2-BD59-A6C34878D82A}">
                    <a16:rowId xmlns:a16="http://schemas.microsoft.com/office/drawing/2014/main" val="10000"/>
                  </a:ext>
                </a:extLst>
              </a:tr>
              <a:tr h="387350">
                <a:tc>
                  <a:txBody>
                    <a:bodyPr/>
                    <a:lstStyle/>
                    <a:p>
                      <a:pPr algn="ctr">
                        <a:buNone/>
                      </a:pPr>
                      <a:r>
                        <a:rPr lang="en-US"/>
                        <a:t>1</a:t>
                      </a:r>
                    </a:p>
                  </a:txBody>
                  <a:tcPr/>
                </a:tc>
                <a:tc>
                  <a:txBody>
                    <a:bodyPr/>
                    <a:lstStyle/>
                    <a:p>
                      <a:pPr algn="ctr">
                        <a:buNone/>
                      </a:pPr>
                      <a:r>
                        <a:rPr lang="en-US"/>
                        <a:t>4</a:t>
                      </a:r>
                    </a:p>
                  </a:txBody>
                  <a:tcPr/>
                </a:tc>
                <a:tc>
                  <a:txBody>
                    <a:bodyPr/>
                    <a:lstStyle/>
                    <a:p>
                      <a:pPr algn="ctr">
                        <a:buNone/>
                      </a:pPr>
                      <a:r>
                        <a:rPr lang="en-US"/>
                        <a:t>40</a:t>
                      </a:r>
                    </a:p>
                  </a:txBody>
                  <a:tcPr/>
                </a:tc>
                <a:tc>
                  <a:txBody>
                    <a:bodyPr/>
                    <a:lstStyle/>
                    <a:p>
                      <a:pPr algn="ctr">
                        <a:buNone/>
                      </a:pPr>
                      <a:r>
                        <a:rPr lang="en-US" dirty="0"/>
                        <a:t>10</a:t>
                      </a:r>
                    </a:p>
                  </a:txBody>
                  <a:tcPr/>
                </a:tc>
                <a:extLst>
                  <a:ext uri="{0D108BD9-81ED-4DB2-BD59-A6C34878D82A}">
                    <a16:rowId xmlns:a16="http://schemas.microsoft.com/office/drawing/2014/main" val="10001"/>
                  </a:ext>
                </a:extLst>
              </a:tr>
              <a:tr h="387350">
                <a:tc>
                  <a:txBody>
                    <a:bodyPr/>
                    <a:lstStyle/>
                    <a:p>
                      <a:pPr algn="ctr">
                        <a:buNone/>
                      </a:pPr>
                      <a:r>
                        <a:rPr lang="en-US"/>
                        <a:t>2</a:t>
                      </a:r>
                    </a:p>
                  </a:txBody>
                  <a:tcPr/>
                </a:tc>
                <a:tc>
                  <a:txBody>
                    <a:bodyPr/>
                    <a:lstStyle/>
                    <a:p>
                      <a:pPr algn="ctr">
                        <a:buNone/>
                      </a:pPr>
                      <a:r>
                        <a:rPr lang="en-US"/>
                        <a:t>7</a:t>
                      </a:r>
                    </a:p>
                  </a:txBody>
                  <a:tcPr/>
                </a:tc>
                <a:tc>
                  <a:txBody>
                    <a:bodyPr/>
                    <a:lstStyle/>
                    <a:p>
                      <a:pPr algn="ctr">
                        <a:buNone/>
                      </a:pPr>
                      <a:r>
                        <a:rPr lang="en-US"/>
                        <a:t>42</a:t>
                      </a:r>
                    </a:p>
                  </a:txBody>
                  <a:tcPr/>
                </a:tc>
                <a:tc>
                  <a:txBody>
                    <a:bodyPr/>
                    <a:lstStyle/>
                    <a:p>
                      <a:pPr algn="ctr">
                        <a:buNone/>
                      </a:pPr>
                      <a:r>
                        <a:rPr lang="en-US" dirty="0"/>
                        <a:t>6</a:t>
                      </a:r>
                    </a:p>
                  </a:txBody>
                  <a:tcPr/>
                </a:tc>
                <a:extLst>
                  <a:ext uri="{0D108BD9-81ED-4DB2-BD59-A6C34878D82A}">
                    <a16:rowId xmlns:a16="http://schemas.microsoft.com/office/drawing/2014/main" val="10002"/>
                  </a:ext>
                </a:extLst>
              </a:tr>
              <a:tr h="387350">
                <a:tc>
                  <a:txBody>
                    <a:bodyPr/>
                    <a:lstStyle/>
                    <a:p>
                      <a:pPr algn="ctr">
                        <a:buNone/>
                      </a:pPr>
                      <a:r>
                        <a:rPr lang="en-US"/>
                        <a:t>3</a:t>
                      </a:r>
                    </a:p>
                  </a:txBody>
                  <a:tcPr/>
                </a:tc>
                <a:tc>
                  <a:txBody>
                    <a:bodyPr/>
                    <a:lstStyle/>
                    <a:p>
                      <a:pPr algn="ctr">
                        <a:buNone/>
                      </a:pPr>
                      <a:r>
                        <a:rPr lang="en-US"/>
                        <a:t>5</a:t>
                      </a:r>
                    </a:p>
                  </a:txBody>
                  <a:tcPr/>
                </a:tc>
                <a:tc>
                  <a:txBody>
                    <a:bodyPr/>
                    <a:lstStyle/>
                    <a:p>
                      <a:pPr algn="ctr">
                        <a:buNone/>
                      </a:pPr>
                      <a:r>
                        <a:rPr lang="en-US"/>
                        <a:t>25</a:t>
                      </a:r>
                    </a:p>
                  </a:txBody>
                  <a:tcPr/>
                </a:tc>
                <a:tc>
                  <a:txBody>
                    <a:bodyPr/>
                    <a:lstStyle/>
                    <a:p>
                      <a:pPr algn="ctr">
                        <a:buNone/>
                      </a:pPr>
                      <a:r>
                        <a:rPr lang="en-US" dirty="0"/>
                        <a:t>5</a:t>
                      </a:r>
                    </a:p>
                  </a:txBody>
                  <a:tcPr/>
                </a:tc>
                <a:extLst>
                  <a:ext uri="{0D108BD9-81ED-4DB2-BD59-A6C34878D82A}">
                    <a16:rowId xmlns:a16="http://schemas.microsoft.com/office/drawing/2014/main" val="10003"/>
                  </a:ext>
                </a:extLst>
              </a:tr>
              <a:tr h="387350">
                <a:tc>
                  <a:txBody>
                    <a:bodyPr/>
                    <a:lstStyle/>
                    <a:p>
                      <a:pPr algn="ctr">
                        <a:buNone/>
                      </a:pPr>
                      <a:r>
                        <a:rPr lang="en-US"/>
                        <a:t>4</a:t>
                      </a:r>
                    </a:p>
                  </a:txBody>
                  <a:tcPr/>
                </a:tc>
                <a:tc>
                  <a:txBody>
                    <a:bodyPr/>
                    <a:lstStyle/>
                    <a:p>
                      <a:pPr algn="ctr">
                        <a:buNone/>
                      </a:pPr>
                      <a:r>
                        <a:rPr lang="en-US"/>
                        <a:t>3</a:t>
                      </a:r>
                    </a:p>
                  </a:txBody>
                  <a:tcPr/>
                </a:tc>
                <a:tc>
                  <a:txBody>
                    <a:bodyPr/>
                    <a:lstStyle/>
                    <a:p>
                      <a:pPr algn="ctr">
                        <a:buNone/>
                      </a:pPr>
                      <a:r>
                        <a:rPr lang="en-US"/>
                        <a:t>12</a:t>
                      </a:r>
                    </a:p>
                  </a:txBody>
                  <a:tcPr/>
                </a:tc>
                <a:tc>
                  <a:txBody>
                    <a:bodyPr/>
                    <a:lstStyle/>
                    <a:p>
                      <a:pPr algn="ctr">
                        <a:buNone/>
                      </a:pPr>
                      <a:r>
                        <a:rPr lang="en-US" dirty="0"/>
                        <a:t>4</a:t>
                      </a:r>
                    </a:p>
                  </a:txBody>
                  <a:tcPr/>
                </a:tc>
                <a:extLst>
                  <a:ext uri="{0D108BD9-81ED-4DB2-BD59-A6C34878D82A}">
                    <a16:rowId xmlns:a16="http://schemas.microsoft.com/office/drawing/2014/main" val="10004"/>
                  </a:ext>
                </a:extLst>
              </a:tr>
            </a:tbl>
          </a:graphicData>
        </a:graphic>
      </p:graphicFrame>
      <p:pic>
        <p:nvPicPr>
          <p:cNvPr id="16" name="Content Placeholder 15"/>
          <p:cNvPicPr>
            <a:picLocks noGrp="1" noChangeAspect="1"/>
          </p:cNvPicPr>
          <p:nvPr>
            <p:ph sz="half" idx="2"/>
          </p:nvPr>
        </p:nvPicPr>
        <p:blipFill>
          <a:blip r:embed="rId4"/>
          <a:stretch>
            <a:fillRect/>
          </a:stretch>
        </p:blipFill>
        <p:spPr>
          <a:xfrm>
            <a:off x="5161915" y="43815"/>
            <a:ext cx="7020560" cy="663321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838200" y="1210945"/>
            <a:ext cx="10515600" cy="5511165"/>
          </a:xfrm>
        </p:spPr>
        <p:txBody>
          <a:bodyPr>
            <a:normAutofit/>
          </a:bodyPr>
          <a:lstStyle/>
          <a:p>
            <a:pPr algn="just"/>
            <a:r>
              <a:rPr lang="en-US" sz="2400" dirty="0">
                <a:latin typeface="Times New Roman" panose="02020603050405020304" pitchFamily="18" charset="0"/>
                <a:cs typeface="Times New Roman" panose="02020603050405020304" pitchFamily="18" charset="0"/>
              </a:rPr>
              <a:t>The reliability design problem is the designing of a system composed of several devices connected in series or parallel. Reliability means the probability to get the success of the device.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Let’s say, we have to set up a system consisting of D1, D2, D3, …………, and Dn devices, each device has some costs C1, C2, C3, …….., Cn. Each device has a reliability of 0.9 then the entire system has reliability which is equal to the product of the reliabilities of all devices i.e., πri = (0.9)4.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means that 35% of the system has a chance to fail, due to the failure of any one device.</a:t>
            </a: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57</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rcRect t="27490" r="847" b="50725"/>
          <a:stretch>
            <a:fillRect/>
          </a:stretch>
        </p:blipFill>
        <p:spPr>
          <a:xfrm>
            <a:off x="2937510" y="4251960"/>
            <a:ext cx="6061075" cy="5740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rcRect l="12867" t="16334" r="21593" b="28213"/>
          <a:stretch>
            <a:fillRect/>
          </a:stretch>
        </p:blipFill>
        <p:spPr>
          <a:xfrm>
            <a:off x="7031990" y="1382395"/>
            <a:ext cx="4353560" cy="1587500"/>
          </a:xfrm>
          <a:prstGeom prst="rect">
            <a:avLst/>
          </a:prstGeom>
        </p:spPr>
      </p:pic>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436880" y="1210945"/>
            <a:ext cx="6634480" cy="2421255"/>
          </a:xfrm>
        </p:spPr>
        <p:txBody>
          <a:bodyPr>
            <a:noAutofit/>
          </a:bodyPr>
          <a:lstStyle/>
          <a:p>
            <a:pPr algn="just"/>
            <a:r>
              <a:rPr lang="en-US" sz="2200" dirty="0">
                <a:latin typeface="Times New Roman" panose="02020603050405020304" pitchFamily="18" charset="0"/>
                <a:cs typeface="Times New Roman" panose="02020603050405020304" pitchFamily="18" charset="0"/>
              </a:rPr>
              <a:t>The problem is that we want to construct a system whose reliability is maximum. </a:t>
            </a:r>
            <a:r>
              <a:rPr lang="en-US" sz="2200" b="1" dirty="0">
                <a:latin typeface="Times New Roman" panose="02020603050405020304" pitchFamily="18" charset="0"/>
                <a:cs typeface="Times New Roman" panose="02020603050405020304" pitchFamily="18" charset="0"/>
              </a:rPr>
              <a:t>How it can be done so?</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We can think that we can take more than one copy of each device so that if one device fails we can use the copy of that device, which means we can connect the devices parallel.</a:t>
            </a:r>
          </a:p>
        </p:txBody>
      </p:sp>
      <p:sp>
        <p:nvSpPr>
          <p:cNvPr id="4" name="Slide Number Placeholder 3"/>
          <p:cNvSpPr>
            <a:spLocks noGrp="1"/>
          </p:cNvSpPr>
          <p:nvPr>
            <p:ph type="sldNum" sz="quarter" idx="12"/>
          </p:nvPr>
        </p:nvSpPr>
        <p:spPr/>
        <p:txBody>
          <a:bodyPr/>
          <a:lstStyle/>
          <a:p>
            <a:fld id="{BDCDBBEF-AA6C-4BA6-85B2-A17D7F280E38}" type="slidenum">
              <a:rPr lang="en-US" smtClean="0"/>
              <a:t>58</a:t>
            </a:fld>
            <a:endParaRPr lang="en-US"/>
          </a:p>
        </p:txBody>
      </p:sp>
      <p:sp>
        <p:nvSpPr>
          <p:cNvPr id="6" name="Rectangle 5"/>
          <p:cNvSpPr/>
          <p:nvPr/>
        </p:nvSpPr>
        <p:spPr>
          <a:xfrm>
            <a:off x="436880" y="1217930"/>
            <a:ext cx="1091692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436880" y="3319145"/>
            <a:ext cx="10916920" cy="304609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sym typeface="+mn-ea"/>
              </a:rPr>
              <a:t>When the same type of 3 devices is connected parallelly in stage 1 having a reliability 0.9 each then: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Reliability of device1, r1= 0.9</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The probability that device does not work well = 1 –  r1 = 1 – 0.9 = 0.1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The probability that all three copies failed = ( 1-r1 )</a:t>
            </a:r>
            <a:r>
              <a:rPr lang="en-US" sz="2400" baseline="30000" dirty="0">
                <a:latin typeface="Times New Roman" panose="02020603050405020304" pitchFamily="18" charset="0"/>
                <a:cs typeface="Times New Roman" panose="02020603050405020304" pitchFamily="18" charset="0"/>
                <a:sym typeface="+mn-ea"/>
              </a:rPr>
              <a:t>3</a:t>
            </a:r>
            <a:r>
              <a:rPr lang="en-US" sz="2400" dirty="0">
                <a:latin typeface="Times New Roman" panose="02020603050405020304" pitchFamily="18" charset="0"/>
                <a:cs typeface="Times New Roman" panose="02020603050405020304" pitchFamily="18" charset="0"/>
                <a:sym typeface="+mn-ea"/>
              </a:rPr>
              <a:t> = (0.1)</a:t>
            </a:r>
            <a:r>
              <a:rPr lang="en-US" sz="2400" baseline="30000" dirty="0">
                <a:latin typeface="Times New Roman" panose="02020603050405020304" pitchFamily="18" charset="0"/>
                <a:cs typeface="Times New Roman" panose="02020603050405020304" pitchFamily="18" charset="0"/>
                <a:sym typeface="+mn-ea"/>
              </a:rPr>
              <a:t>3</a:t>
            </a:r>
            <a:r>
              <a:rPr lang="en-US" sz="2400" dirty="0">
                <a:latin typeface="Times New Roman" panose="02020603050405020304" pitchFamily="18" charset="0"/>
                <a:cs typeface="Times New Roman" panose="02020603050405020304" pitchFamily="18" charset="0"/>
                <a:sym typeface="+mn-ea"/>
              </a:rPr>
              <a:t> = 0.001</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The Probability that all three copies work properly = 1 – (1- r1)</a:t>
            </a:r>
            <a:r>
              <a:rPr lang="en-US" sz="2400" baseline="30000" dirty="0">
                <a:latin typeface="Times New Roman" panose="02020603050405020304" pitchFamily="18" charset="0"/>
                <a:cs typeface="Times New Roman" panose="02020603050405020304" pitchFamily="18" charset="0"/>
                <a:sym typeface="+mn-ea"/>
              </a:rPr>
              <a:t>3</a:t>
            </a:r>
            <a:r>
              <a:rPr lang="en-US" sz="2400" dirty="0">
                <a:latin typeface="Times New Roman" panose="02020603050405020304" pitchFamily="18" charset="0"/>
                <a:cs typeface="Times New Roman" panose="02020603050405020304" pitchFamily="18" charset="0"/>
                <a:sym typeface="+mn-ea"/>
              </a:rPr>
              <a:t> = 1- 0.001 = 0.999</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We can see that the system with multiple copies of the same device parallel may increase the reliability of the system.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838200" y="1210945"/>
            <a:ext cx="10515600" cy="5511165"/>
          </a:xfrm>
        </p:spPr>
        <p:txBody>
          <a:bodyPr>
            <a:normAutofit/>
          </a:bodyPr>
          <a:lstStyle/>
          <a:p>
            <a:pPr algn="just"/>
            <a:r>
              <a:rPr lang="en-US" sz="2400" dirty="0">
                <a:latin typeface="Times New Roman" panose="02020603050405020304" pitchFamily="18" charset="0"/>
                <a:cs typeface="Times New Roman" panose="02020603050405020304" pitchFamily="18" charset="0"/>
              </a:rPr>
              <a:t>Given a cost C and we have to set up a system by buying the devices and we need to find number of copies of each device under the cost such that reliability of a system is maximized.</a:t>
            </a:r>
          </a:p>
          <a:p>
            <a:pPr algn="just"/>
            <a:r>
              <a:rPr lang="en-US" sz="2400" dirty="0">
                <a:latin typeface="Times New Roman" panose="02020603050405020304" pitchFamily="18" charset="0"/>
                <a:cs typeface="Times New Roman" panose="02020603050405020304" pitchFamily="18" charset="0"/>
              </a:rPr>
              <a:t>We have to design a three-stage system with device types D1, D2, and D3. The costs are $30, $15, and $20 respectively. The cost of the system is to be no more than $105. The reliability of each device type is 0.9, 0.8, and 0.5 respectively.</a:t>
            </a: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59</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6239510" y="3794125"/>
            <a:ext cx="5028565" cy="2430780"/>
          </a:xfrm>
          <a:prstGeom prst="rect">
            <a:avLst/>
          </a:prstGeom>
        </p:spPr>
      </p:pic>
      <p:sp>
        <p:nvSpPr>
          <p:cNvPr id="8" name="Text Box 7"/>
          <p:cNvSpPr txBox="1"/>
          <p:nvPr/>
        </p:nvSpPr>
        <p:spPr>
          <a:xfrm>
            <a:off x="1027430" y="3507105"/>
            <a:ext cx="5212080" cy="267652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Given that we have total cost C = 105, </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Sum of all Ci = 30 + 15 + 20 = 65, the remaining amount we can use to buy a copy of each device in such a way that the reliability of the system, may increase.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838200" y="1210945"/>
            <a:ext cx="10515600" cy="5511165"/>
          </a:xfrm>
        </p:spPr>
        <p:txBody>
          <a:bodyPr>
            <a:normAutofit/>
          </a:bodyPr>
          <a:lstStyle/>
          <a:p>
            <a:pPr algn="just"/>
            <a:r>
              <a:rPr lang="en-US" sz="2400" dirty="0">
                <a:latin typeface="Times New Roman" panose="02020603050405020304" pitchFamily="18" charset="0"/>
                <a:cs typeface="Times New Roman" panose="02020603050405020304" pitchFamily="18" charset="0"/>
              </a:rPr>
              <a:t>Remaining amount = C – sum of Ci = 105 – 65 = 40</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Now, let us calculate how many copies of each device we can buy with $40, If consume all $40 in device1 then we can buy 40/30 = 1 and 1 copy we have already so overall 2 copies of device1. Now In general, we can have the formula to calculate the upper bond of each device:</a:t>
            </a:r>
          </a:p>
          <a:p>
            <a:pPr algn="just"/>
            <a:r>
              <a:rPr lang="en-US" sz="2400" dirty="0">
                <a:latin typeface="Times New Roman" panose="02020603050405020304" pitchFamily="18" charset="0"/>
                <a:cs typeface="Times New Roman" panose="02020603050405020304" pitchFamily="18" charset="0"/>
              </a:rPr>
              <a:t>Ui   =  floor( C – ∑Ci  / Ci ) + 1    (1 is added because we have one copy of each device before)</a:t>
            </a:r>
          </a:p>
          <a:p>
            <a:pPr algn="just"/>
            <a:r>
              <a:rPr lang="en-US" sz="2400" dirty="0">
                <a:latin typeface="Times New Roman" panose="02020603050405020304" pitchFamily="18" charset="0"/>
                <a:cs typeface="Times New Roman" panose="02020603050405020304" pitchFamily="18" charset="0"/>
              </a:rPr>
              <a:t>C1=30,  C2=15,  C3=20,   C=105</a:t>
            </a:r>
          </a:p>
          <a:p>
            <a:pPr algn="just"/>
            <a:r>
              <a:rPr lang="en-US" sz="2400" dirty="0">
                <a:latin typeface="Times New Roman" panose="02020603050405020304" pitchFamily="18" charset="0"/>
                <a:cs typeface="Times New Roman" panose="02020603050405020304" pitchFamily="18" charset="0"/>
              </a:rPr>
              <a:t>r1=0.9,  r2=0.8,  r3=0.5</a:t>
            </a:r>
          </a:p>
          <a:p>
            <a:pPr algn="just"/>
            <a:r>
              <a:rPr lang="en-US" sz="2400" dirty="0">
                <a:latin typeface="Times New Roman" panose="02020603050405020304" pitchFamily="18" charset="0"/>
                <a:cs typeface="Times New Roman" panose="02020603050405020304" pitchFamily="18" charset="0"/>
              </a:rPr>
              <a:t> u1 = floor ((105+30-(30+15+20))/30) = 2</a:t>
            </a:r>
          </a:p>
          <a:p>
            <a:pPr algn="just"/>
            <a:r>
              <a:rPr lang="en-US" sz="2400" dirty="0">
                <a:latin typeface="Times New Roman" panose="02020603050405020304" pitchFamily="18" charset="0"/>
                <a:cs typeface="Times New Roman" panose="02020603050405020304" pitchFamily="18" charset="0"/>
              </a:rPr>
              <a:t> u2 = 3</a:t>
            </a:r>
          </a:p>
          <a:p>
            <a:pPr algn="just"/>
            <a:r>
              <a:rPr lang="en-US" sz="2400" dirty="0">
                <a:latin typeface="Times New Roman" panose="02020603050405020304" pitchFamily="18" charset="0"/>
                <a:cs typeface="Times New Roman" panose="02020603050405020304" pitchFamily="18" charset="0"/>
              </a:rPr>
              <a:t> u3 = 3</a:t>
            </a:r>
          </a:p>
        </p:txBody>
      </p:sp>
      <p:sp>
        <p:nvSpPr>
          <p:cNvPr id="4" name="Slide Number Placeholder 3"/>
          <p:cNvSpPr>
            <a:spLocks noGrp="1"/>
          </p:cNvSpPr>
          <p:nvPr>
            <p:ph type="sldNum" sz="quarter" idx="12"/>
          </p:nvPr>
        </p:nvSpPr>
        <p:spPr/>
        <p:txBody>
          <a:bodyPr/>
          <a:lstStyle/>
          <a:p>
            <a:fld id="{BDCDBBEF-AA6C-4BA6-85B2-A17D7F280E38}" type="slidenum">
              <a:rPr lang="en-US" smtClean="0"/>
              <a:t>60</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p:cNvGraphicFramePr/>
          <p:nvPr/>
        </p:nvGraphicFramePr>
        <p:xfrm>
          <a:off x="6350635" y="3978275"/>
          <a:ext cx="5003800" cy="2066925"/>
        </p:xfrm>
        <a:graphic>
          <a:graphicData uri="http://schemas.openxmlformats.org/drawingml/2006/table">
            <a:tbl>
              <a:tblPr firstRow="1" bandRow="1">
                <a:tableStyleId>{5C22544A-7EE6-4342-B048-85BDC9FD1C3A}</a:tableStyleId>
              </a:tblPr>
              <a:tblGrid>
                <a:gridCol w="1250950">
                  <a:extLst>
                    <a:ext uri="{9D8B030D-6E8A-4147-A177-3AD203B41FA5}">
                      <a16:colId xmlns:a16="http://schemas.microsoft.com/office/drawing/2014/main" val="20000"/>
                    </a:ext>
                  </a:extLst>
                </a:gridCol>
                <a:gridCol w="979170">
                  <a:extLst>
                    <a:ext uri="{9D8B030D-6E8A-4147-A177-3AD203B41FA5}">
                      <a16:colId xmlns:a16="http://schemas.microsoft.com/office/drawing/2014/main" val="20001"/>
                    </a:ext>
                  </a:extLst>
                </a:gridCol>
                <a:gridCol w="1179195">
                  <a:extLst>
                    <a:ext uri="{9D8B030D-6E8A-4147-A177-3AD203B41FA5}">
                      <a16:colId xmlns:a16="http://schemas.microsoft.com/office/drawing/2014/main" val="20002"/>
                    </a:ext>
                  </a:extLst>
                </a:gridCol>
                <a:gridCol w="1594485">
                  <a:extLst>
                    <a:ext uri="{9D8B030D-6E8A-4147-A177-3AD203B41FA5}">
                      <a16:colId xmlns:a16="http://schemas.microsoft.com/office/drawing/2014/main" val="20003"/>
                    </a:ext>
                  </a:extLst>
                </a:gridCol>
              </a:tblGrid>
              <a:tr h="475615">
                <a:tc>
                  <a:txBody>
                    <a:bodyPr/>
                    <a:lstStyle/>
                    <a:p>
                      <a:pPr algn="ctr">
                        <a:buNone/>
                      </a:pPr>
                      <a:r>
                        <a:rPr lang="en-US"/>
                        <a:t>Device</a:t>
                      </a:r>
                    </a:p>
                  </a:txBody>
                  <a:tcPr/>
                </a:tc>
                <a:tc>
                  <a:txBody>
                    <a:bodyPr/>
                    <a:lstStyle/>
                    <a:p>
                      <a:pPr algn="ctr">
                        <a:buNone/>
                      </a:pPr>
                      <a:r>
                        <a:rPr lang="en-US"/>
                        <a:t>Cost</a:t>
                      </a:r>
                    </a:p>
                  </a:txBody>
                  <a:tcPr/>
                </a:tc>
                <a:tc>
                  <a:txBody>
                    <a:bodyPr/>
                    <a:lstStyle/>
                    <a:p>
                      <a:pPr algn="ctr">
                        <a:buNone/>
                      </a:pPr>
                      <a:r>
                        <a:rPr lang="en-US"/>
                        <a:t>Reliability</a:t>
                      </a:r>
                    </a:p>
                  </a:txBody>
                  <a:tcPr/>
                </a:tc>
                <a:tc>
                  <a:txBody>
                    <a:bodyPr/>
                    <a:lstStyle/>
                    <a:p>
                      <a:pPr algn="ctr">
                        <a:buNone/>
                      </a:pPr>
                      <a:r>
                        <a:rPr lang="en-US"/>
                        <a:t>UB (UpperBpund)</a:t>
                      </a:r>
                    </a:p>
                  </a:txBody>
                  <a:tcPr/>
                </a:tc>
                <a:extLst>
                  <a:ext uri="{0D108BD9-81ED-4DB2-BD59-A6C34878D82A}">
                    <a16:rowId xmlns:a16="http://schemas.microsoft.com/office/drawing/2014/main" val="10000"/>
                  </a:ext>
                </a:extLst>
              </a:tr>
              <a:tr h="475615">
                <a:tc>
                  <a:txBody>
                    <a:bodyPr/>
                    <a:lstStyle/>
                    <a:p>
                      <a:pPr algn="ctr">
                        <a:buNone/>
                      </a:pPr>
                      <a:r>
                        <a:rPr lang="en-US"/>
                        <a:t>D1</a:t>
                      </a:r>
                    </a:p>
                  </a:txBody>
                  <a:tcPr/>
                </a:tc>
                <a:tc>
                  <a:txBody>
                    <a:bodyPr/>
                    <a:lstStyle/>
                    <a:p>
                      <a:pPr algn="ctr">
                        <a:buNone/>
                      </a:pPr>
                      <a:r>
                        <a:rPr lang="en-US"/>
                        <a:t>30</a:t>
                      </a:r>
                    </a:p>
                  </a:txBody>
                  <a:tcPr/>
                </a:tc>
                <a:tc>
                  <a:txBody>
                    <a:bodyPr/>
                    <a:lstStyle/>
                    <a:p>
                      <a:pPr algn="ctr">
                        <a:buNone/>
                      </a:pPr>
                      <a:r>
                        <a:rPr lang="en-US"/>
                        <a:t>0.9</a:t>
                      </a:r>
                    </a:p>
                  </a:txBody>
                  <a:tcPr/>
                </a:tc>
                <a:tc>
                  <a:txBody>
                    <a:bodyPr/>
                    <a:lstStyle/>
                    <a:p>
                      <a:pPr algn="ctr">
                        <a:buNone/>
                      </a:pPr>
                      <a:r>
                        <a:rPr lang="en-US"/>
                        <a:t>2</a:t>
                      </a:r>
                    </a:p>
                  </a:txBody>
                  <a:tcPr/>
                </a:tc>
                <a:extLst>
                  <a:ext uri="{0D108BD9-81ED-4DB2-BD59-A6C34878D82A}">
                    <a16:rowId xmlns:a16="http://schemas.microsoft.com/office/drawing/2014/main" val="10001"/>
                  </a:ext>
                </a:extLst>
              </a:tr>
              <a:tr h="475615">
                <a:tc>
                  <a:txBody>
                    <a:bodyPr/>
                    <a:lstStyle/>
                    <a:p>
                      <a:pPr algn="ctr">
                        <a:buNone/>
                      </a:pPr>
                      <a:r>
                        <a:rPr lang="en-US"/>
                        <a:t>D2</a:t>
                      </a:r>
                    </a:p>
                  </a:txBody>
                  <a:tcPr/>
                </a:tc>
                <a:tc>
                  <a:txBody>
                    <a:bodyPr/>
                    <a:lstStyle/>
                    <a:p>
                      <a:pPr algn="ctr">
                        <a:buNone/>
                      </a:pPr>
                      <a:r>
                        <a:rPr lang="en-US"/>
                        <a:t>15</a:t>
                      </a:r>
                    </a:p>
                  </a:txBody>
                  <a:tcPr/>
                </a:tc>
                <a:tc>
                  <a:txBody>
                    <a:bodyPr/>
                    <a:lstStyle/>
                    <a:p>
                      <a:pPr algn="ctr">
                        <a:buNone/>
                      </a:pPr>
                      <a:r>
                        <a:rPr lang="en-US"/>
                        <a:t>0.8</a:t>
                      </a:r>
                    </a:p>
                  </a:txBody>
                  <a:tcPr/>
                </a:tc>
                <a:tc>
                  <a:txBody>
                    <a:bodyPr/>
                    <a:lstStyle/>
                    <a:p>
                      <a:pPr algn="ctr">
                        <a:buNone/>
                      </a:pPr>
                      <a:r>
                        <a:rPr lang="en-US"/>
                        <a:t>3</a:t>
                      </a:r>
                    </a:p>
                  </a:txBody>
                  <a:tcPr/>
                </a:tc>
                <a:extLst>
                  <a:ext uri="{0D108BD9-81ED-4DB2-BD59-A6C34878D82A}">
                    <a16:rowId xmlns:a16="http://schemas.microsoft.com/office/drawing/2014/main" val="10002"/>
                  </a:ext>
                </a:extLst>
              </a:tr>
              <a:tr h="475615">
                <a:tc>
                  <a:txBody>
                    <a:bodyPr/>
                    <a:lstStyle/>
                    <a:p>
                      <a:pPr algn="ctr">
                        <a:buNone/>
                      </a:pPr>
                      <a:r>
                        <a:rPr lang="en-US"/>
                        <a:t>D3</a:t>
                      </a:r>
                    </a:p>
                  </a:txBody>
                  <a:tcPr/>
                </a:tc>
                <a:tc>
                  <a:txBody>
                    <a:bodyPr/>
                    <a:lstStyle/>
                    <a:p>
                      <a:pPr algn="ctr">
                        <a:buNone/>
                      </a:pPr>
                      <a:r>
                        <a:rPr lang="en-US"/>
                        <a:t>20</a:t>
                      </a:r>
                    </a:p>
                  </a:txBody>
                  <a:tcPr/>
                </a:tc>
                <a:tc>
                  <a:txBody>
                    <a:bodyPr/>
                    <a:lstStyle/>
                    <a:p>
                      <a:pPr algn="ctr">
                        <a:buNone/>
                      </a:pPr>
                      <a:r>
                        <a:rPr lang="en-US"/>
                        <a:t>0.5</a:t>
                      </a:r>
                    </a:p>
                  </a:txBody>
                  <a:tcPr/>
                </a:tc>
                <a:tc>
                  <a:txBody>
                    <a:bodyPr/>
                    <a:lstStyle/>
                    <a:p>
                      <a:pPr algn="ctr">
                        <a:buNone/>
                      </a:pPr>
                      <a:r>
                        <a:rPr lang="en-US"/>
                        <a:t>3</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838200" y="1127125"/>
            <a:ext cx="10515600" cy="5594350"/>
          </a:xfrm>
        </p:spPr>
        <p:txBody>
          <a:bodyPr>
            <a:noAutofit/>
          </a:bodyPr>
          <a:lstStyle/>
          <a:p>
            <a:pPr algn="just"/>
            <a:r>
              <a:rPr lang="en-US" sz="2200" dirty="0">
                <a:latin typeface="Times New Roman" panose="02020603050405020304" pitchFamily="18" charset="0"/>
                <a:cs typeface="Times New Roman" panose="02020603050405020304" pitchFamily="18" charset="0"/>
              </a:rPr>
              <a:t>A tuple is just an ordered pair containing reliability and total cost up to a choice of mi’s that has been made. we can make pair in of Reliability and Cost of each stage like copySdevice     S</a:t>
            </a:r>
            <a:r>
              <a:rPr lang="en-US" sz="2200" baseline="30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 {(1,0)} </a:t>
            </a:r>
          </a:p>
          <a:p>
            <a:pPr algn="just"/>
            <a:r>
              <a:rPr lang="en-US" sz="2200" b="1" dirty="0">
                <a:latin typeface="Times New Roman" panose="02020603050405020304" pitchFamily="18" charset="0"/>
                <a:cs typeface="Times New Roman" panose="02020603050405020304" pitchFamily="18" charset="0"/>
              </a:rPr>
              <a:t>Device 1:</a:t>
            </a:r>
          </a:p>
          <a:p>
            <a:pPr marL="0" indent="0" algn="just">
              <a:buNone/>
            </a:pPr>
            <a:r>
              <a:rPr lang="en-US" sz="2200" dirty="0">
                <a:latin typeface="Times New Roman" panose="02020603050405020304" pitchFamily="18" charset="0"/>
                <a:cs typeface="Times New Roman" panose="02020603050405020304" pitchFamily="18" charset="0"/>
              </a:rPr>
              <a:t>Each S</a:t>
            </a:r>
            <a:r>
              <a:rPr lang="en-US" sz="2200" baseline="30000" dirty="0">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from S</a:t>
            </a:r>
            <a:r>
              <a:rPr lang="en-US" sz="2200" baseline="30000" dirty="0">
                <a:latin typeface="Times New Roman" panose="02020603050405020304" pitchFamily="18" charset="0"/>
                <a:cs typeface="Times New Roman" panose="02020603050405020304" pitchFamily="18" charset="0"/>
              </a:rPr>
              <a:t>i-1</a:t>
            </a:r>
            <a:r>
              <a:rPr lang="en-US" sz="2200" dirty="0">
                <a:latin typeface="Times New Roman" panose="02020603050405020304" pitchFamily="18" charset="0"/>
                <a:cs typeface="Times New Roman" panose="02020603050405020304" pitchFamily="18" charset="0"/>
              </a:rPr>
              <a:t> by trying out all possible values for r</a:t>
            </a:r>
            <a:r>
              <a:rPr lang="en-US" sz="2200" baseline="-25000" dirty="0">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and combining the resulting tuples together.</a:t>
            </a:r>
          </a:p>
          <a:p>
            <a:pPr algn="just"/>
            <a:r>
              <a:rPr lang="en-US" sz="2200" dirty="0">
                <a:latin typeface="Times New Roman" panose="02020603050405020304" pitchFamily="18" charset="0"/>
                <a:cs typeface="Times New Roman" panose="02020603050405020304" pitchFamily="18" charset="0"/>
              </a:rPr>
              <a:t>let us consider P</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S</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 {(0.9, 30)}  where 0.9 is the reliability of stage1 with a copy of one device and 30 is the cost of P1.</a:t>
            </a:r>
          </a:p>
          <a:p>
            <a:pPr algn="just"/>
            <a:r>
              <a:rPr lang="en-US" sz="2200" dirty="0">
                <a:latin typeface="Times New Roman" panose="02020603050405020304" pitchFamily="18" charset="0"/>
                <a:cs typeface="Times New Roman" panose="02020603050405020304" pitchFamily="18" charset="0"/>
              </a:rPr>
              <a:t>Now, two copies of device1 so, we can take one more copy as:</a:t>
            </a:r>
          </a:p>
          <a:p>
            <a:pPr marL="0" indent="0" algn="just">
              <a:buNone/>
            </a:pPr>
            <a:r>
              <a:rPr lang="en-US" sz="2200" baseline="30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S</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 { (0.99, 60) }  where 0.99 is the reliability of stage one with two copies of device, we can see that it will come as: </a:t>
            </a:r>
            <a:r>
              <a:rPr lang="en-US" sz="2200" b="1" dirty="0">
                <a:latin typeface="Times New Roman" panose="02020603050405020304" pitchFamily="18" charset="0"/>
                <a:cs typeface="Times New Roman" panose="02020603050405020304" pitchFamily="18" charset="0"/>
              </a:rPr>
              <a:t>1 – ( 1 – r1 )2 = 1 – (1 – 0.9)2 = 1 – 0.01 = 0.99 .</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After combining both conditions of Stage1 i.e., with copy one and copy of 2 devices respectively. </a:t>
            </a:r>
          </a:p>
          <a:p>
            <a:pPr algn="just"/>
            <a:r>
              <a:rPr lang="en-US" sz="2200" dirty="0">
                <a:latin typeface="Times New Roman" panose="02020603050405020304" pitchFamily="18" charset="0"/>
                <a:cs typeface="Times New Roman" panose="02020603050405020304" pitchFamily="18" charset="0"/>
              </a:rPr>
              <a:t>S</a:t>
            </a:r>
            <a:r>
              <a:rPr lang="en-US" sz="2200"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 { ( 0.9, 30 ), ( 0.99, 60 ) }</a:t>
            </a:r>
          </a:p>
        </p:txBody>
      </p:sp>
      <p:sp>
        <p:nvSpPr>
          <p:cNvPr id="4" name="Slide Number Placeholder 3"/>
          <p:cNvSpPr>
            <a:spLocks noGrp="1"/>
          </p:cNvSpPr>
          <p:nvPr>
            <p:ph type="sldNum" sz="quarter" idx="12"/>
          </p:nvPr>
        </p:nvSpPr>
        <p:spPr/>
        <p:txBody>
          <a:bodyPr/>
          <a:lstStyle/>
          <a:p>
            <a:fld id="{BDCDBBEF-AA6C-4BA6-85B2-A17D7F280E38}" type="slidenum">
              <a:rPr lang="en-US" smtClean="0"/>
              <a:t>61</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166370" y="1127125"/>
            <a:ext cx="11430635" cy="5594350"/>
          </a:xfrm>
        </p:spPr>
        <p:txBody>
          <a:bodyPr>
            <a:noAutofit/>
          </a:bodyPr>
          <a:lstStyle/>
          <a:p>
            <a:pPr algn="just"/>
            <a:r>
              <a:rPr lang="en-US" sz="1600" b="1" dirty="0">
                <a:latin typeface="Times New Roman" panose="02020603050405020304" pitchFamily="18" charset="0"/>
                <a:cs typeface="Times New Roman" panose="02020603050405020304" pitchFamily="18" charset="0"/>
              </a:rPr>
              <a:t>Device 2:</a:t>
            </a:r>
          </a:p>
          <a:p>
            <a:pPr algn="just"/>
            <a:r>
              <a:rPr lang="en-US" sz="1600" dirty="0">
                <a:latin typeface="Times New Roman" panose="02020603050405020304" pitchFamily="18" charset="0"/>
                <a:cs typeface="Times New Roman" panose="02020603050405020304" pitchFamily="18" charset="0"/>
              </a:rPr>
              <a:t>S</a:t>
            </a:r>
            <a:r>
              <a:rPr lang="en-US" sz="1600" baseline="30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will contain all reliability and cost pairs that we will get by taking all possible values for the stage2 in conjunction with possibilities calculated in S1.</a:t>
            </a:r>
          </a:p>
          <a:p>
            <a:pPr algn="just"/>
            <a:r>
              <a:rPr lang="en-US" sz="1600" dirty="0">
                <a:latin typeface="Times New Roman" panose="02020603050405020304" pitchFamily="18" charset="0"/>
                <a:cs typeface="Times New Roman" panose="02020603050405020304" pitchFamily="18" charset="0"/>
              </a:rPr>
              <a:t>First of all we will check the reliability at stage2 when we have 1, 2, and 3 as a copy of device. let us assume that Ei is the reliability of the particular stage with n number of devices, so for S2 we first calculate: </a:t>
            </a:r>
          </a:p>
          <a:p>
            <a:pPr algn="just"/>
            <a:r>
              <a:rPr lang="en-US" sz="1600" dirty="0">
                <a:latin typeface="Times New Roman" panose="02020603050405020304" pitchFamily="18" charset="0"/>
                <a:cs typeface="Times New Roman" panose="02020603050405020304" pitchFamily="18" charset="0"/>
              </a:rPr>
              <a:t>E2 (with copy 1) = 1 – ( 1 – r</a:t>
            </a:r>
            <a:r>
              <a:rPr lang="en-US" sz="1600" baseline="-25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)1  = 1 – ( 1 – 0.8 ) = 0.8</a:t>
            </a:r>
          </a:p>
          <a:p>
            <a:pPr algn="just"/>
            <a:r>
              <a:rPr lang="en-US" sz="1600" dirty="0">
                <a:latin typeface="Times New Roman" panose="02020603050405020304" pitchFamily="18" charset="0"/>
                <a:cs typeface="Times New Roman" panose="02020603050405020304" pitchFamily="18" charset="0"/>
              </a:rPr>
              <a:t>E2 (with copy 2) = 1 – (1 – </a:t>
            </a:r>
            <a:r>
              <a:rPr lang="en-US" sz="1600" dirty="0">
                <a:latin typeface="Times New Roman" panose="02020603050405020304" pitchFamily="18" charset="0"/>
                <a:cs typeface="Times New Roman" panose="02020603050405020304" pitchFamily="18" charset="0"/>
                <a:sym typeface="+mn-ea"/>
              </a:rPr>
              <a:t>r</a:t>
            </a:r>
            <a:r>
              <a:rPr lang="en-US" sz="1600" baseline="-25000" dirty="0">
                <a:latin typeface="Times New Roman" panose="02020603050405020304" pitchFamily="18" charset="0"/>
                <a:cs typeface="Times New Roman" panose="02020603050405020304" pitchFamily="18" charset="0"/>
                <a:sym typeface="+mn-ea"/>
              </a:rPr>
              <a:t>2</a:t>
            </a:r>
            <a:r>
              <a:rPr lang="en-US" sz="1600" dirty="0">
                <a:latin typeface="Times New Roman" panose="02020603050405020304" pitchFamily="18" charset="0"/>
                <a:cs typeface="Times New Roman" panose="02020603050405020304" pitchFamily="18" charset="0"/>
              </a:rPr>
              <a:t>)2  = 1 – (1 – 0.8 )</a:t>
            </a:r>
            <a:r>
              <a:rPr lang="en-US" sz="1600" baseline="30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 0.96</a:t>
            </a:r>
          </a:p>
          <a:p>
            <a:pPr algn="just"/>
            <a:r>
              <a:rPr lang="en-US" sz="1600" dirty="0">
                <a:latin typeface="Times New Roman" panose="02020603050405020304" pitchFamily="18" charset="0"/>
                <a:cs typeface="Times New Roman" panose="02020603050405020304" pitchFamily="18" charset="0"/>
              </a:rPr>
              <a:t>E2 (with copy 3) = 1 – (1 – </a:t>
            </a:r>
            <a:r>
              <a:rPr lang="en-US" sz="1600" dirty="0">
                <a:latin typeface="Times New Roman" panose="02020603050405020304" pitchFamily="18" charset="0"/>
                <a:cs typeface="Times New Roman" panose="02020603050405020304" pitchFamily="18" charset="0"/>
                <a:sym typeface="+mn-ea"/>
              </a:rPr>
              <a:t>r</a:t>
            </a:r>
            <a:r>
              <a:rPr lang="en-US" sz="1600" baseline="-25000" dirty="0">
                <a:latin typeface="Times New Roman" panose="02020603050405020304" pitchFamily="18" charset="0"/>
                <a:cs typeface="Times New Roman" panose="02020603050405020304" pitchFamily="18" charset="0"/>
                <a:sym typeface="+mn-ea"/>
              </a:rPr>
              <a:t>2</a:t>
            </a:r>
            <a:r>
              <a:rPr lang="en-US" sz="1600" dirty="0">
                <a:latin typeface="Times New Roman" panose="02020603050405020304" pitchFamily="18" charset="0"/>
                <a:cs typeface="Times New Roman" panose="02020603050405020304" pitchFamily="18" charset="0"/>
              </a:rPr>
              <a:t> )3 = 1 – ( 1 – 0.8 )</a:t>
            </a:r>
            <a:r>
              <a:rPr lang="en-US" sz="1600" baseline="30000" dirty="0">
                <a:latin typeface="Times New Roman" panose="02020603050405020304" pitchFamily="18" charset="0"/>
                <a:cs typeface="Times New Roman" panose="02020603050405020304" pitchFamily="18" charset="0"/>
              </a:rPr>
              <a:t>3</a:t>
            </a:r>
            <a:r>
              <a:rPr lang="en-US" sz="1600" dirty="0">
                <a:latin typeface="Times New Roman" panose="02020603050405020304" pitchFamily="18" charset="0"/>
                <a:cs typeface="Times New Roman" panose="02020603050405020304" pitchFamily="18" charset="0"/>
              </a:rPr>
              <a:t> = 0.992</a:t>
            </a:r>
          </a:p>
          <a:p>
            <a:pPr algn="just"/>
            <a:r>
              <a:rPr lang="en-US" sz="1600" dirty="0">
                <a:latin typeface="Times New Roman" panose="02020603050405020304" pitchFamily="18" charset="0"/>
                <a:cs typeface="Times New Roman" panose="02020603050405020304" pitchFamily="18" charset="0"/>
              </a:rPr>
              <a:t>If we use 1 copy of P1 and 1 copy of P2 reliability will be 0.9*0.8 and the cost will be 30+15</a:t>
            </a:r>
          </a:p>
          <a:p>
            <a:pPr algn="just"/>
            <a:r>
              <a:rPr lang="en-US" sz="1600" dirty="0">
                <a:latin typeface="Times New Roman" panose="02020603050405020304" pitchFamily="18" charset="0"/>
                <a:cs typeface="Times New Roman" panose="02020603050405020304" pitchFamily="18" charset="0"/>
              </a:rPr>
              <a:t>One Copy of Device two , 1S2 = { (0.8, 15) } Conjunction with S1 (0.9, 30) =  { (0.72,45) }</a:t>
            </a:r>
          </a:p>
          <a:p>
            <a:pPr algn="just"/>
            <a:r>
              <a:rPr lang="en-US" sz="1600" dirty="0">
                <a:latin typeface="Times New Roman" panose="02020603050405020304" pitchFamily="18" charset="0"/>
                <a:cs typeface="Times New Roman" panose="02020603050405020304" pitchFamily="18" charset="0"/>
              </a:rPr>
              <a:t>Similarly, we can calculate other pairs as S2  = ( 0.72, 45 ), ( 0.792, 75), ( 0.864, 60), ( 0.98,90 ) }  </a:t>
            </a:r>
          </a:p>
          <a:p>
            <a:pPr algn="just"/>
            <a:r>
              <a:rPr lang="en-US" sz="1600" dirty="0">
                <a:latin typeface="Times New Roman" panose="02020603050405020304" pitchFamily="18" charset="0"/>
                <a:cs typeface="Times New Roman" panose="02020603050405020304" pitchFamily="18" charset="0"/>
              </a:rPr>
              <a:t>We get ordered pair (0.98,90) in S2 when we take 2 copies of Device1and 2 copies of Device2 However, with the remaining cost of 15 (105 – 90), we cannot use device Device3 (we need a minimum of 1 copy of every device in any stage), therefore ( 0.792, 75) should be discarded and other ordered pairs like it. We get S2 = { ( 0.72, 45 ), ( 0.864, 60 ), ( 0.98,90 ) }. There are other possible ordered pairs too, but all of them exceed cost limitations.</a:t>
            </a:r>
          </a:p>
          <a:p>
            <a:pPr algn="just"/>
            <a:r>
              <a:rPr lang="en-US" sz="1600" dirty="0">
                <a:latin typeface="Times New Roman" panose="02020603050405020304" pitchFamily="18" charset="0"/>
                <a:cs typeface="Times New Roman" panose="02020603050405020304" pitchFamily="18" charset="0"/>
              </a:rPr>
              <a:t>Up to this point we got ordered pairs:</a:t>
            </a:r>
          </a:p>
          <a:p>
            <a:pPr algn="just"/>
            <a:r>
              <a:rPr lang="en-US" sz="1600" dirty="0">
                <a:latin typeface="Times New Roman" panose="02020603050405020304" pitchFamily="18" charset="0"/>
                <a:cs typeface="Times New Roman" panose="02020603050405020304" pitchFamily="18" charset="0"/>
              </a:rPr>
              <a:t>S1 = { ( 0.9, 30), ( 0.99, 60 ) }</a:t>
            </a:r>
          </a:p>
          <a:p>
            <a:pPr algn="just"/>
            <a:r>
              <a:rPr lang="en-US" sz="1600" dirty="0">
                <a:latin typeface="Times New Roman" panose="02020603050405020304" pitchFamily="18" charset="0"/>
                <a:cs typeface="Times New Roman" panose="02020603050405020304" pitchFamily="18" charset="0"/>
              </a:rPr>
              <a:t>S2 = { ( 0.72, 45 ), ( 0.864, 60 ), ( 0.98,90 )}</a:t>
            </a:r>
          </a:p>
        </p:txBody>
      </p:sp>
      <p:sp>
        <p:nvSpPr>
          <p:cNvPr id="4" name="Slide Number Placeholder 3"/>
          <p:cNvSpPr>
            <a:spLocks noGrp="1"/>
          </p:cNvSpPr>
          <p:nvPr>
            <p:ph type="sldNum" sz="quarter" idx="12"/>
          </p:nvPr>
        </p:nvSpPr>
        <p:spPr/>
        <p:txBody>
          <a:bodyPr/>
          <a:lstStyle/>
          <a:p>
            <a:fld id="{BDCDBBEF-AA6C-4BA6-85B2-A17D7F280E38}" type="slidenum">
              <a:rPr lang="en-US" smtClean="0"/>
              <a:t>62</a:t>
            </a:fld>
            <a:endParaRPr lang="en-US"/>
          </a:p>
        </p:txBody>
      </p:sp>
      <p:sp>
        <p:nvSpPr>
          <p:cNvPr id="6" name="Rectangle 5"/>
          <p:cNvSpPr/>
          <p:nvPr/>
        </p:nvSpPr>
        <p:spPr>
          <a:xfrm>
            <a:off x="166370" y="1217930"/>
            <a:ext cx="11430635"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30"/>
            <a:ext cx="8674735" cy="963930"/>
          </a:xfrm>
          <a:ln>
            <a:solidFill>
              <a:schemeClr val="tx1"/>
            </a:solidFill>
          </a:ln>
        </p:spPr>
        <p:txBody>
          <a:bodyPr/>
          <a:lstStyle/>
          <a:p>
            <a:pPr algn="ctr"/>
            <a:r>
              <a:rPr lang="en-US" sz="3600" b="1" dirty="0">
                <a:latin typeface="Times New Roman" panose="02020603050405020304" pitchFamily="18" charset="0"/>
                <a:cs typeface="Times New Roman" panose="02020603050405020304" pitchFamily="18" charset="0"/>
              </a:rPr>
              <a:t>Reliability Design(Dynamic Programming)</a:t>
            </a:r>
          </a:p>
        </p:txBody>
      </p:sp>
      <p:sp>
        <p:nvSpPr>
          <p:cNvPr id="3" name="Content Placeholder 2"/>
          <p:cNvSpPr>
            <a:spLocks noGrp="1"/>
          </p:cNvSpPr>
          <p:nvPr>
            <p:ph idx="1"/>
          </p:nvPr>
        </p:nvSpPr>
        <p:spPr>
          <a:xfrm>
            <a:off x="838200" y="1218565"/>
            <a:ext cx="10515600" cy="5502910"/>
          </a:xfrm>
        </p:spPr>
        <p:txBody>
          <a:bodyPr>
            <a:noAutofit/>
          </a:bodyPr>
          <a:lstStyle/>
          <a:p>
            <a:pPr algn="just"/>
            <a:r>
              <a:rPr lang="en-US" sz="2200" dirty="0">
                <a:latin typeface="Times New Roman" panose="02020603050405020304" pitchFamily="18" charset="0"/>
                <a:cs typeface="Times New Roman" panose="02020603050405020304" pitchFamily="18" charset="0"/>
              </a:rPr>
              <a:t>Device 3:</a:t>
            </a:r>
          </a:p>
          <a:p>
            <a:pPr algn="just"/>
            <a:r>
              <a:rPr lang="en-US" sz="2200" dirty="0">
                <a:latin typeface="Times New Roman" panose="02020603050405020304" pitchFamily="18" charset="0"/>
                <a:cs typeface="Times New Roman" panose="02020603050405020304" pitchFamily="18" charset="0"/>
              </a:rPr>
              <a:t>First of all we will check the reliability at stage3 when we have 1, 2, and 3 as a copy of device. Ei is the reliability of the particular stage with n number of devices, so for S3 we first calculate: </a:t>
            </a:r>
          </a:p>
          <a:p>
            <a:pPr algn="just"/>
            <a:r>
              <a:rPr lang="en-US" sz="2200" dirty="0">
                <a:latin typeface="Times New Roman" panose="02020603050405020304" pitchFamily="18" charset="0"/>
                <a:cs typeface="Times New Roman" panose="02020603050405020304" pitchFamily="18" charset="0"/>
              </a:rPr>
              <a:t>E3 (with copy 1) = 1 – ( 1 – r3 )1  = 1 – ( 1 – 0.5 ) = 0.5</a:t>
            </a:r>
          </a:p>
          <a:p>
            <a:pPr algn="just"/>
            <a:r>
              <a:rPr lang="en-US" sz="2200" dirty="0">
                <a:latin typeface="Times New Roman" panose="02020603050405020304" pitchFamily="18" charset="0"/>
                <a:cs typeface="Times New Roman" panose="02020603050405020304" pitchFamily="18" charset="0"/>
              </a:rPr>
              <a:t>E3 (with copy 2) = 1 – (1 – r3 )2  = 1 – (1 – 0.5 )2 = 0.75</a:t>
            </a:r>
          </a:p>
          <a:p>
            <a:pPr algn="just"/>
            <a:r>
              <a:rPr lang="en-US" sz="2200" dirty="0">
                <a:latin typeface="Times New Roman" panose="02020603050405020304" pitchFamily="18" charset="0"/>
                <a:cs typeface="Times New Roman" panose="02020603050405020304" pitchFamily="18" charset="0"/>
              </a:rPr>
              <a:t>E3 (with copy 3) = 1 – (1 – r3 )3 = 1 – ( 1 – 0.5 )3 = 0.875</a:t>
            </a:r>
          </a:p>
          <a:p>
            <a:pPr algn="just"/>
            <a:r>
              <a:rPr lang="en-US" sz="2200" dirty="0">
                <a:latin typeface="Times New Roman" panose="02020603050405020304" pitchFamily="18" charset="0"/>
                <a:cs typeface="Times New Roman" panose="02020603050405020304" pitchFamily="18" charset="0"/>
              </a:rPr>
              <a:t>Now, possible ordered pairs of device three are as- S</a:t>
            </a:r>
            <a:r>
              <a:rPr lang="en-US" sz="2200" baseline="300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 { ( 0.36, 65), ( 0.396, 95), ( 0.432, 80), ( 0.54, 85), ( 0.648, 100 ), ( 0.63, 105 )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(0.648,100) is the solution pair, 0.648 is the maximum reliability we can get under the cost constraint of 105.</a:t>
            </a:r>
          </a:p>
        </p:txBody>
      </p:sp>
      <p:sp>
        <p:nvSpPr>
          <p:cNvPr id="4" name="Slide Number Placeholder 3"/>
          <p:cNvSpPr>
            <a:spLocks noGrp="1"/>
          </p:cNvSpPr>
          <p:nvPr>
            <p:ph type="sldNum" sz="quarter" idx="12"/>
          </p:nvPr>
        </p:nvSpPr>
        <p:spPr/>
        <p:txBody>
          <a:bodyPr/>
          <a:lstStyle/>
          <a:p>
            <a:fld id="{BDCDBBEF-AA6C-4BA6-85B2-A17D7F280E38}" type="slidenum">
              <a:rPr lang="en-US" smtClean="0"/>
              <a:t>63</a:t>
            </a:fld>
            <a:endParaRPr lang="en-US"/>
          </a:p>
        </p:txBody>
      </p:sp>
      <p:sp>
        <p:nvSpPr>
          <p:cNvPr id="6" name="Rectangle 5"/>
          <p:cNvSpPr/>
          <p:nvPr/>
        </p:nvSpPr>
        <p:spPr>
          <a:xfrm>
            <a:off x="838200" y="1217930"/>
            <a:ext cx="10515600" cy="55035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Times New Roman" panose="02020603050405020304" pitchFamily="18" charset="0"/>
                <a:cs typeface="Times New Roman" panose="02020603050405020304" pitchFamily="18" charset="0"/>
              </a:rPr>
              <a:t>References</a:t>
            </a:r>
            <a:r>
              <a:rPr lang="en-US" sz="2800" dirty="0"/>
              <a:t> </a:t>
            </a:r>
            <a:endParaRPr lang="en-US" dirty="0"/>
          </a:p>
        </p:txBody>
      </p:sp>
      <p:sp>
        <p:nvSpPr>
          <p:cNvPr id="3" name="Content Placeholder 2"/>
          <p:cNvSpPr>
            <a:spLocks noGrp="1"/>
          </p:cNvSpPr>
          <p:nvPr>
            <p:ph idx="1"/>
          </p:nvPr>
        </p:nvSpPr>
        <p:spPr/>
        <p:txBody>
          <a:bodyPr>
            <a:normAutofit/>
          </a:bodyPr>
          <a:lstStyle/>
          <a:p>
            <a:pPr marL="457200" indent="-457200" algn="just">
              <a:buAutoNum type="arabicPeriod"/>
            </a:pPr>
            <a:r>
              <a:rPr lang="en-US" sz="1600" dirty="0">
                <a:latin typeface="Times New Roman" panose="02020603050405020304" pitchFamily="18" charset="0"/>
                <a:cs typeface="Times New Roman" panose="02020603050405020304" pitchFamily="18" charset="0"/>
              </a:rPr>
              <a:t>Introduction to Algorithms by </a:t>
            </a:r>
            <a:r>
              <a:rPr lang="en-US" sz="1600" dirty="0" err="1">
                <a:latin typeface="Times New Roman" panose="02020603050405020304" pitchFamily="18" charset="0"/>
                <a:cs typeface="Times New Roman" panose="02020603050405020304" pitchFamily="18" charset="0"/>
              </a:rPr>
              <a:t>Coreman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Leiserson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Rivest</a:t>
            </a:r>
            <a:r>
              <a:rPr lang="en-US" sz="1600" dirty="0">
                <a:latin typeface="Times New Roman" panose="02020603050405020304" pitchFamily="18" charset="0"/>
                <a:cs typeface="Times New Roman" panose="02020603050405020304" pitchFamily="18" charset="0"/>
              </a:rPr>
              <a:t>, Stein.</a:t>
            </a:r>
          </a:p>
          <a:p>
            <a:pPr marL="457200" indent="-457200" algn="just">
              <a:buAutoNum type="arabicPeriod"/>
            </a:pPr>
            <a:r>
              <a:rPr lang="en-US" sz="1600" dirty="0">
                <a:latin typeface="Times New Roman" panose="02020603050405020304" pitchFamily="18" charset="0"/>
                <a:cs typeface="Times New Roman" panose="02020603050405020304" pitchFamily="18" charset="0"/>
              </a:rPr>
              <a:t>Fundamentals of Algorithms by Ellis </a:t>
            </a:r>
            <a:r>
              <a:rPr lang="en-US" sz="1600" dirty="0" err="1">
                <a:latin typeface="Times New Roman" panose="02020603050405020304" pitchFamily="18" charset="0"/>
                <a:cs typeface="Times New Roman" panose="02020603050405020304" pitchFamily="18" charset="0"/>
              </a:rPr>
              <a:t>Horwitz</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Sartaj</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Sahni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Sanguthevar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Rajasekaran</a:t>
            </a: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64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Light" panose="020F0302020204030204"/>
              </a:rPr>
              <a:t> </a:t>
            </a:r>
          </a:p>
        </p:txBody>
      </p:sp>
      <p:sp>
        <p:nvSpPr>
          <p:cNvPr id="9" name="Title 1"/>
          <p:cNvSpPr txBox="1"/>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sp>
        <p:nvSpPr>
          <p:cNvPr id="23" name="Diamond 6"/>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pic>
        <p:nvPicPr>
          <p:cNvPr id="9409" name="Picture 1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C9A48AB-23F1-45F1-98E5-D2CDC7A5261D}" type="slidenum">
              <a:rPr lang="en-US" smtClean="0">
                <a:solidFill>
                  <a:prstClr val="black">
                    <a:tint val="75000"/>
                  </a:prstClr>
                </a:solidFill>
              </a:rPr>
              <a:t>65</a:t>
            </a:fld>
            <a:endParaRPr lang="en-US">
              <a:solidFill>
                <a:prstClr val="black">
                  <a:tint val="75000"/>
                </a:prstClr>
              </a:solidFill>
            </a:endParaRPr>
          </a:p>
        </p:txBody>
      </p:sp>
      <p:sp>
        <p:nvSpPr>
          <p:cNvPr id="16" name="TextBox 15"/>
          <p:cNvSpPr txBox="1"/>
          <p:nvPr/>
        </p:nvSpPr>
        <p:spPr>
          <a:xfrm>
            <a:off x="3306619" y="5490886"/>
            <a:ext cx="3234858" cy="584775"/>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6181</Words>
  <Application>Microsoft Office PowerPoint</Application>
  <PresentationFormat>Widescreen</PresentationFormat>
  <Paragraphs>607</Paragraphs>
  <Slides>65</Slides>
  <Notes>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65</vt:i4>
      </vt:variant>
    </vt:vector>
  </HeadingPairs>
  <TitlesOfParts>
    <vt:vector size="73" baseType="lpstr">
      <vt:lpstr>Arial</vt:lpstr>
      <vt:lpstr>Calibri</vt:lpstr>
      <vt:lpstr>Calibri Light</vt:lpstr>
      <vt:lpstr>Casper</vt:lpstr>
      <vt:lpstr>Raleway ExtraBold</vt:lpstr>
      <vt:lpstr>Times New Roman</vt:lpstr>
      <vt:lpstr>Office Theme</vt:lpstr>
      <vt:lpstr>1_Office Theme</vt:lpstr>
      <vt:lpstr>PowerPoint Presentation</vt:lpstr>
      <vt:lpstr>Backtracking</vt:lpstr>
      <vt:lpstr>PowerPoint Presentation</vt:lpstr>
      <vt:lpstr>N Queen Problem</vt:lpstr>
      <vt:lpstr>4 Queen Problem</vt:lpstr>
      <vt:lpstr>4 Queen Problem</vt:lpstr>
      <vt:lpstr>4 Queen Problem</vt:lpstr>
      <vt:lpstr>Eight Queen Problem</vt:lpstr>
      <vt:lpstr>N Queen Problem</vt:lpstr>
      <vt:lpstr>N Queen Problem</vt:lpstr>
      <vt:lpstr>PowerPoint Presentation</vt:lpstr>
      <vt:lpstr>Sum of Subset </vt:lpstr>
      <vt:lpstr>Steps in Backtracking (Sum of Subsets)</vt:lpstr>
      <vt:lpstr>Steps in Backtracking (Sum of Subsets)</vt:lpstr>
      <vt:lpstr>The sum of subset problem is  NP-complete </vt:lpstr>
      <vt:lpstr>Sum of Subset </vt:lpstr>
      <vt:lpstr>Sum of Subset </vt:lpstr>
      <vt:lpstr>Sum of Subset </vt:lpstr>
      <vt:lpstr>Sum of Subset </vt:lpstr>
      <vt:lpstr>Sum of Subsets Applications</vt:lpstr>
      <vt:lpstr>Time Complexity</vt:lpstr>
      <vt:lpstr>Graph Coloring</vt:lpstr>
      <vt:lpstr>Graph Coloring</vt:lpstr>
      <vt:lpstr>Graph Coloring Contd…</vt:lpstr>
      <vt:lpstr>Graph Coloring</vt:lpstr>
      <vt:lpstr>Graph Coloring Contd…</vt:lpstr>
      <vt:lpstr>Chromatic Number</vt:lpstr>
      <vt:lpstr>Graph Coloring</vt:lpstr>
      <vt:lpstr>Graph Coloring Contd…</vt:lpstr>
      <vt:lpstr>Graph Coloring Contd…</vt:lpstr>
      <vt:lpstr>Graph Coloring</vt:lpstr>
      <vt:lpstr>PowerPoint Presentation</vt:lpstr>
      <vt:lpstr>PowerPoint Presentation</vt:lpstr>
      <vt:lpstr>PowerPoint Presentation</vt:lpstr>
      <vt:lpstr>PowerPoint Presentation</vt:lpstr>
      <vt:lpstr>PowerPoint Presentation</vt:lpstr>
      <vt:lpstr>PowerPoint Presentation</vt:lpstr>
      <vt:lpstr>Hamiltonian Cycles</vt:lpstr>
      <vt:lpstr>Hamiltonian Cycles</vt:lpstr>
      <vt:lpstr>PowerPoint Presentation</vt:lpstr>
      <vt:lpstr>PowerPoint Presentation</vt:lpstr>
      <vt:lpstr>Algorithm</vt:lpstr>
      <vt:lpstr>Algorithm</vt:lpstr>
      <vt:lpstr>Example </vt:lpstr>
      <vt:lpstr>Example</vt:lpstr>
      <vt:lpstr>Example</vt:lpstr>
      <vt:lpstr>Example</vt:lpstr>
      <vt:lpstr>PowerPoint Presentation</vt:lpstr>
      <vt:lpstr>Applications of Hamiltonian Cycles </vt:lpstr>
      <vt:lpstr>Branch and Bound </vt:lpstr>
      <vt:lpstr>Assignment Problem using Branch and Bound </vt:lpstr>
      <vt:lpstr>Assignment Problem using Branch and Bound </vt:lpstr>
      <vt:lpstr>Assignment Problem using Branch and Bound </vt:lpstr>
      <vt:lpstr>0/1 Knapsack Problem using Branch and Bound </vt:lpstr>
      <vt:lpstr>0/1 Knapsack Problem using Branch and Bound </vt:lpstr>
      <vt:lpstr>PowerPoint Presentation</vt:lpstr>
      <vt:lpstr>Reliability Design(Dynamic Programming)</vt:lpstr>
      <vt:lpstr>Reliability Design(Dynamic Programming)</vt:lpstr>
      <vt:lpstr>Reliability Design(Dynamic Programming)</vt:lpstr>
      <vt:lpstr>Reliability Design(Dynamic Programming)</vt:lpstr>
      <vt:lpstr>Reliability Design(Dynamic Programming)</vt:lpstr>
      <vt:lpstr>Reliability Design(Dynamic Programming)</vt:lpstr>
      <vt:lpstr>Reliability Design(Dynamic Programming)</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Uttama Garg</dc:creator>
  <cp:lastModifiedBy>Paramjeet Singh</cp:lastModifiedBy>
  <cp:revision>552</cp:revision>
  <dcterms:created xsi:type="dcterms:W3CDTF">2020-06-19T07:16:00Z</dcterms:created>
  <dcterms:modified xsi:type="dcterms:W3CDTF">2025-10-24T05:37:13Z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1E9D407AFF4F480DB8E5633578E75855</vt:lpwstr>
  </property>
  <property fmtid="{D5CDD505-2E9C-101B-9397-08002B2CF9AE}" pid="3" name="KSOProductBuildVer">
    <vt:lpwstr>1033-11.2.0.11537</vt:lpwstr>
  </property>
</Properties>
</file>